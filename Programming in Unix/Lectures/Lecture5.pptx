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257" r:id="rId2"/>
    <p:sldId id="474" r:id="rId3"/>
    <p:sldId id="475" r:id="rId4"/>
    <p:sldId id="429" r:id="rId5"/>
    <p:sldId id="258" r:id="rId6"/>
    <p:sldId id="430" r:id="rId7"/>
    <p:sldId id="431" r:id="rId8"/>
    <p:sldId id="432" r:id="rId9"/>
    <p:sldId id="433" r:id="rId10"/>
    <p:sldId id="434" r:id="rId11"/>
    <p:sldId id="438" r:id="rId12"/>
    <p:sldId id="439" r:id="rId13"/>
    <p:sldId id="435" r:id="rId14"/>
    <p:sldId id="436" r:id="rId15"/>
    <p:sldId id="476" r:id="rId16"/>
    <p:sldId id="437" r:id="rId17"/>
    <p:sldId id="477" r:id="rId18"/>
    <p:sldId id="454" r:id="rId19"/>
    <p:sldId id="441" r:id="rId20"/>
    <p:sldId id="446" r:id="rId21"/>
    <p:sldId id="447" r:id="rId22"/>
    <p:sldId id="442" r:id="rId23"/>
    <p:sldId id="443" r:id="rId24"/>
    <p:sldId id="445" r:id="rId25"/>
    <p:sldId id="444" r:id="rId26"/>
    <p:sldId id="455" r:id="rId27"/>
    <p:sldId id="456" r:id="rId28"/>
    <p:sldId id="457" r:id="rId29"/>
    <p:sldId id="458" r:id="rId30"/>
    <p:sldId id="461" r:id="rId31"/>
    <p:sldId id="448" r:id="rId32"/>
    <p:sldId id="452" r:id="rId33"/>
    <p:sldId id="449" r:id="rId34"/>
    <p:sldId id="450" r:id="rId35"/>
    <p:sldId id="451" r:id="rId36"/>
    <p:sldId id="462" r:id="rId37"/>
    <p:sldId id="463" r:id="rId38"/>
    <p:sldId id="467" r:id="rId39"/>
    <p:sldId id="464" r:id="rId40"/>
    <p:sldId id="465" r:id="rId41"/>
    <p:sldId id="466" r:id="rId42"/>
    <p:sldId id="469" r:id="rId43"/>
    <p:sldId id="470" r:id="rId44"/>
    <p:sldId id="473" r:id="rId45"/>
    <p:sldId id="420"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249" autoAdjust="0"/>
  </p:normalViewPr>
  <p:slideViewPr>
    <p:cSldViewPr snapToGrid="0">
      <p:cViewPr varScale="1">
        <p:scale>
          <a:sx n="91" d="100"/>
          <a:sy n="91" d="100"/>
        </p:scale>
        <p:origin x="341"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43FB234-23D2-4CA0-8369-4538E896D6E4}" type="datetimeFigureOut">
              <a:rPr lang="en-US" smtClean="0"/>
              <a:t>9/15/2024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BACC1F-AB76-4C05-B62A-B62793B35503}" type="slidenum">
              <a:rPr lang="en-US" smtClean="0"/>
              <a:t>‹#›</a:t>
            </a:fld>
            <a:endParaRPr lang="en-US"/>
          </a:p>
        </p:txBody>
      </p:sp>
    </p:spTree>
    <p:extLst>
      <p:ext uri="{BB962C8B-B14F-4D97-AF65-F5344CB8AC3E}">
        <p14:creationId xmlns:p14="http://schemas.microsoft.com/office/powerpoint/2010/main" val="1663920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dirty="0">
                <a:solidFill>
                  <a:srgbClr val="5F6368"/>
                </a:solidFill>
                <a:effectLst/>
                <a:highlight>
                  <a:srgbClr val="FFFFFF"/>
                </a:highlight>
                <a:latin typeface="Arial" panose="020B0604020202020204" pitchFamily="34" charset="0"/>
              </a:rPr>
              <a:t>A kernel is a central component of an operating system</a:t>
            </a:r>
            <a:r>
              <a:rPr lang="en-US" b="0" i="0" dirty="0">
                <a:solidFill>
                  <a:srgbClr val="4D5156"/>
                </a:solidFill>
                <a:effectLst/>
                <a:highlight>
                  <a:srgbClr val="FFFFFF"/>
                </a:highlight>
                <a:latin typeface="Arial" panose="020B0604020202020204" pitchFamily="34" charset="0"/>
              </a:rPr>
              <a:t> that manages the operations of computers and hardware.</a:t>
            </a:r>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5</a:t>
            </a:fld>
            <a:endParaRPr lang="en-US" dirty="0"/>
          </a:p>
        </p:txBody>
      </p:sp>
    </p:spTree>
    <p:extLst>
      <p:ext uri="{BB962C8B-B14F-4D97-AF65-F5344CB8AC3E}">
        <p14:creationId xmlns:p14="http://schemas.microsoft.com/office/powerpoint/2010/main" val="38717815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kernel is also responsible for preventing and mitigating conflicts between different processes.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System Calls </a:t>
            </a:r>
            <a:r>
              <a:rPr lang="en-US" dirty="0"/>
              <a:t>enable user-level applications to request services and resources managed by the OS, such as hardware access, process management, and file handling. </a:t>
            </a:r>
            <a:br>
              <a:rPr lang="en-US" dirty="0"/>
            </a:br>
            <a:r>
              <a:rPr lang="en-US" dirty="0"/>
              <a:t>These calls act as a bridge between user applications and the core functionalities of the operating system, ensuring controlled and secure access to system resources.</a:t>
            </a:r>
          </a:p>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7</a:t>
            </a:fld>
            <a:endParaRPr lang="en-US" dirty="0"/>
          </a:p>
        </p:txBody>
      </p:sp>
    </p:spTree>
    <p:extLst>
      <p:ext uri="{BB962C8B-B14F-4D97-AF65-F5344CB8AC3E}">
        <p14:creationId xmlns:p14="http://schemas.microsoft.com/office/powerpoint/2010/main" val="22971830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8</a:t>
            </a:fld>
            <a:endParaRPr lang="en-US" dirty="0"/>
          </a:p>
        </p:txBody>
      </p:sp>
    </p:spTree>
    <p:extLst>
      <p:ext uri="{BB962C8B-B14F-4D97-AF65-F5344CB8AC3E}">
        <p14:creationId xmlns:p14="http://schemas.microsoft.com/office/powerpoint/2010/main" val="10403886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https://binaryterms.com/linker-and-loader-in-system-programming.html</a:t>
            </a:r>
          </a:p>
        </p:txBody>
      </p:sp>
      <p:sp>
        <p:nvSpPr>
          <p:cNvPr id="4" name="Slide Number Placeholder 3"/>
          <p:cNvSpPr>
            <a:spLocks noGrp="1"/>
          </p:cNvSpPr>
          <p:nvPr>
            <p:ph type="sldNum" sz="quarter" idx="5"/>
          </p:nvPr>
        </p:nvSpPr>
        <p:spPr/>
        <p:txBody>
          <a:bodyPr/>
          <a:lstStyle/>
          <a:p>
            <a:fld id="{33BACC1F-AB76-4C05-B62A-B62793B35503}" type="slidenum">
              <a:rPr lang="en-US" smtClean="0"/>
              <a:t>9</a:t>
            </a:fld>
            <a:endParaRPr lang="en-US" dirty="0"/>
          </a:p>
        </p:txBody>
      </p:sp>
    </p:spTree>
    <p:extLst>
      <p:ext uri="{BB962C8B-B14F-4D97-AF65-F5344CB8AC3E}">
        <p14:creationId xmlns:p14="http://schemas.microsoft.com/office/powerpoint/2010/main" val="2347715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10</a:t>
            </a:fld>
            <a:endParaRPr lang="en-US"/>
          </a:p>
        </p:txBody>
      </p:sp>
    </p:spTree>
    <p:extLst>
      <p:ext uri="{BB962C8B-B14F-4D97-AF65-F5344CB8AC3E}">
        <p14:creationId xmlns:p14="http://schemas.microsoft.com/office/powerpoint/2010/main" val="12543181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11</a:t>
            </a:fld>
            <a:endParaRPr lang="en-US"/>
          </a:p>
        </p:txBody>
      </p:sp>
    </p:spTree>
    <p:extLst>
      <p:ext uri="{BB962C8B-B14F-4D97-AF65-F5344CB8AC3E}">
        <p14:creationId xmlns:p14="http://schemas.microsoft.com/office/powerpoint/2010/main" val="20288673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12</a:t>
            </a:fld>
            <a:endParaRPr lang="en-US"/>
          </a:p>
        </p:txBody>
      </p:sp>
    </p:spTree>
    <p:extLst>
      <p:ext uri="{BB962C8B-B14F-4D97-AF65-F5344CB8AC3E}">
        <p14:creationId xmlns:p14="http://schemas.microsoft.com/office/powerpoint/2010/main" val="8595918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13</a:t>
            </a:fld>
            <a:endParaRPr lang="en-US"/>
          </a:p>
        </p:txBody>
      </p:sp>
    </p:spTree>
    <p:extLst>
      <p:ext uri="{BB962C8B-B14F-4D97-AF65-F5344CB8AC3E}">
        <p14:creationId xmlns:p14="http://schemas.microsoft.com/office/powerpoint/2010/main" val="21960232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14</a:t>
            </a:fld>
            <a:endParaRPr lang="en-US"/>
          </a:p>
        </p:txBody>
      </p:sp>
    </p:spTree>
    <p:extLst>
      <p:ext uri="{BB962C8B-B14F-4D97-AF65-F5344CB8AC3E}">
        <p14:creationId xmlns:p14="http://schemas.microsoft.com/office/powerpoint/2010/main" val="4616568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15</a:t>
            </a:fld>
            <a:endParaRPr lang="en-US"/>
          </a:p>
        </p:txBody>
      </p:sp>
    </p:spTree>
    <p:extLst>
      <p:ext uri="{BB962C8B-B14F-4D97-AF65-F5344CB8AC3E}">
        <p14:creationId xmlns:p14="http://schemas.microsoft.com/office/powerpoint/2010/main" val="39015252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16</a:t>
            </a:fld>
            <a:endParaRPr lang="en-US"/>
          </a:p>
        </p:txBody>
      </p:sp>
    </p:spTree>
    <p:extLst>
      <p:ext uri="{BB962C8B-B14F-4D97-AF65-F5344CB8AC3E}">
        <p14:creationId xmlns:p14="http://schemas.microsoft.com/office/powerpoint/2010/main" val="267459076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17</a:t>
            </a:fld>
            <a:endParaRPr lang="en-US"/>
          </a:p>
        </p:txBody>
      </p:sp>
    </p:spTree>
    <p:extLst>
      <p:ext uri="{BB962C8B-B14F-4D97-AF65-F5344CB8AC3E}">
        <p14:creationId xmlns:p14="http://schemas.microsoft.com/office/powerpoint/2010/main" val="31935535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18</a:t>
            </a:fld>
            <a:endParaRPr lang="en-US"/>
          </a:p>
        </p:txBody>
      </p:sp>
    </p:spTree>
    <p:extLst>
      <p:ext uri="{BB962C8B-B14F-4D97-AF65-F5344CB8AC3E}">
        <p14:creationId xmlns:p14="http://schemas.microsoft.com/office/powerpoint/2010/main" val="26901438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19</a:t>
            </a:fld>
            <a:endParaRPr lang="en-US"/>
          </a:p>
        </p:txBody>
      </p:sp>
    </p:spTree>
    <p:extLst>
      <p:ext uri="{BB962C8B-B14F-4D97-AF65-F5344CB8AC3E}">
        <p14:creationId xmlns:p14="http://schemas.microsoft.com/office/powerpoint/2010/main" val="11553858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20</a:t>
            </a:fld>
            <a:endParaRPr lang="en-US"/>
          </a:p>
        </p:txBody>
      </p:sp>
    </p:spTree>
    <p:extLst>
      <p:ext uri="{BB962C8B-B14F-4D97-AF65-F5344CB8AC3E}">
        <p14:creationId xmlns:p14="http://schemas.microsoft.com/office/powerpoint/2010/main" val="169227499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21</a:t>
            </a:fld>
            <a:endParaRPr lang="en-US"/>
          </a:p>
        </p:txBody>
      </p:sp>
    </p:spTree>
    <p:extLst>
      <p:ext uri="{BB962C8B-B14F-4D97-AF65-F5344CB8AC3E}">
        <p14:creationId xmlns:p14="http://schemas.microsoft.com/office/powerpoint/2010/main" val="15050324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22</a:t>
            </a:fld>
            <a:endParaRPr lang="en-US"/>
          </a:p>
        </p:txBody>
      </p:sp>
    </p:spTree>
    <p:extLst>
      <p:ext uri="{BB962C8B-B14F-4D97-AF65-F5344CB8AC3E}">
        <p14:creationId xmlns:p14="http://schemas.microsoft.com/office/powerpoint/2010/main" val="3299189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23</a:t>
            </a:fld>
            <a:endParaRPr lang="en-US"/>
          </a:p>
        </p:txBody>
      </p:sp>
    </p:spTree>
    <p:extLst>
      <p:ext uri="{BB962C8B-B14F-4D97-AF65-F5344CB8AC3E}">
        <p14:creationId xmlns:p14="http://schemas.microsoft.com/office/powerpoint/2010/main" val="2098763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24</a:t>
            </a:fld>
            <a:endParaRPr lang="en-US"/>
          </a:p>
        </p:txBody>
      </p:sp>
    </p:spTree>
    <p:extLst>
      <p:ext uri="{BB962C8B-B14F-4D97-AF65-F5344CB8AC3E}">
        <p14:creationId xmlns:p14="http://schemas.microsoft.com/office/powerpoint/2010/main" val="109172873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25</a:t>
            </a:fld>
            <a:endParaRPr lang="en-US"/>
          </a:p>
        </p:txBody>
      </p:sp>
    </p:spTree>
    <p:extLst>
      <p:ext uri="{BB962C8B-B14F-4D97-AF65-F5344CB8AC3E}">
        <p14:creationId xmlns:p14="http://schemas.microsoft.com/office/powerpoint/2010/main" val="22682353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26</a:t>
            </a:fld>
            <a:endParaRPr lang="en-US"/>
          </a:p>
        </p:txBody>
      </p:sp>
    </p:spTree>
    <p:extLst>
      <p:ext uri="{BB962C8B-B14F-4D97-AF65-F5344CB8AC3E}">
        <p14:creationId xmlns:p14="http://schemas.microsoft.com/office/powerpoint/2010/main" val="325391694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27</a:t>
            </a:fld>
            <a:endParaRPr lang="en-US"/>
          </a:p>
        </p:txBody>
      </p:sp>
    </p:spTree>
    <p:extLst>
      <p:ext uri="{BB962C8B-B14F-4D97-AF65-F5344CB8AC3E}">
        <p14:creationId xmlns:p14="http://schemas.microsoft.com/office/powerpoint/2010/main" val="42801587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28</a:t>
            </a:fld>
            <a:endParaRPr lang="en-US"/>
          </a:p>
        </p:txBody>
      </p:sp>
    </p:spTree>
    <p:extLst>
      <p:ext uri="{BB962C8B-B14F-4D97-AF65-F5344CB8AC3E}">
        <p14:creationId xmlns:p14="http://schemas.microsoft.com/office/powerpoint/2010/main" val="277695784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29</a:t>
            </a:fld>
            <a:endParaRPr lang="en-US"/>
          </a:p>
        </p:txBody>
      </p:sp>
    </p:spTree>
    <p:extLst>
      <p:ext uri="{BB962C8B-B14F-4D97-AF65-F5344CB8AC3E}">
        <p14:creationId xmlns:p14="http://schemas.microsoft.com/office/powerpoint/2010/main" val="9644527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30</a:t>
            </a:fld>
            <a:endParaRPr lang="en-US"/>
          </a:p>
        </p:txBody>
      </p:sp>
    </p:spTree>
    <p:extLst>
      <p:ext uri="{BB962C8B-B14F-4D97-AF65-F5344CB8AC3E}">
        <p14:creationId xmlns:p14="http://schemas.microsoft.com/office/powerpoint/2010/main" val="18462391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31</a:t>
            </a:fld>
            <a:endParaRPr lang="en-US"/>
          </a:p>
        </p:txBody>
      </p:sp>
    </p:spTree>
    <p:extLst>
      <p:ext uri="{BB962C8B-B14F-4D97-AF65-F5344CB8AC3E}">
        <p14:creationId xmlns:p14="http://schemas.microsoft.com/office/powerpoint/2010/main" val="39481559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32</a:t>
            </a:fld>
            <a:endParaRPr lang="en-US"/>
          </a:p>
        </p:txBody>
      </p:sp>
    </p:spTree>
    <p:extLst>
      <p:ext uri="{BB962C8B-B14F-4D97-AF65-F5344CB8AC3E}">
        <p14:creationId xmlns:p14="http://schemas.microsoft.com/office/powerpoint/2010/main" val="237032738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33</a:t>
            </a:fld>
            <a:endParaRPr lang="en-US"/>
          </a:p>
        </p:txBody>
      </p:sp>
    </p:spTree>
    <p:extLst>
      <p:ext uri="{BB962C8B-B14F-4D97-AF65-F5344CB8AC3E}">
        <p14:creationId xmlns:p14="http://schemas.microsoft.com/office/powerpoint/2010/main" val="145745632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34</a:t>
            </a:fld>
            <a:endParaRPr lang="en-US"/>
          </a:p>
        </p:txBody>
      </p:sp>
    </p:spTree>
    <p:extLst>
      <p:ext uri="{BB962C8B-B14F-4D97-AF65-F5344CB8AC3E}">
        <p14:creationId xmlns:p14="http://schemas.microsoft.com/office/powerpoint/2010/main" val="36771894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35</a:t>
            </a:fld>
            <a:endParaRPr lang="en-US"/>
          </a:p>
        </p:txBody>
      </p:sp>
    </p:spTree>
    <p:extLst>
      <p:ext uri="{BB962C8B-B14F-4D97-AF65-F5344CB8AC3E}">
        <p14:creationId xmlns:p14="http://schemas.microsoft.com/office/powerpoint/2010/main" val="19557371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36</a:t>
            </a:fld>
            <a:endParaRPr lang="en-US"/>
          </a:p>
        </p:txBody>
      </p:sp>
    </p:spTree>
    <p:extLst>
      <p:ext uri="{BB962C8B-B14F-4D97-AF65-F5344CB8AC3E}">
        <p14:creationId xmlns:p14="http://schemas.microsoft.com/office/powerpoint/2010/main" val="6947234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37</a:t>
            </a:fld>
            <a:endParaRPr lang="en-US"/>
          </a:p>
        </p:txBody>
      </p:sp>
    </p:spTree>
    <p:extLst>
      <p:ext uri="{BB962C8B-B14F-4D97-AF65-F5344CB8AC3E}">
        <p14:creationId xmlns:p14="http://schemas.microsoft.com/office/powerpoint/2010/main" val="2194789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38</a:t>
            </a:fld>
            <a:endParaRPr lang="en-US"/>
          </a:p>
        </p:txBody>
      </p:sp>
    </p:spTree>
    <p:extLst>
      <p:ext uri="{BB962C8B-B14F-4D97-AF65-F5344CB8AC3E}">
        <p14:creationId xmlns:p14="http://schemas.microsoft.com/office/powerpoint/2010/main" val="23697370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39</a:t>
            </a:fld>
            <a:endParaRPr lang="en-US"/>
          </a:p>
        </p:txBody>
      </p:sp>
    </p:spTree>
    <p:extLst>
      <p:ext uri="{BB962C8B-B14F-4D97-AF65-F5344CB8AC3E}">
        <p14:creationId xmlns:p14="http://schemas.microsoft.com/office/powerpoint/2010/main" val="115878607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40</a:t>
            </a:fld>
            <a:endParaRPr lang="en-US"/>
          </a:p>
        </p:txBody>
      </p:sp>
    </p:spTree>
    <p:extLst>
      <p:ext uri="{BB962C8B-B14F-4D97-AF65-F5344CB8AC3E}">
        <p14:creationId xmlns:p14="http://schemas.microsoft.com/office/powerpoint/2010/main" val="171057233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41</a:t>
            </a:fld>
            <a:endParaRPr lang="en-US"/>
          </a:p>
        </p:txBody>
      </p:sp>
    </p:spTree>
    <p:extLst>
      <p:ext uri="{BB962C8B-B14F-4D97-AF65-F5344CB8AC3E}">
        <p14:creationId xmlns:p14="http://schemas.microsoft.com/office/powerpoint/2010/main" val="7582385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42</a:t>
            </a:fld>
            <a:endParaRPr lang="en-US"/>
          </a:p>
        </p:txBody>
      </p:sp>
    </p:spTree>
    <p:extLst>
      <p:ext uri="{BB962C8B-B14F-4D97-AF65-F5344CB8AC3E}">
        <p14:creationId xmlns:p14="http://schemas.microsoft.com/office/powerpoint/2010/main" val="99116904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43</a:t>
            </a:fld>
            <a:endParaRPr lang="en-US"/>
          </a:p>
        </p:txBody>
      </p:sp>
    </p:spTree>
    <p:extLst>
      <p:ext uri="{BB962C8B-B14F-4D97-AF65-F5344CB8AC3E}">
        <p14:creationId xmlns:p14="http://schemas.microsoft.com/office/powerpoint/2010/main" val="36260839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33BACC1F-AB76-4C05-B62A-B62793B35503}" type="slidenum">
              <a:rPr lang="en-US" smtClean="0"/>
              <a:t>44</a:t>
            </a:fld>
            <a:endParaRPr lang="en-US"/>
          </a:p>
        </p:txBody>
      </p:sp>
    </p:spTree>
    <p:extLst>
      <p:ext uri="{BB962C8B-B14F-4D97-AF65-F5344CB8AC3E}">
        <p14:creationId xmlns:p14="http://schemas.microsoft.com/office/powerpoint/2010/main" val="5878155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5E42E-6468-54E2-1173-73525F5ABF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078B4C7-D0B1-50D1-110E-05173D14C78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FAF8B40-0B59-049E-5B9B-4BFB3236F01B}"/>
              </a:ext>
            </a:extLst>
          </p:cNvPr>
          <p:cNvSpPr>
            <a:spLocks noGrp="1"/>
          </p:cNvSpPr>
          <p:nvPr>
            <p:ph type="dt" sz="half" idx="10"/>
          </p:nvPr>
        </p:nvSpPr>
        <p:spPr/>
        <p:txBody>
          <a:bodyPr/>
          <a:lstStyle/>
          <a:p>
            <a:fld id="{6CCF14FF-B78A-4F3D-B3AE-262C96014791}" type="datetimeFigureOut">
              <a:rPr lang="en-US" smtClean="0"/>
              <a:t>9/15/2024</a:t>
            </a:fld>
            <a:endParaRPr lang="en-US"/>
          </a:p>
        </p:txBody>
      </p:sp>
      <p:sp>
        <p:nvSpPr>
          <p:cNvPr id="5" name="Footer Placeholder 4">
            <a:extLst>
              <a:ext uri="{FF2B5EF4-FFF2-40B4-BE49-F238E27FC236}">
                <a16:creationId xmlns:a16="http://schemas.microsoft.com/office/drawing/2014/main" id="{D502A100-F41A-8F55-5773-F7C6A3A540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05BA53-C2E1-1819-26DA-34242E65DE95}"/>
              </a:ext>
            </a:extLst>
          </p:cNvPr>
          <p:cNvSpPr>
            <a:spLocks noGrp="1"/>
          </p:cNvSpPr>
          <p:nvPr>
            <p:ph type="sldNum" sz="quarter" idx="12"/>
          </p:nvPr>
        </p:nvSpPr>
        <p:spPr/>
        <p:txBody>
          <a:bodyPr/>
          <a:lstStyle/>
          <a:p>
            <a:fld id="{D5CDCF7C-E921-4E16-B1F4-CCBDDF795F8F}" type="slidenum">
              <a:rPr lang="en-US" smtClean="0"/>
              <a:t>‹#›</a:t>
            </a:fld>
            <a:endParaRPr lang="en-US"/>
          </a:p>
        </p:txBody>
      </p:sp>
    </p:spTree>
    <p:extLst>
      <p:ext uri="{BB962C8B-B14F-4D97-AF65-F5344CB8AC3E}">
        <p14:creationId xmlns:p14="http://schemas.microsoft.com/office/powerpoint/2010/main" val="6668527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FCD36-083C-A405-A52D-8D09E38AEB6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AD08F7-D8B4-D11F-2679-FDC7FDFF70D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42A7D8-0380-B45C-16E0-57356E1D247C}"/>
              </a:ext>
            </a:extLst>
          </p:cNvPr>
          <p:cNvSpPr>
            <a:spLocks noGrp="1"/>
          </p:cNvSpPr>
          <p:nvPr>
            <p:ph type="dt" sz="half" idx="10"/>
          </p:nvPr>
        </p:nvSpPr>
        <p:spPr/>
        <p:txBody>
          <a:bodyPr/>
          <a:lstStyle/>
          <a:p>
            <a:fld id="{6CCF14FF-B78A-4F3D-B3AE-262C96014791}" type="datetimeFigureOut">
              <a:rPr lang="en-US" smtClean="0"/>
              <a:t>9/15/2024</a:t>
            </a:fld>
            <a:endParaRPr lang="en-US"/>
          </a:p>
        </p:txBody>
      </p:sp>
      <p:sp>
        <p:nvSpPr>
          <p:cNvPr id="5" name="Footer Placeholder 4">
            <a:extLst>
              <a:ext uri="{FF2B5EF4-FFF2-40B4-BE49-F238E27FC236}">
                <a16:creationId xmlns:a16="http://schemas.microsoft.com/office/drawing/2014/main" id="{9F6FE367-6094-5F42-B820-C153B04E87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49151-D8B6-71AC-C523-602CE7B6115A}"/>
              </a:ext>
            </a:extLst>
          </p:cNvPr>
          <p:cNvSpPr>
            <a:spLocks noGrp="1"/>
          </p:cNvSpPr>
          <p:nvPr>
            <p:ph type="sldNum" sz="quarter" idx="12"/>
          </p:nvPr>
        </p:nvSpPr>
        <p:spPr/>
        <p:txBody>
          <a:bodyPr/>
          <a:lstStyle/>
          <a:p>
            <a:fld id="{D5CDCF7C-E921-4E16-B1F4-CCBDDF795F8F}" type="slidenum">
              <a:rPr lang="en-US" smtClean="0"/>
              <a:t>‹#›</a:t>
            </a:fld>
            <a:endParaRPr lang="en-US"/>
          </a:p>
        </p:txBody>
      </p:sp>
    </p:spTree>
    <p:extLst>
      <p:ext uri="{BB962C8B-B14F-4D97-AF65-F5344CB8AC3E}">
        <p14:creationId xmlns:p14="http://schemas.microsoft.com/office/powerpoint/2010/main" val="11392704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4560E-2B3D-0222-8768-8C52442663E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4293C8D-FC84-D003-6C52-3C7B6029C6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6D156B-F7AF-6DAC-66D6-2023E384A08D}"/>
              </a:ext>
            </a:extLst>
          </p:cNvPr>
          <p:cNvSpPr>
            <a:spLocks noGrp="1"/>
          </p:cNvSpPr>
          <p:nvPr>
            <p:ph type="dt" sz="half" idx="10"/>
          </p:nvPr>
        </p:nvSpPr>
        <p:spPr/>
        <p:txBody>
          <a:bodyPr/>
          <a:lstStyle/>
          <a:p>
            <a:fld id="{6CCF14FF-B78A-4F3D-B3AE-262C96014791}" type="datetimeFigureOut">
              <a:rPr lang="en-US" smtClean="0"/>
              <a:t>9/15/2024</a:t>
            </a:fld>
            <a:endParaRPr lang="en-US"/>
          </a:p>
        </p:txBody>
      </p:sp>
      <p:sp>
        <p:nvSpPr>
          <p:cNvPr id="5" name="Footer Placeholder 4">
            <a:extLst>
              <a:ext uri="{FF2B5EF4-FFF2-40B4-BE49-F238E27FC236}">
                <a16:creationId xmlns:a16="http://schemas.microsoft.com/office/drawing/2014/main" id="{B377CDB5-89CC-5A84-0FAF-0C982AB7AA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DC1F27-7714-5656-1D6F-B7A29E955214}"/>
              </a:ext>
            </a:extLst>
          </p:cNvPr>
          <p:cNvSpPr>
            <a:spLocks noGrp="1"/>
          </p:cNvSpPr>
          <p:nvPr>
            <p:ph type="sldNum" sz="quarter" idx="12"/>
          </p:nvPr>
        </p:nvSpPr>
        <p:spPr/>
        <p:txBody>
          <a:bodyPr/>
          <a:lstStyle/>
          <a:p>
            <a:fld id="{D5CDCF7C-E921-4E16-B1F4-CCBDDF795F8F}" type="slidenum">
              <a:rPr lang="en-US" smtClean="0"/>
              <a:t>‹#›</a:t>
            </a:fld>
            <a:endParaRPr lang="en-US"/>
          </a:p>
        </p:txBody>
      </p:sp>
    </p:spTree>
    <p:extLst>
      <p:ext uri="{BB962C8B-B14F-4D97-AF65-F5344CB8AC3E}">
        <p14:creationId xmlns:p14="http://schemas.microsoft.com/office/powerpoint/2010/main" val="9409547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E90FD-D4AF-EA19-E90F-E1C0025F7EC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22855F-EBBF-FC76-811F-9DB780DA7F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DB72112-BEFA-7D62-6D19-F48E1D4ACE9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3E85515-7791-C507-C5C2-D0C3572E267F}"/>
              </a:ext>
            </a:extLst>
          </p:cNvPr>
          <p:cNvSpPr>
            <a:spLocks noGrp="1"/>
          </p:cNvSpPr>
          <p:nvPr>
            <p:ph type="dt" sz="half" idx="10"/>
          </p:nvPr>
        </p:nvSpPr>
        <p:spPr/>
        <p:txBody>
          <a:bodyPr/>
          <a:lstStyle/>
          <a:p>
            <a:fld id="{6CCF14FF-B78A-4F3D-B3AE-262C96014791}" type="datetimeFigureOut">
              <a:rPr lang="en-US" smtClean="0"/>
              <a:t>9/15/2024</a:t>
            </a:fld>
            <a:endParaRPr lang="en-US"/>
          </a:p>
        </p:txBody>
      </p:sp>
      <p:sp>
        <p:nvSpPr>
          <p:cNvPr id="6" name="Footer Placeholder 5">
            <a:extLst>
              <a:ext uri="{FF2B5EF4-FFF2-40B4-BE49-F238E27FC236}">
                <a16:creationId xmlns:a16="http://schemas.microsoft.com/office/drawing/2014/main" id="{024399C3-E1AC-24D9-AE1C-001200091B7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3EA785-8F88-7B00-B19B-24A134517579}"/>
              </a:ext>
            </a:extLst>
          </p:cNvPr>
          <p:cNvSpPr>
            <a:spLocks noGrp="1"/>
          </p:cNvSpPr>
          <p:nvPr>
            <p:ph type="sldNum" sz="quarter" idx="12"/>
          </p:nvPr>
        </p:nvSpPr>
        <p:spPr/>
        <p:txBody>
          <a:bodyPr/>
          <a:lstStyle/>
          <a:p>
            <a:fld id="{D5CDCF7C-E921-4E16-B1F4-CCBDDF795F8F}" type="slidenum">
              <a:rPr lang="en-US" smtClean="0"/>
              <a:t>‹#›</a:t>
            </a:fld>
            <a:endParaRPr lang="en-US"/>
          </a:p>
        </p:txBody>
      </p:sp>
    </p:spTree>
    <p:extLst>
      <p:ext uri="{BB962C8B-B14F-4D97-AF65-F5344CB8AC3E}">
        <p14:creationId xmlns:p14="http://schemas.microsoft.com/office/powerpoint/2010/main" val="2724140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C6512-BC43-BE61-B43A-48FBE24FA91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CCA2934-BECC-D9B4-2C2B-39C9FAD2007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B568001-E9E2-92EE-F5C9-F991FF5DFA9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CD8EBC5-7766-608E-BA1E-579C5537597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ECCC13-3B6C-E052-411E-C4DF0AA660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4456D99-F5A6-7930-A38A-8A64274B66FD}"/>
              </a:ext>
            </a:extLst>
          </p:cNvPr>
          <p:cNvSpPr>
            <a:spLocks noGrp="1"/>
          </p:cNvSpPr>
          <p:nvPr>
            <p:ph type="dt" sz="half" idx="10"/>
          </p:nvPr>
        </p:nvSpPr>
        <p:spPr/>
        <p:txBody>
          <a:bodyPr/>
          <a:lstStyle/>
          <a:p>
            <a:fld id="{6CCF14FF-B78A-4F3D-B3AE-262C96014791}" type="datetimeFigureOut">
              <a:rPr lang="en-US" smtClean="0"/>
              <a:t>9/15/2024</a:t>
            </a:fld>
            <a:endParaRPr lang="en-US"/>
          </a:p>
        </p:txBody>
      </p:sp>
      <p:sp>
        <p:nvSpPr>
          <p:cNvPr id="8" name="Footer Placeholder 7">
            <a:extLst>
              <a:ext uri="{FF2B5EF4-FFF2-40B4-BE49-F238E27FC236}">
                <a16:creationId xmlns:a16="http://schemas.microsoft.com/office/drawing/2014/main" id="{47E36C9D-651D-B8F1-ADEA-D82AC4977B0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49E5D61-E226-9DD5-69C6-BDEC10A3F5C9}"/>
              </a:ext>
            </a:extLst>
          </p:cNvPr>
          <p:cNvSpPr>
            <a:spLocks noGrp="1"/>
          </p:cNvSpPr>
          <p:nvPr>
            <p:ph type="sldNum" sz="quarter" idx="12"/>
          </p:nvPr>
        </p:nvSpPr>
        <p:spPr/>
        <p:txBody>
          <a:bodyPr/>
          <a:lstStyle/>
          <a:p>
            <a:fld id="{D5CDCF7C-E921-4E16-B1F4-CCBDDF795F8F}" type="slidenum">
              <a:rPr lang="en-US" smtClean="0"/>
              <a:t>‹#›</a:t>
            </a:fld>
            <a:endParaRPr lang="en-US"/>
          </a:p>
        </p:txBody>
      </p:sp>
    </p:spTree>
    <p:extLst>
      <p:ext uri="{BB962C8B-B14F-4D97-AF65-F5344CB8AC3E}">
        <p14:creationId xmlns:p14="http://schemas.microsoft.com/office/powerpoint/2010/main" val="28468849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46AB47-D17B-63EC-3D45-F00AB408476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EF61782-2B66-A0C2-A3F8-E8EE4FF05289}"/>
              </a:ext>
            </a:extLst>
          </p:cNvPr>
          <p:cNvSpPr>
            <a:spLocks noGrp="1"/>
          </p:cNvSpPr>
          <p:nvPr>
            <p:ph type="dt" sz="half" idx="10"/>
          </p:nvPr>
        </p:nvSpPr>
        <p:spPr/>
        <p:txBody>
          <a:bodyPr/>
          <a:lstStyle/>
          <a:p>
            <a:fld id="{6CCF14FF-B78A-4F3D-B3AE-262C96014791}" type="datetimeFigureOut">
              <a:rPr lang="en-US" smtClean="0"/>
              <a:t>9/15/2024</a:t>
            </a:fld>
            <a:endParaRPr lang="en-US"/>
          </a:p>
        </p:txBody>
      </p:sp>
      <p:sp>
        <p:nvSpPr>
          <p:cNvPr id="4" name="Footer Placeholder 3">
            <a:extLst>
              <a:ext uri="{FF2B5EF4-FFF2-40B4-BE49-F238E27FC236}">
                <a16:creationId xmlns:a16="http://schemas.microsoft.com/office/drawing/2014/main" id="{A189575A-F8CD-4A36-36A2-6455C5FD0BD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BD89B6C-E2DA-161F-6704-E96D6B2E30B7}"/>
              </a:ext>
            </a:extLst>
          </p:cNvPr>
          <p:cNvSpPr>
            <a:spLocks noGrp="1"/>
          </p:cNvSpPr>
          <p:nvPr>
            <p:ph type="sldNum" sz="quarter" idx="12"/>
          </p:nvPr>
        </p:nvSpPr>
        <p:spPr/>
        <p:txBody>
          <a:bodyPr/>
          <a:lstStyle/>
          <a:p>
            <a:fld id="{D5CDCF7C-E921-4E16-B1F4-CCBDDF795F8F}" type="slidenum">
              <a:rPr lang="en-US" smtClean="0"/>
              <a:t>‹#›</a:t>
            </a:fld>
            <a:endParaRPr lang="en-US"/>
          </a:p>
        </p:txBody>
      </p:sp>
    </p:spTree>
    <p:extLst>
      <p:ext uri="{BB962C8B-B14F-4D97-AF65-F5344CB8AC3E}">
        <p14:creationId xmlns:p14="http://schemas.microsoft.com/office/powerpoint/2010/main" val="4146812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2B925D3-F290-BAF8-BEE4-42E1618C1101}"/>
              </a:ext>
            </a:extLst>
          </p:cNvPr>
          <p:cNvSpPr>
            <a:spLocks noGrp="1"/>
          </p:cNvSpPr>
          <p:nvPr>
            <p:ph type="dt" sz="half" idx="10"/>
          </p:nvPr>
        </p:nvSpPr>
        <p:spPr/>
        <p:txBody>
          <a:bodyPr/>
          <a:lstStyle/>
          <a:p>
            <a:fld id="{6CCF14FF-B78A-4F3D-B3AE-262C96014791}" type="datetimeFigureOut">
              <a:rPr lang="en-US" smtClean="0"/>
              <a:t>9/15/2024</a:t>
            </a:fld>
            <a:endParaRPr lang="en-US"/>
          </a:p>
        </p:txBody>
      </p:sp>
      <p:sp>
        <p:nvSpPr>
          <p:cNvPr id="3" name="Footer Placeholder 2">
            <a:extLst>
              <a:ext uri="{FF2B5EF4-FFF2-40B4-BE49-F238E27FC236}">
                <a16:creationId xmlns:a16="http://schemas.microsoft.com/office/drawing/2014/main" id="{3CCD257C-DF86-7369-F9C4-3B3C042EB71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5B3976D-65A2-16BE-6BFD-4AFEB50322F5}"/>
              </a:ext>
            </a:extLst>
          </p:cNvPr>
          <p:cNvSpPr>
            <a:spLocks noGrp="1"/>
          </p:cNvSpPr>
          <p:nvPr>
            <p:ph type="sldNum" sz="quarter" idx="12"/>
          </p:nvPr>
        </p:nvSpPr>
        <p:spPr/>
        <p:txBody>
          <a:bodyPr/>
          <a:lstStyle/>
          <a:p>
            <a:fld id="{D5CDCF7C-E921-4E16-B1F4-CCBDDF795F8F}" type="slidenum">
              <a:rPr lang="en-US" smtClean="0"/>
              <a:t>‹#›</a:t>
            </a:fld>
            <a:endParaRPr lang="en-US"/>
          </a:p>
        </p:txBody>
      </p:sp>
    </p:spTree>
    <p:extLst>
      <p:ext uri="{BB962C8B-B14F-4D97-AF65-F5344CB8AC3E}">
        <p14:creationId xmlns:p14="http://schemas.microsoft.com/office/powerpoint/2010/main" val="33994776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17DF18-0256-675F-984C-E9DEB45B5B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E9275AB-DCC3-4447-03C2-333412F685F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696A280F-EF3B-3780-A399-B0BFE49C23A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99DA6B3-91F5-2909-AA79-001E1CCFE016}"/>
              </a:ext>
            </a:extLst>
          </p:cNvPr>
          <p:cNvSpPr>
            <a:spLocks noGrp="1"/>
          </p:cNvSpPr>
          <p:nvPr>
            <p:ph type="dt" sz="half" idx="10"/>
          </p:nvPr>
        </p:nvSpPr>
        <p:spPr/>
        <p:txBody>
          <a:bodyPr/>
          <a:lstStyle/>
          <a:p>
            <a:fld id="{6CCF14FF-B78A-4F3D-B3AE-262C96014791}" type="datetimeFigureOut">
              <a:rPr lang="en-US" smtClean="0"/>
              <a:t>9/15/2024</a:t>
            </a:fld>
            <a:endParaRPr lang="en-US"/>
          </a:p>
        </p:txBody>
      </p:sp>
      <p:sp>
        <p:nvSpPr>
          <p:cNvPr id="6" name="Footer Placeholder 5">
            <a:extLst>
              <a:ext uri="{FF2B5EF4-FFF2-40B4-BE49-F238E27FC236}">
                <a16:creationId xmlns:a16="http://schemas.microsoft.com/office/drawing/2014/main" id="{98B67CFD-EEBE-576E-0F7C-1D06E6879A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098F55-077B-D6E3-C843-0222A89D3ABC}"/>
              </a:ext>
            </a:extLst>
          </p:cNvPr>
          <p:cNvSpPr>
            <a:spLocks noGrp="1"/>
          </p:cNvSpPr>
          <p:nvPr>
            <p:ph type="sldNum" sz="quarter" idx="12"/>
          </p:nvPr>
        </p:nvSpPr>
        <p:spPr/>
        <p:txBody>
          <a:bodyPr/>
          <a:lstStyle/>
          <a:p>
            <a:fld id="{D5CDCF7C-E921-4E16-B1F4-CCBDDF795F8F}" type="slidenum">
              <a:rPr lang="en-US" smtClean="0"/>
              <a:t>‹#›</a:t>
            </a:fld>
            <a:endParaRPr lang="en-US"/>
          </a:p>
        </p:txBody>
      </p:sp>
    </p:spTree>
    <p:extLst>
      <p:ext uri="{BB962C8B-B14F-4D97-AF65-F5344CB8AC3E}">
        <p14:creationId xmlns:p14="http://schemas.microsoft.com/office/powerpoint/2010/main" val="1587596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3B3AD-E710-0D88-FB17-34FA9978F6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1AE813F-9A62-E011-7D8C-089C1F4563E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51569E-7639-1049-4708-ABBCB03997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BB3098-E481-4309-B9EC-2C87422E7200}"/>
              </a:ext>
            </a:extLst>
          </p:cNvPr>
          <p:cNvSpPr>
            <a:spLocks noGrp="1"/>
          </p:cNvSpPr>
          <p:nvPr>
            <p:ph type="dt" sz="half" idx="10"/>
          </p:nvPr>
        </p:nvSpPr>
        <p:spPr/>
        <p:txBody>
          <a:bodyPr/>
          <a:lstStyle/>
          <a:p>
            <a:fld id="{6CCF14FF-B78A-4F3D-B3AE-262C96014791}" type="datetimeFigureOut">
              <a:rPr lang="en-US" smtClean="0"/>
              <a:t>9/15/2024</a:t>
            </a:fld>
            <a:endParaRPr lang="en-US"/>
          </a:p>
        </p:txBody>
      </p:sp>
      <p:sp>
        <p:nvSpPr>
          <p:cNvPr id="6" name="Footer Placeholder 5">
            <a:extLst>
              <a:ext uri="{FF2B5EF4-FFF2-40B4-BE49-F238E27FC236}">
                <a16:creationId xmlns:a16="http://schemas.microsoft.com/office/drawing/2014/main" id="{0405FFFE-33B8-DC2B-6E1F-CE9611B70D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7F0A28-332D-E262-DF76-4F94D43EE5ED}"/>
              </a:ext>
            </a:extLst>
          </p:cNvPr>
          <p:cNvSpPr>
            <a:spLocks noGrp="1"/>
          </p:cNvSpPr>
          <p:nvPr>
            <p:ph type="sldNum" sz="quarter" idx="12"/>
          </p:nvPr>
        </p:nvSpPr>
        <p:spPr/>
        <p:txBody>
          <a:bodyPr/>
          <a:lstStyle/>
          <a:p>
            <a:fld id="{D5CDCF7C-E921-4E16-B1F4-CCBDDF795F8F}" type="slidenum">
              <a:rPr lang="en-US" smtClean="0"/>
              <a:t>‹#›</a:t>
            </a:fld>
            <a:endParaRPr lang="en-US"/>
          </a:p>
        </p:txBody>
      </p:sp>
    </p:spTree>
    <p:extLst>
      <p:ext uri="{BB962C8B-B14F-4D97-AF65-F5344CB8AC3E}">
        <p14:creationId xmlns:p14="http://schemas.microsoft.com/office/powerpoint/2010/main" val="8717713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B2B75-1AA4-A0EF-D625-0C8C348124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6920307-5051-0894-B536-B8A3812B01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851D05F-9785-016B-C834-7AC7936A6D7C}"/>
              </a:ext>
            </a:extLst>
          </p:cNvPr>
          <p:cNvSpPr>
            <a:spLocks noGrp="1"/>
          </p:cNvSpPr>
          <p:nvPr>
            <p:ph type="dt" sz="half" idx="10"/>
          </p:nvPr>
        </p:nvSpPr>
        <p:spPr/>
        <p:txBody>
          <a:bodyPr/>
          <a:lstStyle/>
          <a:p>
            <a:fld id="{6CCF14FF-B78A-4F3D-B3AE-262C96014791}" type="datetimeFigureOut">
              <a:rPr lang="en-US" smtClean="0"/>
              <a:t>9/15/2024</a:t>
            </a:fld>
            <a:endParaRPr lang="en-US"/>
          </a:p>
        </p:txBody>
      </p:sp>
      <p:sp>
        <p:nvSpPr>
          <p:cNvPr id="5" name="Footer Placeholder 4">
            <a:extLst>
              <a:ext uri="{FF2B5EF4-FFF2-40B4-BE49-F238E27FC236}">
                <a16:creationId xmlns:a16="http://schemas.microsoft.com/office/drawing/2014/main" id="{B4E908BE-20B4-021D-1EFD-C390C6BCBB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7FB08A-6F63-59B7-FEE2-82F404C49D29}"/>
              </a:ext>
            </a:extLst>
          </p:cNvPr>
          <p:cNvSpPr>
            <a:spLocks noGrp="1"/>
          </p:cNvSpPr>
          <p:nvPr>
            <p:ph type="sldNum" sz="quarter" idx="12"/>
          </p:nvPr>
        </p:nvSpPr>
        <p:spPr/>
        <p:txBody>
          <a:bodyPr/>
          <a:lstStyle/>
          <a:p>
            <a:fld id="{D5CDCF7C-E921-4E16-B1F4-CCBDDF795F8F}" type="slidenum">
              <a:rPr lang="en-US" smtClean="0"/>
              <a:t>‹#›</a:t>
            </a:fld>
            <a:endParaRPr lang="en-US"/>
          </a:p>
        </p:txBody>
      </p:sp>
    </p:spTree>
    <p:extLst>
      <p:ext uri="{BB962C8B-B14F-4D97-AF65-F5344CB8AC3E}">
        <p14:creationId xmlns:p14="http://schemas.microsoft.com/office/powerpoint/2010/main" val="2212693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E002851-E956-8651-9BE0-6DD9A15DCF9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C5256DD-B3D5-C9A1-E935-70141C5C52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A5A3DD-89F2-BD8E-573C-47E9732F2B2C}"/>
              </a:ext>
            </a:extLst>
          </p:cNvPr>
          <p:cNvSpPr>
            <a:spLocks noGrp="1"/>
          </p:cNvSpPr>
          <p:nvPr>
            <p:ph type="dt" sz="half" idx="10"/>
          </p:nvPr>
        </p:nvSpPr>
        <p:spPr/>
        <p:txBody>
          <a:bodyPr/>
          <a:lstStyle/>
          <a:p>
            <a:fld id="{6CCF14FF-B78A-4F3D-B3AE-262C96014791}" type="datetimeFigureOut">
              <a:rPr lang="en-US" smtClean="0"/>
              <a:t>9/15/2024</a:t>
            </a:fld>
            <a:endParaRPr lang="en-US"/>
          </a:p>
        </p:txBody>
      </p:sp>
      <p:sp>
        <p:nvSpPr>
          <p:cNvPr id="5" name="Footer Placeholder 4">
            <a:extLst>
              <a:ext uri="{FF2B5EF4-FFF2-40B4-BE49-F238E27FC236}">
                <a16:creationId xmlns:a16="http://schemas.microsoft.com/office/drawing/2014/main" id="{94D92159-17C1-4A96-6119-35C78F8EF5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10D980-2670-008C-8801-A6231AA7C1DC}"/>
              </a:ext>
            </a:extLst>
          </p:cNvPr>
          <p:cNvSpPr>
            <a:spLocks noGrp="1"/>
          </p:cNvSpPr>
          <p:nvPr>
            <p:ph type="sldNum" sz="quarter" idx="12"/>
          </p:nvPr>
        </p:nvSpPr>
        <p:spPr/>
        <p:txBody>
          <a:bodyPr/>
          <a:lstStyle/>
          <a:p>
            <a:fld id="{D5CDCF7C-E921-4E16-B1F4-CCBDDF795F8F}" type="slidenum">
              <a:rPr lang="en-US" smtClean="0"/>
              <a:t>‹#›</a:t>
            </a:fld>
            <a:endParaRPr lang="en-US"/>
          </a:p>
        </p:txBody>
      </p:sp>
    </p:spTree>
    <p:extLst>
      <p:ext uri="{BB962C8B-B14F-4D97-AF65-F5344CB8AC3E}">
        <p14:creationId xmlns:p14="http://schemas.microsoft.com/office/powerpoint/2010/main" val="27433660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B768CD6-9D38-6EC0-6435-7E5374992E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AC946E6-EDD3-673F-4390-AF8A3AE3FA8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8965EF-1C1D-7527-195F-3A43B798076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CCF14FF-B78A-4F3D-B3AE-262C96014791}" type="datetimeFigureOut">
              <a:rPr lang="en-US" smtClean="0"/>
              <a:t>9/15/2024</a:t>
            </a:fld>
            <a:endParaRPr lang="en-US"/>
          </a:p>
        </p:txBody>
      </p:sp>
      <p:sp>
        <p:nvSpPr>
          <p:cNvPr id="5" name="Footer Placeholder 4">
            <a:extLst>
              <a:ext uri="{FF2B5EF4-FFF2-40B4-BE49-F238E27FC236}">
                <a16:creationId xmlns:a16="http://schemas.microsoft.com/office/drawing/2014/main" id="{8AE74796-566A-11B2-2679-E65F8758679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9283099-6AB7-19E7-3F7A-9DA060C2F2F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CDCF7C-E921-4E16-B1F4-CCBDDF795F8F}" type="slidenum">
              <a:rPr lang="en-US" smtClean="0"/>
              <a:t>‹#›</a:t>
            </a:fld>
            <a:endParaRPr lang="en-US"/>
          </a:p>
        </p:txBody>
      </p:sp>
    </p:spTree>
    <p:extLst>
      <p:ext uri="{BB962C8B-B14F-4D97-AF65-F5344CB8AC3E}">
        <p14:creationId xmlns:p14="http://schemas.microsoft.com/office/powerpoint/2010/main" val="15322047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3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4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4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9.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493948" y="2360116"/>
            <a:ext cx="6595183" cy="2137765"/>
          </a:xfrm>
          <a:prstGeom prst="rect">
            <a:avLst/>
          </a:prstGeom>
        </p:spPr>
        <p:txBody>
          <a:bodyPr vert="horz" wrap="square" lIns="0" tIns="97790" rIns="0" bIns="0" rtlCol="0" anchor="ctr">
            <a:spAutoFit/>
          </a:bodyPr>
          <a:lstStyle/>
          <a:p>
            <a:pPr marL="12700" marR="5080">
              <a:lnSpc>
                <a:spcPts val="5290"/>
              </a:lnSpc>
              <a:spcBef>
                <a:spcPts val="770"/>
              </a:spcBef>
            </a:pPr>
            <a:r>
              <a:rPr lang="en-US" sz="4900" spc="-10" dirty="0">
                <a:latin typeface="Calibri"/>
                <a:cs typeface="Calibri"/>
              </a:rPr>
              <a:t>Lecture 1: C Programming in UNIX Environment</a:t>
            </a:r>
            <a:br>
              <a:rPr lang="en-US" sz="4900" dirty="0">
                <a:latin typeface="Calibri"/>
                <a:cs typeface="Calibri"/>
              </a:rPr>
            </a:br>
            <a:r>
              <a:rPr lang="en-US" sz="4900" spc="-10" dirty="0"/>
              <a:t> </a:t>
            </a:r>
            <a:endParaRPr lang="en-US" sz="4900" dirty="0">
              <a:latin typeface="Times New Roman"/>
              <a:cs typeface="Times New Roman"/>
            </a:endParaRPr>
          </a:p>
        </p:txBody>
      </p:sp>
      <p:sp>
        <p:nvSpPr>
          <p:cNvPr id="3" name="object 3"/>
          <p:cNvSpPr txBox="1"/>
          <p:nvPr/>
        </p:nvSpPr>
        <p:spPr>
          <a:xfrm>
            <a:off x="5493948" y="5264148"/>
            <a:ext cx="4125595" cy="591187"/>
          </a:xfrm>
          <a:prstGeom prst="rect">
            <a:avLst/>
          </a:prstGeom>
        </p:spPr>
        <p:txBody>
          <a:bodyPr vert="horz" wrap="square" lIns="0" tIns="97790" rIns="0" bIns="0" rtlCol="0">
            <a:spAutoFit/>
          </a:bodyPr>
          <a:lstStyle/>
          <a:p>
            <a:pPr marL="12700">
              <a:spcBef>
                <a:spcPts val="439"/>
              </a:spcBef>
            </a:pPr>
            <a:r>
              <a:rPr sz="3200" spc="-120" dirty="0">
                <a:solidFill>
                  <a:srgbClr val="888888"/>
                </a:solidFill>
                <a:latin typeface="Calibri"/>
                <a:cs typeface="Calibri"/>
              </a:rPr>
              <a:t>Dr.</a:t>
            </a:r>
            <a:r>
              <a:rPr sz="3200" spc="-80" dirty="0">
                <a:solidFill>
                  <a:srgbClr val="888888"/>
                </a:solidFill>
                <a:latin typeface="Times New Roman"/>
                <a:cs typeface="Times New Roman"/>
              </a:rPr>
              <a:t> </a:t>
            </a:r>
            <a:r>
              <a:rPr lang="en-US" sz="3200" dirty="0">
                <a:solidFill>
                  <a:srgbClr val="888888"/>
                </a:solidFill>
                <a:latin typeface="Calibri"/>
                <a:cs typeface="Calibri"/>
              </a:rPr>
              <a:t>Amir Yavariabdi</a:t>
            </a:r>
            <a:endParaRPr sz="3200" dirty="0">
              <a:latin typeface="Calibri"/>
              <a:cs typeface="Calibri"/>
            </a:endParaRPr>
          </a:p>
        </p:txBody>
      </p:sp>
      <p:pic>
        <p:nvPicPr>
          <p:cNvPr id="4" name="object 4"/>
          <p:cNvPicPr/>
          <p:nvPr/>
        </p:nvPicPr>
        <p:blipFill>
          <a:blip r:embed="rId2" cstate="print"/>
          <a:stretch>
            <a:fillRect/>
          </a:stretch>
        </p:blipFill>
        <p:spPr>
          <a:xfrm>
            <a:off x="851180" y="1905381"/>
            <a:ext cx="3054857" cy="3047237"/>
          </a:xfrm>
          <a:prstGeom prst="rect">
            <a:avLst/>
          </a:prstGeom>
        </p:spPr>
      </p:pic>
      <p:sp>
        <p:nvSpPr>
          <p:cNvPr id="5" name="object 5"/>
          <p:cNvSpPr/>
          <p:nvPr/>
        </p:nvSpPr>
        <p:spPr>
          <a:xfrm>
            <a:off x="5493948" y="746759"/>
            <a:ext cx="843915" cy="847090"/>
          </a:xfrm>
          <a:custGeom>
            <a:avLst/>
            <a:gdLst/>
            <a:ahLst/>
            <a:cxnLst/>
            <a:rect l="l" t="t" r="r" b="b"/>
            <a:pathLst>
              <a:path w="843914" h="847090">
                <a:moveTo>
                  <a:pt x="143570" y="846582"/>
                </a:moveTo>
                <a:lnTo>
                  <a:pt x="112633" y="823366"/>
                </a:lnTo>
                <a:lnTo>
                  <a:pt x="4352" y="573100"/>
                </a:lnTo>
                <a:lnTo>
                  <a:pt x="0" y="549021"/>
                </a:lnTo>
                <a:lnTo>
                  <a:pt x="1088" y="536334"/>
                </a:lnTo>
                <a:lnTo>
                  <a:pt x="112633" y="274675"/>
                </a:lnTo>
                <a:lnTo>
                  <a:pt x="143570" y="251460"/>
                </a:lnTo>
                <a:lnTo>
                  <a:pt x="360143" y="251460"/>
                </a:lnTo>
                <a:lnTo>
                  <a:pt x="391080" y="274675"/>
                </a:lnTo>
                <a:lnTo>
                  <a:pt x="499360" y="524941"/>
                </a:lnTo>
                <a:lnTo>
                  <a:pt x="503227" y="549021"/>
                </a:lnTo>
                <a:lnTo>
                  <a:pt x="502261" y="561707"/>
                </a:lnTo>
                <a:lnTo>
                  <a:pt x="391080" y="823366"/>
                </a:lnTo>
                <a:lnTo>
                  <a:pt x="360143" y="846582"/>
                </a:lnTo>
                <a:lnTo>
                  <a:pt x="143570" y="846582"/>
                </a:lnTo>
                <a:close/>
              </a:path>
              <a:path w="843914" h="847090">
                <a:moveTo>
                  <a:pt x="549741" y="484632"/>
                </a:moveTo>
                <a:lnTo>
                  <a:pt x="436102" y="261924"/>
                </a:lnTo>
                <a:lnTo>
                  <a:pt x="432549" y="242316"/>
                </a:lnTo>
                <a:lnTo>
                  <a:pt x="433437" y="231985"/>
                </a:lnTo>
                <a:lnTo>
                  <a:pt x="524494" y="18910"/>
                </a:lnTo>
                <a:lnTo>
                  <a:pt x="549741" y="0"/>
                </a:lnTo>
                <a:lnTo>
                  <a:pt x="726513" y="0"/>
                </a:lnTo>
                <a:lnTo>
                  <a:pt x="840165" y="222707"/>
                </a:lnTo>
                <a:lnTo>
                  <a:pt x="843318" y="242316"/>
                </a:lnTo>
                <a:lnTo>
                  <a:pt x="842529" y="252646"/>
                </a:lnTo>
                <a:lnTo>
                  <a:pt x="751773" y="465721"/>
                </a:lnTo>
                <a:lnTo>
                  <a:pt x="726513" y="484632"/>
                </a:lnTo>
                <a:lnTo>
                  <a:pt x="549741" y="484632"/>
                </a:lnTo>
                <a:close/>
              </a:path>
            </a:pathLst>
          </a:custGeom>
          <a:ln w="28575">
            <a:solidFill>
              <a:srgbClr val="000000"/>
            </a:solidFill>
          </a:ln>
        </p:spPr>
        <p:txBody>
          <a:bodyPr wrap="square" lIns="0" tIns="0" rIns="0" bIns="0" rtlCol="0"/>
          <a:lstStyle/>
          <a:p>
            <a:endParaRPr dirty="0"/>
          </a:p>
        </p:txBody>
      </p:sp>
      <p:sp>
        <p:nvSpPr>
          <p:cNvPr id="7" name="object 7"/>
          <p:cNvSpPr txBox="1"/>
          <p:nvPr/>
        </p:nvSpPr>
        <p:spPr>
          <a:xfrm>
            <a:off x="10038245" y="6195312"/>
            <a:ext cx="102870" cy="197490"/>
          </a:xfrm>
          <a:prstGeom prst="rect">
            <a:avLst/>
          </a:prstGeom>
        </p:spPr>
        <p:txBody>
          <a:bodyPr vert="horz" wrap="square" lIns="0" tIns="12700" rIns="0" bIns="0" rtlCol="0">
            <a:spAutoFit/>
          </a:bodyPr>
          <a:lstStyle/>
          <a:p>
            <a:pPr marL="12700">
              <a:spcBef>
                <a:spcPts val="100"/>
              </a:spcBef>
            </a:pPr>
            <a:r>
              <a:rPr sz="1200" spc="-50" dirty="0">
                <a:solidFill>
                  <a:srgbClr val="FFFFFF"/>
                </a:solidFill>
                <a:latin typeface="Calibri"/>
                <a:cs typeface="Calibri"/>
              </a:rPr>
              <a:t>1</a:t>
            </a:r>
            <a:endParaRPr sz="1200" dirty="0">
              <a:latin typeface="Calibri"/>
              <a:cs typeface="Calibri"/>
            </a:endParaRPr>
          </a:p>
        </p:txBody>
      </p:sp>
      <p:sp>
        <p:nvSpPr>
          <p:cNvPr id="6" name="object 3">
            <a:extLst>
              <a:ext uri="{FF2B5EF4-FFF2-40B4-BE49-F238E27FC236}">
                <a16:creationId xmlns:a16="http://schemas.microsoft.com/office/drawing/2014/main" id="{9E363249-E6F3-9319-3532-431A26DB72F0}"/>
              </a:ext>
            </a:extLst>
          </p:cNvPr>
          <p:cNvSpPr txBox="1"/>
          <p:nvPr/>
        </p:nvSpPr>
        <p:spPr>
          <a:xfrm>
            <a:off x="5493948" y="6195312"/>
            <a:ext cx="4125595" cy="375744"/>
          </a:xfrm>
          <a:prstGeom prst="rect">
            <a:avLst/>
          </a:prstGeom>
        </p:spPr>
        <p:txBody>
          <a:bodyPr vert="horz" wrap="square" lIns="0" tIns="97790" rIns="0" bIns="0" rtlCol="0">
            <a:spAutoFit/>
          </a:bodyPr>
          <a:lstStyle/>
          <a:p>
            <a:pPr marL="12700">
              <a:spcBef>
                <a:spcPts val="439"/>
              </a:spcBef>
            </a:pPr>
            <a:r>
              <a:rPr lang="en-US" spc="-120" dirty="0">
                <a:solidFill>
                  <a:srgbClr val="888888"/>
                </a:solidFill>
                <a:latin typeface="Calibri"/>
                <a:cs typeface="Calibri"/>
              </a:rPr>
              <a:t>amir.yavariabdi@bth.se</a:t>
            </a:r>
            <a:endParaRPr dirty="0">
              <a:latin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BA432-8E18-8EDD-C8E2-5992929D044A}"/>
              </a:ext>
            </a:extLst>
          </p:cNvPr>
          <p:cNvSpPr>
            <a:spLocks noGrp="1"/>
          </p:cNvSpPr>
          <p:nvPr>
            <p:ph type="title"/>
          </p:nvPr>
        </p:nvSpPr>
        <p:spPr/>
        <p:txBody>
          <a:bodyPr/>
          <a:lstStyle/>
          <a:p>
            <a:r>
              <a:rPr lang="en-GB" b="1" dirty="0"/>
              <a:t>Supplementary Reading Material</a:t>
            </a:r>
          </a:p>
        </p:txBody>
      </p:sp>
      <p:sp>
        <p:nvSpPr>
          <p:cNvPr id="3" name="Content Placeholder 2">
            <a:extLst>
              <a:ext uri="{FF2B5EF4-FFF2-40B4-BE49-F238E27FC236}">
                <a16:creationId xmlns:a16="http://schemas.microsoft.com/office/drawing/2014/main" id="{CD27075F-7B2C-DBF9-D826-28A81AA2FA56}"/>
              </a:ext>
            </a:extLst>
          </p:cNvPr>
          <p:cNvSpPr>
            <a:spLocks noGrp="1"/>
          </p:cNvSpPr>
          <p:nvPr>
            <p:ph idx="1"/>
          </p:nvPr>
        </p:nvSpPr>
        <p:spPr/>
        <p:txBody>
          <a:bodyPr>
            <a:normAutofit/>
          </a:bodyPr>
          <a:lstStyle/>
          <a:p>
            <a:r>
              <a:rPr lang="en-US" sz="2200" dirty="0"/>
              <a:t>In the next four lectures, we will be using the book </a:t>
            </a:r>
          </a:p>
          <a:p>
            <a:pPr marL="0" indent="0">
              <a:buNone/>
            </a:pPr>
            <a:endParaRPr lang="en-US" sz="2200" dirty="0"/>
          </a:p>
          <a:p>
            <a:pPr marL="0" indent="0">
              <a:buNone/>
            </a:pPr>
            <a:r>
              <a:rPr lang="en-US" sz="2200" b="1" dirty="0"/>
              <a:t>System Programming with C and Unix by Hoover, Adam (Addison-Wesley, Clemson University) </a:t>
            </a:r>
          </a:p>
          <a:p>
            <a:pPr marL="0" indent="0">
              <a:buNone/>
            </a:pPr>
            <a:endParaRPr lang="en-US" sz="2200" dirty="0"/>
          </a:p>
          <a:p>
            <a:pPr marL="0" indent="0">
              <a:buNone/>
            </a:pPr>
            <a:r>
              <a:rPr lang="en-US" sz="2200" dirty="0"/>
              <a:t>alongside the main reference book for the course. </a:t>
            </a:r>
          </a:p>
          <a:p>
            <a:pPr marL="0" indent="0">
              <a:buNone/>
            </a:pPr>
            <a:endParaRPr lang="en-US" sz="2200" dirty="0"/>
          </a:p>
          <a:p>
            <a:r>
              <a:rPr lang="en-US" sz="2200" dirty="0"/>
              <a:t>While it is not the primary reference, it will serve as a supplementary resource.</a:t>
            </a:r>
            <a:endParaRPr lang="en-GB" sz="2200" dirty="0"/>
          </a:p>
        </p:txBody>
      </p:sp>
    </p:spTree>
    <p:extLst>
      <p:ext uri="{BB962C8B-B14F-4D97-AF65-F5344CB8AC3E}">
        <p14:creationId xmlns:p14="http://schemas.microsoft.com/office/powerpoint/2010/main" val="1762256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2BA432-8E18-8EDD-C8E2-5992929D044A}"/>
              </a:ext>
            </a:extLst>
          </p:cNvPr>
          <p:cNvSpPr>
            <a:spLocks noGrp="1"/>
          </p:cNvSpPr>
          <p:nvPr>
            <p:ph type="title"/>
          </p:nvPr>
        </p:nvSpPr>
        <p:spPr/>
        <p:txBody>
          <a:bodyPr/>
          <a:lstStyle/>
          <a:p>
            <a:r>
              <a:rPr lang="en-GB" b="1" dirty="0"/>
              <a:t>Lectures</a:t>
            </a:r>
          </a:p>
        </p:txBody>
      </p:sp>
      <p:graphicFrame>
        <p:nvGraphicFramePr>
          <p:cNvPr id="5" name="Table 4">
            <a:extLst>
              <a:ext uri="{FF2B5EF4-FFF2-40B4-BE49-F238E27FC236}">
                <a16:creationId xmlns:a16="http://schemas.microsoft.com/office/drawing/2014/main" id="{350BE748-CC6C-A5B0-6DD6-CFBA5A11A83B}"/>
              </a:ext>
            </a:extLst>
          </p:cNvPr>
          <p:cNvGraphicFramePr>
            <a:graphicFrameLocks noGrp="1"/>
          </p:cNvGraphicFramePr>
          <p:nvPr>
            <p:extLst>
              <p:ext uri="{D42A27DB-BD31-4B8C-83A1-F6EECF244321}">
                <p14:modId xmlns:p14="http://schemas.microsoft.com/office/powerpoint/2010/main" val="996607534"/>
              </p:ext>
            </p:extLst>
          </p:nvPr>
        </p:nvGraphicFramePr>
        <p:xfrm>
          <a:off x="2032000" y="1945640"/>
          <a:ext cx="8128000" cy="431292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902905405"/>
                    </a:ext>
                  </a:extLst>
                </a:gridCol>
                <a:gridCol w="2247900">
                  <a:extLst>
                    <a:ext uri="{9D8B030D-6E8A-4147-A177-3AD203B41FA5}">
                      <a16:colId xmlns:a16="http://schemas.microsoft.com/office/drawing/2014/main" val="2767116266"/>
                    </a:ext>
                  </a:extLst>
                </a:gridCol>
                <a:gridCol w="1835150">
                  <a:extLst>
                    <a:ext uri="{9D8B030D-6E8A-4147-A177-3AD203B41FA5}">
                      <a16:colId xmlns:a16="http://schemas.microsoft.com/office/drawing/2014/main" val="3462049879"/>
                    </a:ext>
                  </a:extLst>
                </a:gridCol>
                <a:gridCol w="1835150">
                  <a:extLst>
                    <a:ext uri="{9D8B030D-6E8A-4147-A177-3AD203B41FA5}">
                      <a16:colId xmlns:a16="http://schemas.microsoft.com/office/drawing/2014/main" val="3627495531"/>
                    </a:ext>
                  </a:extLst>
                </a:gridCol>
              </a:tblGrid>
              <a:tr h="370840">
                <a:tc>
                  <a:txBody>
                    <a:bodyPr/>
                    <a:lstStyle/>
                    <a:p>
                      <a:r>
                        <a:rPr lang="en-GB" dirty="0"/>
                        <a:t>Date</a:t>
                      </a:r>
                    </a:p>
                  </a:txBody>
                  <a:tcPr/>
                </a:tc>
                <a:tc>
                  <a:txBody>
                    <a:bodyPr/>
                    <a:lstStyle/>
                    <a:p>
                      <a:r>
                        <a:rPr lang="en-GB" dirty="0"/>
                        <a:t>Task</a:t>
                      </a:r>
                    </a:p>
                  </a:txBody>
                  <a:tcPr/>
                </a:tc>
                <a:tc>
                  <a:txBody>
                    <a:bodyPr/>
                    <a:lstStyle/>
                    <a:p>
                      <a:r>
                        <a:rPr lang="en-GB" dirty="0"/>
                        <a:t>Time</a:t>
                      </a:r>
                    </a:p>
                  </a:txBody>
                  <a:tcPr/>
                </a:tc>
                <a:tc>
                  <a:txBody>
                    <a:bodyPr/>
                    <a:lstStyle/>
                    <a:p>
                      <a:r>
                        <a:rPr lang="en-GB" dirty="0"/>
                        <a:t>Room</a:t>
                      </a:r>
                    </a:p>
                  </a:txBody>
                  <a:tcPr/>
                </a:tc>
                <a:extLst>
                  <a:ext uri="{0D108BD9-81ED-4DB2-BD59-A6C34878D82A}">
                    <a16:rowId xmlns:a16="http://schemas.microsoft.com/office/drawing/2014/main" val="240454951"/>
                  </a:ext>
                </a:extLst>
              </a:tr>
              <a:tr h="370840">
                <a:tc>
                  <a:txBody>
                    <a:bodyPr/>
                    <a:lstStyle/>
                    <a:p>
                      <a:r>
                        <a:rPr lang="en-GB" dirty="0"/>
                        <a:t>16/09/2024</a:t>
                      </a:r>
                    </a:p>
                  </a:txBody>
                  <a:tcPr/>
                </a:tc>
                <a:tc>
                  <a:txBody>
                    <a:bodyPr/>
                    <a:lstStyle/>
                    <a:p>
                      <a:r>
                        <a:rPr lang="en-GB" dirty="0"/>
                        <a:t>Lecture 1</a:t>
                      </a:r>
                    </a:p>
                  </a:txBody>
                  <a:tcPr/>
                </a:tc>
                <a:tc>
                  <a:txBody>
                    <a:bodyPr/>
                    <a:lstStyle/>
                    <a:p>
                      <a:r>
                        <a:rPr lang="en-GB" dirty="0"/>
                        <a:t>15:10-16:00</a:t>
                      </a:r>
                    </a:p>
                    <a:p>
                      <a:r>
                        <a:rPr lang="en-GB" dirty="0"/>
                        <a:t>16:10-17:00</a:t>
                      </a:r>
                    </a:p>
                  </a:txBody>
                  <a:tcPr/>
                </a:tc>
                <a:tc>
                  <a:txBody>
                    <a:bodyPr/>
                    <a:lstStyle/>
                    <a:p>
                      <a:r>
                        <a:rPr lang="en-GB" dirty="0"/>
                        <a:t>G340</a:t>
                      </a:r>
                    </a:p>
                  </a:txBody>
                  <a:tcPr/>
                </a:tc>
                <a:extLst>
                  <a:ext uri="{0D108BD9-81ED-4DB2-BD59-A6C34878D82A}">
                    <a16:rowId xmlns:a16="http://schemas.microsoft.com/office/drawing/2014/main" val="32461460"/>
                  </a:ext>
                </a:extLst>
              </a:tr>
              <a:tr h="370840">
                <a:tc>
                  <a:txBody>
                    <a:bodyPr/>
                    <a:lstStyle/>
                    <a:p>
                      <a:r>
                        <a:rPr lang="en-GB" dirty="0"/>
                        <a:t>17/09/2024</a:t>
                      </a:r>
                    </a:p>
                  </a:txBody>
                  <a:tcPr/>
                </a:tc>
                <a:tc>
                  <a:txBody>
                    <a:bodyPr/>
                    <a:lstStyle/>
                    <a:p>
                      <a:r>
                        <a:rPr lang="en-GB" dirty="0"/>
                        <a:t>Lecture 2</a:t>
                      </a:r>
                    </a:p>
                  </a:txBody>
                  <a:tcPr/>
                </a:tc>
                <a:tc>
                  <a:txBody>
                    <a:bodyPr/>
                    <a:lstStyle/>
                    <a:p>
                      <a:r>
                        <a:rPr lang="en-GB" dirty="0"/>
                        <a:t>8:10-9:00</a:t>
                      </a:r>
                    </a:p>
                    <a:p>
                      <a:r>
                        <a:rPr lang="en-GB" dirty="0"/>
                        <a:t>9:10-10:00</a:t>
                      </a:r>
                    </a:p>
                  </a:txBody>
                  <a:tcPr/>
                </a:tc>
                <a:tc>
                  <a:txBody>
                    <a:bodyPr/>
                    <a:lstStyle/>
                    <a:p>
                      <a:r>
                        <a:rPr lang="en-GB" dirty="0"/>
                        <a:t>C313A</a:t>
                      </a:r>
                    </a:p>
                  </a:txBody>
                  <a:tcPr/>
                </a:tc>
                <a:extLst>
                  <a:ext uri="{0D108BD9-81ED-4DB2-BD59-A6C34878D82A}">
                    <a16:rowId xmlns:a16="http://schemas.microsoft.com/office/drawing/2014/main" val="3303828590"/>
                  </a:ext>
                </a:extLst>
              </a:tr>
              <a:tr h="370840">
                <a:tc>
                  <a:txBody>
                    <a:bodyPr/>
                    <a:lstStyle/>
                    <a:p>
                      <a:r>
                        <a:rPr lang="en-GB" dirty="0"/>
                        <a:t>18/09/2024</a:t>
                      </a:r>
                    </a:p>
                  </a:txBody>
                  <a:tcPr/>
                </a:tc>
                <a:tc>
                  <a:txBody>
                    <a:bodyPr/>
                    <a:lstStyle/>
                    <a:p>
                      <a:r>
                        <a:rPr lang="en-GB" dirty="0"/>
                        <a:t>Lecture 3</a:t>
                      </a:r>
                    </a:p>
                  </a:txBody>
                  <a:tcPr/>
                </a:tc>
                <a:tc>
                  <a:txBody>
                    <a:bodyPr/>
                    <a:lstStyle/>
                    <a:p>
                      <a:r>
                        <a:rPr lang="en-GB" dirty="0"/>
                        <a:t>13:10-14:00</a:t>
                      </a:r>
                    </a:p>
                    <a:p>
                      <a:r>
                        <a:rPr lang="en-GB" dirty="0"/>
                        <a:t>14:10-15:00</a:t>
                      </a:r>
                    </a:p>
                  </a:txBody>
                  <a:tcPr/>
                </a:tc>
                <a:tc>
                  <a:txBody>
                    <a:bodyPr/>
                    <a:lstStyle/>
                    <a:p>
                      <a:r>
                        <a:rPr lang="en-GB" dirty="0"/>
                        <a:t>G404</a:t>
                      </a:r>
                    </a:p>
                  </a:txBody>
                  <a:tcPr/>
                </a:tc>
                <a:extLst>
                  <a:ext uri="{0D108BD9-81ED-4DB2-BD59-A6C34878D82A}">
                    <a16:rowId xmlns:a16="http://schemas.microsoft.com/office/drawing/2014/main" val="1588906291"/>
                  </a:ext>
                </a:extLst>
              </a:tr>
              <a:tr h="370840">
                <a:tc>
                  <a:txBody>
                    <a:bodyPr/>
                    <a:lstStyle/>
                    <a:p>
                      <a:r>
                        <a:rPr lang="en-GB" dirty="0"/>
                        <a:t>23/09/2024</a:t>
                      </a:r>
                    </a:p>
                  </a:txBody>
                  <a:tcPr/>
                </a:tc>
                <a:tc>
                  <a:txBody>
                    <a:bodyPr/>
                    <a:lstStyle/>
                    <a:p>
                      <a:r>
                        <a:rPr lang="en-GB" dirty="0"/>
                        <a:t>Lecture 4</a:t>
                      </a:r>
                    </a:p>
                  </a:txBody>
                  <a:tcPr/>
                </a:tc>
                <a:tc>
                  <a:txBody>
                    <a:bodyPr/>
                    <a:lstStyle/>
                    <a:p>
                      <a:r>
                        <a:rPr lang="en-GB" dirty="0"/>
                        <a:t>8:10-9:00</a:t>
                      </a:r>
                    </a:p>
                    <a:p>
                      <a:r>
                        <a:rPr lang="en-GB" dirty="0"/>
                        <a:t>9:10-10:00</a:t>
                      </a:r>
                    </a:p>
                  </a:txBody>
                  <a:tcPr/>
                </a:tc>
                <a:tc>
                  <a:txBody>
                    <a:bodyPr/>
                    <a:lstStyle/>
                    <a:p>
                      <a:r>
                        <a:rPr lang="en-GB" dirty="0"/>
                        <a:t>G404</a:t>
                      </a:r>
                    </a:p>
                  </a:txBody>
                  <a:tcPr/>
                </a:tc>
                <a:extLst>
                  <a:ext uri="{0D108BD9-81ED-4DB2-BD59-A6C34878D82A}">
                    <a16:rowId xmlns:a16="http://schemas.microsoft.com/office/drawing/2014/main" val="3245435020"/>
                  </a:ext>
                </a:extLst>
              </a:tr>
              <a:tr h="370840">
                <a:tc>
                  <a:txBody>
                    <a:bodyPr/>
                    <a:lstStyle/>
                    <a:p>
                      <a:r>
                        <a:rPr lang="en-GB" dirty="0"/>
                        <a:t>25/09/2024</a:t>
                      </a:r>
                    </a:p>
                  </a:txBody>
                  <a:tcPr/>
                </a:tc>
                <a:tc>
                  <a:txBody>
                    <a:bodyPr/>
                    <a:lstStyle/>
                    <a:p>
                      <a:r>
                        <a:rPr lang="en-US" dirty="0"/>
                        <a:t>Lab Q&amp;A</a:t>
                      </a:r>
                      <a:endParaRPr lang="en-GB" dirty="0"/>
                    </a:p>
                  </a:txBody>
                  <a:tcPr/>
                </a:tc>
                <a:tc>
                  <a:txBody>
                    <a:bodyPr/>
                    <a:lstStyle/>
                    <a:p>
                      <a:r>
                        <a:rPr lang="en-GB" dirty="0"/>
                        <a:t>10:00-12:00</a:t>
                      </a:r>
                    </a:p>
                  </a:txBody>
                  <a:tcPr/>
                </a:tc>
                <a:tc>
                  <a:txBody>
                    <a:bodyPr/>
                    <a:lstStyle/>
                    <a:p>
                      <a:r>
                        <a:rPr lang="en-GB" dirty="0"/>
                        <a:t>J3118</a:t>
                      </a:r>
                    </a:p>
                  </a:txBody>
                  <a:tcPr/>
                </a:tc>
                <a:extLst>
                  <a:ext uri="{0D108BD9-81ED-4DB2-BD59-A6C34878D82A}">
                    <a16:rowId xmlns:a16="http://schemas.microsoft.com/office/drawing/2014/main" val="1593972701"/>
                  </a:ext>
                </a:extLst>
              </a:tr>
              <a:tr h="370840">
                <a:tc>
                  <a:txBody>
                    <a:bodyPr/>
                    <a:lstStyle/>
                    <a:p>
                      <a:r>
                        <a:rPr lang="en-GB" dirty="0"/>
                        <a:t>02/10/2024</a:t>
                      </a:r>
                    </a:p>
                  </a:txBody>
                  <a:tcPr/>
                </a:tc>
                <a:tc>
                  <a:txBody>
                    <a:bodyPr/>
                    <a:lstStyle/>
                    <a:p>
                      <a:r>
                        <a:rPr lang="en-US" dirty="0"/>
                        <a:t>Lab Q&amp;A</a:t>
                      </a:r>
                      <a:endParaRPr lang="en-GB" dirty="0"/>
                    </a:p>
                  </a:txBody>
                  <a:tcPr/>
                </a:tc>
                <a:tc>
                  <a:txBody>
                    <a:bodyPr/>
                    <a:lstStyle/>
                    <a:p>
                      <a:r>
                        <a:rPr lang="en-GB" dirty="0"/>
                        <a:t>8:00-11:00</a:t>
                      </a:r>
                    </a:p>
                  </a:txBody>
                  <a:tcPr/>
                </a:tc>
                <a:tc>
                  <a:txBody>
                    <a:bodyPr/>
                    <a:lstStyle/>
                    <a:p>
                      <a:r>
                        <a:rPr lang="en-GB" dirty="0"/>
                        <a:t>C245 ALC</a:t>
                      </a:r>
                    </a:p>
                  </a:txBody>
                  <a:tcPr/>
                </a:tc>
                <a:extLst>
                  <a:ext uri="{0D108BD9-81ED-4DB2-BD59-A6C34878D82A}">
                    <a16:rowId xmlns:a16="http://schemas.microsoft.com/office/drawing/2014/main" val="2660260253"/>
                  </a:ext>
                </a:extLst>
              </a:tr>
              <a:tr h="370840">
                <a:tc>
                  <a:txBody>
                    <a:bodyPr/>
                    <a:lstStyle/>
                    <a:p>
                      <a:r>
                        <a:rPr lang="en-GB" dirty="0"/>
                        <a:t>03/10/2024</a:t>
                      </a:r>
                    </a:p>
                  </a:txBody>
                  <a:tcPr/>
                </a:tc>
                <a:tc>
                  <a:txBody>
                    <a:bodyPr/>
                    <a:lstStyle/>
                    <a:p>
                      <a:r>
                        <a:rPr lang="en-US" dirty="0"/>
                        <a:t>Assignment Q&amp;A</a:t>
                      </a:r>
                      <a:endParaRPr lang="en-GB" dirty="0"/>
                    </a:p>
                  </a:txBody>
                  <a:tcPr/>
                </a:tc>
                <a:tc>
                  <a:txBody>
                    <a:bodyPr/>
                    <a:lstStyle/>
                    <a:p>
                      <a:r>
                        <a:rPr lang="en-GB" dirty="0"/>
                        <a:t>08:00-12:00</a:t>
                      </a:r>
                    </a:p>
                    <a:p>
                      <a:r>
                        <a:rPr lang="en-GB" dirty="0"/>
                        <a:t>13:00-17:00</a:t>
                      </a:r>
                    </a:p>
                  </a:txBody>
                  <a:tcPr/>
                </a:tc>
                <a:tc>
                  <a:txBody>
                    <a:bodyPr/>
                    <a:lstStyle/>
                    <a:p>
                      <a:r>
                        <a:rPr lang="en-GB" dirty="0"/>
                        <a:t>J1270 ALC</a:t>
                      </a:r>
                    </a:p>
                  </a:txBody>
                  <a:tcPr/>
                </a:tc>
                <a:extLst>
                  <a:ext uri="{0D108BD9-81ED-4DB2-BD59-A6C34878D82A}">
                    <a16:rowId xmlns:a16="http://schemas.microsoft.com/office/drawing/2014/main" val="1801779702"/>
                  </a:ext>
                </a:extLst>
              </a:tr>
            </a:tbl>
          </a:graphicData>
        </a:graphic>
      </p:graphicFrame>
    </p:spTree>
    <p:extLst>
      <p:ext uri="{BB962C8B-B14F-4D97-AF65-F5344CB8AC3E}">
        <p14:creationId xmlns:p14="http://schemas.microsoft.com/office/powerpoint/2010/main" val="342400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3E75C1-1794-5405-0B6E-952517360EF5}"/>
              </a:ext>
            </a:extLst>
          </p:cNvPr>
          <p:cNvSpPr>
            <a:spLocks noGrp="1"/>
          </p:cNvSpPr>
          <p:nvPr>
            <p:ph type="title"/>
          </p:nvPr>
        </p:nvSpPr>
        <p:spPr/>
        <p:txBody>
          <a:bodyPr/>
          <a:lstStyle/>
          <a:p>
            <a:r>
              <a:rPr lang="en-GB" b="1" dirty="0"/>
              <a:t>Outline</a:t>
            </a:r>
          </a:p>
        </p:txBody>
      </p:sp>
      <p:sp>
        <p:nvSpPr>
          <p:cNvPr id="3" name="Content Placeholder 2">
            <a:extLst>
              <a:ext uri="{FF2B5EF4-FFF2-40B4-BE49-F238E27FC236}">
                <a16:creationId xmlns:a16="http://schemas.microsoft.com/office/drawing/2014/main" id="{23F826C2-6788-3302-BDA3-FBF3E2E0B500}"/>
              </a:ext>
            </a:extLst>
          </p:cNvPr>
          <p:cNvSpPr>
            <a:spLocks noGrp="1"/>
          </p:cNvSpPr>
          <p:nvPr>
            <p:ph idx="1"/>
          </p:nvPr>
        </p:nvSpPr>
        <p:spPr/>
        <p:txBody>
          <a:bodyPr>
            <a:normAutofit/>
          </a:bodyPr>
          <a:lstStyle/>
          <a:p>
            <a:pPr algn="l" fontAlgn="base"/>
            <a:r>
              <a:rPr lang="en-US" sz="2400" b="0" i="0" dirty="0">
                <a:solidFill>
                  <a:srgbClr val="000000"/>
                </a:solidFill>
                <a:effectLst/>
                <a:highlight>
                  <a:srgbClr val="FFFFFF"/>
                </a:highlight>
                <a:latin typeface="Aptos" panose="020B0004020202020204" pitchFamily="34" charset="0"/>
              </a:rPr>
              <a:t>Introduction to System and Application Software with C and Unix</a:t>
            </a:r>
            <a:endParaRPr lang="en-US" sz="2400" dirty="0">
              <a:solidFill>
                <a:srgbClr val="000000"/>
              </a:solidFill>
              <a:highlight>
                <a:srgbClr val="FFFFFF"/>
              </a:highlight>
              <a:latin typeface="Aptos" panose="020B0004020202020204" pitchFamily="34" charset="0"/>
            </a:endParaRPr>
          </a:p>
          <a:p>
            <a:pPr algn="l" fontAlgn="base"/>
            <a:endParaRPr lang="en-US" sz="2400" dirty="0">
              <a:solidFill>
                <a:srgbClr val="000000"/>
              </a:solidFill>
              <a:highlight>
                <a:srgbClr val="FFFFFF"/>
              </a:highlight>
              <a:latin typeface="Aptos" panose="020B0004020202020204" pitchFamily="34" charset="0"/>
            </a:endParaRPr>
          </a:p>
          <a:p>
            <a:pPr algn="l" fontAlgn="base"/>
            <a:r>
              <a:rPr lang="en-US" sz="2400" dirty="0">
                <a:solidFill>
                  <a:srgbClr val="000000"/>
                </a:solidFill>
                <a:highlight>
                  <a:srgbClr val="FFFFFF"/>
                </a:highlight>
                <a:latin typeface="Aptos" panose="020B0004020202020204" pitchFamily="34" charset="0"/>
              </a:rPr>
              <a:t>O</a:t>
            </a:r>
            <a:r>
              <a:rPr lang="en-US" sz="2400" b="0" i="0" dirty="0">
                <a:solidFill>
                  <a:srgbClr val="000000"/>
                </a:solidFill>
                <a:effectLst/>
                <a:highlight>
                  <a:srgbClr val="FFFFFF"/>
                </a:highlight>
                <a:latin typeface="Aptos" panose="020B0004020202020204" pitchFamily="34" charset="0"/>
              </a:rPr>
              <a:t>verview of Text Editors and Debuggers used in Unix</a:t>
            </a:r>
          </a:p>
          <a:p>
            <a:pPr algn="l" fontAlgn="base"/>
            <a:endParaRPr lang="en-US" sz="2400" b="0" i="0" dirty="0">
              <a:solidFill>
                <a:srgbClr val="000000"/>
              </a:solidFill>
              <a:effectLst/>
              <a:highlight>
                <a:srgbClr val="FFFFFF"/>
              </a:highlight>
              <a:latin typeface="Aptos" panose="020B0004020202020204" pitchFamily="34" charset="0"/>
            </a:endParaRPr>
          </a:p>
          <a:p>
            <a:pPr algn="l" fontAlgn="base"/>
            <a:r>
              <a:rPr lang="en-US" sz="2400" b="0" i="0" dirty="0">
                <a:solidFill>
                  <a:srgbClr val="000000"/>
                </a:solidFill>
                <a:effectLst/>
                <a:highlight>
                  <a:srgbClr val="FFFFFF"/>
                </a:highlight>
                <a:latin typeface="Aptos" panose="020B0004020202020204" pitchFamily="34" charset="0"/>
              </a:rPr>
              <a:t>Review of C Programming:</a:t>
            </a:r>
          </a:p>
          <a:p>
            <a:pPr lvl="1" fontAlgn="base"/>
            <a:r>
              <a:rPr lang="en-US" sz="2000" b="0" i="0" dirty="0">
                <a:solidFill>
                  <a:srgbClr val="000000"/>
                </a:solidFill>
                <a:effectLst/>
                <a:highlight>
                  <a:srgbClr val="FFFFFF"/>
                </a:highlight>
                <a:latin typeface="Aptos" panose="020B0004020202020204" pitchFamily="34" charset="0"/>
              </a:rPr>
              <a:t>Basic data types</a:t>
            </a:r>
          </a:p>
          <a:p>
            <a:pPr lvl="1" fontAlgn="base"/>
            <a:r>
              <a:rPr lang="en-US" sz="2000" b="0" i="0" dirty="0">
                <a:solidFill>
                  <a:srgbClr val="000000"/>
                </a:solidFill>
                <a:effectLst/>
                <a:highlight>
                  <a:srgbClr val="FFFFFF"/>
                </a:highlight>
                <a:latin typeface="Aptos" panose="020B0004020202020204" pitchFamily="34" charset="0"/>
              </a:rPr>
              <a:t>Basic arithmetic operations</a:t>
            </a:r>
          </a:p>
          <a:p>
            <a:pPr lvl="1" fontAlgn="base"/>
            <a:r>
              <a:rPr lang="en-US" sz="2000" b="0" i="0" dirty="0">
                <a:solidFill>
                  <a:srgbClr val="000000"/>
                </a:solidFill>
                <a:effectLst/>
                <a:highlight>
                  <a:srgbClr val="FFFFFF"/>
                </a:highlight>
                <a:latin typeface="Aptos" panose="020B0004020202020204" pitchFamily="34" charset="0"/>
              </a:rPr>
              <a:t>Conditionals (if-else)</a:t>
            </a:r>
            <a:endParaRPr lang="en-GB" sz="1600" dirty="0"/>
          </a:p>
        </p:txBody>
      </p:sp>
    </p:spTree>
    <p:extLst>
      <p:ext uri="{BB962C8B-B14F-4D97-AF65-F5344CB8AC3E}">
        <p14:creationId xmlns:p14="http://schemas.microsoft.com/office/powerpoint/2010/main" val="2312570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9427AF5F-9A0E-42B7-A252-FD64C9885F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D0BE931-4AC7-94C5-8AC1-454E5B8E08BF}"/>
              </a:ext>
            </a:extLst>
          </p:cNvPr>
          <p:cNvSpPr>
            <a:spLocks noGrp="1"/>
          </p:cNvSpPr>
          <p:nvPr>
            <p:ph type="title"/>
          </p:nvPr>
        </p:nvSpPr>
        <p:spPr>
          <a:xfrm>
            <a:off x="838200" y="365125"/>
            <a:ext cx="10515600" cy="1306443"/>
          </a:xfrm>
        </p:spPr>
        <p:txBody>
          <a:bodyPr>
            <a:normAutofit/>
          </a:bodyPr>
          <a:lstStyle/>
          <a:p>
            <a:r>
              <a:rPr lang="en-US" sz="4000" b="1" dirty="0"/>
              <a:t>System Software</a:t>
            </a:r>
          </a:p>
        </p:txBody>
      </p:sp>
      <p:sp>
        <p:nvSpPr>
          <p:cNvPr id="3" name="Content Placeholder 2">
            <a:extLst>
              <a:ext uri="{FF2B5EF4-FFF2-40B4-BE49-F238E27FC236}">
                <a16:creationId xmlns:a16="http://schemas.microsoft.com/office/drawing/2014/main" id="{2ED4E943-6134-7B1A-D14B-A91DE9E19316}"/>
              </a:ext>
            </a:extLst>
          </p:cNvPr>
          <p:cNvSpPr>
            <a:spLocks noGrp="1"/>
          </p:cNvSpPr>
          <p:nvPr>
            <p:ph idx="1"/>
          </p:nvPr>
        </p:nvSpPr>
        <p:spPr>
          <a:xfrm>
            <a:off x="838199" y="1825625"/>
            <a:ext cx="6074329" cy="4303464"/>
          </a:xfrm>
        </p:spPr>
        <p:txBody>
          <a:bodyPr>
            <a:noAutofit/>
          </a:bodyPr>
          <a:lstStyle/>
          <a:p>
            <a:pPr algn="just"/>
            <a:r>
              <a:rPr lang="en-US" sz="2200" dirty="0"/>
              <a:t>System software is a set of system programs that manage and control a computer's hardware and provide a platform for other software (i.e., application software) to function. </a:t>
            </a:r>
          </a:p>
          <a:p>
            <a:pPr algn="just"/>
            <a:r>
              <a:rPr lang="en-US" sz="2200" dirty="0"/>
              <a:t>It serves as a bridge between the hardware and user applications, ensuring the system operates smoothly. </a:t>
            </a:r>
          </a:p>
          <a:p>
            <a:pPr algn="just"/>
            <a:r>
              <a:rPr lang="en-US" sz="2200" dirty="0"/>
              <a:t>Examples of system software include operating systems (such as Windows, macOS, Linux), device drivers, utility programs, and system libraries. </a:t>
            </a:r>
          </a:p>
          <a:p>
            <a:pPr algn="just"/>
            <a:r>
              <a:rPr lang="en-US" sz="2200" dirty="0"/>
              <a:t>These programs are typically written in low-level languages and are essential for tasks like managing memory, processing power, and hardware devices.</a:t>
            </a:r>
          </a:p>
        </p:txBody>
      </p:sp>
      <p:pic>
        <p:nvPicPr>
          <p:cNvPr id="1026" name="Picture 2" descr="SYSTEM PROGRAMMING. INTRODUCTION: | by NikVik Creations | Medium">
            <a:extLst>
              <a:ext uri="{FF2B5EF4-FFF2-40B4-BE49-F238E27FC236}">
                <a16:creationId xmlns:a16="http://schemas.microsoft.com/office/drawing/2014/main" id="{747F3CBF-C6F7-0758-E249-3BD35BCBFE6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 b="1484"/>
          <a:stretch/>
        </p:blipFill>
        <p:spPr bwMode="auto">
          <a:xfrm>
            <a:off x="7097086" y="1825625"/>
            <a:ext cx="4810398" cy="3293683"/>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2E71993-BDB1-EFFE-0132-AAD3A06E5B7E}"/>
              </a:ext>
            </a:extLst>
          </p:cNvPr>
          <p:cNvSpPr txBox="1"/>
          <p:nvPr/>
        </p:nvSpPr>
        <p:spPr>
          <a:xfrm>
            <a:off x="7117359" y="5119308"/>
            <a:ext cx="5461687" cy="523220"/>
          </a:xfrm>
          <a:prstGeom prst="rect">
            <a:avLst/>
          </a:prstGeom>
          <a:noFill/>
        </p:spPr>
        <p:txBody>
          <a:bodyPr wrap="square">
            <a:spAutoFit/>
          </a:bodyPr>
          <a:lstStyle/>
          <a:p>
            <a:pPr algn="ctr"/>
            <a:r>
              <a:rPr lang="en-GB" sz="1600" dirty="0"/>
              <a:t>Machine Structure</a:t>
            </a:r>
          </a:p>
          <a:p>
            <a:r>
              <a:rPr lang="en-GB" sz="1200" dirty="0"/>
              <a:t>Taken from: medium.com/@malviyav24/system-programming-8bf06f8af78c</a:t>
            </a:r>
          </a:p>
        </p:txBody>
      </p:sp>
    </p:spTree>
    <p:extLst>
      <p:ext uri="{BB962C8B-B14F-4D97-AF65-F5344CB8AC3E}">
        <p14:creationId xmlns:p14="http://schemas.microsoft.com/office/powerpoint/2010/main" val="14297389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FE486E-0F3A-125E-9E19-85952C0DA919}"/>
              </a:ext>
            </a:extLst>
          </p:cNvPr>
          <p:cNvSpPr>
            <a:spLocks noGrp="1"/>
          </p:cNvSpPr>
          <p:nvPr>
            <p:ph type="title"/>
          </p:nvPr>
        </p:nvSpPr>
        <p:spPr/>
        <p:txBody>
          <a:bodyPr/>
          <a:lstStyle/>
          <a:p>
            <a:r>
              <a:rPr lang="en-GB" sz="4000" b="1" dirty="0"/>
              <a:t>System Software vs. Application Software</a:t>
            </a:r>
          </a:p>
        </p:txBody>
      </p:sp>
      <p:graphicFrame>
        <p:nvGraphicFramePr>
          <p:cNvPr id="4" name="Content Placeholder 3">
            <a:extLst>
              <a:ext uri="{FF2B5EF4-FFF2-40B4-BE49-F238E27FC236}">
                <a16:creationId xmlns:a16="http://schemas.microsoft.com/office/drawing/2014/main" id="{36A7C50E-4DE5-A579-AE17-D8A41BE5C851}"/>
              </a:ext>
            </a:extLst>
          </p:cNvPr>
          <p:cNvGraphicFramePr>
            <a:graphicFrameLocks noGrp="1"/>
          </p:cNvGraphicFramePr>
          <p:nvPr>
            <p:ph idx="1"/>
            <p:extLst>
              <p:ext uri="{D42A27DB-BD31-4B8C-83A1-F6EECF244321}">
                <p14:modId xmlns:p14="http://schemas.microsoft.com/office/powerpoint/2010/main" val="3258296013"/>
              </p:ext>
            </p:extLst>
          </p:nvPr>
        </p:nvGraphicFramePr>
        <p:xfrm>
          <a:off x="838200" y="1825625"/>
          <a:ext cx="10515600" cy="367284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1351304746"/>
                    </a:ext>
                  </a:extLst>
                </a:gridCol>
                <a:gridCol w="5257800">
                  <a:extLst>
                    <a:ext uri="{9D8B030D-6E8A-4147-A177-3AD203B41FA5}">
                      <a16:colId xmlns:a16="http://schemas.microsoft.com/office/drawing/2014/main" val="262660949"/>
                    </a:ext>
                  </a:extLst>
                </a:gridCol>
              </a:tblGrid>
              <a:tr h="370840">
                <a:tc>
                  <a:txBody>
                    <a:bodyPr/>
                    <a:lstStyle/>
                    <a:p>
                      <a:r>
                        <a:rPr lang="en-GB" dirty="0"/>
                        <a:t>System Software</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Application Software</a:t>
                      </a:r>
                    </a:p>
                    <a:p>
                      <a:endParaRPr lang="en-GB" dirty="0"/>
                    </a:p>
                  </a:txBody>
                  <a:tcPr/>
                </a:tc>
                <a:extLst>
                  <a:ext uri="{0D108BD9-81ED-4DB2-BD59-A6C34878D82A}">
                    <a16:rowId xmlns:a16="http://schemas.microsoft.com/office/drawing/2014/main" val="3799362297"/>
                  </a:ext>
                </a:extLst>
              </a:tr>
              <a:tr h="370840">
                <a:tc>
                  <a:txBody>
                    <a:bodyPr/>
                    <a:lstStyle/>
                    <a:p>
                      <a:r>
                        <a:rPr lang="en-GB" dirty="0"/>
                        <a:t>Used for operating computer hardware</a:t>
                      </a:r>
                    </a:p>
                  </a:txBody>
                  <a:tcPr/>
                </a:tc>
                <a:tc>
                  <a:txBody>
                    <a:bodyPr/>
                    <a:lstStyle/>
                    <a:p>
                      <a:r>
                        <a:rPr lang="en-GB" dirty="0"/>
                        <a:t>Used by user to perform specific task </a:t>
                      </a:r>
                    </a:p>
                  </a:txBody>
                  <a:tcPr/>
                </a:tc>
                <a:extLst>
                  <a:ext uri="{0D108BD9-81ED-4DB2-BD59-A6C34878D82A}">
                    <a16:rowId xmlns:a16="http://schemas.microsoft.com/office/drawing/2014/main" val="2702345144"/>
                  </a:ext>
                </a:extLst>
              </a:tr>
              <a:tr h="370840">
                <a:tc>
                  <a:txBody>
                    <a:bodyPr/>
                    <a:lstStyle/>
                    <a:p>
                      <a:r>
                        <a:rPr lang="en-GB" dirty="0"/>
                        <a:t>In general, the user does not interact with system software as it works in the background</a:t>
                      </a:r>
                    </a:p>
                  </a:txBody>
                  <a:tcPr/>
                </a:tc>
                <a:tc>
                  <a:txBody>
                    <a:bodyPr/>
                    <a:lstStyle/>
                    <a:p>
                      <a:r>
                        <a:rPr lang="en-GB" dirty="0"/>
                        <a:t>In general, the user interacts with application software’s</a:t>
                      </a:r>
                    </a:p>
                  </a:txBody>
                  <a:tcPr/>
                </a:tc>
                <a:extLst>
                  <a:ext uri="{0D108BD9-81ED-4DB2-BD59-A6C34878D82A}">
                    <a16:rowId xmlns:a16="http://schemas.microsoft.com/office/drawing/2014/main" val="3279716091"/>
                  </a:ext>
                </a:extLst>
              </a:tr>
              <a:tr h="370840">
                <a:tc>
                  <a:txBody>
                    <a:bodyPr/>
                    <a:lstStyle/>
                    <a:p>
                      <a:r>
                        <a:rPr lang="en-GB" dirty="0"/>
                        <a:t>Can run independently, it provides platforms for running  application software’s</a:t>
                      </a:r>
                    </a:p>
                  </a:txBody>
                  <a:tcPr/>
                </a:tc>
                <a:tc>
                  <a:txBody>
                    <a:bodyPr/>
                    <a:lstStyle/>
                    <a:p>
                      <a:r>
                        <a:rPr lang="en-GB" dirty="0"/>
                        <a:t>Application software's cannot run indecently as they cannot run without the presence of system software</a:t>
                      </a:r>
                    </a:p>
                  </a:txBody>
                  <a:tcPr/>
                </a:tc>
                <a:extLst>
                  <a:ext uri="{0D108BD9-81ED-4DB2-BD59-A6C34878D82A}">
                    <a16:rowId xmlns:a16="http://schemas.microsoft.com/office/drawing/2014/main" val="3525680957"/>
                  </a:ext>
                </a:extLst>
              </a:tr>
              <a:tr h="370840">
                <a:tc>
                  <a:txBody>
                    <a:bodyPr/>
                    <a:lstStyle/>
                    <a:p>
                      <a:r>
                        <a:rPr lang="en-GB" dirty="0"/>
                        <a:t>Makes machine to do work</a:t>
                      </a:r>
                    </a:p>
                  </a:txBody>
                  <a:tcPr/>
                </a:tc>
                <a:tc>
                  <a:txBody>
                    <a:bodyPr/>
                    <a:lstStyle/>
                    <a:p>
                      <a:r>
                        <a:rPr lang="en-GB" dirty="0"/>
                        <a:t>Makes system program to do work</a:t>
                      </a:r>
                    </a:p>
                  </a:txBody>
                  <a:tcPr/>
                </a:tc>
                <a:extLst>
                  <a:ext uri="{0D108BD9-81ED-4DB2-BD59-A6C34878D82A}">
                    <a16:rowId xmlns:a16="http://schemas.microsoft.com/office/drawing/2014/main" val="2845462633"/>
                  </a:ext>
                </a:extLst>
              </a:tr>
              <a:tr h="370840">
                <a:tc>
                  <a:txBody>
                    <a:bodyPr/>
                    <a:lstStyle/>
                    <a:p>
                      <a:r>
                        <a:rPr lang="en-GB" dirty="0"/>
                        <a:t>Debugging is difficult</a:t>
                      </a:r>
                    </a:p>
                  </a:txBody>
                  <a:tcPr/>
                </a:tc>
                <a:tc>
                  <a:txBody>
                    <a:bodyPr/>
                    <a:lstStyle/>
                    <a:p>
                      <a:r>
                        <a:rPr lang="en-GB" dirty="0"/>
                        <a:t>Debugging is not difficult</a:t>
                      </a:r>
                    </a:p>
                  </a:txBody>
                  <a:tcPr/>
                </a:tc>
                <a:extLst>
                  <a:ext uri="{0D108BD9-81ED-4DB2-BD59-A6C34878D82A}">
                    <a16:rowId xmlns:a16="http://schemas.microsoft.com/office/drawing/2014/main" val="1985289692"/>
                  </a:ext>
                </a:extLst>
              </a:tr>
              <a:tr h="370840">
                <a:tc>
                  <a:txBody>
                    <a:bodyPr/>
                    <a:lstStyle/>
                    <a:p>
                      <a:r>
                        <a:rPr lang="en-GB" dirty="0"/>
                        <a:t>Some examples are operating system, compiler, debugger, assembler, driver, etc.</a:t>
                      </a:r>
                    </a:p>
                  </a:txBody>
                  <a:tcPr/>
                </a:tc>
                <a:tc>
                  <a:txBody>
                    <a:bodyPr/>
                    <a:lstStyle/>
                    <a:p>
                      <a:r>
                        <a:rPr lang="en-GB" dirty="0"/>
                        <a:t>Some examples are word processors, web browsers, media player, video games, etc.</a:t>
                      </a:r>
                    </a:p>
                  </a:txBody>
                  <a:tcPr/>
                </a:tc>
                <a:extLst>
                  <a:ext uri="{0D108BD9-81ED-4DB2-BD59-A6C34878D82A}">
                    <a16:rowId xmlns:a16="http://schemas.microsoft.com/office/drawing/2014/main" val="4119186831"/>
                  </a:ext>
                </a:extLst>
              </a:tr>
            </a:tbl>
          </a:graphicData>
        </a:graphic>
      </p:graphicFrame>
    </p:spTree>
    <p:extLst>
      <p:ext uri="{BB962C8B-B14F-4D97-AF65-F5344CB8AC3E}">
        <p14:creationId xmlns:p14="http://schemas.microsoft.com/office/powerpoint/2010/main" val="2724781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Elements of System Programming</a:t>
            </a:r>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p:txBody>
          <a:bodyPr>
            <a:normAutofit/>
          </a:bodyPr>
          <a:lstStyle/>
          <a:p>
            <a:pPr algn="just"/>
            <a:r>
              <a:rPr lang="en-US" sz="2200" dirty="0"/>
              <a:t>Operating Systems: </a:t>
            </a:r>
          </a:p>
          <a:p>
            <a:pPr lvl="1" algn="just"/>
            <a:r>
              <a:rPr lang="en-US" sz="2000" b="1" dirty="0"/>
              <a:t>Kernel Development: </a:t>
            </a:r>
            <a:r>
              <a:rPr lang="en-US" sz="2000" dirty="0"/>
              <a:t>Core part of an OS that manages system resources and communication between hardware and software.</a:t>
            </a:r>
          </a:p>
          <a:p>
            <a:pPr lvl="1" algn="just"/>
            <a:endParaRPr lang="en-US" dirty="0"/>
          </a:p>
          <a:p>
            <a:pPr lvl="1" algn="just"/>
            <a:r>
              <a:rPr lang="en-US" sz="2000" b="1" dirty="0"/>
              <a:t>System Calls: </a:t>
            </a:r>
            <a:r>
              <a:rPr lang="en-US" sz="2000" dirty="0"/>
              <a:t>Functions provided by the OS to allow user/application programs to request services and resources from the kernel.</a:t>
            </a:r>
          </a:p>
          <a:p>
            <a:pPr lvl="2" algn="just"/>
            <a:r>
              <a:rPr lang="en-US" sz="1800" dirty="0"/>
              <a:t>There are 5 types of system calls:</a:t>
            </a:r>
          </a:p>
          <a:p>
            <a:pPr lvl="3" algn="just"/>
            <a:r>
              <a:rPr lang="en-US" dirty="0"/>
              <a:t>Process control</a:t>
            </a:r>
          </a:p>
          <a:p>
            <a:pPr lvl="3" algn="just"/>
            <a:r>
              <a:rPr lang="en-US" dirty="0"/>
              <a:t>File management</a:t>
            </a:r>
          </a:p>
          <a:p>
            <a:pPr lvl="3" algn="just"/>
            <a:r>
              <a:rPr lang="en-US" dirty="0"/>
              <a:t>Device management</a:t>
            </a:r>
          </a:p>
          <a:p>
            <a:pPr lvl="3" algn="just"/>
            <a:r>
              <a:rPr lang="en-US" dirty="0"/>
              <a:t>Information maintenance </a:t>
            </a:r>
          </a:p>
          <a:p>
            <a:pPr lvl="3" algn="just"/>
            <a:r>
              <a:rPr lang="en-US" dirty="0"/>
              <a:t>communication</a:t>
            </a:r>
            <a:endParaRPr lang="en-GB" dirty="0"/>
          </a:p>
        </p:txBody>
      </p:sp>
      <p:pic>
        <p:nvPicPr>
          <p:cNvPr id="2052" name="Picture 4" descr="The 'system-call' ID-numbers How can Linux applications written in assembly  language create and access files? - ppt download">
            <a:extLst>
              <a:ext uri="{FF2B5EF4-FFF2-40B4-BE49-F238E27FC236}">
                <a16:creationId xmlns:a16="http://schemas.microsoft.com/office/drawing/2014/main" id="{3F53D94A-4900-DB7E-1E5A-1B0CE21093C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156" t="17955" r="2734" b="3264"/>
          <a:stretch/>
        </p:blipFill>
        <p:spPr bwMode="auto">
          <a:xfrm>
            <a:off x="6354617" y="3724572"/>
            <a:ext cx="4710545" cy="30548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21617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Elements of System Programming</a:t>
            </a:r>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p:txBody>
          <a:bodyPr>
            <a:normAutofit/>
          </a:bodyPr>
          <a:lstStyle/>
          <a:p>
            <a:pPr algn="just"/>
            <a:r>
              <a:rPr lang="en-US" sz="2200" dirty="0"/>
              <a:t>Device Drivers: </a:t>
            </a:r>
          </a:p>
          <a:p>
            <a:pPr lvl="1" algn="just"/>
            <a:r>
              <a:rPr lang="en-US" sz="2000" b="1" dirty="0"/>
              <a:t>Hardware Interface: </a:t>
            </a:r>
            <a:r>
              <a:rPr lang="en-US" sz="2000" dirty="0"/>
              <a:t>Software that enables the operating system to communicate with hardware devices. </a:t>
            </a:r>
          </a:p>
          <a:p>
            <a:pPr lvl="1" algn="just"/>
            <a:endParaRPr lang="en-US" sz="2000" dirty="0"/>
          </a:p>
          <a:p>
            <a:pPr lvl="1" algn="just"/>
            <a:r>
              <a:rPr lang="en-US" sz="2000" dirty="0"/>
              <a:t> </a:t>
            </a:r>
            <a:r>
              <a:rPr lang="en-US" sz="2000" b="1" dirty="0"/>
              <a:t>Development: </a:t>
            </a:r>
            <a:r>
              <a:rPr lang="en-US" sz="2000" dirty="0"/>
              <a:t>Writing and maintaining code that controls hardware components.</a:t>
            </a:r>
          </a:p>
          <a:p>
            <a:pPr lvl="1" algn="just"/>
            <a:endParaRPr lang="en-US" sz="2000" dirty="0"/>
          </a:p>
          <a:p>
            <a:pPr algn="just"/>
            <a:r>
              <a:rPr lang="en-US" sz="2200" dirty="0"/>
              <a:t>Compilers: </a:t>
            </a:r>
          </a:p>
          <a:p>
            <a:pPr lvl="1" algn="just"/>
            <a:r>
              <a:rPr lang="en-US" sz="2000" b="1" dirty="0"/>
              <a:t>Code Translation: </a:t>
            </a:r>
            <a:r>
              <a:rPr lang="en-US" sz="2000" dirty="0"/>
              <a:t>Converts high-level programming languages into machine code.</a:t>
            </a:r>
          </a:p>
          <a:p>
            <a:pPr algn="just"/>
            <a:endParaRPr lang="en-US" sz="2400" dirty="0"/>
          </a:p>
          <a:p>
            <a:pPr lvl="1" algn="just"/>
            <a:r>
              <a:rPr lang="en-US" sz="2000" b="1" dirty="0"/>
              <a:t>Optimization: </a:t>
            </a:r>
            <a:r>
              <a:rPr lang="en-US" sz="2000" dirty="0"/>
              <a:t>Improves code efficiency and performance during the translation process.</a:t>
            </a:r>
            <a:endParaRPr lang="en-GB" sz="2000" dirty="0"/>
          </a:p>
        </p:txBody>
      </p:sp>
    </p:spTree>
    <p:extLst>
      <p:ext uri="{BB962C8B-B14F-4D97-AF65-F5344CB8AC3E}">
        <p14:creationId xmlns:p14="http://schemas.microsoft.com/office/powerpoint/2010/main" val="9857542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Elements of System Programming</a:t>
            </a:r>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p:txBody>
          <a:bodyPr>
            <a:normAutofit/>
          </a:bodyPr>
          <a:lstStyle/>
          <a:p>
            <a:pPr algn="just"/>
            <a:r>
              <a:rPr lang="en-US" sz="2400" dirty="0"/>
              <a:t>Loaders and Linkers:</a:t>
            </a:r>
          </a:p>
          <a:p>
            <a:pPr lvl="1" algn="just"/>
            <a:r>
              <a:rPr lang="en-US" sz="2200" b="1" dirty="0"/>
              <a:t>Linker: </a:t>
            </a:r>
            <a:r>
              <a:rPr lang="en-US" sz="2200" dirty="0"/>
              <a:t>Combines various program modules into a single executable.</a:t>
            </a:r>
          </a:p>
          <a:p>
            <a:pPr lvl="2" algn="just"/>
            <a:r>
              <a:rPr lang="en-US" sz="1900" dirty="0"/>
              <a:t>A linker combines the target program generated by the language translator with all the external references mentioned in the program.</a:t>
            </a:r>
          </a:p>
          <a:p>
            <a:pPr marL="457200" lvl="1" indent="0" algn="just">
              <a:buNone/>
            </a:pPr>
            <a:endParaRPr lang="en-US" sz="2000" b="1" dirty="0"/>
          </a:p>
          <a:p>
            <a:pPr lvl="1" algn="just"/>
            <a:r>
              <a:rPr lang="en-US" sz="2200" b="1" dirty="0"/>
              <a:t>Loader: </a:t>
            </a:r>
            <a:r>
              <a:rPr lang="en-US" sz="2200" dirty="0"/>
              <a:t>Loads programs into memory for execution.</a:t>
            </a:r>
          </a:p>
          <a:p>
            <a:pPr lvl="2" algn="just"/>
            <a:r>
              <a:rPr lang="en-US" sz="1900" dirty="0"/>
              <a:t>A loader is a system program that loads or places the machine language program or the binary program in the main memory for its execution. The linker generates this binary program and places it on the hard disk. The loader locates this executable binary program from the hard disk and loads it on the main memory.</a:t>
            </a:r>
          </a:p>
          <a:p>
            <a:pPr algn="just"/>
            <a:endParaRPr lang="en-US" sz="2200" dirty="0"/>
          </a:p>
          <a:p>
            <a:pPr algn="just"/>
            <a:endParaRPr lang="en-US" sz="2200" dirty="0"/>
          </a:p>
        </p:txBody>
      </p:sp>
      <p:pic>
        <p:nvPicPr>
          <p:cNvPr id="3078" name="Picture 6" descr="Linker and Loader">
            <a:extLst>
              <a:ext uri="{FF2B5EF4-FFF2-40B4-BE49-F238E27FC236}">
                <a16:creationId xmlns:a16="http://schemas.microsoft.com/office/drawing/2014/main" id="{C9DFE024-13BF-C40F-61B9-3027555CBE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5700" y="5032282"/>
            <a:ext cx="4471147" cy="1825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886056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Elements of System Programming</a:t>
            </a:r>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p:txBody>
          <a:bodyPr>
            <a:normAutofit/>
          </a:bodyPr>
          <a:lstStyle/>
          <a:p>
            <a:pPr algn="just"/>
            <a:r>
              <a:rPr lang="en-US" sz="2200" dirty="0"/>
              <a:t>Debuggers: </a:t>
            </a:r>
          </a:p>
          <a:p>
            <a:pPr lvl="1" algn="just"/>
            <a:r>
              <a:rPr lang="en-US" sz="2000" b="1" dirty="0"/>
              <a:t>Error Detection: </a:t>
            </a:r>
            <a:r>
              <a:rPr lang="en-US" sz="2000" dirty="0"/>
              <a:t>Tools that help identify and fix bugs in software. </a:t>
            </a:r>
          </a:p>
          <a:p>
            <a:pPr lvl="1" algn="just"/>
            <a:endParaRPr lang="en-US" sz="2000" b="1" dirty="0"/>
          </a:p>
          <a:p>
            <a:pPr lvl="1" algn="just"/>
            <a:r>
              <a:rPr lang="en-US" sz="2000" b="1" dirty="0"/>
              <a:t>Runtime Analysis: </a:t>
            </a:r>
            <a:r>
              <a:rPr lang="en-US" sz="2000" dirty="0"/>
              <a:t>Allows developers to inspect the state of a program during execution.</a:t>
            </a:r>
          </a:p>
          <a:p>
            <a:pPr marL="0" indent="0" algn="just">
              <a:buNone/>
            </a:pPr>
            <a:endParaRPr lang="en-US" sz="2200" dirty="0"/>
          </a:p>
          <a:p>
            <a:pPr algn="just"/>
            <a:r>
              <a:rPr lang="en-US" sz="2200" dirty="0"/>
              <a:t>System Libraries:</a:t>
            </a:r>
          </a:p>
          <a:p>
            <a:pPr lvl="1" algn="just"/>
            <a:r>
              <a:rPr lang="en-US" sz="2000" dirty="0"/>
              <a:t>Collections of pre-written code that provide common functions.</a:t>
            </a:r>
          </a:p>
          <a:p>
            <a:pPr algn="just"/>
            <a:endParaRPr lang="en-US" sz="2200" dirty="0"/>
          </a:p>
          <a:p>
            <a:pPr algn="just"/>
            <a:r>
              <a:rPr lang="en-US" sz="2200" dirty="0"/>
              <a:t>Shell Scripts:</a:t>
            </a:r>
          </a:p>
          <a:p>
            <a:pPr lvl="1" algn="just"/>
            <a:r>
              <a:rPr lang="en-US" sz="2000" dirty="0"/>
              <a:t>A text file containing a series of commands, written in a shell programming language (like Bash or </a:t>
            </a:r>
            <a:r>
              <a:rPr lang="en-US" sz="2000" dirty="0" err="1"/>
              <a:t>Zsh</a:t>
            </a:r>
            <a:r>
              <a:rPr lang="en-US" sz="2000" dirty="0"/>
              <a:t>), that are executed in sequence by the shell.</a:t>
            </a:r>
          </a:p>
          <a:p>
            <a:pPr marL="457200" lvl="1" indent="0" algn="just">
              <a:buNone/>
            </a:pPr>
            <a:endParaRPr lang="en-US" sz="2000" dirty="0"/>
          </a:p>
        </p:txBody>
      </p:sp>
    </p:spTree>
    <p:extLst>
      <p:ext uri="{BB962C8B-B14F-4D97-AF65-F5344CB8AC3E}">
        <p14:creationId xmlns:p14="http://schemas.microsoft.com/office/powerpoint/2010/main" val="2090082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Why Unix in Programming</a:t>
            </a:r>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p:txBody>
          <a:bodyPr>
            <a:noAutofit/>
          </a:bodyPr>
          <a:lstStyle/>
          <a:p>
            <a:pPr algn="just"/>
            <a:r>
              <a:rPr lang="en-US" sz="2200" dirty="0"/>
              <a:t>Unix is crucial due to its powerful tools, robust scripting capabilities, and foundational influence on modern operating systems like Linux. </a:t>
            </a:r>
          </a:p>
          <a:p>
            <a:pPr algn="just"/>
            <a:endParaRPr lang="en-US" sz="2200" dirty="0"/>
          </a:p>
          <a:p>
            <a:pPr algn="just"/>
            <a:r>
              <a:rPr lang="en-US" sz="2200" dirty="0"/>
              <a:t>Its comprehensive programming interface and system calls enable direct kernel interaction, making it ideal for developing and managing software. </a:t>
            </a:r>
          </a:p>
          <a:p>
            <a:pPr algn="just"/>
            <a:endParaRPr lang="en-US" sz="2200" dirty="0"/>
          </a:p>
          <a:p>
            <a:pPr algn="just"/>
            <a:r>
              <a:rPr lang="en-US" sz="2200" dirty="0"/>
              <a:t>Unlike Windows, which has a closed design and limited transparency, Unix, specifically Linux, is open source and completely modular, allowing any system component to be studied, swapped, or modified. </a:t>
            </a:r>
          </a:p>
          <a:p>
            <a:pPr algn="just"/>
            <a:endParaRPr lang="en-US" sz="2200" dirty="0"/>
          </a:p>
          <a:p>
            <a:pPr algn="just"/>
            <a:r>
              <a:rPr lang="en-US" sz="2200" dirty="0"/>
              <a:t>This flexibility and openness make Unix an attractive choice for programmers.</a:t>
            </a:r>
          </a:p>
        </p:txBody>
      </p:sp>
    </p:spTree>
    <p:extLst>
      <p:ext uri="{BB962C8B-B14F-4D97-AF65-F5344CB8AC3E}">
        <p14:creationId xmlns:p14="http://schemas.microsoft.com/office/powerpoint/2010/main" val="37650304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Why C in Programming</a:t>
            </a:r>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p:txBody>
          <a:bodyPr>
            <a:noAutofit/>
          </a:bodyPr>
          <a:lstStyle/>
          <a:p>
            <a:pPr algn="just"/>
            <a:r>
              <a:rPr lang="en-US" sz="2200" dirty="0"/>
              <a:t>C is the preferred language for system and application software because it is closest to the hardware, offering minimal abstraction and allowing direct memory access through pointers. </a:t>
            </a:r>
          </a:p>
          <a:p>
            <a:pPr algn="just"/>
            <a:endParaRPr lang="en-US" sz="2200" dirty="0"/>
          </a:p>
          <a:p>
            <a:pPr algn="just"/>
            <a:r>
              <a:rPr lang="en-US" sz="2200" dirty="0"/>
              <a:t>This proximity to hardware ensures that C code translates efficiently into machine code, resulting in faster execution. </a:t>
            </a:r>
          </a:p>
          <a:p>
            <a:pPr algn="just"/>
            <a:endParaRPr lang="en-US" sz="2200" dirty="0"/>
          </a:p>
          <a:p>
            <a:pPr algn="just"/>
            <a:r>
              <a:rPr lang="en-US" sz="2200" dirty="0"/>
              <a:t>Historically, both Unix and Linux kernels were developed in C, and most system software, including device drivers, is written in C. </a:t>
            </a:r>
          </a:p>
          <a:p>
            <a:pPr algn="just"/>
            <a:endParaRPr lang="en-US" sz="2200" dirty="0"/>
          </a:p>
          <a:p>
            <a:pPr algn="just"/>
            <a:r>
              <a:rPr lang="en-US" sz="2200" dirty="0"/>
              <a:t>Learning C is essential for developing software that interacts directly with hardware.</a:t>
            </a:r>
          </a:p>
        </p:txBody>
      </p:sp>
    </p:spTree>
    <p:extLst>
      <p:ext uri="{BB962C8B-B14F-4D97-AF65-F5344CB8AC3E}">
        <p14:creationId xmlns:p14="http://schemas.microsoft.com/office/powerpoint/2010/main" val="11607378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Tools in Unix</a:t>
            </a:r>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p:txBody>
          <a:bodyPr>
            <a:normAutofit/>
          </a:bodyPr>
          <a:lstStyle/>
          <a:p>
            <a:pPr algn="just"/>
            <a:r>
              <a:rPr lang="en-US" sz="2200" dirty="0"/>
              <a:t>Three tools are essential for programmers in Unix to efficiently develop, debug, and maintain software:</a:t>
            </a:r>
          </a:p>
          <a:p>
            <a:pPr lvl="1" algn="just"/>
            <a:r>
              <a:rPr lang="en-US" sz="2000" b="1" dirty="0"/>
              <a:t>Shell:</a:t>
            </a:r>
          </a:p>
          <a:p>
            <a:pPr lvl="2" algn="just"/>
            <a:r>
              <a:rPr lang="en-US" sz="1800" dirty="0"/>
              <a:t>Provides an interface for users to interact with the operating system by typing commands.</a:t>
            </a:r>
          </a:p>
          <a:p>
            <a:pPr lvl="2" algn="just"/>
            <a:r>
              <a:rPr lang="en-US" sz="1800" dirty="0"/>
              <a:t>Facilitates the automation of repetitive tasks through shell scripts.</a:t>
            </a:r>
          </a:p>
          <a:p>
            <a:pPr lvl="2" algn="just"/>
            <a:r>
              <a:rPr lang="en-US" sz="1800" dirty="0"/>
              <a:t>Allows direct access to system functions for managing files, running programs, and configuring settings.</a:t>
            </a:r>
          </a:p>
        </p:txBody>
      </p:sp>
      <p:pic>
        <p:nvPicPr>
          <p:cNvPr id="11" name="Picture 10" descr="A screenshot of a computer&#10;&#10;Description automatically generated">
            <a:extLst>
              <a:ext uri="{FF2B5EF4-FFF2-40B4-BE49-F238E27FC236}">
                <a16:creationId xmlns:a16="http://schemas.microsoft.com/office/drawing/2014/main" id="{0C3CAB72-0982-974A-904C-F705ACDEAD28}"/>
              </a:ext>
            </a:extLst>
          </p:cNvPr>
          <p:cNvPicPr>
            <a:picLocks noChangeAspect="1"/>
          </p:cNvPicPr>
          <p:nvPr/>
        </p:nvPicPr>
        <p:blipFill rotWithShape="1">
          <a:blip r:embed="rId3">
            <a:extLst>
              <a:ext uri="{28A0092B-C50C-407E-A947-70E740481C1C}">
                <a14:useLocalDpi xmlns:a14="http://schemas.microsoft.com/office/drawing/2010/main" val="0"/>
              </a:ext>
            </a:extLst>
          </a:blip>
          <a:srcRect r="7526" b="79076"/>
          <a:stretch/>
        </p:blipFill>
        <p:spPr>
          <a:xfrm>
            <a:off x="214203" y="4329935"/>
            <a:ext cx="6719331" cy="1095506"/>
          </a:xfrm>
          <a:prstGeom prst="rect">
            <a:avLst/>
          </a:prstGeom>
        </p:spPr>
      </p:pic>
      <p:pic>
        <p:nvPicPr>
          <p:cNvPr id="13" name="Picture 12" descr="A clock with a blue and red hand&#10;&#10;Description automatically generated">
            <a:extLst>
              <a:ext uri="{FF2B5EF4-FFF2-40B4-BE49-F238E27FC236}">
                <a16:creationId xmlns:a16="http://schemas.microsoft.com/office/drawing/2014/main" id="{E19790E5-98AA-8AA5-8477-7B74F96593E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57531" y="4189966"/>
            <a:ext cx="1615750" cy="1375443"/>
          </a:xfrm>
          <a:prstGeom prst="rect">
            <a:avLst/>
          </a:prstGeom>
        </p:spPr>
      </p:pic>
      <p:pic>
        <p:nvPicPr>
          <p:cNvPr id="15" name="Picture 14" descr="A screenshot of a computer&#10;&#10;Description automatically generated">
            <a:extLst>
              <a:ext uri="{FF2B5EF4-FFF2-40B4-BE49-F238E27FC236}">
                <a16:creationId xmlns:a16="http://schemas.microsoft.com/office/drawing/2014/main" id="{A2BED1A9-584F-3199-B918-2F7860765DA7}"/>
              </a:ext>
            </a:extLst>
          </p:cNvPr>
          <p:cNvPicPr>
            <a:picLocks noChangeAspect="1"/>
          </p:cNvPicPr>
          <p:nvPr/>
        </p:nvPicPr>
        <p:blipFill rotWithShape="1">
          <a:blip r:embed="rId5">
            <a:extLst>
              <a:ext uri="{28A0092B-C50C-407E-A947-70E740481C1C}">
                <a14:useLocalDpi xmlns:a14="http://schemas.microsoft.com/office/drawing/2010/main" val="0"/>
              </a:ext>
            </a:extLst>
          </a:blip>
          <a:srcRect b="43454"/>
          <a:stretch/>
        </p:blipFill>
        <p:spPr>
          <a:xfrm>
            <a:off x="7031287" y="5555209"/>
            <a:ext cx="2883213" cy="756691"/>
          </a:xfrm>
          <a:prstGeom prst="rect">
            <a:avLst/>
          </a:prstGeom>
        </p:spPr>
      </p:pic>
      <p:pic>
        <p:nvPicPr>
          <p:cNvPr id="17" name="Picture 16" descr="A screenshot of a computer&#10;&#10;Description automatically generated">
            <a:extLst>
              <a:ext uri="{FF2B5EF4-FFF2-40B4-BE49-F238E27FC236}">
                <a16:creationId xmlns:a16="http://schemas.microsoft.com/office/drawing/2014/main" id="{543F3297-E485-79C5-24B4-E25A37D40619}"/>
              </a:ext>
            </a:extLst>
          </p:cNvPr>
          <p:cNvPicPr>
            <a:picLocks noChangeAspect="1"/>
          </p:cNvPicPr>
          <p:nvPr/>
        </p:nvPicPr>
        <p:blipFill rotWithShape="1">
          <a:blip r:embed="rId6">
            <a:extLst>
              <a:ext uri="{28A0092B-C50C-407E-A947-70E740481C1C}">
                <a14:useLocalDpi xmlns:a14="http://schemas.microsoft.com/office/drawing/2010/main" val="0"/>
              </a:ext>
            </a:extLst>
          </a:blip>
          <a:srcRect t="3196" b="81287"/>
          <a:stretch/>
        </p:blipFill>
        <p:spPr>
          <a:xfrm>
            <a:off x="214203" y="5470715"/>
            <a:ext cx="6956217" cy="841185"/>
          </a:xfrm>
          <a:prstGeom prst="rect">
            <a:avLst/>
          </a:prstGeom>
        </p:spPr>
      </p:pic>
    </p:spTree>
    <p:extLst>
      <p:ext uri="{BB962C8B-B14F-4D97-AF65-F5344CB8AC3E}">
        <p14:creationId xmlns:p14="http://schemas.microsoft.com/office/powerpoint/2010/main" val="23924635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Tools in Unix</a:t>
            </a:r>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p:txBody>
          <a:bodyPr>
            <a:normAutofit/>
          </a:bodyPr>
          <a:lstStyle/>
          <a:p>
            <a:pPr algn="just"/>
            <a:r>
              <a:rPr lang="en-US" sz="2200" dirty="0"/>
              <a:t>Three tools are essential for programmers in Unix to efficiently develop, debug, and maintain system software:</a:t>
            </a:r>
          </a:p>
          <a:p>
            <a:pPr lvl="1" algn="just"/>
            <a:r>
              <a:rPr lang="en-US" sz="2000" b="1" dirty="0"/>
              <a:t>Text Editor:</a:t>
            </a:r>
          </a:p>
          <a:p>
            <a:pPr lvl="2" algn="just"/>
            <a:r>
              <a:rPr lang="en-US" sz="1800" dirty="0"/>
              <a:t>Code Writing and Editing: A tool for writing and modifying source code and configuration files.</a:t>
            </a:r>
          </a:p>
        </p:txBody>
      </p:sp>
      <p:pic>
        <p:nvPicPr>
          <p:cNvPr id="9" name="Picture 8" descr="A screenshot of a computer&#10;&#10;Description automatically generated">
            <a:extLst>
              <a:ext uri="{FF2B5EF4-FFF2-40B4-BE49-F238E27FC236}">
                <a16:creationId xmlns:a16="http://schemas.microsoft.com/office/drawing/2014/main" id="{0EBA34D9-AD32-46DB-B76A-EC3B860F0055}"/>
              </a:ext>
            </a:extLst>
          </p:cNvPr>
          <p:cNvPicPr>
            <a:picLocks noChangeAspect="1"/>
          </p:cNvPicPr>
          <p:nvPr/>
        </p:nvPicPr>
        <p:blipFill rotWithShape="1">
          <a:blip r:embed="rId3">
            <a:extLst>
              <a:ext uri="{28A0092B-C50C-407E-A947-70E740481C1C}">
                <a14:useLocalDpi xmlns:a14="http://schemas.microsoft.com/office/drawing/2010/main" val="0"/>
              </a:ext>
            </a:extLst>
          </a:blip>
          <a:srcRect l="7186" t="8435" r="8701" b="37105"/>
          <a:stretch/>
        </p:blipFill>
        <p:spPr>
          <a:xfrm>
            <a:off x="6487486" y="4043580"/>
            <a:ext cx="5497589" cy="2780030"/>
          </a:xfrm>
          <a:prstGeom prst="rect">
            <a:avLst/>
          </a:prstGeom>
        </p:spPr>
      </p:pic>
      <p:grpSp>
        <p:nvGrpSpPr>
          <p:cNvPr id="25" name="Group 24">
            <a:extLst>
              <a:ext uri="{FF2B5EF4-FFF2-40B4-BE49-F238E27FC236}">
                <a16:creationId xmlns:a16="http://schemas.microsoft.com/office/drawing/2014/main" id="{C677797D-9BFA-E77E-9FA1-F9DB69371539}"/>
              </a:ext>
            </a:extLst>
          </p:cNvPr>
          <p:cNvGrpSpPr/>
          <p:nvPr/>
        </p:nvGrpSpPr>
        <p:grpSpPr>
          <a:xfrm>
            <a:off x="-204667" y="3605984"/>
            <a:ext cx="7941945" cy="718782"/>
            <a:chOff x="-231489" y="5967530"/>
            <a:chExt cx="7941945" cy="718782"/>
          </a:xfrm>
        </p:grpSpPr>
        <p:pic>
          <p:nvPicPr>
            <p:cNvPr id="5" name="Picture 4" descr="A screenshot of a computer&#10;&#10;Description automatically generated">
              <a:extLst>
                <a:ext uri="{FF2B5EF4-FFF2-40B4-BE49-F238E27FC236}">
                  <a16:creationId xmlns:a16="http://schemas.microsoft.com/office/drawing/2014/main" id="{F3A8FA2E-1A05-CA86-997F-7625DD810EBA}"/>
                </a:ext>
              </a:extLst>
            </p:cNvPr>
            <p:cNvPicPr>
              <a:picLocks noChangeAspect="1"/>
            </p:cNvPicPr>
            <p:nvPr/>
          </p:nvPicPr>
          <p:blipFill rotWithShape="1">
            <a:blip r:embed="rId4">
              <a:extLst>
                <a:ext uri="{28A0092B-C50C-407E-A947-70E740481C1C}">
                  <a14:useLocalDpi xmlns:a14="http://schemas.microsoft.com/office/drawing/2010/main" val="0"/>
                </a:ext>
              </a:extLst>
            </a:blip>
            <a:srcRect t="3196" r="3718" b="84806"/>
            <a:stretch/>
          </p:blipFill>
          <p:spPr>
            <a:xfrm>
              <a:off x="-231489" y="5967530"/>
              <a:ext cx="7941945" cy="718782"/>
            </a:xfrm>
            <a:prstGeom prst="rect">
              <a:avLst/>
            </a:prstGeom>
          </p:spPr>
        </p:pic>
        <p:sp>
          <p:nvSpPr>
            <p:cNvPr id="15" name="TextBox 14">
              <a:extLst>
                <a:ext uri="{FF2B5EF4-FFF2-40B4-BE49-F238E27FC236}">
                  <a16:creationId xmlns:a16="http://schemas.microsoft.com/office/drawing/2014/main" id="{683880CE-4060-1B9F-CE3A-0928FF0C9239}"/>
                </a:ext>
              </a:extLst>
            </p:cNvPr>
            <p:cNvSpPr txBox="1"/>
            <p:nvPr/>
          </p:nvSpPr>
          <p:spPr>
            <a:xfrm>
              <a:off x="4532390" y="6316980"/>
              <a:ext cx="2232534" cy="369332"/>
            </a:xfrm>
            <a:prstGeom prst="rect">
              <a:avLst/>
            </a:prstGeom>
            <a:noFill/>
          </p:spPr>
          <p:txBody>
            <a:bodyPr wrap="none" rtlCol="0">
              <a:spAutoFit/>
            </a:bodyPr>
            <a:lstStyle/>
            <a:p>
              <a:r>
                <a:rPr lang="en-GB" dirty="0">
                  <a:solidFill>
                    <a:schemeClr val="bg1"/>
                  </a:solidFill>
                </a:rPr>
                <a:t>Generate empty C file</a:t>
              </a:r>
            </a:p>
          </p:txBody>
        </p:sp>
        <p:cxnSp>
          <p:nvCxnSpPr>
            <p:cNvPr id="16" name="Straight Arrow Connector 15">
              <a:extLst>
                <a:ext uri="{FF2B5EF4-FFF2-40B4-BE49-F238E27FC236}">
                  <a16:creationId xmlns:a16="http://schemas.microsoft.com/office/drawing/2014/main" id="{313D7E4A-CA04-9390-0E51-EA3BB6BEB6EE}"/>
                </a:ext>
              </a:extLst>
            </p:cNvPr>
            <p:cNvCxnSpPr>
              <a:cxnSpLocks/>
              <a:endCxn id="15" idx="1"/>
            </p:cNvCxnSpPr>
            <p:nvPr/>
          </p:nvCxnSpPr>
          <p:spPr>
            <a:xfrm flipV="1">
              <a:off x="4043452" y="6501646"/>
              <a:ext cx="488938" cy="7296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grpSp>
      <p:grpSp>
        <p:nvGrpSpPr>
          <p:cNvPr id="28" name="Group 27">
            <a:extLst>
              <a:ext uri="{FF2B5EF4-FFF2-40B4-BE49-F238E27FC236}">
                <a16:creationId xmlns:a16="http://schemas.microsoft.com/office/drawing/2014/main" id="{164B6C82-CC68-B7BB-D1BC-683B7406F256}"/>
              </a:ext>
            </a:extLst>
          </p:cNvPr>
          <p:cNvGrpSpPr/>
          <p:nvPr/>
        </p:nvGrpSpPr>
        <p:grpSpPr>
          <a:xfrm>
            <a:off x="838200" y="4858882"/>
            <a:ext cx="3557596" cy="1584959"/>
            <a:chOff x="838200" y="4858882"/>
            <a:chExt cx="3557596" cy="1584959"/>
          </a:xfrm>
        </p:grpSpPr>
        <p:grpSp>
          <p:nvGrpSpPr>
            <p:cNvPr id="26" name="Group 25">
              <a:extLst>
                <a:ext uri="{FF2B5EF4-FFF2-40B4-BE49-F238E27FC236}">
                  <a16:creationId xmlns:a16="http://schemas.microsoft.com/office/drawing/2014/main" id="{E84ED15C-6964-86B7-8881-928D0426843A}"/>
                </a:ext>
              </a:extLst>
            </p:cNvPr>
            <p:cNvGrpSpPr/>
            <p:nvPr/>
          </p:nvGrpSpPr>
          <p:grpSpPr>
            <a:xfrm>
              <a:off x="838200" y="4858882"/>
              <a:ext cx="3557596" cy="1584959"/>
              <a:chOff x="352711" y="5433595"/>
              <a:chExt cx="3557596" cy="1584959"/>
            </a:xfrm>
          </p:grpSpPr>
          <p:pic>
            <p:nvPicPr>
              <p:cNvPr id="7" name="Picture 6" descr="A screenshot of a computer&#10;&#10;Description automatically generated">
                <a:extLst>
                  <a:ext uri="{FF2B5EF4-FFF2-40B4-BE49-F238E27FC236}">
                    <a16:creationId xmlns:a16="http://schemas.microsoft.com/office/drawing/2014/main" id="{7EBF7865-D103-F401-E95A-55B27D8ADBF6}"/>
                  </a:ext>
                </a:extLst>
              </p:cNvPr>
              <p:cNvPicPr>
                <a:picLocks noChangeAspect="1"/>
              </p:cNvPicPr>
              <p:nvPr/>
            </p:nvPicPr>
            <p:blipFill rotWithShape="1">
              <a:blip r:embed="rId5">
                <a:extLst>
                  <a:ext uri="{28A0092B-C50C-407E-A947-70E740481C1C}">
                    <a14:useLocalDpi xmlns:a14="http://schemas.microsoft.com/office/drawing/2010/main" val="0"/>
                  </a:ext>
                </a:extLst>
              </a:blip>
              <a:srcRect t="8809" r="39565" b="55476"/>
              <a:stretch/>
            </p:blipFill>
            <p:spPr>
              <a:xfrm>
                <a:off x="352711" y="5433595"/>
                <a:ext cx="3557596" cy="1584959"/>
              </a:xfrm>
              <a:prstGeom prst="rect">
                <a:avLst/>
              </a:prstGeom>
            </p:spPr>
          </p:pic>
          <p:sp>
            <p:nvSpPr>
              <p:cNvPr id="11" name="TextBox 10">
                <a:extLst>
                  <a:ext uri="{FF2B5EF4-FFF2-40B4-BE49-F238E27FC236}">
                    <a16:creationId xmlns:a16="http://schemas.microsoft.com/office/drawing/2014/main" id="{8EC097C2-0767-2CAC-5FBE-853F5BDA4797}"/>
                  </a:ext>
                </a:extLst>
              </p:cNvPr>
              <p:cNvSpPr txBox="1"/>
              <p:nvPr/>
            </p:nvSpPr>
            <p:spPr>
              <a:xfrm>
                <a:off x="2431340" y="6325394"/>
                <a:ext cx="824072" cy="369332"/>
              </a:xfrm>
              <a:prstGeom prst="rect">
                <a:avLst/>
              </a:prstGeom>
              <a:noFill/>
            </p:spPr>
            <p:txBody>
              <a:bodyPr wrap="none" rtlCol="0">
                <a:spAutoFit/>
              </a:bodyPr>
              <a:lstStyle/>
              <a:p>
                <a:r>
                  <a:rPr lang="en-GB" dirty="0"/>
                  <a:t>Source</a:t>
                </a:r>
              </a:p>
            </p:txBody>
          </p:sp>
        </p:grpSp>
        <p:sp>
          <p:nvSpPr>
            <p:cNvPr id="27" name="Rectangle 26">
              <a:extLst>
                <a:ext uri="{FF2B5EF4-FFF2-40B4-BE49-F238E27FC236}">
                  <a16:creationId xmlns:a16="http://schemas.microsoft.com/office/drawing/2014/main" id="{914478A5-21F0-BC93-E446-32434CF31062}"/>
                </a:ext>
              </a:extLst>
            </p:cNvPr>
            <p:cNvSpPr/>
            <p:nvPr/>
          </p:nvSpPr>
          <p:spPr>
            <a:xfrm>
              <a:off x="2349500" y="5143500"/>
              <a:ext cx="482600" cy="71878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977097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Tools in Unix</a:t>
            </a:r>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p:txBody>
          <a:bodyPr>
            <a:normAutofit/>
          </a:bodyPr>
          <a:lstStyle/>
          <a:p>
            <a:pPr algn="just"/>
            <a:r>
              <a:rPr lang="en-US" sz="2200" dirty="0"/>
              <a:t>Three tools are essential for programmers in Unix to efficiently develop, debug, and maintain system software:</a:t>
            </a:r>
          </a:p>
          <a:p>
            <a:pPr lvl="1" algn="just"/>
            <a:r>
              <a:rPr lang="en-US" sz="2000" b="1" dirty="0"/>
              <a:t>Compiler, Executer, and Debugger:</a:t>
            </a:r>
            <a:endParaRPr lang="en-US" b="1" dirty="0"/>
          </a:p>
          <a:p>
            <a:pPr lvl="2" algn="just"/>
            <a:r>
              <a:rPr lang="en-US" dirty="0"/>
              <a:t>A compiler is a program that translates high-level source code written in programming languages (like C, C++, or Fortran) into machine code (binary code) that the computer’s processor can execute. In Unix systems, the most commonly used compiler is GCC.</a:t>
            </a:r>
          </a:p>
          <a:p>
            <a:pPr lvl="2" algn="just"/>
            <a:r>
              <a:rPr lang="en-US" dirty="0"/>
              <a:t>Compiler Functions:</a:t>
            </a:r>
          </a:p>
          <a:p>
            <a:pPr lvl="3" algn="just"/>
            <a:r>
              <a:rPr lang="en-US" dirty="0"/>
              <a:t>Translation: Converts source code into machine code or an intermediate code.</a:t>
            </a:r>
          </a:p>
          <a:p>
            <a:pPr lvl="3" algn="just"/>
            <a:r>
              <a:rPr lang="en-US" dirty="0"/>
              <a:t>Optimization: Improves the performance of the generated machine code.</a:t>
            </a:r>
          </a:p>
          <a:p>
            <a:pPr lvl="3" algn="just"/>
            <a:r>
              <a:rPr lang="en-US" dirty="0"/>
              <a:t>Error Checking: Identifies syntax and semantic errors in the source code.</a:t>
            </a:r>
          </a:p>
          <a:p>
            <a:pPr lvl="2" algn="just"/>
            <a:endParaRPr lang="en-US" dirty="0"/>
          </a:p>
        </p:txBody>
      </p:sp>
      <p:grpSp>
        <p:nvGrpSpPr>
          <p:cNvPr id="18" name="Group 17">
            <a:extLst>
              <a:ext uri="{FF2B5EF4-FFF2-40B4-BE49-F238E27FC236}">
                <a16:creationId xmlns:a16="http://schemas.microsoft.com/office/drawing/2014/main" id="{895B0D1D-EADC-B75C-19A6-6AA6254CB05B}"/>
              </a:ext>
            </a:extLst>
          </p:cNvPr>
          <p:cNvGrpSpPr/>
          <p:nvPr/>
        </p:nvGrpSpPr>
        <p:grpSpPr>
          <a:xfrm>
            <a:off x="-123539" y="5413075"/>
            <a:ext cx="7941945" cy="1333904"/>
            <a:chOff x="-123539" y="5019375"/>
            <a:chExt cx="7941945" cy="1333904"/>
          </a:xfrm>
        </p:grpSpPr>
        <p:pic>
          <p:nvPicPr>
            <p:cNvPr id="5" name="Picture 4" descr="A screenshot of a computer&#10;&#10;Description automatically generated">
              <a:extLst>
                <a:ext uri="{FF2B5EF4-FFF2-40B4-BE49-F238E27FC236}">
                  <a16:creationId xmlns:a16="http://schemas.microsoft.com/office/drawing/2014/main" id="{FCF92ED2-A7A2-748E-566C-3A3EA4501DDA}"/>
                </a:ext>
              </a:extLst>
            </p:cNvPr>
            <p:cNvPicPr>
              <a:picLocks noChangeAspect="1"/>
            </p:cNvPicPr>
            <p:nvPr/>
          </p:nvPicPr>
          <p:blipFill rotWithShape="1">
            <a:blip r:embed="rId3">
              <a:extLst>
                <a:ext uri="{28A0092B-C50C-407E-A947-70E740481C1C}">
                  <a14:useLocalDpi xmlns:a14="http://schemas.microsoft.com/office/drawing/2010/main" val="0"/>
                </a:ext>
              </a:extLst>
            </a:blip>
            <a:srcRect l="847" t="4050" r="2871" b="81310"/>
            <a:stretch/>
          </p:blipFill>
          <p:spPr>
            <a:xfrm>
              <a:off x="-123539" y="5019375"/>
              <a:ext cx="7941945" cy="877155"/>
            </a:xfrm>
            <a:prstGeom prst="rect">
              <a:avLst/>
            </a:prstGeom>
          </p:spPr>
        </p:pic>
        <p:sp>
          <p:nvSpPr>
            <p:cNvPr id="9" name="TextBox 8">
              <a:extLst>
                <a:ext uri="{FF2B5EF4-FFF2-40B4-BE49-F238E27FC236}">
                  <a16:creationId xmlns:a16="http://schemas.microsoft.com/office/drawing/2014/main" id="{8D30A1F5-16EB-1CC7-89DF-7EDD753FD0E7}"/>
                </a:ext>
              </a:extLst>
            </p:cNvPr>
            <p:cNvSpPr txBox="1"/>
            <p:nvPr/>
          </p:nvSpPr>
          <p:spPr>
            <a:xfrm>
              <a:off x="4725613" y="5851806"/>
              <a:ext cx="2431628" cy="369332"/>
            </a:xfrm>
            <a:prstGeom prst="rect">
              <a:avLst/>
            </a:prstGeom>
            <a:noFill/>
          </p:spPr>
          <p:txBody>
            <a:bodyPr wrap="none" rtlCol="0">
              <a:spAutoFit/>
            </a:bodyPr>
            <a:lstStyle/>
            <a:p>
              <a:r>
                <a:rPr lang="en-GB" dirty="0">
                  <a:solidFill>
                    <a:schemeClr val="bg1"/>
                  </a:solidFill>
                </a:rPr>
                <a:t>Output binary file name</a:t>
              </a:r>
            </a:p>
          </p:txBody>
        </p:sp>
        <p:cxnSp>
          <p:nvCxnSpPr>
            <p:cNvPr id="10" name="Straight Arrow Connector 9">
              <a:extLst>
                <a:ext uri="{FF2B5EF4-FFF2-40B4-BE49-F238E27FC236}">
                  <a16:creationId xmlns:a16="http://schemas.microsoft.com/office/drawing/2014/main" id="{51EF4680-5078-8497-72DF-2FCD8AE6D981}"/>
                </a:ext>
              </a:extLst>
            </p:cNvPr>
            <p:cNvCxnSpPr>
              <a:cxnSpLocks/>
              <a:endCxn id="9" idx="0"/>
            </p:cNvCxnSpPr>
            <p:nvPr/>
          </p:nvCxnSpPr>
          <p:spPr>
            <a:xfrm>
              <a:off x="4510926" y="5800408"/>
              <a:ext cx="1430501" cy="5139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72784C5D-205E-0DEF-C85C-C23D1292E84D}"/>
                </a:ext>
              </a:extLst>
            </p:cNvPr>
            <p:cNvSpPr/>
            <p:nvPr/>
          </p:nvSpPr>
          <p:spPr>
            <a:xfrm>
              <a:off x="2857500" y="5645231"/>
              <a:ext cx="1653426" cy="251299"/>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751D07B5-7067-D9C7-EFA0-8DC737B75C78}"/>
                </a:ext>
              </a:extLst>
            </p:cNvPr>
            <p:cNvSpPr txBox="1"/>
            <p:nvPr/>
          </p:nvSpPr>
          <p:spPr>
            <a:xfrm>
              <a:off x="1104617" y="5983947"/>
              <a:ext cx="856325" cy="369332"/>
            </a:xfrm>
            <a:prstGeom prst="rect">
              <a:avLst/>
            </a:prstGeom>
            <a:noFill/>
          </p:spPr>
          <p:txBody>
            <a:bodyPr wrap="none" rtlCol="0">
              <a:spAutoFit/>
            </a:bodyPr>
            <a:lstStyle/>
            <a:p>
              <a:r>
                <a:rPr lang="en-GB" dirty="0">
                  <a:solidFill>
                    <a:schemeClr val="bg1"/>
                  </a:solidFill>
                </a:rPr>
                <a:t>Output</a:t>
              </a:r>
            </a:p>
          </p:txBody>
        </p:sp>
      </p:grpSp>
      <p:grpSp>
        <p:nvGrpSpPr>
          <p:cNvPr id="17" name="Group 16">
            <a:extLst>
              <a:ext uri="{FF2B5EF4-FFF2-40B4-BE49-F238E27FC236}">
                <a16:creationId xmlns:a16="http://schemas.microsoft.com/office/drawing/2014/main" id="{05B9A4EF-56D5-6E00-2339-B8B77E830E48}"/>
              </a:ext>
            </a:extLst>
          </p:cNvPr>
          <p:cNvGrpSpPr/>
          <p:nvPr/>
        </p:nvGrpSpPr>
        <p:grpSpPr>
          <a:xfrm>
            <a:off x="8034578" y="5173663"/>
            <a:ext cx="3395694" cy="1676400"/>
            <a:chOff x="8634404" y="4501832"/>
            <a:chExt cx="3557596" cy="1584959"/>
          </a:xfrm>
        </p:grpSpPr>
        <p:pic>
          <p:nvPicPr>
            <p:cNvPr id="4" name="Picture 3" descr="A screenshot of a computer&#10;&#10;Description automatically generated">
              <a:extLst>
                <a:ext uri="{FF2B5EF4-FFF2-40B4-BE49-F238E27FC236}">
                  <a16:creationId xmlns:a16="http://schemas.microsoft.com/office/drawing/2014/main" id="{C67C66D3-6F6F-6420-26EA-FE299097D17C}"/>
                </a:ext>
              </a:extLst>
            </p:cNvPr>
            <p:cNvPicPr>
              <a:picLocks noChangeAspect="1"/>
            </p:cNvPicPr>
            <p:nvPr/>
          </p:nvPicPr>
          <p:blipFill rotWithShape="1">
            <a:blip r:embed="rId4">
              <a:extLst>
                <a:ext uri="{28A0092B-C50C-407E-A947-70E740481C1C}">
                  <a14:useLocalDpi xmlns:a14="http://schemas.microsoft.com/office/drawing/2010/main" val="0"/>
                </a:ext>
              </a:extLst>
            </a:blip>
            <a:srcRect t="8809" r="39565" b="55476"/>
            <a:stretch/>
          </p:blipFill>
          <p:spPr>
            <a:xfrm>
              <a:off x="8634404" y="4501832"/>
              <a:ext cx="3557596" cy="1584959"/>
            </a:xfrm>
            <a:prstGeom prst="rect">
              <a:avLst/>
            </a:prstGeom>
          </p:spPr>
        </p:pic>
        <p:sp>
          <p:nvSpPr>
            <p:cNvPr id="7" name="TextBox 6">
              <a:extLst>
                <a:ext uri="{FF2B5EF4-FFF2-40B4-BE49-F238E27FC236}">
                  <a16:creationId xmlns:a16="http://schemas.microsoft.com/office/drawing/2014/main" id="{2E13EB9F-5FD2-2AAC-36A0-01C477C22529}"/>
                </a:ext>
              </a:extLst>
            </p:cNvPr>
            <p:cNvSpPr txBox="1"/>
            <p:nvPr/>
          </p:nvSpPr>
          <p:spPr>
            <a:xfrm>
              <a:off x="10021770" y="4657815"/>
              <a:ext cx="780535" cy="369332"/>
            </a:xfrm>
            <a:prstGeom prst="rect">
              <a:avLst/>
            </a:prstGeom>
            <a:noFill/>
          </p:spPr>
          <p:txBody>
            <a:bodyPr wrap="none" rtlCol="0">
              <a:spAutoFit/>
            </a:bodyPr>
            <a:lstStyle/>
            <a:p>
              <a:r>
                <a:rPr lang="en-GB" dirty="0"/>
                <a:t>Binary</a:t>
              </a:r>
            </a:p>
          </p:txBody>
        </p:sp>
        <p:sp>
          <p:nvSpPr>
            <p:cNvPr id="8" name="TextBox 7">
              <a:extLst>
                <a:ext uri="{FF2B5EF4-FFF2-40B4-BE49-F238E27FC236}">
                  <a16:creationId xmlns:a16="http://schemas.microsoft.com/office/drawing/2014/main" id="{D5B8C755-244D-A29C-946A-8E7A1155E311}"/>
                </a:ext>
              </a:extLst>
            </p:cNvPr>
            <p:cNvSpPr txBox="1"/>
            <p:nvPr/>
          </p:nvSpPr>
          <p:spPr>
            <a:xfrm>
              <a:off x="10697736" y="5349249"/>
              <a:ext cx="824072" cy="369332"/>
            </a:xfrm>
            <a:prstGeom prst="rect">
              <a:avLst/>
            </a:prstGeom>
            <a:noFill/>
          </p:spPr>
          <p:txBody>
            <a:bodyPr wrap="none" rtlCol="0">
              <a:spAutoFit/>
            </a:bodyPr>
            <a:lstStyle/>
            <a:p>
              <a:r>
                <a:rPr lang="en-GB" dirty="0"/>
                <a:t>Source</a:t>
              </a:r>
            </a:p>
          </p:txBody>
        </p:sp>
      </p:grpSp>
      <p:sp>
        <p:nvSpPr>
          <p:cNvPr id="12" name="TextBox 11">
            <a:extLst>
              <a:ext uri="{FF2B5EF4-FFF2-40B4-BE49-F238E27FC236}">
                <a16:creationId xmlns:a16="http://schemas.microsoft.com/office/drawing/2014/main" id="{E83013DC-52BB-50F3-DFA8-7F008424E1D3}"/>
              </a:ext>
            </a:extLst>
          </p:cNvPr>
          <p:cNvSpPr txBox="1"/>
          <p:nvPr/>
        </p:nvSpPr>
        <p:spPr>
          <a:xfrm>
            <a:off x="4663869" y="5885304"/>
            <a:ext cx="1037463" cy="369332"/>
          </a:xfrm>
          <a:prstGeom prst="rect">
            <a:avLst/>
          </a:prstGeom>
          <a:noFill/>
        </p:spPr>
        <p:txBody>
          <a:bodyPr wrap="none" rtlCol="0">
            <a:spAutoFit/>
          </a:bodyPr>
          <a:lstStyle/>
          <a:p>
            <a:r>
              <a:rPr lang="en-GB" dirty="0">
                <a:solidFill>
                  <a:schemeClr val="bg1"/>
                </a:solidFill>
              </a:rPr>
              <a:t>Compiler</a:t>
            </a:r>
          </a:p>
        </p:txBody>
      </p:sp>
      <p:sp>
        <p:nvSpPr>
          <p:cNvPr id="30" name="TextBox 29">
            <a:extLst>
              <a:ext uri="{FF2B5EF4-FFF2-40B4-BE49-F238E27FC236}">
                <a16:creationId xmlns:a16="http://schemas.microsoft.com/office/drawing/2014/main" id="{A0B4FE20-7020-47BD-AC74-EF95ED66FF51}"/>
              </a:ext>
            </a:extLst>
          </p:cNvPr>
          <p:cNvSpPr txBox="1"/>
          <p:nvPr/>
        </p:nvSpPr>
        <p:spPr>
          <a:xfrm>
            <a:off x="5194164" y="6271781"/>
            <a:ext cx="2431628" cy="369332"/>
          </a:xfrm>
          <a:prstGeom prst="rect">
            <a:avLst/>
          </a:prstGeom>
          <a:noFill/>
        </p:spPr>
        <p:txBody>
          <a:bodyPr wrap="none" rtlCol="0">
            <a:spAutoFit/>
          </a:bodyPr>
          <a:lstStyle/>
          <a:p>
            <a:r>
              <a:rPr lang="en-GB" dirty="0"/>
              <a:t>Output binary file name</a:t>
            </a:r>
          </a:p>
        </p:txBody>
      </p:sp>
    </p:spTree>
    <p:extLst>
      <p:ext uri="{BB962C8B-B14F-4D97-AF65-F5344CB8AC3E}">
        <p14:creationId xmlns:p14="http://schemas.microsoft.com/office/powerpoint/2010/main" val="33606529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Tools in Unix</a:t>
            </a:r>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p:txBody>
          <a:bodyPr>
            <a:normAutofit/>
          </a:bodyPr>
          <a:lstStyle/>
          <a:p>
            <a:pPr algn="just"/>
            <a:r>
              <a:rPr lang="en-US" sz="2200" dirty="0"/>
              <a:t>Three tools are essential for programmers in Unix to efficiently develop, debug, and maintain system software:</a:t>
            </a:r>
          </a:p>
          <a:p>
            <a:pPr lvl="1" algn="just"/>
            <a:r>
              <a:rPr lang="en-US" sz="2000" b="1" dirty="0"/>
              <a:t>Compiler, Executer, and Debugger:</a:t>
            </a:r>
            <a:endParaRPr lang="en-US" b="1" dirty="0"/>
          </a:p>
          <a:p>
            <a:pPr lvl="2" algn="just"/>
            <a:r>
              <a:rPr lang="en-US" dirty="0"/>
              <a:t>An executor (or execution environment) in Unix refers to the system's ability to run compiled programs. </a:t>
            </a:r>
          </a:p>
          <a:p>
            <a:pPr lvl="2" algn="just"/>
            <a:r>
              <a:rPr lang="en-US" dirty="0"/>
              <a:t>This typically involves loading the executable code into memory and running it on the CPU. </a:t>
            </a:r>
          </a:p>
          <a:p>
            <a:pPr lvl="2" algn="just"/>
            <a:endParaRPr lang="en-US" dirty="0"/>
          </a:p>
        </p:txBody>
      </p:sp>
      <p:grpSp>
        <p:nvGrpSpPr>
          <p:cNvPr id="18" name="Group 17">
            <a:extLst>
              <a:ext uri="{FF2B5EF4-FFF2-40B4-BE49-F238E27FC236}">
                <a16:creationId xmlns:a16="http://schemas.microsoft.com/office/drawing/2014/main" id="{895B0D1D-EADC-B75C-19A6-6AA6254CB05B}"/>
              </a:ext>
            </a:extLst>
          </p:cNvPr>
          <p:cNvGrpSpPr/>
          <p:nvPr/>
        </p:nvGrpSpPr>
        <p:grpSpPr>
          <a:xfrm>
            <a:off x="-193389" y="4879340"/>
            <a:ext cx="7941945" cy="1889760"/>
            <a:chOff x="-193389" y="4968240"/>
            <a:chExt cx="7941945" cy="1889760"/>
          </a:xfrm>
        </p:grpSpPr>
        <p:pic>
          <p:nvPicPr>
            <p:cNvPr id="5" name="Picture 4" descr="A screenshot of a computer&#10;&#10;Description automatically generated">
              <a:extLst>
                <a:ext uri="{FF2B5EF4-FFF2-40B4-BE49-F238E27FC236}">
                  <a16:creationId xmlns:a16="http://schemas.microsoft.com/office/drawing/2014/main" id="{FCF92ED2-A7A2-748E-566C-3A3EA4501DDA}"/>
                </a:ext>
              </a:extLst>
            </p:cNvPr>
            <p:cNvPicPr>
              <a:picLocks noChangeAspect="1"/>
            </p:cNvPicPr>
            <p:nvPr/>
          </p:nvPicPr>
          <p:blipFill rotWithShape="1">
            <a:blip r:embed="rId3">
              <a:extLst>
                <a:ext uri="{28A0092B-C50C-407E-A947-70E740481C1C}">
                  <a14:useLocalDpi xmlns:a14="http://schemas.microsoft.com/office/drawing/2010/main" val="0"/>
                </a:ext>
              </a:extLst>
            </a:blip>
            <a:srcRect t="3196" r="3718" b="65262"/>
            <a:stretch/>
          </p:blipFill>
          <p:spPr>
            <a:xfrm>
              <a:off x="-193389" y="4968240"/>
              <a:ext cx="7941945" cy="1889760"/>
            </a:xfrm>
            <a:prstGeom prst="rect">
              <a:avLst/>
            </a:prstGeom>
          </p:spPr>
        </p:pic>
        <p:sp>
          <p:nvSpPr>
            <p:cNvPr id="9" name="TextBox 8">
              <a:extLst>
                <a:ext uri="{FF2B5EF4-FFF2-40B4-BE49-F238E27FC236}">
                  <a16:creationId xmlns:a16="http://schemas.microsoft.com/office/drawing/2014/main" id="{8D30A1F5-16EB-1CC7-89DF-7EDD753FD0E7}"/>
                </a:ext>
              </a:extLst>
            </p:cNvPr>
            <p:cNvSpPr txBox="1"/>
            <p:nvPr/>
          </p:nvSpPr>
          <p:spPr>
            <a:xfrm>
              <a:off x="4725613" y="5851806"/>
              <a:ext cx="2431628" cy="369332"/>
            </a:xfrm>
            <a:prstGeom prst="rect">
              <a:avLst/>
            </a:prstGeom>
            <a:noFill/>
          </p:spPr>
          <p:txBody>
            <a:bodyPr wrap="none" rtlCol="0">
              <a:spAutoFit/>
            </a:bodyPr>
            <a:lstStyle/>
            <a:p>
              <a:r>
                <a:rPr lang="en-GB" dirty="0">
                  <a:solidFill>
                    <a:schemeClr val="bg1"/>
                  </a:solidFill>
                </a:rPr>
                <a:t>Output binary file name</a:t>
              </a:r>
            </a:p>
          </p:txBody>
        </p:sp>
        <p:cxnSp>
          <p:nvCxnSpPr>
            <p:cNvPr id="10" name="Straight Arrow Connector 9">
              <a:extLst>
                <a:ext uri="{FF2B5EF4-FFF2-40B4-BE49-F238E27FC236}">
                  <a16:creationId xmlns:a16="http://schemas.microsoft.com/office/drawing/2014/main" id="{51EF4680-5078-8497-72DF-2FCD8AE6D981}"/>
                </a:ext>
              </a:extLst>
            </p:cNvPr>
            <p:cNvCxnSpPr>
              <a:cxnSpLocks/>
              <a:endCxn id="9" idx="0"/>
            </p:cNvCxnSpPr>
            <p:nvPr/>
          </p:nvCxnSpPr>
          <p:spPr>
            <a:xfrm>
              <a:off x="4510926" y="5800408"/>
              <a:ext cx="1430501" cy="51398"/>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9516D6EB-5E40-B057-BDAD-76526E2E9A14}"/>
                </a:ext>
              </a:extLst>
            </p:cNvPr>
            <p:cNvSpPr txBox="1"/>
            <p:nvPr/>
          </p:nvSpPr>
          <p:spPr>
            <a:xfrm>
              <a:off x="3857959" y="6441399"/>
              <a:ext cx="1560620" cy="369332"/>
            </a:xfrm>
            <a:prstGeom prst="rect">
              <a:avLst/>
            </a:prstGeom>
            <a:noFill/>
          </p:spPr>
          <p:txBody>
            <a:bodyPr wrap="none" rtlCol="0">
              <a:spAutoFit/>
            </a:bodyPr>
            <a:lstStyle/>
            <a:p>
              <a:r>
                <a:rPr lang="en-GB" dirty="0">
                  <a:solidFill>
                    <a:schemeClr val="bg1"/>
                  </a:solidFill>
                </a:rPr>
                <a:t>Execute binary</a:t>
              </a:r>
            </a:p>
          </p:txBody>
        </p:sp>
        <p:cxnSp>
          <p:nvCxnSpPr>
            <p:cNvPr id="14" name="Straight Arrow Connector 13">
              <a:extLst>
                <a:ext uri="{FF2B5EF4-FFF2-40B4-BE49-F238E27FC236}">
                  <a16:creationId xmlns:a16="http://schemas.microsoft.com/office/drawing/2014/main" id="{6AC2648D-03B9-2221-FECC-2D105161EF6C}"/>
                </a:ext>
              </a:extLst>
            </p:cNvPr>
            <p:cNvCxnSpPr>
              <a:cxnSpLocks/>
              <a:endCxn id="13" idx="0"/>
            </p:cNvCxnSpPr>
            <p:nvPr/>
          </p:nvCxnSpPr>
          <p:spPr>
            <a:xfrm>
              <a:off x="3455980" y="6068604"/>
              <a:ext cx="1182289" cy="372795"/>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72784C5D-205E-0DEF-C85C-C23D1292E84D}"/>
                </a:ext>
              </a:extLst>
            </p:cNvPr>
            <p:cNvSpPr/>
            <p:nvPr/>
          </p:nvSpPr>
          <p:spPr>
            <a:xfrm>
              <a:off x="38100" y="6036472"/>
              <a:ext cx="1092200" cy="251299"/>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TextBox 15">
              <a:extLst>
                <a:ext uri="{FF2B5EF4-FFF2-40B4-BE49-F238E27FC236}">
                  <a16:creationId xmlns:a16="http://schemas.microsoft.com/office/drawing/2014/main" id="{751D07B5-7067-D9C7-EFA0-8DC737B75C78}"/>
                </a:ext>
              </a:extLst>
            </p:cNvPr>
            <p:cNvSpPr txBox="1"/>
            <p:nvPr/>
          </p:nvSpPr>
          <p:spPr>
            <a:xfrm>
              <a:off x="1104617" y="5983947"/>
              <a:ext cx="856325" cy="369332"/>
            </a:xfrm>
            <a:prstGeom prst="rect">
              <a:avLst/>
            </a:prstGeom>
            <a:noFill/>
          </p:spPr>
          <p:txBody>
            <a:bodyPr wrap="none" rtlCol="0">
              <a:spAutoFit/>
            </a:bodyPr>
            <a:lstStyle/>
            <a:p>
              <a:r>
                <a:rPr lang="en-GB" dirty="0">
                  <a:solidFill>
                    <a:schemeClr val="bg1"/>
                  </a:solidFill>
                </a:rPr>
                <a:t>Output</a:t>
              </a:r>
            </a:p>
          </p:txBody>
        </p:sp>
      </p:grpSp>
      <p:grpSp>
        <p:nvGrpSpPr>
          <p:cNvPr id="17" name="Group 16">
            <a:extLst>
              <a:ext uri="{FF2B5EF4-FFF2-40B4-BE49-F238E27FC236}">
                <a16:creationId xmlns:a16="http://schemas.microsoft.com/office/drawing/2014/main" id="{05B9A4EF-56D5-6E00-2339-B8B77E830E48}"/>
              </a:ext>
            </a:extLst>
          </p:cNvPr>
          <p:cNvGrpSpPr/>
          <p:nvPr/>
        </p:nvGrpSpPr>
        <p:grpSpPr>
          <a:xfrm>
            <a:off x="7748556" y="4674198"/>
            <a:ext cx="4111316" cy="2183802"/>
            <a:chOff x="8634404" y="4501832"/>
            <a:chExt cx="3557596" cy="1584959"/>
          </a:xfrm>
        </p:grpSpPr>
        <p:pic>
          <p:nvPicPr>
            <p:cNvPr id="4" name="Picture 3" descr="A screenshot of a computer&#10;&#10;Description automatically generated">
              <a:extLst>
                <a:ext uri="{FF2B5EF4-FFF2-40B4-BE49-F238E27FC236}">
                  <a16:creationId xmlns:a16="http://schemas.microsoft.com/office/drawing/2014/main" id="{C67C66D3-6F6F-6420-26EA-FE299097D17C}"/>
                </a:ext>
              </a:extLst>
            </p:cNvPr>
            <p:cNvPicPr>
              <a:picLocks noChangeAspect="1"/>
            </p:cNvPicPr>
            <p:nvPr/>
          </p:nvPicPr>
          <p:blipFill rotWithShape="1">
            <a:blip r:embed="rId4">
              <a:extLst>
                <a:ext uri="{28A0092B-C50C-407E-A947-70E740481C1C}">
                  <a14:useLocalDpi xmlns:a14="http://schemas.microsoft.com/office/drawing/2010/main" val="0"/>
                </a:ext>
              </a:extLst>
            </a:blip>
            <a:srcRect t="8809" r="39565" b="55476"/>
            <a:stretch/>
          </p:blipFill>
          <p:spPr>
            <a:xfrm>
              <a:off x="8634404" y="4501832"/>
              <a:ext cx="3557596" cy="1584959"/>
            </a:xfrm>
            <a:prstGeom prst="rect">
              <a:avLst/>
            </a:prstGeom>
          </p:spPr>
        </p:pic>
        <p:sp>
          <p:nvSpPr>
            <p:cNvPr id="7" name="TextBox 6">
              <a:extLst>
                <a:ext uri="{FF2B5EF4-FFF2-40B4-BE49-F238E27FC236}">
                  <a16:creationId xmlns:a16="http://schemas.microsoft.com/office/drawing/2014/main" id="{2E13EB9F-5FD2-2AAC-36A0-01C477C22529}"/>
                </a:ext>
              </a:extLst>
            </p:cNvPr>
            <p:cNvSpPr txBox="1"/>
            <p:nvPr/>
          </p:nvSpPr>
          <p:spPr>
            <a:xfrm>
              <a:off x="10130427" y="4687833"/>
              <a:ext cx="780535" cy="369332"/>
            </a:xfrm>
            <a:prstGeom prst="rect">
              <a:avLst/>
            </a:prstGeom>
            <a:noFill/>
          </p:spPr>
          <p:txBody>
            <a:bodyPr wrap="none" rtlCol="0">
              <a:spAutoFit/>
            </a:bodyPr>
            <a:lstStyle/>
            <a:p>
              <a:r>
                <a:rPr lang="en-GB" dirty="0"/>
                <a:t>Binary</a:t>
              </a:r>
            </a:p>
          </p:txBody>
        </p:sp>
        <p:sp>
          <p:nvSpPr>
            <p:cNvPr id="8" name="TextBox 7">
              <a:extLst>
                <a:ext uri="{FF2B5EF4-FFF2-40B4-BE49-F238E27FC236}">
                  <a16:creationId xmlns:a16="http://schemas.microsoft.com/office/drawing/2014/main" id="{D5B8C755-244D-A29C-946A-8E7A1155E311}"/>
                </a:ext>
              </a:extLst>
            </p:cNvPr>
            <p:cNvSpPr txBox="1"/>
            <p:nvPr/>
          </p:nvSpPr>
          <p:spPr>
            <a:xfrm>
              <a:off x="10736936" y="4655772"/>
              <a:ext cx="824072" cy="369332"/>
            </a:xfrm>
            <a:prstGeom prst="rect">
              <a:avLst/>
            </a:prstGeom>
            <a:noFill/>
          </p:spPr>
          <p:txBody>
            <a:bodyPr wrap="none" rtlCol="0">
              <a:spAutoFit/>
            </a:bodyPr>
            <a:lstStyle/>
            <a:p>
              <a:r>
                <a:rPr lang="en-GB" dirty="0"/>
                <a:t>Source</a:t>
              </a:r>
            </a:p>
          </p:txBody>
        </p:sp>
      </p:grpSp>
      <p:sp>
        <p:nvSpPr>
          <p:cNvPr id="12" name="TextBox 11">
            <a:extLst>
              <a:ext uri="{FF2B5EF4-FFF2-40B4-BE49-F238E27FC236}">
                <a16:creationId xmlns:a16="http://schemas.microsoft.com/office/drawing/2014/main" id="{E83013DC-52BB-50F3-DFA8-7F008424E1D3}"/>
              </a:ext>
            </a:extLst>
          </p:cNvPr>
          <p:cNvSpPr txBox="1"/>
          <p:nvPr/>
        </p:nvSpPr>
        <p:spPr>
          <a:xfrm>
            <a:off x="4663869" y="5402704"/>
            <a:ext cx="1037463" cy="369332"/>
          </a:xfrm>
          <a:prstGeom prst="rect">
            <a:avLst/>
          </a:prstGeom>
          <a:noFill/>
        </p:spPr>
        <p:txBody>
          <a:bodyPr wrap="none" rtlCol="0">
            <a:spAutoFit/>
          </a:bodyPr>
          <a:lstStyle/>
          <a:p>
            <a:r>
              <a:rPr lang="en-GB" dirty="0">
                <a:solidFill>
                  <a:schemeClr val="bg1"/>
                </a:solidFill>
              </a:rPr>
              <a:t>Compiler</a:t>
            </a:r>
          </a:p>
        </p:txBody>
      </p:sp>
      <p:sp>
        <p:nvSpPr>
          <p:cNvPr id="19" name="TextBox 18">
            <a:extLst>
              <a:ext uri="{FF2B5EF4-FFF2-40B4-BE49-F238E27FC236}">
                <a16:creationId xmlns:a16="http://schemas.microsoft.com/office/drawing/2014/main" id="{98FB7BA0-947C-8F53-83E5-C80AB560BED6}"/>
              </a:ext>
            </a:extLst>
          </p:cNvPr>
          <p:cNvSpPr txBox="1"/>
          <p:nvPr/>
        </p:nvSpPr>
        <p:spPr>
          <a:xfrm rot="1053979">
            <a:off x="3518995" y="5822659"/>
            <a:ext cx="995209" cy="369332"/>
          </a:xfrm>
          <a:prstGeom prst="rect">
            <a:avLst/>
          </a:prstGeom>
          <a:noFill/>
        </p:spPr>
        <p:txBody>
          <a:bodyPr wrap="none" rtlCol="0">
            <a:spAutoFit/>
          </a:bodyPr>
          <a:lstStyle/>
          <a:p>
            <a:r>
              <a:rPr lang="en-GB" dirty="0">
                <a:solidFill>
                  <a:schemeClr val="bg1"/>
                </a:solidFill>
              </a:rPr>
              <a:t>Executer</a:t>
            </a:r>
          </a:p>
        </p:txBody>
      </p:sp>
    </p:spTree>
    <p:extLst>
      <p:ext uri="{BB962C8B-B14F-4D97-AF65-F5344CB8AC3E}">
        <p14:creationId xmlns:p14="http://schemas.microsoft.com/office/powerpoint/2010/main" val="34584738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Tools in Unix</a:t>
            </a:r>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p:txBody>
          <a:bodyPr>
            <a:normAutofit/>
          </a:bodyPr>
          <a:lstStyle/>
          <a:p>
            <a:pPr algn="just"/>
            <a:r>
              <a:rPr lang="en-US" sz="2200" dirty="0"/>
              <a:t>Three tools are essential for programmers in Unix to efficiently develop, debug, and maintain system software:</a:t>
            </a:r>
          </a:p>
          <a:p>
            <a:pPr lvl="1" algn="just"/>
            <a:r>
              <a:rPr lang="en-US" sz="2000" b="1" dirty="0"/>
              <a:t>Compiler, Executer, and Debugger:</a:t>
            </a:r>
            <a:endParaRPr lang="en-US" b="1" dirty="0"/>
          </a:p>
          <a:p>
            <a:pPr lvl="2" algn="just"/>
            <a:r>
              <a:rPr lang="en-US" dirty="0"/>
              <a:t>A debugger is a tool that allows developers to inspect and control the execution of a program to identify and fix bugs or unexpected behaviors. </a:t>
            </a:r>
          </a:p>
          <a:p>
            <a:pPr lvl="2" algn="just"/>
            <a:r>
              <a:rPr lang="en-US" dirty="0"/>
              <a:t>Debuggers provide capabilities like setting breakpoints, stepping through code, inspecting variables, and examining the call stack. </a:t>
            </a:r>
          </a:p>
          <a:p>
            <a:pPr lvl="2" algn="just"/>
            <a:r>
              <a:rPr lang="en-US" dirty="0"/>
              <a:t>In Unix, the most commonly used debugger is GDB (GNU Debugger).</a:t>
            </a:r>
          </a:p>
          <a:p>
            <a:pPr lvl="2" algn="just"/>
            <a:r>
              <a:rPr lang="sv-SE" dirty="0" err="1"/>
              <a:t>Compile</a:t>
            </a:r>
            <a:r>
              <a:rPr lang="sv-SE" dirty="0"/>
              <a:t> the C program </a:t>
            </a:r>
            <a:r>
              <a:rPr lang="sv-SE" dirty="0" err="1"/>
              <a:t>using</a:t>
            </a:r>
            <a:r>
              <a:rPr lang="sv-SE" dirty="0"/>
              <a:t> GCC </a:t>
            </a:r>
            <a:r>
              <a:rPr lang="sv-SE" dirty="0" err="1"/>
              <a:t>with</a:t>
            </a:r>
            <a:r>
              <a:rPr lang="sv-SE" dirty="0"/>
              <a:t> </a:t>
            </a:r>
            <a:r>
              <a:rPr lang="sv-SE" dirty="0" err="1"/>
              <a:t>debugging</a:t>
            </a:r>
            <a:r>
              <a:rPr lang="sv-SE" dirty="0"/>
              <a:t> information </a:t>
            </a:r>
            <a:r>
              <a:rPr lang="sv-SE" dirty="0" err="1"/>
              <a:t>included</a:t>
            </a:r>
            <a:r>
              <a:rPr lang="sv-SE" dirty="0"/>
              <a:t> by </a:t>
            </a:r>
            <a:r>
              <a:rPr lang="sv-SE" dirty="0" err="1"/>
              <a:t>using</a:t>
            </a:r>
            <a:r>
              <a:rPr lang="sv-SE" dirty="0"/>
              <a:t> the -g flag:</a:t>
            </a:r>
          </a:p>
          <a:p>
            <a:pPr marL="914400" lvl="2" indent="0" algn="just">
              <a:buNone/>
            </a:pPr>
            <a:r>
              <a:rPr lang="sv-SE" dirty="0"/>
              <a:t>	</a:t>
            </a:r>
            <a:r>
              <a:rPr lang="sv-SE" dirty="0" err="1">
                <a:solidFill>
                  <a:schemeClr val="accent1"/>
                </a:solidFill>
              </a:rPr>
              <a:t>gcc</a:t>
            </a:r>
            <a:r>
              <a:rPr lang="sv-SE" dirty="0">
                <a:solidFill>
                  <a:schemeClr val="accent1"/>
                </a:solidFill>
              </a:rPr>
              <a:t> -g -o </a:t>
            </a:r>
            <a:r>
              <a:rPr lang="sv-SE" dirty="0" err="1">
                <a:solidFill>
                  <a:schemeClr val="accent1"/>
                </a:solidFill>
              </a:rPr>
              <a:t>sum</a:t>
            </a:r>
            <a:r>
              <a:rPr lang="sv-SE" dirty="0">
                <a:solidFill>
                  <a:schemeClr val="accent1"/>
                </a:solidFill>
              </a:rPr>
              <a:t> </a:t>
            </a:r>
            <a:r>
              <a:rPr lang="sv-SE" dirty="0" err="1">
                <a:solidFill>
                  <a:schemeClr val="accent1"/>
                </a:solidFill>
              </a:rPr>
              <a:t>sum.c</a:t>
            </a:r>
            <a:endParaRPr lang="sv-SE" dirty="0">
              <a:solidFill>
                <a:schemeClr val="accent1"/>
              </a:solidFill>
            </a:endParaRPr>
          </a:p>
          <a:p>
            <a:pPr lvl="2" algn="just"/>
            <a:r>
              <a:rPr lang="sv-SE" dirty="0"/>
              <a:t>-g: </a:t>
            </a:r>
            <a:r>
              <a:rPr lang="sv-SE" dirty="0" err="1"/>
              <a:t>Includes</a:t>
            </a:r>
            <a:r>
              <a:rPr lang="sv-SE" dirty="0"/>
              <a:t> </a:t>
            </a:r>
            <a:r>
              <a:rPr lang="sv-SE" dirty="0" err="1"/>
              <a:t>debugging</a:t>
            </a:r>
            <a:r>
              <a:rPr lang="sv-SE" dirty="0"/>
              <a:t> information in the </a:t>
            </a:r>
            <a:r>
              <a:rPr lang="sv-SE" dirty="0" err="1"/>
              <a:t>compiled</a:t>
            </a:r>
            <a:r>
              <a:rPr lang="sv-SE" dirty="0"/>
              <a:t> </a:t>
            </a:r>
            <a:r>
              <a:rPr lang="sv-SE" dirty="0" err="1"/>
              <a:t>executable</a:t>
            </a:r>
            <a:r>
              <a:rPr lang="sv-SE" dirty="0"/>
              <a:t>.</a:t>
            </a:r>
          </a:p>
          <a:p>
            <a:pPr lvl="2" algn="just"/>
            <a:r>
              <a:rPr lang="sv-SE" dirty="0"/>
              <a:t>-o </a:t>
            </a:r>
            <a:r>
              <a:rPr lang="sv-SE" dirty="0" err="1"/>
              <a:t>sum</a:t>
            </a:r>
            <a:r>
              <a:rPr lang="sv-SE" dirty="0"/>
              <a:t>: </a:t>
            </a:r>
            <a:r>
              <a:rPr lang="sv-SE" dirty="0" err="1"/>
              <a:t>Specifies</a:t>
            </a:r>
            <a:r>
              <a:rPr lang="sv-SE" dirty="0"/>
              <a:t> the output </a:t>
            </a:r>
            <a:r>
              <a:rPr lang="sv-SE" dirty="0" err="1"/>
              <a:t>executable</a:t>
            </a:r>
            <a:r>
              <a:rPr lang="sv-SE" dirty="0"/>
              <a:t> </a:t>
            </a:r>
            <a:r>
              <a:rPr lang="sv-SE" dirty="0" err="1"/>
              <a:t>file</a:t>
            </a:r>
            <a:r>
              <a:rPr lang="sv-SE" dirty="0"/>
              <a:t> </a:t>
            </a:r>
            <a:r>
              <a:rPr lang="sv-SE" dirty="0" err="1"/>
              <a:t>name</a:t>
            </a:r>
            <a:r>
              <a:rPr lang="sv-SE" dirty="0"/>
              <a:t> as </a:t>
            </a:r>
            <a:r>
              <a:rPr lang="sv-SE" dirty="0" err="1"/>
              <a:t>sum</a:t>
            </a:r>
            <a:r>
              <a:rPr lang="sv-SE" dirty="0"/>
              <a:t>.</a:t>
            </a:r>
            <a:endParaRPr lang="en-US" dirty="0"/>
          </a:p>
        </p:txBody>
      </p:sp>
    </p:spTree>
    <p:extLst>
      <p:ext uri="{BB962C8B-B14F-4D97-AF65-F5344CB8AC3E}">
        <p14:creationId xmlns:p14="http://schemas.microsoft.com/office/powerpoint/2010/main" val="16587555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Review of C Programming: Data Types</a:t>
            </a:r>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p:txBody>
          <a:bodyPr>
            <a:normAutofit fontScale="92500" lnSpcReduction="20000"/>
          </a:bodyPr>
          <a:lstStyle/>
          <a:p>
            <a:pPr algn="just"/>
            <a:r>
              <a:rPr lang="en-US" sz="2400" dirty="0"/>
              <a:t>In C, data types are categorized into several groups based on their functionality and usage. </a:t>
            </a:r>
          </a:p>
          <a:p>
            <a:pPr algn="just"/>
            <a:r>
              <a:rPr lang="en-US" sz="2400" b="1" dirty="0"/>
              <a:t>Basic Data Types in C:</a:t>
            </a:r>
          </a:p>
          <a:p>
            <a:pPr lvl="1" algn="just"/>
            <a:r>
              <a:rPr lang="en-US" sz="2200" b="1" dirty="0">
                <a:latin typeface="Calibri (Body)"/>
              </a:rPr>
              <a:t>char: </a:t>
            </a:r>
            <a:r>
              <a:rPr lang="en-US" sz="2200" b="0" i="0" u="none" strike="noStrike" baseline="0" dirty="0">
                <a:latin typeface="Calibri (Body)"/>
              </a:rPr>
              <a:t>store character symbols. Typically, 1 byte is used to store characters.</a:t>
            </a:r>
          </a:p>
          <a:p>
            <a:pPr marL="457200" lvl="1" indent="0" algn="just">
              <a:buNone/>
            </a:pPr>
            <a:endParaRPr lang="en-US" sz="2200" b="1" dirty="0">
              <a:latin typeface="Calibri (Body)"/>
            </a:endParaRPr>
          </a:p>
          <a:p>
            <a:pPr lvl="1" algn="just"/>
            <a:r>
              <a:rPr lang="en-US" sz="2200" b="1" dirty="0">
                <a:latin typeface="Calibri (Body)"/>
              </a:rPr>
              <a:t>int: </a:t>
            </a:r>
            <a:r>
              <a:rPr lang="en-US" sz="2200" dirty="0">
                <a:latin typeface="Calibri (Body)"/>
              </a:rPr>
              <a:t>store a number without a decimal point. Typically, 4 bytes is used to store integers.</a:t>
            </a:r>
          </a:p>
          <a:p>
            <a:pPr lvl="2" algn="just"/>
            <a:r>
              <a:rPr lang="en-US" sz="1900" b="1" dirty="0">
                <a:latin typeface="Calibri (Body)"/>
              </a:rPr>
              <a:t>short:</a:t>
            </a:r>
            <a:r>
              <a:rPr lang="en-US" sz="1900" dirty="0">
                <a:latin typeface="Calibri (Body)"/>
              </a:rPr>
              <a:t> Typically, 2 bytes, used for smaller integer values.</a:t>
            </a:r>
          </a:p>
          <a:p>
            <a:pPr lvl="2" algn="just"/>
            <a:r>
              <a:rPr lang="en-US" sz="1900" b="1" dirty="0">
                <a:latin typeface="Calibri (Body)"/>
              </a:rPr>
              <a:t>long:</a:t>
            </a:r>
            <a:r>
              <a:rPr lang="en-US" sz="1900" dirty="0">
                <a:latin typeface="Calibri (Body)"/>
              </a:rPr>
              <a:t> Typically, 4 (on 32-bit systems) or 8 bytes (on 64-bit systems), used for larger integer values.</a:t>
            </a:r>
          </a:p>
          <a:p>
            <a:pPr lvl="2" algn="just"/>
            <a:r>
              <a:rPr lang="en-US" sz="1900" b="1" dirty="0">
                <a:latin typeface="Calibri (Body)"/>
              </a:rPr>
              <a:t>long </a:t>
            </a:r>
            <a:r>
              <a:rPr lang="en-US" sz="1900" b="1" dirty="0" err="1">
                <a:latin typeface="Calibri (Body)"/>
              </a:rPr>
              <a:t>long</a:t>
            </a:r>
            <a:r>
              <a:rPr lang="en-US" sz="1900" b="1" dirty="0">
                <a:latin typeface="Calibri (Body)"/>
              </a:rPr>
              <a:t>: </a:t>
            </a:r>
            <a:r>
              <a:rPr lang="en-US" sz="1900" dirty="0">
                <a:latin typeface="Calibri (Body)"/>
              </a:rPr>
              <a:t>Typically, 8 bytes, used for even larger integer values.</a:t>
            </a:r>
          </a:p>
          <a:p>
            <a:pPr lvl="1" algn="just"/>
            <a:endParaRPr lang="en-US" sz="2200" b="1" dirty="0">
              <a:latin typeface="Calibri (Body)"/>
            </a:endParaRPr>
          </a:p>
          <a:p>
            <a:pPr lvl="1" algn="just"/>
            <a:r>
              <a:rPr lang="en-US" sz="2200" b="1" dirty="0">
                <a:latin typeface="Calibri (Body)"/>
              </a:rPr>
              <a:t>float: </a:t>
            </a:r>
            <a:r>
              <a:rPr lang="en-US" sz="2200" dirty="0">
                <a:latin typeface="Calibri (Body)"/>
              </a:rPr>
              <a:t>store a real number that has a decimal place. A float has 7 decimal digits of precision and occupies 4 bytes. It is used to store single-precision floating-point numbers.</a:t>
            </a:r>
            <a:endParaRPr lang="en-US" sz="2200" b="1" dirty="0">
              <a:latin typeface="Calibri (Body)"/>
            </a:endParaRPr>
          </a:p>
          <a:p>
            <a:pPr lvl="2" algn="just"/>
            <a:r>
              <a:rPr lang="en-US" sz="1900" b="1" dirty="0">
                <a:latin typeface="Calibri (Body)"/>
              </a:rPr>
              <a:t>double: </a:t>
            </a:r>
            <a:r>
              <a:rPr lang="en-US" sz="1900" dirty="0">
                <a:latin typeface="Calibri (Body)"/>
              </a:rPr>
              <a:t>store a real number that has a decimal place. Typically, 8 bytes, used to store double-precision floating-point numbers.</a:t>
            </a:r>
          </a:p>
          <a:p>
            <a:pPr lvl="2" algn="just"/>
            <a:r>
              <a:rPr lang="en-US" sz="1900" b="1" dirty="0">
                <a:latin typeface="Calibri (Body)"/>
              </a:rPr>
              <a:t>long double: </a:t>
            </a:r>
            <a:r>
              <a:rPr lang="en-US" sz="1900" dirty="0">
                <a:latin typeface="Calibri (Body)"/>
              </a:rPr>
              <a:t>Typically, 8, 12, or 16 bytes, used to store extended-precision floating-point numbers.</a:t>
            </a:r>
          </a:p>
        </p:txBody>
      </p:sp>
    </p:spTree>
    <p:extLst>
      <p:ext uri="{BB962C8B-B14F-4D97-AF65-F5344CB8AC3E}">
        <p14:creationId xmlns:p14="http://schemas.microsoft.com/office/powerpoint/2010/main" val="26130838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Example 1: Basic Data Types: </a:t>
            </a:r>
          </a:p>
        </p:txBody>
      </p:sp>
      <p:pic>
        <p:nvPicPr>
          <p:cNvPr id="9" name="Picture 8" descr="A screenshot of a computer&#10;&#10;Description automatically generated">
            <a:extLst>
              <a:ext uri="{FF2B5EF4-FFF2-40B4-BE49-F238E27FC236}">
                <a16:creationId xmlns:a16="http://schemas.microsoft.com/office/drawing/2014/main" id="{D6BFF88F-CC15-1ED4-31BC-E8DC26BDD049}"/>
              </a:ext>
            </a:extLst>
          </p:cNvPr>
          <p:cNvPicPr>
            <a:picLocks noChangeAspect="1"/>
          </p:cNvPicPr>
          <p:nvPr/>
        </p:nvPicPr>
        <p:blipFill rotWithShape="1">
          <a:blip r:embed="rId3">
            <a:extLst>
              <a:ext uri="{28A0092B-C50C-407E-A947-70E740481C1C}">
                <a14:useLocalDpi xmlns:a14="http://schemas.microsoft.com/office/drawing/2010/main" val="0"/>
              </a:ext>
            </a:extLst>
          </a:blip>
          <a:srcRect l="7967" t="18916" r="10178" b="15162"/>
          <a:stretch/>
        </p:blipFill>
        <p:spPr>
          <a:xfrm>
            <a:off x="0" y="1562100"/>
            <a:ext cx="6096000" cy="5235855"/>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457C2FBF-9D80-7629-C499-817A4D7BD256}"/>
              </a:ext>
            </a:extLst>
          </p:cNvPr>
          <p:cNvPicPr>
            <a:picLocks noChangeAspect="1"/>
          </p:cNvPicPr>
          <p:nvPr/>
        </p:nvPicPr>
        <p:blipFill rotWithShape="1">
          <a:blip r:embed="rId4">
            <a:extLst>
              <a:ext uri="{28A0092B-C50C-407E-A947-70E740481C1C}">
                <a14:useLocalDpi xmlns:a14="http://schemas.microsoft.com/office/drawing/2010/main" val="0"/>
              </a:ext>
            </a:extLst>
          </a:blip>
          <a:srcRect r="3695" b="65170"/>
          <a:stretch/>
        </p:blipFill>
        <p:spPr>
          <a:xfrm>
            <a:off x="3595479" y="2887663"/>
            <a:ext cx="8596521" cy="2258218"/>
          </a:xfrm>
          <a:prstGeom prst="rect">
            <a:avLst/>
          </a:prstGeom>
        </p:spPr>
      </p:pic>
    </p:spTree>
    <p:extLst>
      <p:ext uri="{BB962C8B-B14F-4D97-AF65-F5344CB8AC3E}">
        <p14:creationId xmlns:p14="http://schemas.microsoft.com/office/powerpoint/2010/main" val="14955390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Example 1: Issue with float (single-precision)</a:t>
            </a:r>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p:txBody>
          <a:bodyPr>
            <a:normAutofit/>
          </a:bodyPr>
          <a:lstStyle/>
          <a:p>
            <a:pPr algn="just"/>
            <a:r>
              <a:rPr lang="en-US" sz="2200" dirty="0"/>
              <a:t>T</a:t>
            </a:r>
            <a:r>
              <a:rPr lang="en-US" sz="2200" b="0" i="0" u="none" strike="noStrike" baseline="0" dirty="0"/>
              <a:t>he float variable has been rounded downward in the last displayed digit, while the double variable has correctly been rounded upward.</a:t>
            </a:r>
          </a:p>
          <a:p>
            <a:pPr algn="just"/>
            <a:endParaRPr lang="en-US" sz="2200" dirty="0"/>
          </a:p>
          <a:p>
            <a:pPr algn="just"/>
            <a:r>
              <a:rPr lang="en-US" sz="2200" dirty="0"/>
              <a:t>T</a:t>
            </a:r>
            <a:r>
              <a:rPr lang="en-US" sz="2200" b="0" i="0" u="none" strike="noStrike" baseline="0" dirty="0"/>
              <a:t>he float has simply run out of precision. </a:t>
            </a:r>
          </a:p>
        </p:txBody>
      </p:sp>
      <p:pic>
        <p:nvPicPr>
          <p:cNvPr id="4" name="Picture 3" descr="A screenshot of a computer&#10;&#10;Description automatically generated">
            <a:extLst>
              <a:ext uri="{FF2B5EF4-FFF2-40B4-BE49-F238E27FC236}">
                <a16:creationId xmlns:a16="http://schemas.microsoft.com/office/drawing/2014/main" id="{72654EDC-BE9A-C20F-F9AB-508AE8C69DD2}"/>
              </a:ext>
            </a:extLst>
          </p:cNvPr>
          <p:cNvPicPr>
            <a:picLocks noChangeAspect="1"/>
          </p:cNvPicPr>
          <p:nvPr/>
        </p:nvPicPr>
        <p:blipFill rotWithShape="1">
          <a:blip r:embed="rId3">
            <a:extLst>
              <a:ext uri="{28A0092B-C50C-407E-A947-70E740481C1C}">
                <a14:useLocalDpi xmlns:a14="http://schemas.microsoft.com/office/drawing/2010/main" val="0"/>
              </a:ext>
            </a:extLst>
          </a:blip>
          <a:srcRect r="3695" b="65170"/>
          <a:stretch/>
        </p:blipFill>
        <p:spPr>
          <a:xfrm>
            <a:off x="1906379" y="4234657"/>
            <a:ext cx="8596521" cy="2258218"/>
          </a:xfrm>
          <a:prstGeom prst="rect">
            <a:avLst/>
          </a:prstGeom>
        </p:spPr>
      </p:pic>
      <p:sp>
        <p:nvSpPr>
          <p:cNvPr id="7" name="Arrow: Right 6">
            <a:extLst>
              <a:ext uri="{FF2B5EF4-FFF2-40B4-BE49-F238E27FC236}">
                <a16:creationId xmlns:a16="http://schemas.microsoft.com/office/drawing/2014/main" id="{B5908C1F-50C6-43A7-3178-06D48C537C7E}"/>
              </a:ext>
            </a:extLst>
          </p:cNvPr>
          <p:cNvSpPr/>
          <p:nvPr/>
        </p:nvSpPr>
        <p:spPr>
          <a:xfrm rot="10800000">
            <a:off x="4596710" y="5600700"/>
            <a:ext cx="1066800" cy="3302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9745302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Example 1: Issue with float (single-precision)</a:t>
            </a:r>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p:txBody>
          <a:bodyPr>
            <a:normAutofit/>
          </a:bodyPr>
          <a:lstStyle/>
          <a:p>
            <a:pPr algn="just"/>
            <a:r>
              <a:rPr lang="en-US" sz="2200" dirty="0"/>
              <a:t>T</a:t>
            </a:r>
            <a:r>
              <a:rPr lang="en-US" sz="2200" b="0" i="0" u="none" strike="noStrike" baseline="0" dirty="0"/>
              <a:t>he float variable has been rounded downward in the last displayed digit, while the double variable has correctly been rounded upward.</a:t>
            </a:r>
          </a:p>
          <a:p>
            <a:pPr algn="just"/>
            <a:r>
              <a:rPr lang="en-US" sz="2200" dirty="0"/>
              <a:t>T</a:t>
            </a:r>
            <a:r>
              <a:rPr lang="en-US" sz="2200" b="0" i="0" u="none" strike="noStrike" baseline="0" dirty="0"/>
              <a:t>he float has simply run out of precision. </a:t>
            </a:r>
          </a:p>
          <a:p>
            <a:pPr algn="just"/>
            <a:r>
              <a:rPr lang="en-US" sz="2200" b="0" i="0" u="none" strike="noStrike" baseline="0" dirty="0"/>
              <a:t>The precision issue can be seen in the second line of output, where both variables are forced to print to 11 decimal places. </a:t>
            </a:r>
          </a:p>
          <a:p>
            <a:pPr algn="just"/>
            <a:r>
              <a:rPr lang="en-US" sz="2200" b="0" i="0" u="none" strike="noStrike" baseline="0" dirty="0"/>
              <a:t>The double variable has the correct value, but the float has erroneous values in the latter digits.</a:t>
            </a:r>
            <a:endParaRPr lang="en-GB" sz="2200" dirty="0"/>
          </a:p>
        </p:txBody>
      </p:sp>
      <p:pic>
        <p:nvPicPr>
          <p:cNvPr id="4" name="Picture 3" descr="A screenshot of a computer&#10;&#10;Description automatically generated">
            <a:extLst>
              <a:ext uri="{FF2B5EF4-FFF2-40B4-BE49-F238E27FC236}">
                <a16:creationId xmlns:a16="http://schemas.microsoft.com/office/drawing/2014/main" id="{72654EDC-BE9A-C20F-F9AB-508AE8C69DD2}"/>
              </a:ext>
            </a:extLst>
          </p:cNvPr>
          <p:cNvPicPr>
            <a:picLocks noChangeAspect="1"/>
          </p:cNvPicPr>
          <p:nvPr/>
        </p:nvPicPr>
        <p:blipFill rotWithShape="1">
          <a:blip r:embed="rId3">
            <a:extLst>
              <a:ext uri="{28A0092B-C50C-407E-A947-70E740481C1C}">
                <a14:useLocalDpi xmlns:a14="http://schemas.microsoft.com/office/drawing/2010/main" val="0"/>
              </a:ext>
            </a:extLst>
          </a:blip>
          <a:srcRect r="3695" b="65170"/>
          <a:stretch/>
        </p:blipFill>
        <p:spPr>
          <a:xfrm>
            <a:off x="1906379" y="4234657"/>
            <a:ext cx="8596521" cy="2258218"/>
          </a:xfrm>
          <a:prstGeom prst="rect">
            <a:avLst/>
          </a:prstGeom>
        </p:spPr>
      </p:pic>
      <p:sp>
        <p:nvSpPr>
          <p:cNvPr id="8" name="Arrow: Right 7">
            <a:extLst>
              <a:ext uri="{FF2B5EF4-FFF2-40B4-BE49-F238E27FC236}">
                <a16:creationId xmlns:a16="http://schemas.microsoft.com/office/drawing/2014/main" id="{A9E521F6-9540-8332-4A9C-C15A780ED4F6}"/>
              </a:ext>
            </a:extLst>
          </p:cNvPr>
          <p:cNvSpPr/>
          <p:nvPr/>
        </p:nvSpPr>
        <p:spPr>
          <a:xfrm rot="10800000">
            <a:off x="5663510" y="5839619"/>
            <a:ext cx="1066800" cy="3302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3393364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Example 2: Basic Data Types</a:t>
            </a:r>
          </a:p>
        </p:txBody>
      </p:sp>
      <p:pic>
        <p:nvPicPr>
          <p:cNvPr id="12" name="Picture 11" descr="A screen shot of a computer&#10;&#10;Description automatically generated">
            <a:extLst>
              <a:ext uri="{FF2B5EF4-FFF2-40B4-BE49-F238E27FC236}">
                <a16:creationId xmlns:a16="http://schemas.microsoft.com/office/drawing/2014/main" id="{C0AF8529-CDC0-30E0-0BB0-74C4398B8999}"/>
              </a:ext>
            </a:extLst>
          </p:cNvPr>
          <p:cNvPicPr>
            <a:picLocks noChangeAspect="1"/>
          </p:cNvPicPr>
          <p:nvPr/>
        </p:nvPicPr>
        <p:blipFill rotWithShape="1">
          <a:blip r:embed="rId3">
            <a:extLst>
              <a:ext uri="{28A0092B-C50C-407E-A947-70E740481C1C}">
                <a14:useLocalDpi xmlns:a14="http://schemas.microsoft.com/office/drawing/2010/main" val="0"/>
              </a:ext>
            </a:extLst>
          </a:blip>
          <a:srcRect l="5794" t="12778" r="39834" b="17407"/>
          <a:stretch/>
        </p:blipFill>
        <p:spPr>
          <a:xfrm>
            <a:off x="215900" y="1485900"/>
            <a:ext cx="5143500" cy="5298086"/>
          </a:xfrm>
          <a:prstGeom prst="rect">
            <a:avLst/>
          </a:prstGeom>
        </p:spPr>
      </p:pic>
      <p:pic>
        <p:nvPicPr>
          <p:cNvPr id="10" name="Picture 9" descr="A screenshot of a computer&#10;&#10;Description automatically generated">
            <a:extLst>
              <a:ext uri="{FF2B5EF4-FFF2-40B4-BE49-F238E27FC236}">
                <a16:creationId xmlns:a16="http://schemas.microsoft.com/office/drawing/2014/main" id="{1B626369-F463-65A6-7103-0EE081CED0FF}"/>
              </a:ext>
            </a:extLst>
          </p:cNvPr>
          <p:cNvPicPr>
            <a:picLocks noChangeAspect="1"/>
          </p:cNvPicPr>
          <p:nvPr/>
        </p:nvPicPr>
        <p:blipFill rotWithShape="1">
          <a:blip r:embed="rId4">
            <a:extLst>
              <a:ext uri="{28A0092B-C50C-407E-A947-70E740481C1C}">
                <a14:useLocalDpi xmlns:a14="http://schemas.microsoft.com/office/drawing/2010/main" val="0"/>
              </a:ext>
            </a:extLst>
          </a:blip>
          <a:srcRect l="2117" t="5061" r="12740" b="44489"/>
          <a:stretch/>
        </p:blipFill>
        <p:spPr>
          <a:xfrm>
            <a:off x="4953000" y="1917700"/>
            <a:ext cx="7023100" cy="3022600"/>
          </a:xfrm>
          <a:prstGeom prst="rect">
            <a:avLst/>
          </a:prstGeom>
        </p:spPr>
      </p:pic>
    </p:spTree>
    <p:extLst>
      <p:ext uri="{BB962C8B-B14F-4D97-AF65-F5344CB8AC3E}">
        <p14:creationId xmlns:p14="http://schemas.microsoft.com/office/powerpoint/2010/main" val="22302454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Example 3: Division with Basic Data Types</a:t>
            </a:r>
          </a:p>
        </p:txBody>
      </p:sp>
      <p:pic>
        <p:nvPicPr>
          <p:cNvPr id="10" name="Picture 9" descr="A screenshot of a computer&#10;&#10;Description automatically generated">
            <a:extLst>
              <a:ext uri="{FF2B5EF4-FFF2-40B4-BE49-F238E27FC236}">
                <a16:creationId xmlns:a16="http://schemas.microsoft.com/office/drawing/2014/main" id="{64908494-8748-A182-A621-86E20DA5E6B1}"/>
              </a:ext>
            </a:extLst>
          </p:cNvPr>
          <p:cNvPicPr>
            <a:picLocks noChangeAspect="1"/>
          </p:cNvPicPr>
          <p:nvPr/>
        </p:nvPicPr>
        <p:blipFill rotWithShape="1">
          <a:blip r:embed="rId3">
            <a:extLst>
              <a:ext uri="{28A0092B-C50C-407E-A947-70E740481C1C}">
                <a14:useLocalDpi xmlns:a14="http://schemas.microsoft.com/office/drawing/2010/main" val="0"/>
              </a:ext>
            </a:extLst>
          </a:blip>
          <a:srcRect l="5661" t="14629" r="5792" b="9259"/>
          <a:stretch/>
        </p:blipFill>
        <p:spPr>
          <a:xfrm>
            <a:off x="38100" y="1333023"/>
            <a:ext cx="8572500" cy="5219700"/>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2F29756C-E550-AE86-2627-4ECE09E3CFC8}"/>
              </a:ext>
            </a:extLst>
          </p:cNvPr>
          <p:cNvPicPr>
            <a:picLocks noChangeAspect="1"/>
          </p:cNvPicPr>
          <p:nvPr/>
        </p:nvPicPr>
        <p:blipFill rotWithShape="1">
          <a:blip r:embed="rId4">
            <a:extLst>
              <a:ext uri="{28A0092B-C50C-407E-A947-70E740481C1C}">
                <a14:useLocalDpi xmlns:a14="http://schemas.microsoft.com/office/drawing/2010/main" val="0"/>
              </a:ext>
            </a:extLst>
          </a:blip>
          <a:srcRect l="2117" t="3074" r="4120" b="59618"/>
          <a:stretch/>
        </p:blipFill>
        <p:spPr>
          <a:xfrm>
            <a:off x="4457700" y="1333023"/>
            <a:ext cx="7734300" cy="2235201"/>
          </a:xfrm>
          <a:prstGeom prst="rect">
            <a:avLst/>
          </a:prstGeom>
        </p:spPr>
      </p:pic>
    </p:spTree>
    <p:extLst>
      <p:ext uri="{BB962C8B-B14F-4D97-AF65-F5344CB8AC3E}">
        <p14:creationId xmlns:p14="http://schemas.microsoft.com/office/powerpoint/2010/main" val="990015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Example 3: Issue</a:t>
            </a:r>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p:txBody>
          <a:bodyPr>
            <a:normAutofit/>
          </a:bodyPr>
          <a:lstStyle/>
          <a:p>
            <a:pPr algn="just"/>
            <a:r>
              <a:rPr lang="en-GB" sz="2200" dirty="0"/>
              <a:t>The issue with </a:t>
            </a:r>
            <a:r>
              <a:rPr lang="en-GB" sz="2200" b="1" dirty="0"/>
              <a:t>int/int </a:t>
            </a:r>
            <a:r>
              <a:rPr lang="en-GB" sz="2200" dirty="0"/>
              <a:t>division in C is that when you divide two integers, the result is an integer, and any fractional part is discarded.</a:t>
            </a:r>
          </a:p>
          <a:p>
            <a:pPr algn="just"/>
            <a:endParaRPr lang="en-GB" sz="2200" dirty="0"/>
          </a:p>
          <a:p>
            <a:pPr algn="just"/>
            <a:r>
              <a:rPr lang="en-GB" sz="2200" dirty="0"/>
              <a:t>To obtain a floating-point result, we must explicitly convert one of the integers to a float or double before performing the division.</a:t>
            </a:r>
          </a:p>
          <a:p>
            <a:pPr algn="just"/>
            <a:endParaRPr lang="en-GB" sz="2200" dirty="0"/>
          </a:p>
        </p:txBody>
      </p:sp>
      <p:pic>
        <p:nvPicPr>
          <p:cNvPr id="4" name="Picture 3" descr="A screenshot of a computer&#10;&#10;Description automatically generated">
            <a:extLst>
              <a:ext uri="{FF2B5EF4-FFF2-40B4-BE49-F238E27FC236}">
                <a16:creationId xmlns:a16="http://schemas.microsoft.com/office/drawing/2014/main" id="{2E2F7953-C28B-2E19-F610-8FC2006BAE3E}"/>
              </a:ext>
            </a:extLst>
          </p:cNvPr>
          <p:cNvPicPr>
            <a:picLocks noChangeAspect="1"/>
          </p:cNvPicPr>
          <p:nvPr/>
        </p:nvPicPr>
        <p:blipFill rotWithShape="1">
          <a:blip r:embed="rId3">
            <a:extLst>
              <a:ext uri="{28A0092B-C50C-407E-A947-70E740481C1C}">
                <a14:useLocalDpi xmlns:a14="http://schemas.microsoft.com/office/drawing/2010/main" val="0"/>
              </a:ext>
            </a:extLst>
          </a:blip>
          <a:srcRect l="2117" t="3074" r="4120" b="59618"/>
          <a:stretch/>
        </p:blipFill>
        <p:spPr>
          <a:xfrm>
            <a:off x="2451100" y="4257674"/>
            <a:ext cx="7734300" cy="2235201"/>
          </a:xfrm>
          <a:prstGeom prst="rect">
            <a:avLst/>
          </a:prstGeom>
        </p:spPr>
      </p:pic>
      <p:sp>
        <p:nvSpPr>
          <p:cNvPr id="5" name="Rectangle 4">
            <a:extLst>
              <a:ext uri="{FF2B5EF4-FFF2-40B4-BE49-F238E27FC236}">
                <a16:creationId xmlns:a16="http://schemas.microsoft.com/office/drawing/2014/main" id="{710CCE23-FF66-C6C9-59CF-7689E88F5FAD}"/>
              </a:ext>
            </a:extLst>
          </p:cNvPr>
          <p:cNvSpPr/>
          <p:nvPr/>
        </p:nvSpPr>
        <p:spPr>
          <a:xfrm>
            <a:off x="2451100" y="5375274"/>
            <a:ext cx="2501900" cy="201613"/>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306423747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Example 3: Issue Solved </a:t>
            </a:r>
          </a:p>
        </p:txBody>
      </p:sp>
      <p:pic>
        <p:nvPicPr>
          <p:cNvPr id="4" name="Picture 3" descr="A screenshot of a computer&#10;&#10;Description automatically generated">
            <a:extLst>
              <a:ext uri="{FF2B5EF4-FFF2-40B4-BE49-F238E27FC236}">
                <a16:creationId xmlns:a16="http://schemas.microsoft.com/office/drawing/2014/main" id="{2E645FA1-1858-3BE8-C8F0-DA86ABC2FFE8}"/>
              </a:ext>
            </a:extLst>
          </p:cNvPr>
          <p:cNvPicPr>
            <a:picLocks noChangeAspect="1"/>
          </p:cNvPicPr>
          <p:nvPr/>
        </p:nvPicPr>
        <p:blipFill rotWithShape="1">
          <a:blip r:embed="rId3">
            <a:extLst>
              <a:ext uri="{28A0092B-C50C-407E-A947-70E740481C1C}">
                <a14:useLocalDpi xmlns:a14="http://schemas.microsoft.com/office/drawing/2010/main" val="0"/>
              </a:ext>
            </a:extLst>
          </a:blip>
          <a:srcRect l="5923" t="12616" r="6055" b="9629"/>
          <a:stretch/>
        </p:blipFill>
        <p:spPr>
          <a:xfrm>
            <a:off x="0" y="1398588"/>
            <a:ext cx="8521701" cy="5332412"/>
          </a:xfrm>
          <a:prstGeom prst="rect">
            <a:avLst/>
          </a:prstGeom>
        </p:spPr>
      </p:pic>
      <p:pic>
        <p:nvPicPr>
          <p:cNvPr id="6" name="Picture 5" descr="A screenshot of a computer&#10;&#10;Description automatically generated">
            <a:extLst>
              <a:ext uri="{FF2B5EF4-FFF2-40B4-BE49-F238E27FC236}">
                <a16:creationId xmlns:a16="http://schemas.microsoft.com/office/drawing/2014/main" id="{20A1BF54-906B-3B6A-F7A2-4CF5ACD8EDC8}"/>
              </a:ext>
            </a:extLst>
          </p:cNvPr>
          <p:cNvPicPr>
            <a:picLocks noChangeAspect="1"/>
          </p:cNvPicPr>
          <p:nvPr/>
        </p:nvPicPr>
        <p:blipFill rotWithShape="1">
          <a:blip r:embed="rId4">
            <a:extLst>
              <a:ext uri="{28A0092B-C50C-407E-A947-70E740481C1C}">
                <a14:useLocalDpi xmlns:a14="http://schemas.microsoft.com/office/drawing/2010/main" val="0"/>
              </a:ext>
            </a:extLst>
          </a:blip>
          <a:srcRect l="2578" t="3365" r="3041" b="63143"/>
          <a:stretch/>
        </p:blipFill>
        <p:spPr>
          <a:xfrm>
            <a:off x="4406900" y="1587500"/>
            <a:ext cx="7785100" cy="2006600"/>
          </a:xfrm>
          <a:prstGeom prst="rect">
            <a:avLst/>
          </a:prstGeom>
        </p:spPr>
      </p:pic>
      <p:sp>
        <p:nvSpPr>
          <p:cNvPr id="9" name="Arrow: Right 8">
            <a:extLst>
              <a:ext uri="{FF2B5EF4-FFF2-40B4-BE49-F238E27FC236}">
                <a16:creationId xmlns:a16="http://schemas.microsoft.com/office/drawing/2014/main" id="{3C9FAB2E-F92E-6B97-BD3F-80C20DF6EE56}"/>
              </a:ext>
            </a:extLst>
          </p:cNvPr>
          <p:cNvSpPr/>
          <p:nvPr/>
        </p:nvSpPr>
        <p:spPr>
          <a:xfrm rot="7171143">
            <a:off x="3478111" y="3016297"/>
            <a:ext cx="977900" cy="4572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ectangle 10">
            <a:extLst>
              <a:ext uri="{FF2B5EF4-FFF2-40B4-BE49-F238E27FC236}">
                <a16:creationId xmlns:a16="http://schemas.microsoft.com/office/drawing/2014/main" id="{F6F8AE7B-7844-B8F4-7387-86ADD4464B81}"/>
              </a:ext>
            </a:extLst>
          </p:cNvPr>
          <p:cNvSpPr/>
          <p:nvPr/>
        </p:nvSpPr>
        <p:spPr>
          <a:xfrm>
            <a:off x="4381499" y="2484438"/>
            <a:ext cx="2501900" cy="201613"/>
          </a:xfrm>
          <a:prstGeom prst="rect">
            <a:avLst/>
          </a:prstGeom>
          <a:noFill/>
          <a:ln w="5715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Tree>
    <p:extLst>
      <p:ext uri="{BB962C8B-B14F-4D97-AF65-F5344CB8AC3E}">
        <p14:creationId xmlns:p14="http://schemas.microsoft.com/office/powerpoint/2010/main" val="26641496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Review of C Programming: Data Types</a:t>
            </a:r>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a:xfrm>
            <a:off x="838200" y="1825625"/>
            <a:ext cx="10515600" cy="4667250"/>
          </a:xfrm>
        </p:spPr>
        <p:txBody>
          <a:bodyPr>
            <a:normAutofit fontScale="85000" lnSpcReduction="20000"/>
          </a:bodyPr>
          <a:lstStyle/>
          <a:p>
            <a:pPr algn="just"/>
            <a:r>
              <a:rPr lang="en-US" sz="2600" dirty="0"/>
              <a:t>In C, data types are categorized into several groups based on their functionality and usage. </a:t>
            </a:r>
          </a:p>
          <a:p>
            <a:pPr algn="just"/>
            <a:r>
              <a:rPr lang="en-US" sz="2600" b="1" dirty="0"/>
              <a:t>Derived Data Types in C:</a:t>
            </a:r>
          </a:p>
          <a:p>
            <a:pPr lvl="1" algn="just"/>
            <a:r>
              <a:rPr lang="en-US" b="1" dirty="0">
                <a:latin typeface="Calibri (Body)"/>
              </a:rPr>
              <a:t>arrays: </a:t>
            </a:r>
            <a:r>
              <a:rPr lang="en-US" dirty="0">
                <a:latin typeface="Calibri (Body)"/>
              </a:rPr>
              <a:t>An array is a collection of elements of the same type stored in contiguous memory locations.</a:t>
            </a:r>
          </a:p>
          <a:p>
            <a:pPr lvl="1" algn="just"/>
            <a:endParaRPr lang="en-US" sz="2200" b="1" dirty="0">
              <a:latin typeface="Calibri (Body)"/>
            </a:endParaRPr>
          </a:p>
          <a:p>
            <a:pPr lvl="1" algn="just"/>
            <a:r>
              <a:rPr lang="en-US" b="1" dirty="0">
                <a:latin typeface="Calibri (Body)"/>
              </a:rPr>
              <a:t>pointers: </a:t>
            </a:r>
            <a:r>
              <a:rPr lang="en-US" dirty="0">
                <a:latin typeface="Calibri (Body)"/>
              </a:rPr>
              <a:t>A pointer is a variable that stores the address of another variable.</a:t>
            </a:r>
          </a:p>
          <a:p>
            <a:pPr lvl="1" algn="just"/>
            <a:endParaRPr lang="en-US" sz="2200" b="1" dirty="0">
              <a:latin typeface="Calibri (Body)"/>
            </a:endParaRPr>
          </a:p>
          <a:p>
            <a:pPr lvl="1" algn="just"/>
            <a:r>
              <a:rPr lang="en-US" b="1" dirty="0">
                <a:latin typeface="Calibri (Body)"/>
              </a:rPr>
              <a:t>structures (struct): </a:t>
            </a:r>
            <a:r>
              <a:rPr lang="en-US" dirty="0">
                <a:latin typeface="Calibri (Body)"/>
              </a:rPr>
              <a:t>A structure is a user-defined data type that allows grouping of variables of different types.</a:t>
            </a:r>
          </a:p>
          <a:p>
            <a:pPr lvl="1" algn="just"/>
            <a:endParaRPr lang="en-US" sz="2200" b="1" dirty="0">
              <a:latin typeface="Calibri (Body)"/>
            </a:endParaRPr>
          </a:p>
          <a:p>
            <a:pPr lvl="1" algn="just"/>
            <a:r>
              <a:rPr lang="en-US" b="1" dirty="0">
                <a:latin typeface="Calibri (Body)"/>
              </a:rPr>
              <a:t>unions (union): </a:t>
            </a:r>
            <a:r>
              <a:rPr lang="en-US" dirty="0">
                <a:latin typeface="Calibri (Body)"/>
              </a:rPr>
              <a:t>A union is a user-defined data type similar to a structure, but with a key difference: all members share the same memory location. It can help to save memory.</a:t>
            </a:r>
          </a:p>
          <a:p>
            <a:pPr lvl="1" algn="just"/>
            <a:endParaRPr lang="en-US" sz="2200" b="1" dirty="0">
              <a:latin typeface="Calibri (Body)"/>
            </a:endParaRPr>
          </a:p>
          <a:p>
            <a:pPr lvl="1" algn="just"/>
            <a:r>
              <a:rPr lang="en-US" sz="2200" b="1" dirty="0">
                <a:latin typeface="Calibri (Body)"/>
              </a:rPr>
              <a:t>enumerations (</a:t>
            </a:r>
            <a:r>
              <a:rPr lang="en-US" sz="2200" b="1" dirty="0" err="1">
                <a:latin typeface="Calibri (Body)"/>
              </a:rPr>
              <a:t>enum</a:t>
            </a:r>
            <a:r>
              <a:rPr lang="en-US" sz="2200" b="1" dirty="0">
                <a:latin typeface="Calibri (Body)"/>
              </a:rPr>
              <a:t>): </a:t>
            </a:r>
            <a:r>
              <a:rPr lang="en-US" sz="2200" dirty="0" err="1">
                <a:latin typeface="Calibri (Body)"/>
              </a:rPr>
              <a:t>enum</a:t>
            </a:r>
            <a:r>
              <a:rPr lang="en-US" sz="2200" dirty="0">
                <a:latin typeface="Calibri (Body)"/>
              </a:rPr>
              <a:t> creates a list of named values. Instead of using plain numbers, we can use descriptive names to make our code more readable and easier to understand. For example, instead of using 0 or 1 to represent days of the week, you can use SUNDAY and MONDAY.</a:t>
            </a:r>
          </a:p>
        </p:txBody>
      </p:sp>
    </p:spTree>
    <p:extLst>
      <p:ext uri="{BB962C8B-B14F-4D97-AF65-F5344CB8AC3E}">
        <p14:creationId xmlns:p14="http://schemas.microsoft.com/office/powerpoint/2010/main" val="40774605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Example 4: Derived Data Types</a:t>
            </a:r>
          </a:p>
        </p:txBody>
      </p:sp>
      <p:pic>
        <p:nvPicPr>
          <p:cNvPr id="4" name="Picture 3" descr="A screenshot of a computer&#10;&#10;Description automatically generated">
            <a:extLst>
              <a:ext uri="{FF2B5EF4-FFF2-40B4-BE49-F238E27FC236}">
                <a16:creationId xmlns:a16="http://schemas.microsoft.com/office/drawing/2014/main" id="{7A2151F6-10D1-9553-77D1-AF1BB4DF9D3A}"/>
              </a:ext>
            </a:extLst>
          </p:cNvPr>
          <p:cNvPicPr>
            <a:picLocks noChangeAspect="1"/>
          </p:cNvPicPr>
          <p:nvPr/>
        </p:nvPicPr>
        <p:blipFill rotWithShape="1">
          <a:blip r:embed="rId3">
            <a:extLst>
              <a:ext uri="{28A0092B-C50C-407E-A947-70E740481C1C}">
                <a14:useLocalDpi xmlns:a14="http://schemas.microsoft.com/office/drawing/2010/main" val="0"/>
              </a:ext>
            </a:extLst>
          </a:blip>
          <a:srcRect t="7742" r="58125" b="57413"/>
          <a:stretch/>
        </p:blipFill>
        <p:spPr>
          <a:xfrm>
            <a:off x="253999" y="1536700"/>
            <a:ext cx="6300281" cy="2946400"/>
          </a:xfrm>
          <a:prstGeom prst="rect">
            <a:avLst/>
          </a:prstGeom>
        </p:spPr>
      </p:pic>
      <p:pic>
        <p:nvPicPr>
          <p:cNvPr id="6" name="Picture 5" descr="A screenshot of a computer&#10;&#10;Description automatically generated">
            <a:extLst>
              <a:ext uri="{FF2B5EF4-FFF2-40B4-BE49-F238E27FC236}">
                <a16:creationId xmlns:a16="http://schemas.microsoft.com/office/drawing/2014/main" id="{DF775D27-3331-DF57-7746-514CB4ECB145}"/>
              </a:ext>
            </a:extLst>
          </p:cNvPr>
          <p:cNvPicPr>
            <a:picLocks noChangeAspect="1"/>
          </p:cNvPicPr>
          <p:nvPr/>
        </p:nvPicPr>
        <p:blipFill rotWithShape="1">
          <a:blip r:embed="rId3">
            <a:extLst>
              <a:ext uri="{28A0092B-C50C-407E-A947-70E740481C1C}">
                <a14:useLocalDpi xmlns:a14="http://schemas.microsoft.com/office/drawing/2010/main" val="0"/>
              </a:ext>
            </a:extLst>
          </a:blip>
          <a:srcRect t="43699" r="59792" b="-42"/>
          <a:stretch/>
        </p:blipFill>
        <p:spPr>
          <a:xfrm>
            <a:off x="7035800" y="1397794"/>
            <a:ext cx="5159201" cy="4063206"/>
          </a:xfrm>
          <a:prstGeom prst="rect">
            <a:avLst/>
          </a:prstGeom>
        </p:spPr>
      </p:pic>
      <p:pic>
        <p:nvPicPr>
          <p:cNvPr id="12" name="Picture 11" descr="A screenshot of a computer&#10;&#10;Description automatically generated">
            <a:extLst>
              <a:ext uri="{FF2B5EF4-FFF2-40B4-BE49-F238E27FC236}">
                <a16:creationId xmlns:a16="http://schemas.microsoft.com/office/drawing/2014/main" id="{477F9CD9-0139-44C2-D5C2-1B8A24B41C90}"/>
              </a:ext>
            </a:extLst>
          </p:cNvPr>
          <p:cNvPicPr>
            <a:picLocks noChangeAspect="1"/>
          </p:cNvPicPr>
          <p:nvPr/>
        </p:nvPicPr>
        <p:blipFill rotWithShape="1">
          <a:blip r:embed="rId4">
            <a:extLst>
              <a:ext uri="{28A0092B-C50C-407E-A947-70E740481C1C}">
                <a14:useLocalDpi xmlns:a14="http://schemas.microsoft.com/office/drawing/2010/main" val="0"/>
              </a:ext>
            </a:extLst>
          </a:blip>
          <a:srcRect t="3577" r="13025" b="56147"/>
          <a:stretch/>
        </p:blipFill>
        <p:spPr>
          <a:xfrm>
            <a:off x="252920" y="4619168"/>
            <a:ext cx="6782880" cy="1802605"/>
          </a:xfrm>
          <a:prstGeom prst="rect">
            <a:avLst/>
          </a:prstGeom>
        </p:spPr>
      </p:pic>
    </p:spTree>
    <p:extLst>
      <p:ext uri="{BB962C8B-B14F-4D97-AF65-F5344CB8AC3E}">
        <p14:creationId xmlns:p14="http://schemas.microsoft.com/office/powerpoint/2010/main" val="211621536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Example 4: Explanation</a:t>
            </a:r>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p:txBody>
          <a:bodyPr>
            <a:normAutofit fontScale="92500" lnSpcReduction="20000"/>
          </a:bodyPr>
          <a:lstStyle/>
          <a:p>
            <a:pPr algn="just"/>
            <a:r>
              <a:rPr lang="en-US" sz="2400" dirty="0"/>
              <a:t>The program starts by including the standard input-output library </a:t>
            </a:r>
            <a:r>
              <a:rPr lang="en-US" sz="2400" dirty="0" err="1"/>
              <a:t>stdio.h</a:t>
            </a:r>
            <a:r>
              <a:rPr lang="en-US" sz="2400" dirty="0"/>
              <a:t>. This allows the use of functions like </a:t>
            </a:r>
            <a:r>
              <a:rPr lang="en-US" sz="2400" dirty="0" err="1"/>
              <a:t>printf</a:t>
            </a:r>
            <a:r>
              <a:rPr lang="en-US" sz="2400" dirty="0"/>
              <a:t> and </a:t>
            </a:r>
            <a:r>
              <a:rPr lang="en-US" sz="2400" dirty="0" err="1"/>
              <a:t>scanf</a:t>
            </a:r>
            <a:r>
              <a:rPr lang="en-US" sz="2400" dirty="0"/>
              <a:t> for input and output operations.</a:t>
            </a:r>
          </a:p>
          <a:p>
            <a:pPr algn="just"/>
            <a:endParaRPr lang="en-US" sz="2400" dirty="0"/>
          </a:p>
          <a:p>
            <a:pPr algn="just"/>
            <a:r>
              <a:rPr lang="en-US" sz="2400" b="1" dirty="0"/>
              <a:t>Defining a Structure:</a:t>
            </a:r>
          </a:p>
          <a:p>
            <a:pPr lvl="1" algn="just"/>
            <a:r>
              <a:rPr lang="en-US" sz="2200" dirty="0"/>
              <a:t>The program defines a structure Person with two members:</a:t>
            </a:r>
          </a:p>
          <a:p>
            <a:pPr lvl="1" algn="just"/>
            <a:r>
              <a:rPr lang="en-US" sz="2200" dirty="0"/>
              <a:t>char name[50]: an array of 50 characters to store the person's name.</a:t>
            </a:r>
          </a:p>
          <a:p>
            <a:pPr lvl="1" algn="just"/>
            <a:r>
              <a:rPr lang="en-US" sz="2200" dirty="0"/>
              <a:t>int age: an integer to store the person's age.</a:t>
            </a:r>
          </a:p>
          <a:p>
            <a:pPr algn="just"/>
            <a:r>
              <a:rPr lang="en-US" sz="2400" b="1" dirty="0"/>
              <a:t>Defining a Union:</a:t>
            </a:r>
          </a:p>
          <a:p>
            <a:pPr lvl="1" algn="just"/>
            <a:r>
              <a:rPr lang="en-US" sz="2200" dirty="0"/>
              <a:t>The program defines a union Data with three members:</a:t>
            </a:r>
          </a:p>
          <a:p>
            <a:pPr lvl="1" algn="just"/>
            <a:r>
              <a:rPr lang="en-US" sz="2200" dirty="0"/>
              <a:t>int i: an integer.</a:t>
            </a:r>
          </a:p>
          <a:p>
            <a:pPr lvl="1" algn="just"/>
            <a:r>
              <a:rPr lang="en-US" sz="2200" dirty="0"/>
              <a:t>float f: a floating-point number.</a:t>
            </a:r>
          </a:p>
          <a:p>
            <a:pPr lvl="1" algn="just"/>
            <a:r>
              <a:rPr lang="en-US" sz="2200" dirty="0"/>
              <a:t>char str[20]: an array of 20 characters to store a string.</a:t>
            </a:r>
          </a:p>
          <a:p>
            <a:pPr lvl="1" algn="just"/>
            <a:r>
              <a:rPr lang="en-US" sz="2200" dirty="0"/>
              <a:t>A union allows storing different data types in the same memory location, but only one member can be used at a time.</a:t>
            </a:r>
          </a:p>
        </p:txBody>
      </p:sp>
    </p:spTree>
    <p:extLst>
      <p:ext uri="{BB962C8B-B14F-4D97-AF65-F5344CB8AC3E}">
        <p14:creationId xmlns:p14="http://schemas.microsoft.com/office/powerpoint/2010/main" val="9246585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Example 4: Explanation</a:t>
            </a:r>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p:txBody>
          <a:bodyPr>
            <a:normAutofit fontScale="92500" lnSpcReduction="20000"/>
          </a:bodyPr>
          <a:lstStyle/>
          <a:p>
            <a:pPr algn="just"/>
            <a:r>
              <a:rPr lang="en-US" sz="2400" b="1" dirty="0"/>
              <a:t>Defining an Enumeration:</a:t>
            </a:r>
          </a:p>
          <a:p>
            <a:pPr lvl="1" algn="just"/>
            <a:r>
              <a:rPr lang="en-US" sz="2200" dirty="0"/>
              <a:t>The program defines an enumeration Days with values representing the days of the week:</a:t>
            </a:r>
          </a:p>
          <a:p>
            <a:pPr lvl="2" algn="just"/>
            <a:r>
              <a:rPr lang="en-US" sz="1900" dirty="0">
                <a:solidFill>
                  <a:srgbClr val="C00000"/>
                </a:solidFill>
              </a:rPr>
              <a:t>Sunday, Monday, Tuesday, Wednesday, Thursday, Friday, Saturday.</a:t>
            </a:r>
          </a:p>
          <a:p>
            <a:pPr lvl="1" algn="just"/>
            <a:r>
              <a:rPr lang="en-US" sz="2200" dirty="0"/>
              <a:t>Enumerations provide a way to assign names to integral constants, making the code more readable.</a:t>
            </a:r>
          </a:p>
          <a:p>
            <a:pPr lvl="1" algn="just"/>
            <a:endParaRPr lang="en-US" sz="2000" dirty="0"/>
          </a:p>
          <a:p>
            <a:pPr algn="just"/>
            <a:r>
              <a:rPr lang="en-US" sz="2400" b="1" dirty="0"/>
              <a:t>Inside the main Function:</a:t>
            </a:r>
          </a:p>
          <a:p>
            <a:pPr lvl="1" algn="just"/>
            <a:r>
              <a:rPr lang="en-US" sz="2200" dirty="0"/>
              <a:t>The program declares an integer array </a:t>
            </a:r>
            <a:r>
              <a:rPr lang="en-US" sz="2200" dirty="0" err="1"/>
              <a:t>arr</a:t>
            </a:r>
            <a:r>
              <a:rPr lang="en-US" sz="2200" dirty="0"/>
              <a:t> with three elements and initializes it.</a:t>
            </a:r>
          </a:p>
          <a:p>
            <a:pPr lvl="1" algn="just"/>
            <a:r>
              <a:rPr lang="en-US" sz="2200" dirty="0"/>
              <a:t>The program declares a pointer p that points to the first element of the array arr.</a:t>
            </a:r>
          </a:p>
          <a:p>
            <a:pPr lvl="1" algn="just"/>
            <a:r>
              <a:rPr lang="en-US" sz="2200" dirty="0"/>
              <a:t>The program declares a variable person of type struct Person.</a:t>
            </a:r>
          </a:p>
          <a:p>
            <a:pPr lvl="2" algn="just"/>
            <a:r>
              <a:rPr lang="en-US" sz="1900" dirty="0"/>
              <a:t>It sets the age member of person to 30.</a:t>
            </a:r>
          </a:p>
          <a:p>
            <a:pPr lvl="2" algn="just"/>
            <a:r>
              <a:rPr lang="en-US" sz="1900" dirty="0"/>
              <a:t>It assigns the string "John Doe" to the name member of person using </a:t>
            </a:r>
            <a:r>
              <a:rPr lang="en-US" sz="1900" dirty="0" err="1"/>
              <a:t>snprintf</a:t>
            </a:r>
            <a:r>
              <a:rPr lang="en-US" sz="1900" dirty="0"/>
              <a:t>.</a:t>
            </a:r>
          </a:p>
          <a:p>
            <a:pPr lvl="2" algn="just"/>
            <a:r>
              <a:rPr lang="en-US" sz="1900" dirty="0" err="1"/>
              <a:t>snprintf</a:t>
            </a:r>
            <a:r>
              <a:rPr lang="en-US" sz="1900" dirty="0"/>
              <a:t>: Used to safely format and copy the string into the destination buffer.</a:t>
            </a:r>
          </a:p>
          <a:p>
            <a:pPr lvl="2" algn="just"/>
            <a:r>
              <a:rPr lang="en-US" sz="1900" dirty="0" err="1"/>
              <a:t>sizeof</a:t>
            </a:r>
            <a:r>
              <a:rPr lang="en-US" sz="1900" dirty="0"/>
              <a:t>(person.name): Ensures the string fits within the bounds of the name array, preventing buffer overflow.</a:t>
            </a:r>
          </a:p>
        </p:txBody>
      </p:sp>
    </p:spTree>
    <p:extLst>
      <p:ext uri="{BB962C8B-B14F-4D97-AF65-F5344CB8AC3E}">
        <p14:creationId xmlns:p14="http://schemas.microsoft.com/office/powerpoint/2010/main" val="25273389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Example 4: Explanation</a:t>
            </a:r>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p:txBody>
          <a:bodyPr>
            <a:normAutofit/>
          </a:bodyPr>
          <a:lstStyle/>
          <a:p>
            <a:pPr algn="just"/>
            <a:r>
              <a:rPr lang="en-US" sz="2200" b="1" dirty="0"/>
              <a:t>Inside the main Function:</a:t>
            </a:r>
          </a:p>
          <a:p>
            <a:pPr lvl="1" algn="just"/>
            <a:r>
              <a:rPr lang="en-US" sz="2000" dirty="0"/>
              <a:t>The program declares a variable data of type union Data.</a:t>
            </a:r>
          </a:p>
          <a:p>
            <a:pPr lvl="2" algn="just"/>
            <a:r>
              <a:rPr lang="en-US" sz="1800" dirty="0"/>
              <a:t>It sets the integer member </a:t>
            </a:r>
            <a:r>
              <a:rPr lang="en-US" sz="1800" dirty="0" err="1"/>
              <a:t>i</a:t>
            </a:r>
            <a:r>
              <a:rPr lang="en-US" sz="1800" dirty="0"/>
              <a:t> of data to 10.</a:t>
            </a:r>
            <a:endParaRPr lang="en-US" sz="2200" dirty="0"/>
          </a:p>
          <a:p>
            <a:pPr lvl="1" algn="just"/>
            <a:r>
              <a:rPr lang="en-US" sz="2000" dirty="0"/>
              <a:t>The program prints the elements of the array </a:t>
            </a:r>
            <a:r>
              <a:rPr lang="en-US" sz="2000" dirty="0" err="1"/>
              <a:t>arr</a:t>
            </a:r>
            <a:r>
              <a:rPr lang="en-US" sz="2000" dirty="0"/>
              <a:t> using </a:t>
            </a:r>
            <a:r>
              <a:rPr lang="en-US" sz="2000" dirty="0" err="1"/>
              <a:t>printf</a:t>
            </a:r>
            <a:r>
              <a:rPr lang="en-US" sz="2000" dirty="0"/>
              <a:t>.</a:t>
            </a:r>
          </a:p>
          <a:p>
            <a:pPr lvl="1" algn="just"/>
            <a:r>
              <a:rPr lang="en-US" sz="2000" dirty="0"/>
              <a:t>It prints the value pointed to by the pointer p, which is the first element of the array.</a:t>
            </a:r>
          </a:p>
          <a:p>
            <a:pPr lvl="1" algn="just"/>
            <a:r>
              <a:rPr lang="en-US" sz="2000" dirty="0"/>
              <a:t>It prints the name and age of the person structure.</a:t>
            </a:r>
          </a:p>
          <a:p>
            <a:pPr lvl="1" algn="just"/>
            <a:r>
              <a:rPr lang="en-US" sz="2000" dirty="0"/>
              <a:t>It prints the value of the </a:t>
            </a:r>
            <a:r>
              <a:rPr lang="en-US" sz="2000" dirty="0" err="1"/>
              <a:t>i</a:t>
            </a:r>
            <a:r>
              <a:rPr lang="en-US" sz="2000" dirty="0"/>
              <a:t> member of the data union.</a:t>
            </a:r>
          </a:p>
          <a:p>
            <a:pPr lvl="1" algn="just"/>
            <a:r>
              <a:rPr lang="en-US" sz="2000" dirty="0"/>
              <a:t>It prints the integer value corresponding to today, which represents Wednesday.</a:t>
            </a:r>
          </a:p>
        </p:txBody>
      </p:sp>
      <p:pic>
        <p:nvPicPr>
          <p:cNvPr id="4" name="Picture 3" descr="A screenshot of a computer&#10;&#10;Description automatically generated">
            <a:extLst>
              <a:ext uri="{FF2B5EF4-FFF2-40B4-BE49-F238E27FC236}">
                <a16:creationId xmlns:a16="http://schemas.microsoft.com/office/drawing/2014/main" id="{965379D9-C80A-65F1-63DE-E55DF7E7E7A8}"/>
              </a:ext>
            </a:extLst>
          </p:cNvPr>
          <p:cNvPicPr>
            <a:picLocks noChangeAspect="1"/>
          </p:cNvPicPr>
          <p:nvPr/>
        </p:nvPicPr>
        <p:blipFill rotWithShape="1">
          <a:blip r:embed="rId3">
            <a:extLst>
              <a:ext uri="{28A0092B-C50C-407E-A947-70E740481C1C}">
                <a14:useLocalDpi xmlns:a14="http://schemas.microsoft.com/office/drawing/2010/main" val="0"/>
              </a:ext>
            </a:extLst>
          </a:blip>
          <a:srcRect t="3577" r="13025" b="56147"/>
          <a:stretch/>
        </p:blipFill>
        <p:spPr>
          <a:xfrm>
            <a:off x="2704560" y="4753770"/>
            <a:ext cx="6782880" cy="1802605"/>
          </a:xfrm>
          <a:prstGeom prst="rect">
            <a:avLst/>
          </a:prstGeom>
        </p:spPr>
      </p:pic>
    </p:spTree>
    <p:extLst>
      <p:ext uri="{BB962C8B-B14F-4D97-AF65-F5344CB8AC3E}">
        <p14:creationId xmlns:p14="http://schemas.microsoft.com/office/powerpoint/2010/main" val="338311212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Syntax of </a:t>
            </a:r>
            <a:r>
              <a:rPr lang="en-GB" sz="4000" b="1" dirty="0" err="1"/>
              <a:t>scanf</a:t>
            </a:r>
            <a:endParaRPr lang="en-GB" sz="4000" b="1" dirty="0"/>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p:txBody>
          <a:bodyPr>
            <a:normAutofit/>
          </a:bodyPr>
          <a:lstStyle/>
          <a:p>
            <a:pPr algn="just"/>
            <a:r>
              <a:rPr lang="en-US" sz="2200" dirty="0"/>
              <a:t>The </a:t>
            </a:r>
            <a:r>
              <a:rPr lang="en-US" sz="2200" dirty="0" err="1"/>
              <a:t>scanf</a:t>
            </a:r>
            <a:r>
              <a:rPr lang="en-US" sz="2200" dirty="0"/>
              <a:t> function expects a pointer as its argument for input variables. </a:t>
            </a:r>
          </a:p>
          <a:p>
            <a:pPr lvl="1" algn="just"/>
            <a:endParaRPr lang="en-US" sz="2200" dirty="0"/>
          </a:p>
          <a:p>
            <a:pPr algn="just"/>
            <a:r>
              <a:rPr lang="en-US" sz="2200" dirty="0"/>
              <a:t>For integers and other primitive types, you need to provide the address using the </a:t>
            </a:r>
            <a:r>
              <a:rPr lang="en-US" sz="2200" b="1" i="1" dirty="0"/>
              <a:t>&amp;</a:t>
            </a:r>
            <a:r>
              <a:rPr lang="en-US" sz="2200" dirty="0"/>
              <a:t> operator.</a:t>
            </a:r>
          </a:p>
          <a:p>
            <a:pPr marL="457200" lvl="1" indent="0" algn="just">
              <a:buNone/>
            </a:pPr>
            <a:r>
              <a:rPr lang="en-US" sz="2000" dirty="0" err="1">
                <a:solidFill>
                  <a:schemeClr val="accent1">
                    <a:lumMod val="75000"/>
                  </a:schemeClr>
                </a:solidFill>
              </a:rPr>
              <a:t>scanf</a:t>
            </a:r>
            <a:r>
              <a:rPr lang="en-US" sz="2000" dirty="0">
                <a:solidFill>
                  <a:schemeClr val="accent1">
                    <a:lumMod val="75000"/>
                  </a:schemeClr>
                </a:solidFill>
              </a:rPr>
              <a:t>("%d", &amp;age);</a:t>
            </a:r>
          </a:p>
          <a:p>
            <a:pPr marL="457200" lvl="1" indent="0" algn="just">
              <a:buNone/>
            </a:pPr>
            <a:endParaRPr lang="en-US" sz="2200" dirty="0"/>
          </a:p>
          <a:p>
            <a:pPr algn="just"/>
            <a:r>
              <a:rPr lang="en-US" sz="2200" dirty="0"/>
              <a:t>For strings, since the array name already represents the address of the first element, we do not need to use the </a:t>
            </a:r>
            <a:r>
              <a:rPr lang="en-US" sz="2200" i="1" dirty="0"/>
              <a:t>&amp;</a:t>
            </a:r>
            <a:r>
              <a:rPr lang="en-US" sz="2200" dirty="0"/>
              <a:t> operator. </a:t>
            </a:r>
          </a:p>
          <a:p>
            <a:pPr marL="457200" lvl="1" indent="0" algn="just">
              <a:buNone/>
            </a:pPr>
            <a:r>
              <a:rPr lang="en-US" sz="2000" dirty="0" err="1">
                <a:solidFill>
                  <a:schemeClr val="accent1">
                    <a:lumMod val="75000"/>
                  </a:schemeClr>
                </a:solidFill>
              </a:rPr>
              <a:t>scanf</a:t>
            </a:r>
            <a:r>
              <a:rPr lang="en-US" sz="2000" dirty="0">
                <a:solidFill>
                  <a:schemeClr val="accent1">
                    <a:lumMod val="75000"/>
                  </a:schemeClr>
                </a:solidFill>
              </a:rPr>
              <a:t>("%s", name);</a:t>
            </a:r>
            <a:endParaRPr lang="en-GB" sz="2000" dirty="0">
              <a:solidFill>
                <a:schemeClr val="accent1">
                  <a:lumMod val="75000"/>
                </a:schemeClr>
              </a:solidFill>
            </a:endParaRPr>
          </a:p>
        </p:txBody>
      </p:sp>
    </p:spTree>
    <p:extLst>
      <p:ext uri="{BB962C8B-B14F-4D97-AF65-F5344CB8AC3E}">
        <p14:creationId xmlns:p14="http://schemas.microsoft.com/office/powerpoint/2010/main" val="8569060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Example 5: </a:t>
            </a:r>
            <a:r>
              <a:rPr lang="en-GB" sz="4000" b="1" dirty="0" err="1"/>
              <a:t>Scanf</a:t>
            </a:r>
            <a:endParaRPr lang="en-GB" sz="4000" b="1" dirty="0"/>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p:txBody>
          <a:bodyPr>
            <a:normAutofit/>
          </a:bodyPr>
          <a:lstStyle/>
          <a:p>
            <a:pPr algn="just"/>
            <a:r>
              <a:rPr lang="en-US" sz="2200" dirty="0"/>
              <a:t>Write a C program that asks the user to enter their name and age, then prints a greeting message followed by their age in years.</a:t>
            </a:r>
            <a:endParaRPr lang="en-GB" sz="2200" dirty="0"/>
          </a:p>
        </p:txBody>
      </p:sp>
      <p:pic>
        <p:nvPicPr>
          <p:cNvPr id="9" name="Picture 8" descr="A screenshot of a computer screen&#10;&#10;Description automatically generated">
            <a:extLst>
              <a:ext uri="{FF2B5EF4-FFF2-40B4-BE49-F238E27FC236}">
                <a16:creationId xmlns:a16="http://schemas.microsoft.com/office/drawing/2014/main" id="{872F2C5A-73A2-751E-B214-E3D213E9801D}"/>
              </a:ext>
            </a:extLst>
          </p:cNvPr>
          <p:cNvPicPr>
            <a:picLocks noChangeAspect="1"/>
          </p:cNvPicPr>
          <p:nvPr/>
        </p:nvPicPr>
        <p:blipFill rotWithShape="1">
          <a:blip r:embed="rId3">
            <a:extLst>
              <a:ext uri="{28A0092B-C50C-407E-A947-70E740481C1C}">
                <a14:useLocalDpi xmlns:a14="http://schemas.microsoft.com/office/drawing/2010/main" val="0"/>
              </a:ext>
            </a:extLst>
          </a:blip>
          <a:srcRect l="5137" t="18148" r="28749" b="15729"/>
          <a:stretch/>
        </p:blipFill>
        <p:spPr>
          <a:xfrm>
            <a:off x="0" y="2603500"/>
            <a:ext cx="6005303" cy="4254500"/>
          </a:xfrm>
          <a:prstGeom prst="rect">
            <a:avLst/>
          </a:prstGeom>
        </p:spPr>
      </p:pic>
      <p:pic>
        <p:nvPicPr>
          <p:cNvPr id="6" name="Picture 5" descr="A screenshot of a computer&#10;&#10;Description automatically generated">
            <a:extLst>
              <a:ext uri="{FF2B5EF4-FFF2-40B4-BE49-F238E27FC236}">
                <a16:creationId xmlns:a16="http://schemas.microsoft.com/office/drawing/2014/main" id="{81DF9D9C-02F2-ECE8-4386-35DE63EF05F7}"/>
              </a:ext>
            </a:extLst>
          </p:cNvPr>
          <p:cNvPicPr>
            <a:picLocks noChangeAspect="1"/>
          </p:cNvPicPr>
          <p:nvPr/>
        </p:nvPicPr>
        <p:blipFill rotWithShape="1">
          <a:blip r:embed="rId4">
            <a:extLst>
              <a:ext uri="{28A0092B-C50C-407E-A947-70E740481C1C}">
                <a14:useLocalDpi xmlns:a14="http://schemas.microsoft.com/office/drawing/2010/main" val="0"/>
              </a:ext>
            </a:extLst>
          </a:blip>
          <a:srcRect t="3869" r="16653" b="63699"/>
          <a:stretch/>
        </p:blipFill>
        <p:spPr>
          <a:xfrm>
            <a:off x="5242016" y="3759200"/>
            <a:ext cx="6875071" cy="1943100"/>
          </a:xfrm>
          <a:prstGeom prst="rect">
            <a:avLst/>
          </a:prstGeom>
        </p:spPr>
      </p:pic>
    </p:spTree>
    <p:extLst>
      <p:ext uri="{BB962C8B-B14F-4D97-AF65-F5344CB8AC3E}">
        <p14:creationId xmlns:p14="http://schemas.microsoft.com/office/powerpoint/2010/main" val="278052059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Example 5: Explanation</a:t>
            </a:r>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p:txBody>
          <a:bodyPr>
            <a:normAutofit/>
          </a:bodyPr>
          <a:lstStyle/>
          <a:p>
            <a:pPr algn="just"/>
            <a:r>
              <a:rPr lang="en-US" sz="2200" dirty="0"/>
              <a:t>The program starts by including the standard input-output library </a:t>
            </a:r>
            <a:r>
              <a:rPr lang="en-US" sz="2200" dirty="0" err="1"/>
              <a:t>stdio.h</a:t>
            </a:r>
            <a:r>
              <a:rPr lang="en-US" sz="2200" dirty="0"/>
              <a:t>.</a:t>
            </a:r>
          </a:p>
          <a:p>
            <a:pPr algn="just"/>
            <a:r>
              <a:rPr lang="en-US" sz="2200" dirty="0"/>
              <a:t>Inside the main function:</a:t>
            </a:r>
          </a:p>
          <a:p>
            <a:pPr lvl="1" algn="just"/>
            <a:r>
              <a:rPr lang="en-US" sz="2000" dirty="0"/>
              <a:t>It defines an array name of type char to store the user's name, assuming a maximum length of 50 characters.</a:t>
            </a:r>
          </a:p>
          <a:p>
            <a:pPr lvl="1" algn="just"/>
            <a:r>
              <a:rPr lang="en-US" sz="2000" dirty="0"/>
              <a:t>It introduces an integer variable age to store the user's age.</a:t>
            </a:r>
          </a:p>
          <a:p>
            <a:pPr lvl="1" algn="just"/>
            <a:r>
              <a:rPr lang="en-US" sz="2000" dirty="0"/>
              <a:t>The program asks the user to enter their name using </a:t>
            </a:r>
            <a:r>
              <a:rPr lang="en-US" sz="2000" dirty="0" err="1"/>
              <a:t>printf</a:t>
            </a:r>
            <a:r>
              <a:rPr lang="en-US" sz="2000" dirty="0"/>
              <a:t>.</a:t>
            </a:r>
          </a:p>
          <a:p>
            <a:pPr lvl="1" algn="just"/>
            <a:r>
              <a:rPr lang="en-US" sz="2000" dirty="0"/>
              <a:t>It reads the user's input for the name using </a:t>
            </a:r>
            <a:r>
              <a:rPr lang="en-US" sz="2000" dirty="0" err="1"/>
              <a:t>scanf</a:t>
            </a:r>
            <a:r>
              <a:rPr lang="en-US" sz="2000" dirty="0"/>
              <a:t> with the %s format specifier, which reads a string until whitespace is encountered.</a:t>
            </a:r>
          </a:p>
          <a:p>
            <a:pPr lvl="1" algn="just"/>
            <a:r>
              <a:rPr lang="en-US" sz="2000" dirty="0"/>
              <a:t>Next, the program asks the user to enter their age using </a:t>
            </a:r>
            <a:r>
              <a:rPr lang="en-US" sz="2000" dirty="0" err="1"/>
              <a:t>printf</a:t>
            </a:r>
            <a:r>
              <a:rPr lang="en-US" sz="2000" dirty="0"/>
              <a:t>.</a:t>
            </a:r>
          </a:p>
          <a:p>
            <a:pPr lvl="1" algn="just"/>
            <a:r>
              <a:rPr lang="en-US" sz="2000" dirty="0"/>
              <a:t>It reads the user's input for the age using </a:t>
            </a:r>
            <a:r>
              <a:rPr lang="en-US" sz="2000" dirty="0" err="1"/>
              <a:t>scanf</a:t>
            </a:r>
            <a:r>
              <a:rPr lang="en-US" sz="2000" dirty="0"/>
              <a:t> with the %d format specifier, which reads an integer.</a:t>
            </a:r>
          </a:p>
          <a:p>
            <a:pPr lvl="1" algn="just"/>
            <a:r>
              <a:rPr lang="en-US" sz="2000" dirty="0"/>
              <a:t>Finally, the program displays a greeting message using </a:t>
            </a:r>
            <a:r>
              <a:rPr lang="en-US" sz="2000" dirty="0" err="1"/>
              <a:t>printf</a:t>
            </a:r>
            <a:r>
              <a:rPr lang="en-US" sz="2000" dirty="0"/>
              <a:t>, including the user's name and age.</a:t>
            </a:r>
            <a:endParaRPr lang="en-GB" sz="2000" dirty="0"/>
          </a:p>
        </p:txBody>
      </p:sp>
    </p:spTree>
    <p:extLst>
      <p:ext uri="{BB962C8B-B14F-4D97-AF65-F5344CB8AC3E}">
        <p14:creationId xmlns:p14="http://schemas.microsoft.com/office/powerpoint/2010/main" val="177645459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Example 6: </a:t>
            </a:r>
            <a:r>
              <a:rPr lang="en-GB" sz="4000" b="1" dirty="0" err="1"/>
              <a:t>Scanf</a:t>
            </a:r>
            <a:endParaRPr lang="en-GB" sz="4000" b="1" dirty="0"/>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p:txBody>
          <a:bodyPr>
            <a:normAutofit/>
          </a:bodyPr>
          <a:lstStyle/>
          <a:p>
            <a:pPr algn="just"/>
            <a:r>
              <a:rPr lang="en-US" sz="2200" dirty="0"/>
              <a:t>Write a C program that asks the user to enter the length and width of a rectangle, calculates the area and perimeter of the rectangle, and then prints these values.</a:t>
            </a:r>
            <a:endParaRPr lang="en-GB" sz="2200" dirty="0"/>
          </a:p>
        </p:txBody>
      </p:sp>
      <p:pic>
        <p:nvPicPr>
          <p:cNvPr id="5" name="Picture 4" descr="A screenshot of a computer program&#10;&#10;Description automatically generated">
            <a:extLst>
              <a:ext uri="{FF2B5EF4-FFF2-40B4-BE49-F238E27FC236}">
                <a16:creationId xmlns:a16="http://schemas.microsoft.com/office/drawing/2014/main" id="{FF5F8616-3D21-2284-B761-F06B286F92C7}"/>
              </a:ext>
            </a:extLst>
          </p:cNvPr>
          <p:cNvPicPr>
            <a:picLocks noChangeAspect="1"/>
          </p:cNvPicPr>
          <p:nvPr/>
        </p:nvPicPr>
        <p:blipFill rotWithShape="1">
          <a:blip r:embed="rId3">
            <a:extLst>
              <a:ext uri="{28A0092B-C50C-407E-A947-70E740481C1C}">
                <a14:useLocalDpi xmlns:a14="http://schemas.microsoft.com/office/drawing/2010/main" val="0"/>
              </a:ext>
            </a:extLst>
          </a:blip>
          <a:srcRect l="5284" t="11632" r="23408" b="8322"/>
          <a:stretch/>
        </p:blipFill>
        <p:spPr>
          <a:xfrm>
            <a:off x="0" y="2510631"/>
            <a:ext cx="4832023" cy="4351338"/>
          </a:xfrm>
          <a:prstGeom prst="rect">
            <a:avLst/>
          </a:prstGeom>
        </p:spPr>
      </p:pic>
      <p:pic>
        <p:nvPicPr>
          <p:cNvPr id="8" name="Picture 7" descr="A screenshot of a computer&#10;&#10;Description automatically generated">
            <a:extLst>
              <a:ext uri="{FF2B5EF4-FFF2-40B4-BE49-F238E27FC236}">
                <a16:creationId xmlns:a16="http://schemas.microsoft.com/office/drawing/2014/main" id="{4A6E89E5-C595-20B6-260C-AD5F8D9C6AAB}"/>
              </a:ext>
            </a:extLst>
          </p:cNvPr>
          <p:cNvPicPr>
            <a:picLocks noChangeAspect="1"/>
          </p:cNvPicPr>
          <p:nvPr/>
        </p:nvPicPr>
        <p:blipFill rotWithShape="1">
          <a:blip r:embed="rId4">
            <a:extLst>
              <a:ext uri="{28A0092B-C50C-407E-A947-70E740481C1C}">
                <a14:useLocalDpi xmlns:a14="http://schemas.microsoft.com/office/drawing/2010/main" val="0"/>
              </a:ext>
            </a:extLst>
          </a:blip>
          <a:srcRect l="2733" t="4001" r="12279" b="58903"/>
          <a:stretch/>
        </p:blipFill>
        <p:spPr>
          <a:xfrm>
            <a:off x="5181600" y="3185715"/>
            <a:ext cx="7010400" cy="2222501"/>
          </a:xfrm>
          <a:prstGeom prst="rect">
            <a:avLst/>
          </a:prstGeom>
        </p:spPr>
      </p:pic>
    </p:spTree>
    <p:extLst>
      <p:ext uri="{BB962C8B-B14F-4D97-AF65-F5344CB8AC3E}">
        <p14:creationId xmlns:p14="http://schemas.microsoft.com/office/powerpoint/2010/main" val="271552915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Example 6: Explanation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p:txBody>
              <a:bodyPr>
                <a:normAutofit/>
              </a:bodyPr>
              <a:lstStyle/>
              <a:p>
                <a:pPr algn="just"/>
                <a:r>
                  <a:rPr lang="en-US" sz="2200" dirty="0"/>
                  <a:t>The program starts by including the standard input-output library </a:t>
                </a:r>
                <a:r>
                  <a:rPr lang="en-US" sz="2200" dirty="0" err="1"/>
                  <a:t>stdio.h</a:t>
                </a:r>
                <a:r>
                  <a:rPr lang="en-US" sz="2200" dirty="0"/>
                  <a:t>.</a:t>
                </a:r>
              </a:p>
              <a:p>
                <a:pPr algn="just"/>
                <a:r>
                  <a:rPr lang="en-US" sz="2200" dirty="0"/>
                  <a:t>Inside the main function:</a:t>
                </a:r>
              </a:p>
              <a:p>
                <a:pPr lvl="1" algn="just"/>
                <a:r>
                  <a:rPr lang="en-US" sz="2000" dirty="0"/>
                  <a:t>It declares two float variables length and width to store the dimensions of the rectangle.</a:t>
                </a:r>
              </a:p>
              <a:p>
                <a:pPr lvl="1" algn="just"/>
                <a:r>
                  <a:rPr lang="en-US" sz="2000" dirty="0"/>
                  <a:t>The program asks the user to enter the length of the rectangle using </a:t>
                </a:r>
                <a:r>
                  <a:rPr lang="en-US" sz="2000" dirty="0" err="1"/>
                  <a:t>printf</a:t>
                </a:r>
                <a:r>
                  <a:rPr lang="en-US" sz="2000" dirty="0"/>
                  <a:t>.</a:t>
                </a:r>
              </a:p>
              <a:p>
                <a:pPr lvl="1" algn="just"/>
                <a:r>
                  <a:rPr lang="en-US" sz="2000" dirty="0"/>
                  <a:t>It reads the user's input for the length using </a:t>
                </a:r>
                <a:r>
                  <a:rPr lang="en-US" sz="2000" dirty="0" err="1"/>
                  <a:t>scanf</a:t>
                </a:r>
                <a:r>
                  <a:rPr lang="en-US" sz="2000" dirty="0"/>
                  <a:t> with the %f format specifier, which reads a float.</a:t>
                </a:r>
              </a:p>
              <a:p>
                <a:pPr lvl="1" algn="just"/>
                <a:r>
                  <a:rPr lang="en-US" sz="2000" dirty="0"/>
                  <a:t>Next, the program asks the user to enter the width of the rectangle using </a:t>
                </a:r>
                <a:r>
                  <a:rPr lang="en-US" sz="2000" dirty="0" err="1"/>
                  <a:t>printf</a:t>
                </a:r>
                <a:r>
                  <a:rPr lang="en-US" sz="2000" dirty="0"/>
                  <a:t>.</a:t>
                </a:r>
              </a:p>
              <a:p>
                <a:pPr lvl="1" algn="just"/>
                <a:r>
                  <a:rPr lang="en-US" sz="2000" dirty="0"/>
                  <a:t>It reads the user's input for the width using </a:t>
                </a:r>
                <a:r>
                  <a:rPr lang="en-US" sz="2000" dirty="0" err="1"/>
                  <a:t>scanf</a:t>
                </a:r>
                <a:r>
                  <a:rPr lang="en-US" sz="2000" dirty="0"/>
                  <a:t> with the %f format specifier.</a:t>
                </a:r>
              </a:p>
              <a:p>
                <a:pPr lvl="1" algn="just"/>
                <a:r>
                  <a:rPr lang="en-US" sz="2000" dirty="0"/>
                  <a:t>The program then calculates the area of the rectangle by multiplying length and width.</a:t>
                </a:r>
              </a:p>
              <a:p>
                <a:pPr lvl="1" algn="just"/>
                <a:r>
                  <a:rPr lang="en-US" sz="2000" dirty="0"/>
                  <a:t>It calculates the perimeter of the rectangle using the formula </a:t>
                </a:r>
                <a14:m>
                  <m:oMath xmlns:m="http://schemas.openxmlformats.org/officeDocument/2006/math">
                    <m:r>
                      <a:rPr lang="en-US" sz="2000" i="1" dirty="0" smtClean="0">
                        <a:latin typeface="Cambria Math" panose="02040503050406030204" pitchFamily="18" charset="0"/>
                      </a:rPr>
                      <m:t>2</m:t>
                    </m:r>
                    <m:r>
                      <a:rPr lang="en-GB" sz="2000" b="0" i="1" dirty="0" smtClean="0">
                        <a:latin typeface="Cambria Math" panose="02040503050406030204" pitchFamily="18" charset="0"/>
                      </a:rPr>
                      <m:t>×</m:t>
                    </m:r>
                    <m:r>
                      <a:rPr lang="en-US" sz="2000" i="1" dirty="0" smtClean="0">
                        <a:latin typeface="Cambria Math" panose="02040503050406030204" pitchFamily="18" charset="0"/>
                      </a:rPr>
                      <m:t> (</m:t>
                    </m:r>
                    <m:r>
                      <a:rPr lang="en-US" sz="2000" i="1" dirty="0" smtClean="0">
                        <a:latin typeface="Cambria Math" panose="02040503050406030204" pitchFamily="18" charset="0"/>
                      </a:rPr>
                      <m:t>𝑙𝑒𝑛𝑔𝑡h</m:t>
                    </m:r>
                    <m:r>
                      <a:rPr lang="en-US" sz="2000" i="1" dirty="0" smtClean="0">
                        <a:latin typeface="Cambria Math" panose="02040503050406030204" pitchFamily="18" charset="0"/>
                      </a:rPr>
                      <m:t> + </m:t>
                    </m:r>
                    <m:r>
                      <a:rPr lang="en-US" sz="2000" i="1" dirty="0" smtClean="0">
                        <a:latin typeface="Cambria Math" panose="02040503050406030204" pitchFamily="18" charset="0"/>
                      </a:rPr>
                      <m:t>𝑤𝑖𝑑𝑡h</m:t>
                    </m:r>
                    <m:r>
                      <a:rPr lang="en-US" sz="2000" i="1" dirty="0" smtClean="0">
                        <a:latin typeface="Cambria Math" panose="02040503050406030204" pitchFamily="18" charset="0"/>
                      </a:rPr>
                      <m:t>)</m:t>
                    </m:r>
                  </m:oMath>
                </a14:m>
                <a:r>
                  <a:rPr lang="en-US" sz="2000" dirty="0"/>
                  <a:t>.</a:t>
                </a:r>
              </a:p>
              <a:p>
                <a:pPr lvl="1" algn="just"/>
                <a:r>
                  <a:rPr lang="en-US" sz="2000" dirty="0"/>
                  <a:t>Finally, the program displays the calculated area and perimeter of the rectangle using </a:t>
                </a:r>
                <a:r>
                  <a:rPr lang="en-US" sz="2000" dirty="0" err="1"/>
                  <a:t>printf</a:t>
                </a:r>
                <a:r>
                  <a:rPr lang="en-US" sz="2000" dirty="0"/>
                  <a:t>, formatting the output to two decimal places.</a:t>
                </a:r>
                <a:endParaRPr lang="en-GB" sz="2000" dirty="0"/>
              </a:p>
            </p:txBody>
          </p:sp>
        </mc:Choice>
        <mc:Fallback xmlns="">
          <p:sp>
            <p:nvSpPr>
              <p:cNvPr id="3" name="Content Placeholder 2">
                <a:extLst>
                  <a:ext uri="{FF2B5EF4-FFF2-40B4-BE49-F238E27FC236}">
                    <a16:creationId xmlns:a16="http://schemas.microsoft.com/office/drawing/2014/main" id="{53F7AD4C-A77F-AE86-B4B0-AAA13822BA25}"/>
                  </a:ext>
                </a:extLst>
              </p:cNvPr>
              <p:cNvSpPr>
                <a:spLocks noGrp="1" noRot="1" noChangeAspect="1" noMove="1" noResize="1" noEditPoints="1" noAdjustHandles="1" noChangeArrowheads="1" noChangeShapeType="1" noTextEdit="1"/>
              </p:cNvSpPr>
              <p:nvPr>
                <p:ph idx="1"/>
              </p:nvPr>
            </p:nvSpPr>
            <p:spPr>
              <a:blipFill>
                <a:blip r:embed="rId3"/>
                <a:stretch>
                  <a:fillRect l="-696" t="-1681" r="-580"/>
                </a:stretch>
              </a:blipFill>
            </p:spPr>
            <p:txBody>
              <a:bodyPr/>
              <a:lstStyle/>
              <a:p>
                <a:r>
                  <a:rPr lang="en-GB">
                    <a:noFill/>
                  </a:rPr>
                  <a:t> </a:t>
                </a:r>
              </a:p>
            </p:txBody>
          </p:sp>
        </mc:Fallback>
      </mc:AlternateContent>
    </p:spTree>
    <p:extLst>
      <p:ext uri="{BB962C8B-B14F-4D97-AF65-F5344CB8AC3E}">
        <p14:creationId xmlns:p14="http://schemas.microsoft.com/office/powerpoint/2010/main" val="231702485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Arithmetic Operations in C</a:t>
            </a:r>
          </a:p>
        </p:txBody>
      </p:sp>
      <p:pic>
        <p:nvPicPr>
          <p:cNvPr id="2050" name="Picture 2" descr="Arithmetic Operators in JavaScript. - DevOpsSchool.com">
            <a:extLst>
              <a:ext uri="{FF2B5EF4-FFF2-40B4-BE49-F238E27FC236}">
                <a16:creationId xmlns:a16="http://schemas.microsoft.com/office/drawing/2014/main" id="{6A1427CC-4EF2-A00E-5D9D-5DE2B131BC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732" t="15865" r="3447" b="4503"/>
          <a:stretch/>
        </p:blipFill>
        <p:spPr bwMode="auto">
          <a:xfrm>
            <a:off x="1816100" y="1690688"/>
            <a:ext cx="8559799" cy="4598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530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US" sz="4000" b="1" dirty="0"/>
              <a:t>Operator precedence </a:t>
            </a:r>
            <a:r>
              <a:rPr lang="en-GB" sz="4000" b="1" dirty="0"/>
              <a:t>in C</a:t>
            </a:r>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p:txBody>
          <a:bodyPr>
            <a:normAutofit/>
          </a:bodyPr>
          <a:lstStyle/>
          <a:p>
            <a:pPr algn="just"/>
            <a:r>
              <a:rPr lang="en-US" sz="2200" dirty="0"/>
              <a:t>Operator precedence:</a:t>
            </a:r>
          </a:p>
          <a:p>
            <a:pPr lvl="1" algn="just"/>
            <a:r>
              <a:rPr lang="en-US" sz="2000" dirty="0"/>
              <a:t>Some arithmetic operators act before others (i.e., multiplication before addition)</a:t>
            </a:r>
          </a:p>
          <a:p>
            <a:pPr lvl="1" algn="just"/>
            <a:r>
              <a:rPr lang="en-US" sz="2000" dirty="0"/>
              <a:t>Use parenthesis when needed</a:t>
            </a:r>
          </a:p>
          <a:p>
            <a:pPr lvl="1" algn="just"/>
            <a:r>
              <a:rPr lang="en-US" sz="2000" dirty="0"/>
              <a:t>Example: Find the average of three variables a, b and c</a:t>
            </a:r>
          </a:p>
          <a:p>
            <a:pPr lvl="2" algn="just"/>
            <a:r>
              <a:rPr lang="en-US" sz="1800" b="1" dirty="0">
                <a:solidFill>
                  <a:srgbClr val="C00000"/>
                </a:solidFill>
              </a:rPr>
              <a:t>Do not use: </a:t>
            </a:r>
            <a:r>
              <a:rPr lang="en-US" sz="1800" dirty="0"/>
              <a:t>a + b + c / 3</a:t>
            </a:r>
          </a:p>
          <a:p>
            <a:pPr lvl="2" algn="just"/>
            <a:r>
              <a:rPr lang="en-US" sz="1800" b="1" dirty="0">
                <a:solidFill>
                  <a:srgbClr val="00B050"/>
                </a:solidFill>
              </a:rPr>
              <a:t>Use: </a:t>
            </a:r>
            <a:r>
              <a:rPr lang="en-US" sz="1800" dirty="0"/>
              <a:t>(a + b + c ) / 3 and perimeter of the rectangle using </a:t>
            </a:r>
            <a:r>
              <a:rPr lang="en-US" sz="1800" dirty="0" err="1"/>
              <a:t>printf</a:t>
            </a:r>
            <a:r>
              <a:rPr lang="en-US" sz="1800" dirty="0"/>
              <a:t>, formatting the output to two decimal places.</a:t>
            </a:r>
            <a:endParaRPr lang="en-GB" sz="1800" dirty="0"/>
          </a:p>
        </p:txBody>
      </p:sp>
      <p:graphicFrame>
        <p:nvGraphicFramePr>
          <p:cNvPr id="6" name="Table 5">
            <a:extLst>
              <a:ext uri="{FF2B5EF4-FFF2-40B4-BE49-F238E27FC236}">
                <a16:creationId xmlns:a16="http://schemas.microsoft.com/office/drawing/2014/main" id="{906ED626-AE4B-1E86-48D9-80C0B067020A}"/>
              </a:ext>
            </a:extLst>
          </p:cNvPr>
          <p:cNvGraphicFramePr>
            <a:graphicFrameLocks noGrp="1"/>
          </p:cNvGraphicFramePr>
          <p:nvPr>
            <p:extLst>
              <p:ext uri="{D42A27DB-BD31-4B8C-83A1-F6EECF244321}">
                <p14:modId xmlns:p14="http://schemas.microsoft.com/office/powerpoint/2010/main" val="3759109825"/>
              </p:ext>
            </p:extLst>
          </p:nvPr>
        </p:nvGraphicFramePr>
        <p:xfrm>
          <a:off x="1120324" y="4350872"/>
          <a:ext cx="9833426" cy="2142003"/>
        </p:xfrm>
        <a:graphic>
          <a:graphicData uri="http://schemas.openxmlformats.org/drawingml/2006/table">
            <a:tbl>
              <a:tblPr firstRow="1" bandRow="1">
                <a:tableStyleId>{5C22544A-7EE6-4342-B048-85BDC9FD1C3A}</a:tableStyleId>
              </a:tblPr>
              <a:tblGrid>
                <a:gridCol w="1255517">
                  <a:extLst>
                    <a:ext uri="{9D8B030D-6E8A-4147-A177-3AD203B41FA5}">
                      <a16:colId xmlns:a16="http://schemas.microsoft.com/office/drawing/2014/main" val="18694253"/>
                    </a:ext>
                  </a:extLst>
                </a:gridCol>
                <a:gridCol w="2202644">
                  <a:extLst>
                    <a:ext uri="{9D8B030D-6E8A-4147-A177-3AD203B41FA5}">
                      <a16:colId xmlns:a16="http://schemas.microsoft.com/office/drawing/2014/main" val="2944949424"/>
                    </a:ext>
                  </a:extLst>
                </a:gridCol>
                <a:gridCol w="6375265">
                  <a:extLst>
                    <a:ext uri="{9D8B030D-6E8A-4147-A177-3AD203B41FA5}">
                      <a16:colId xmlns:a16="http://schemas.microsoft.com/office/drawing/2014/main" val="1746495828"/>
                    </a:ext>
                  </a:extLst>
                </a:gridCol>
              </a:tblGrid>
              <a:tr h="364331">
                <a:tc>
                  <a:txBody>
                    <a:bodyPr/>
                    <a:lstStyle/>
                    <a:p>
                      <a:r>
                        <a:rPr lang="en-GB" sz="1500" dirty="0"/>
                        <a:t>Operator(s)</a:t>
                      </a:r>
                    </a:p>
                  </a:txBody>
                  <a:tcPr/>
                </a:tc>
                <a:tc>
                  <a:txBody>
                    <a:bodyPr/>
                    <a:lstStyle/>
                    <a:p>
                      <a:r>
                        <a:rPr lang="en-GB" sz="1500" dirty="0"/>
                        <a:t>Operation(s)</a:t>
                      </a:r>
                    </a:p>
                  </a:txBody>
                  <a:tcPr/>
                </a:tc>
                <a:tc>
                  <a:txBody>
                    <a:bodyPr/>
                    <a:lstStyle/>
                    <a:p>
                      <a:r>
                        <a:rPr lang="en-GB" sz="1500" dirty="0"/>
                        <a:t>Order of evaluation</a:t>
                      </a:r>
                    </a:p>
                  </a:txBody>
                  <a:tcPr/>
                </a:tc>
                <a:extLst>
                  <a:ext uri="{0D108BD9-81ED-4DB2-BD59-A6C34878D82A}">
                    <a16:rowId xmlns:a16="http://schemas.microsoft.com/office/drawing/2014/main" val="3733800269"/>
                  </a:ext>
                </a:extLst>
              </a:tr>
              <a:tr h="865539">
                <a:tc>
                  <a:txBody>
                    <a:bodyPr/>
                    <a:lstStyle/>
                    <a:p>
                      <a:r>
                        <a:rPr lang="en-GB" sz="1500" dirty="0"/>
                        <a:t>()</a:t>
                      </a:r>
                    </a:p>
                  </a:txBody>
                  <a:tcPr/>
                </a:tc>
                <a:tc>
                  <a:txBody>
                    <a:bodyPr/>
                    <a:lstStyle/>
                    <a:p>
                      <a:r>
                        <a:rPr lang="en-GB" sz="1500" dirty="0"/>
                        <a:t>Parentheses</a:t>
                      </a:r>
                    </a:p>
                  </a:txBody>
                  <a:tcPr/>
                </a:tc>
                <a:tc>
                  <a:txBody>
                    <a:bodyPr/>
                    <a:lstStyle/>
                    <a:p>
                      <a:r>
                        <a:rPr lang="en-GB" sz="1500" dirty="0"/>
                        <a:t>Evaluated first. If the parentheses are nested, the expression in the innermost pair is evaluated first. If there are several pairs of parentheses on the same level, they are evaluated left to right.</a:t>
                      </a:r>
                    </a:p>
                  </a:txBody>
                  <a:tcPr/>
                </a:tc>
                <a:extLst>
                  <a:ext uri="{0D108BD9-81ED-4DB2-BD59-A6C34878D82A}">
                    <a16:rowId xmlns:a16="http://schemas.microsoft.com/office/drawing/2014/main" val="3294896316"/>
                  </a:ext>
                </a:extLst>
              </a:tr>
              <a:tr h="536576">
                <a:tc>
                  <a:txBody>
                    <a:bodyPr/>
                    <a:lstStyle/>
                    <a:p>
                      <a:r>
                        <a:rPr lang="en-GB" sz="1500" dirty="0"/>
                        <a:t>*, /, or %</a:t>
                      </a:r>
                    </a:p>
                  </a:txBody>
                  <a:tcPr/>
                </a:tc>
                <a:tc>
                  <a:txBody>
                    <a:bodyPr/>
                    <a:lstStyle/>
                    <a:p>
                      <a:r>
                        <a:rPr lang="en-GB" sz="1500" dirty="0"/>
                        <a:t>Multiplication, Division, Modulus</a:t>
                      </a:r>
                    </a:p>
                  </a:txBody>
                  <a:tcPr/>
                </a:tc>
                <a:tc>
                  <a:txBody>
                    <a:bodyPr/>
                    <a:lstStyle/>
                    <a:p>
                      <a:r>
                        <a:rPr lang="en-GB" sz="1500" dirty="0"/>
                        <a:t>Evaluated second. If there are several, they are evaluated left to right.</a:t>
                      </a:r>
                    </a:p>
                  </a:txBody>
                  <a:tcPr/>
                </a:tc>
                <a:extLst>
                  <a:ext uri="{0D108BD9-81ED-4DB2-BD59-A6C34878D82A}">
                    <a16:rowId xmlns:a16="http://schemas.microsoft.com/office/drawing/2014/main" val="3241801175"/>
                  </a:ext>
                </a:extLst>
              </a:tr>
              <a:tr h="363493">
                <a:tc>
                  <a:txBody>
                    <a:bodyPr/>
                    <a:lstStyle/>
                    <a:p>
                      <a:r>
                        <a:rPr lang="en-GB" sz="1500" dirty="0"/>
                        <a:t>+ or -</a:t>
                      </a:r>
                    </a:p>
                  </a:txBody>
                  <a:tcPr/>
                </a:tc>
                <a:tc>
                  <a:txBody>
                    <a:bodyPr/>
                    <a:lstStyle/>
                    <a:p>
                      <a:r>
                        <a:rPr lang="en-GB" sz="1500" dirty="0"/>
                        <a:t>Addition, Subtraction</a:t>
                      </a:r>
                    </a:p>
                  </a:txBody>
                  <a:tcPr/>
                </a:tc>
                <a:tc>
                  <a:txBody>
                    <a:bodyPr/>
                    <a:lstStyle/>
                    <a:p>
                      <a:r>
                        <a:rPr lang="en-GB" sz="1500" dirty="0"/>
                        <a:t>Evaluated last. If there are several, they are evaluated left to right.</a:t>
                      </a:r>
                    </a:p>
                  </a:txBody>
                  <a:tcPr/>
                </a:tc>
                <a:extLst>
                  <a:ext uri="{0D108BD9-81ED-4DB2-BD59-A6C34878D82A}">
                    <a16:rowId xmlns:a16="http://schemas.microsoft.com/office/drawing/2014/main" val="198942607"/>
                  </a:ext>
                </a:extLst>
              </a:tr>
            </a:tbl>
          </a:graphicData>
        </a:graphic>
      </p:graphicFrame>
    </p:spTree>
    <p:extLst>
      <p:ext uri="{BB962C8B-B14F-4D97-AF65-F5344CB8AC3E}">
        <p14:creationId xmlns:p14="http://schemas.microsoft.com/office/powerpoint/2010/main" val="13397618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US" sz="4000" b="1" dirty="0"/>
              <a:t>Example 7: Operations </a:t>
            </a:r>
            <a:r>
              <a:rPr lang="en-GB" sz="4000" b="1" dirty="0"/>
              <a:t>in C</a:t>
            </a:r>
          </a:p>
        </p:txBody>
      </p:sp>
      <p:pic>
        <p:nvPicPr>
          <p:cNvPr id="8" name="Picture 7" descr="A screenshot of a computer screen&#10;&#10;Description automatically generated">
            <a:extLst>
              <a:ext uri="{FF2B5EF4-FFF2-40B4-BE49-F238E27FC236}">
                <a16:creationId xmlns:a16="http://schemas.microsoft.com/office/drawing/2014/main" id="{92FE68C6-17ED-2020-A05F-BBD453512ECA}"/>
              </a:ext>
            </a:extLst>
          </p:cNvPr>
          <p:cNvPicPr>
            <a:picLocks noChangeAspect="1"/>
          </p:cNvPicPr>
          <p:nvPr/>
        </p:nvPicPr>
        <p:blipFill rotWithShape="1">
          <a:blip r:embed="rId3">
            <a:extLst>
              <a:ext uri="{28A0092B-C50C-407E-A947-70E740481C1C}">
                <a14:useLocalDpi xmlns:a14="http://schemas.microsoft.com/office/drawing/2010/main" val="0"/>
              </a:ext>
            </a:extLst>
          </a:blip>
          <a:srcRect l="8150" t="12639" r="45780" b="26343"/>
          <a:stretch/>
        </p:blipFill>
        <p:spPr>
          <a:xfrm>
            <a:off x="68268" y="1690688"/>
            <a:ext cx="3562438" cy="5162311"/>
          </a:xfrm>
          <a:prstGeom prst="rect">
            <a:avLst/>
          </a:prstGeom>
        </p:spPr>
      </p:pic>
      <p:pic>
        <p:nvPicPr>
          <p:cNvPr id="10" name="Picture 9" descr="A screenshot of a computer&#10;&#10;Description automatically generated">
            <a:extLst>
              <a:ext uri="{FF2B5EF4-FFF2-40B4-BE49-F238E27FC236}">
                <a16:creationId xmlns:a16="http://schemas.microsoft.com/office/drawing/2014/main" id="{6121622C-B919-7FAC-C566-D3ABC570186E}"/>
              </a:ext>
            </a:extLst>
          </p:cNvPr>
          <p:cNvPicPr>
            <a:picLocks noChangeAspect="1"/>
          </p:cNvPicPr>
          <p:nvPr/>
        </p:nvPicPr>
        <p:blipFill rotWithShape="1">
          <a:blip r:embed="rId4">
            <a:extLst>
              <a:ext uri="{28A0092B-C50C-407E-A947-70E740481C1C}">
                <a14:useLocalDpi xmlns:a14="http://schemas.microsoft.com/office/drawing/2010/main" val="0"/>
              </a:ext>
            </a:extLst>
          </a:blip>
          <a:srcRect b="61379"/>
          <a:stretch/>
        </p:blipFill>
        <p:spPr>
          <a:xfrm>
            <a:off x="3943350" y="2272084"/>
            <a:ext cx="8248650" cy="2313832"/>
          </a:xfrm>
          <a:prstGeom prst="rect">
            <a:avLst/>
          </a:prstGeom>
        </p:spPr>
      </p:pic>
      <p:sp>
        <p:nvSpPr>
          <p:cNvPr id="11" name="Arrow: Right 10">
            <a:extLst>
              <a:ext uri="{FF2B5EF4-FFF2-40B4-BE49-F238E27FC236}">
                <a16:creationId xmlns:a16="http://schemas.microsoft.com/office/drawing/2014/main" id="{C4A8CECB-09D4-B0C2-A7FC-0E90935A6C1C}"/>
              </a:ext>
            </a:extLst>
          </p:cNvPr>
          <p:cNvSpPr/>
          <p:nvPr/>
        </p:nvSpPr>
        <p:spPr>
          <a:xfrm rot="18570881">
            <a:off x="9838478" y="3954321"/>
            <a:ext cx="1819072" cy="26264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Box 12">
            <a:extLst>
              <a:ext uri="{FF2B5EF4-FFF2-40B4-BE49-F238E27FC236}">
                <a16:creationId xmlns:a16="http://schemas.microsoft.com/office/drawing/2014/main" id="{F9EFB0E9-025E-42EF-5998-FDDC767CAF58}"/>
              </a:ext>
            </a:extLst>
          </p:cNvPr>
          <p:cNvSpPr txBox="1"/>
          <p:nvPr/>
        </p:nvSpPr>
        <p:spPr>
          <a:xfrm>
            <a:off x="3943350" y="4817439"/>
            <a:ext cx="8180382" cy="2031325"/>
          </a:xfrm>
          <a:prstGeom prst="rect">
            <a:avLst/>
          </a:prstGeom>
          <a:noFill/>
        </p:spPr>
        <p:txBody>
          <a:bodyPr wrap="square" rtlCol="0">
            <a:spAutoFit/>
          </a:bodyPr>
          <a:lstStyle/>
          <a:p>
            <a:pPr marL="285750" indent="-285750" algn="just">
              <a:buFont typeface="Arial" panose="020B0604020202020204" pitchFamily="34" charset="0"/>
              <a:buChar char="•"/>
            </a:pPr>
            <a:r>
              <a:rPr lang="en-US" dirty="0"/>
              <a:t>The -</a:t>
            </a:r>
            <a:r>
              <a:rPr lang="en-US" dirty="0" err="1"/>
              <a:t>lm</a:t>
            </a:r>
            <a:r>
              <a:rPr lang="en-US" dirty="0"/>
              <a:t> flag tells the linker to include the math library (libm.so or </a:t>
            </a:r>
            <a:r>
              <a:rPr lang="en-US" dirty="0" err="1"/>
              <a:t>libm.a</a:t>
            </a:r>
            <a:r>
              <a:rPr lang="en-US" dirty="0"/>
              <a:t>) in this process.</a:t>
            </a:r>
          </a:p>
          <a:p>
            <a:pPr marL="285750" indent="-285750" algn="just">
              <a:buFont typeface="Arial" panose="020B0604020202020204" pitchFamily="34" charset="0"/>
              <a:buChar char="•"/>
            </a:pPr>
            <a:r>
              <a:rPr lang="en-US" dirty="0"/>
              <a:t>Without the -</a:t>
            </a:r>
            <a:r>
              <a:rPr lang="en-US" dirty="0" err="1"/>
              <a:t>lm</a:t>
            </a:r>
            <a:r>
              <a:rPr lang="en-US" dirty="0"/>
              <a:t> flag, the linker will not be able to find the definitions of the mathematical functions, resulting in undefined reference errors.</a:t>
            </a:r>
          </a:p>
          <a:p>
            <a:pPr marL="285750" indent="-285750" algn="just">
              <a:buFont typeface="Arial" panose="020B0604020202020204" pitchFamily="34" charset="0"/>
              <a:buChar char="•"/>
            </a:pPr>
            <a:r>
              <a:rPr lang="en-US" dirty="0"/>
              <a:t>For non-standard or third-party libraries, we might need to include specific flags during the linking stage. These flags typically start with -l followed by the library name. </a:t>
            </a:r>
            <a:r>
              <a:rPr lang="en-US" dirty="0">
                <a:solidFill>
                  <a:srgbClr val="FF0000"/>
                </a:solidFill>
              </a:rPr>
              <a:t>#include &lt;</a:t>
            </a:r>
            <a:r>
              <a:rPr lang="en-US" dirty="0" err="1">
                <a:solidFill>
                  <a:srgbClr val="FF0000"/>
                </a:solidFill>
              </a:rPr>
              <a:t>pcre.h</a:t>
            </a:r>
            <a:r>
              <a:rPr lang="en-US" dirty="0">
                <a:solidFill>
                  <a:srgbClr val="FF0000"/>
                </a:solidFill>
              </a:rPr>
              <a:t>&gt; Compile with: </a:t>
            </a:r>
            <a:r>
              <a:rPr lang="en-US" dirty="0" err="1">
                <a:solidFill>
                  <a:srgbClr val="FF0000"/>
                </a:solidFill>
              </a:rPr>
              <a:t>gcc</a:t>
            </a:r>
            <a:r>
              <a:rPr lang="en-US" dirty="0">
                <a:solidFill>
                  <a:srgbClr val="FF0000"/>
                </a:solidFill>
              </a:rPr>
              <a:t> </a:t>
            </a:r>
            <a:r>
              <a:rPr lang="en-US" dirty="0" err="1">
                <a:solidFill>
                  <a:srgbClr val="FF0000"/>
                </a:solidFill>
              </a:rPr>
              <a:t>program.c</a:t>
            </a:r>
            <a:r>
              <a:rPr lang="en-US" dirty="0">
                <a:solidFill>
                  <a:srgbClr val="FF0000"/>
                </a:solidFill>
              </a:rPr>
              <a:t> -o program -</a:t>
            </a:r>
            <a:r>
              <a:rPr lang="en-US" dirty="0" err="1">
                <a:solidFill>
                  <a:srgbClr val="FF0000"/>
                </a:solidFill>
              </a:rPr>
              <a:t>lpcre</a:t>
            </a:r>
            <a:endParaRPr lang="en-GB" dirty="0">
              <a:solidFill>
                <a:srgbClr val="FF0000"/>
              </a:solidFill>
            </a:endParaRPr>
          </a:p>
        </p:txBody>
      </p:sp>
    </p:spTree>
    <p:extLst>
      <p:ext uri="{BB962C8B-B14F-4D97-AF65-F5344CB8AC3E}">
        <p14:creationId xmlns:p14="http://schemas.microsoft.com/office/powerpoint/2010/main" val="2011691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US" sz="4000" b="1" dirty="0"/>
              <a:t>Equality, Relational, Logical, and Ternary Operators</a:t>
            </a:r>
            <a:endParaRPr lang="en-GB" sz="4000" b="1" dirty="0"/>
          </a:p>
        </p:txBody>
      </p:sp>
      <p:graphicFrame>
        <p:nvGraphicFramePr>
          <p:cNvPr id="7" name="Content Placeholder 6">
            <a:extLst>
              <a:ext uri="{FF2B5EF4-FFF2-40B4-BE49-F238E27FC236}">
                <a16:creationId xmlns:a16="http://schemas.microsoft.com/office/drawing/2014/main" id="{6C878A3B-8897-8175-A6C9-2D66C10466A1}"/>
              </a:ext>
            </a:extLst>
          </p:cNvPr>
          <p:cNvGraphicFramePr>
            <a:graphicFrameLocks noGrp="1"/>
          </p:cNvGraphicFramePr>
          <p:nvPr>
            <p:ph idx="1"/>
            <p:extLst>
              <p:ext uri="{D42A27DB-BD31-4B8C-83A1-F6EECF244321}">
                <p14:modId xmlns:p14="http://schemas.microsoft.com/office/powerpoint/2010/main" val="933896571"/>
              </p:ext>
            </p:extLst>
          </p:nvPr>
        </p:nvGraphicFramePr>
        <p:xfrm>
          <a:off x="1837189" y="1451792"/>
          <a:ext cx="8902147" cy="2595880"/>
        </p:xfrm>
        <a:graphic>
          <a:graphicData uri="http://schemas.openxmlformats.org/drawingml/2006/table">
            <a:tbl>
              <a:tblPr firstRow="1" bandRow="1">
                <a:tableStyleId>{5C22544A-7EE6-4342-B048-85BDC9FD1C3A}</a:tableStyleId>
              </a:tblPr>
              <a:tblGrid>
                <a:gridCol w="4116139">
                  <a:extLst>
                    <a:ext uri="{9D8B030D-6E8A-4147-A177-3AD203B41FA5}">
                      <a16:colId xmlns:a16="http://schemas.microsoft.com/office/drawing/2014/main" val="4129139056"/>
                    </a:ext>
                  </a:extLst>
                </a:gridCol>
                <a:gridCol w="4786008">
                  <a:extLst>
                    <a:ext uri="{9D8B030D-6E8A-4147-A177-3AD203B41FA5}">
                      <a16:colId xmlns:a16="http://schemas.microsoft.com/office/drawing/2014/main" val="2588524043"/>
                    </a:ext>
                  </a:extLst>
                </a:gridCol>
              </a:tblGrid>
              <a:tr h="370840">
                <a:tc>
                  <a:txBody>
                    <a:bodyPr/>
                    <a:lstStyle/>
                    <a:p>
                      <a:r>
                        <a:rPr lang="en-GB" dirty="0"/>
                        <a:t>Operator</a:t>
                      </a:r>
                    </a:p>
                  </a:txBody>
                  <a:tcPr/>
                </a:tc>
                <a:tc>
                  <a:txBody>
                    <a:bodyPr/>
                    <a:lstStyle/>
                    <a:p>
                      <a:r>
                        <a:rPr lang="en-GB" dirty="0"/>
                        <a:t>Meaning</a:t>
                      </a:r>
                    </a:p>
                  </a:txBody>
                  <a:tcPr/>
                </a:tc>
                <a:extLst>
                  <a:ext uri="{0D108BD9-81ED-4DB2-BD59-A6C34878D82A}">
                    <a16:rowId xmlns:a16="http://schemas.microsoft.com/office/drawing/2014/main" val="2400999072"/>
                  </a:ext>
                </a:extLst>
              </a:tr>
              <a:tr h="370840">
                <a:tc>
                  <a:txBody>
                    <a:bodyPr/>
                    <a:lstStyle/>
                    <a:p>
                      <a:r>
                        <a:rPr lang="en-GB" dirty="0"/>
                        <a:t>&lt;</a:t>
                      </a:r>
                    </a:p>
                  </a:txBody>
                  <a:tcPr/>
                </a:tc>
                <a:tc>
                  <a:txBody>
                    <a:bodyPr/>
                    <a:lstStyle/>
                    <a:p>
                      <a:r>
                        <a:rPr lang="en-GB" dirty="0"/>
                        <a:t>Less than</a:t>
                      </a:r>
                    </a:p>
                  </a:txBody>
                  <a:tcPr/>
                </a:tc>
                <a:extLst>
                  <a:ext uri="{0D108BD9-81ED-4DB2-BD59-A6C34878D82A}">
                    <a16:rowId xmlns:a16="http://schemas.microsoft.com/office/drawing/2014/main" val="2836216639"/>
                  </a:ext>
                </a:extLst>
              </a:tr>
              <a:tr h="370840">
                <a:tc>
                  <a:txBody>
                    <a:bodyPr/>
                    <a:lstStyle/>
                    <a:p>
                      <a:r>
                        <a:rPr lang="en-GB" dirty="0"/>
                        <a:t>&gt;</a:t>
                      </a:r>
                    </a:p>
                  </a:txBody>
                  <a:tcPr/>
                </a:tc>
                <a:tc>
                  <a:txBody>
                    <a:bodyPr/>
                    <a:lstStyle/>
                    <a:p>
                      <a:r>
                        <a:rPr lang="en-GB" dirty="0"/>
                        <a:t>Greater than</a:t>
                      </a:r>
                    </a:p>
                  </a:txBody>
                  <a:tcPr/>
                </a:tc>
                <a:extLst>
                  <a:ext uri="{0D108BD9-81ED-4DB2-BD59-A6C34878D82A}">
                    <a16:rowId xmlns:a16="http://schemas.microsoft.com/office/drawing/2014/main" val="3599836134"/>
                  </a:ext>
                </a:extLst>
              </a:tr>
              <a:tr h="370840">
                <a:tc>
                  <a:txBody>
                    <a:bodyPr/>
                    <a:lstStyle/>
                    <a:p>
                      <a:r>
                        <a:rPr lang="en-GB" dirty="0"/>
                        <a:t>&lt;=</a:t>
                      </a:r>
                    </a:p>
                  </a:txBody>
                  <a:tcPr/>
                </a:tc>
                <a:tc>
                  <a:txBody>
                    <a:bodyPr/>
                    <a:lstStyle/>
                    <a:p>
                      <a:r>
                        <a:rPr lang="en-GB" dirty="0"/>
                        <a:t>Less than or equal to</a:t>
                      </a:r>
                    </a:p>
                  </a:txBody>
                  <a:tcPr/>
                </a:tc>
                <a:extLst>
                  <a:ext uri="{0D108BD9-81ED-4DB2-BD59-A6C34878D82A}">
                    <a16:rowId xmlns:a16="http://schemas.microsoft.com/office/drawing/2014/main" val="1469892206"/>
                  </a:ext>
                </a:extLst>
              </a:tr>
              <a:tr h="370840">
                <a:tc>
                  <a:txBody>
                    <a:bodyPr/>
                    <a:lstStyle/>
                    <a:p>
                      <a:r>
                        <a:rPr lang="en-GB" dirty="0"/>
                        <a:t>&gt;=</a:t>
                      </a:r>
                    </a:p>
                  </a:txBody>
                  <a:tcPr/>
                </a:tc>
                <a:tc>
                  <a:txBody>
                    <a:bodyPr/>
                    <a:lstStyle/>
                    <a:p>
                      <a:r>
                        <a:rPr lang="en-GB" dirty="0"/>
                        <a:t>Greater than or equal to</a:t>
                      </a:r>
                    </a:p>
                  </a:txBody>
                  <a:tcPr/>
                </a:tc>
                <a:extLst>
                  <a:ext uri="{0D108BD9-81ED-4DB2-BD59-A6C34878D82A}">
                    <a16:rowId xmlns:a16="http://schemas.microsoft.com/office/drawing/2014/main" val="2419065099"/>
                  </a:ext>
                </a:extLst>
              </a:tr>
              <a:tr h="370840">
                <a:tc>
                  <a:txBody>
                    <a:bodyPr/>
                    <a:lstStyle/>
                    <a:p>
                      <a:r>
                        <a:rPr lang="en-GB" dirty="0"/>
                        <a:t>==</a:t>
                      </a:r>
                    </a:p>
                  </a:txBody>
                  <a:tcPr/>
                </a:tc>
                <a:tc>
                  <a:txBody>
                    <a:bodyPr/>
                    <a:lstStyle/>
                    <a:p>
                      <a:r>
                        <a:rPr lang="en-GB" dirty="0"/>
                        <a:t>Equal to</a:t>
                      </a:r>
                    </a:p>
                  </a:txBody>
                  <a:tcPr/>
                </a:tc>
                <a:extLst>
                  <a:ext uri="{0D108BD9-81ED-4DB2-BD59-A6C34878D82A}">
                    <a16:rowId xmlns:a16="http://schemas.microsoft.com/office/drawing/2014/main" val="3815123557"/>
                  </a:ext>
                </a:extLst>
              </a:tr>
              <a:tr h="370840">
                <a:tc>
                  <a:txBody>
                    <a:bodyPr/>
                    <a:lstStyle/>
                    <a:p>
                      <a:r>
                        <a:rPr lang="en-GB" dirty="0"/>
                        <a:t>!=</a:t>
                      </a:r>
                    </a:p>
                  </a:txBody>
                  <a:tcPr/>
                </a:tc>
                <a:tc>
                  <a:txBody>
                    <a:bodyPr/>
                    <a:lstStyle/>
                    <a:p>
                      <a:r>
                        <a:rPr lang="en-GB" dirty="0"/>
                        <a:t>Not equal to</a:t>
                      </a:r>
                    </a:p>
                  </a:txBody>
                  <a:tcPr/>
                </a:tc>
                <a:extLst>
                  <a:ext uri="{0D108BD9-81ED-4DB2-BD59-A6C34878D82A}">
                    <a16:rowId xmlns:a16="http://schemas.microsoft.com/office/drawing/2014/main" val="973189156"/>
                  </a:ext>
                </a:extLst>
              </a:tr>
            </a:tbl>
          </a:graphicData>
        </a:graphic>
      </p:graphicFrame>
      <p:graphicFrame>
        <p:nvGraphicFramePr>
          <p:cNvPr id="4" name="Content Placeholder 6">
            <a:extLst>
              <a:ext uri="{FF2B5EF4-FFF2-40B4-BE49-F238E27FC236}">
                <a16:creationId xmlns:a16="http://schemas.microsoft.com/office/drawing/2014/main" id="{19145109-83F4-E86E-95A8-76462565CAB5}"/>
              </a:ext>
            </a:extLst>
          </p:cNvPr>
          <p:cNvGraphicFramePr>
            <a:graphicFrameLocks/>
          </p:cNvGraphicFramePr>
          <p:nvPr>
            <p:extLst>
              <p:ext uri="{D42A27DB-BD31-4B8C-83A1-F6EECF244321}">
                <p14:modId xmlns:p14="http://schemas.microsoft.com/office/powerpoint/2010/main" val="1731996504"/>
              </p:ext>
            </p:extLst>
          </p:nvPr>
        </p:nvGraphicFramePr>
        <p:xfrm>
          <a:off x="1837187" y="4248772"/>
          <a:ext cx="8902147" cy="1483360"/>
        </p:xfrm>
        <a:graphic>
          <a:graphicData uri="http://schemas.openxmlformats.org/drawingml/2006/table">
            <a:tbl>
              <a:tblPr firstRow="1" bandRow="1">
                <a:tableStyleId>{5C22544A-7EE6-4342-B048-85BDC9FD1C3A}</a:tableStyleId>
              </a:tblPr>
              <a:tblGrid>
                <a:gridCol w="4118882">
                  <a:extLst>
                    <a:ext uri="{9D8B030D-6E8A-4147-A177-3AD203B41FA5}">
                      <a16:colId xmlns:a16="http://schemas.microsoft.com/office/drawing/2014/main" val="4129139056"/>
                    </a:ext>
                  </a:extLst>
                </a:gridCol>
                <a:gridCol w="4783265">
                  <a:extLst>
                    <a:ext uri="{9D8B030D-6E8A-4147-A177-3AD203B41FA5}">
                      <a16:colId xmlns:a16="http://schemas.microsoft.com/office/drawing/2014/main" val="2588524043"/>
                    </a:ext>
                  </a:extLst>
                </a:gridCol>
              </a:tblGrid>
              <a:tr h="370840">
                <a:tc>
                  <a:txBody>
                    <a:bodyPr/>
                    <a:lstStyle/>
                    <a:p>
                      <a:r>
                        <a:rPr lang="en-GB" dirty="0"/>
                        <a:t>Logical Operator</a:t>
                      </a:r>
                    </a:p>
                  </a:txBody>
                  <a:tcPr/>
                </a:tc>
                <a:tc>
                  <a:txBody>
                    <a:bodyPr/>
                    <a:lstStyle/>
                    <a:p>
                      <a:r>
                        <a:rPr lang="en-GB" dirty="0"/>
                        <a:t>Meaning</a:t>
                      </a:r>
                    </a:p>
                  </a:txBody>
                  <a:tcPr/>
                </a:tc>
                <a:extLst>
                  <a:ext uri="{0D108BD9-81ED-4DB2-BD59-A6C34878D82A}">
                    <a16:rowId xmlns:a16="http://schemas.microsoft.com/office/drawing/2014/main" val="2400999072"/>
                  </a:ext>
                </a:extLst>
              </a:tr>
              <a:tr h="370840">
                <a:tc>
                  <a:txBody>
                    <a:bodyPr/>
                    <a:lstStyle/>
                    <a:p>
                      <a:r>
                        <a:rPr lang="en-GB" dirty="0"/>
                        <a:t>&amp;&amp;</a:t>
                      </a:r>
                    </a:p>
                  </a:txBody>
                  <a:tcPr/>
                </a:tc>
                <a:tc>
                  <a:txBody>
                    <a:bodyPr/>
                    <a:lstStyle/>
                    <a:p>
                      <a:r>
                        <a:rPr lang="en-GB" dirty="0"/>
                        <a:t>Logical AND. True only  if all operands are true</a:t>
                      </a:r>
                    </a:p>
                  </a:txBody>
                  <a:tcPr/>
                </a:tc>
                <a:extLst>
                  <a:ext uri="{0D108BD9-81ED-4DB2-BD59-A6C34878D82A}">
                    <a16:rowId xmlns:a16="http://schemas.microsoft.com/office/drawing/2014/main" val="2836216639"/>
                  </a:ext>
                </a:extLst>
              </a:tr>
              <a:tr h="370840">
                <a:tc>
                  <a:txBody>
                    <a:bodyPr/>
                    <a:lstStyle/>
                    <a:p>
                      <a:r>
                        <a:rPr lang="en-GB" dirty="0"/>
                        <a:t>||</a:t>
                      </a:r>
                    </a:p>
                  </a:txBody>
                  <a:tcPr/>
                </a:tc>
                <a:tc>
                  <a:txBody>
                    <a:bodyPr/>
                    <a:lstStyle/>
                    <a:p>
                      <a:r>
                        <a:rPr lang="en-GB" dirty="0"/>
                        <a:t>Logical OR. True only if either one operand is true</a:t>
                      </a:r>
                    </a:p>
                  </a:txBody>
                  <a:tcPr/>
                </a:tc>
                <a:extLst>
                  <a:ext uri="{0D108BD9-81ED-4DB2-BD59-A6C34878D82A}">
                    <a16:rowId xmlns:a16="http://schemas.microsoft.com/office/drawing/2014/main" val="3599836134"/>
                  </a:ext>
                </a:extLst>
              </a:tr>
              <a:tr h="370840">
                <a:tc>
                  <a:txBody>
                    <a:bodyPr/>
                    <a:lstStyle/>
                    <a:p>
                      <a:r>
                        <a:rPr lang="en-GB" dirty="0"/>
                        <a:t>!</a:t>
                      </a:r>
                    </a:p>
                  </a:txBody>
                  <a:tcPr/>
                </a:tc>
                <a:tc>
                  <a:txBody>
                    <a:bodyPr/>
                    <a:lstStyle/>
                    <a:p>
                      <a:r>
                        <a:rPr lang="en-GB" dirty="0"/>
                        <a:t>Logical NOT. True only if the operand is 0</a:t>
                      </a:r>
                    </a:p>
                  </a:txBody>
                  <a:tcPr/>
                </a:tc>
                <a:extLst>
                  <a:ext uri="{0D108BD9-81ED-4DB2-BD59-A6C34878D82A}">
                    <a16:rowId xmlns:a16="http://schemas.microsoft.com/office/drawing/2014/main" val="1469892206"/>
                  </a:ext>
                </a:extLst>
              </a:tr>
            </a:tbl>
          </a:graphicData>
        </a:graphic>
      </p:graphicFrame>
      <p:graphicFrame>
        <p:nvGraphicFramePr>
          <p:cNvPr id="5" name="Content Placeholder 6">
            <a:extLst>
              <a:ext uri="{FF2B5EF4-FFF2-40B4-BE49-F238E27FC236}">
                <a16:creationId xmlns:a16="http://schemas.microsoft.com/office/drawing/2014/main" id="{19145109-83F4-E86E-95A8-76462565CAB5}"/>
              </a:ext>
            </a:extLst>
          </p:cNvPr>
          <p:cNvGraphicFramePr>
            <a:graphicFrameLocks/>
          </p:cNvGraphicFramePr>
          <p:nvPr>
            <p:extLst>
              <p:ext uri="{D42A27DB-BD31-4B8C-83A1-F6EECF244321}">
                <p14:modId xmlns:p14="http://schemas.microsoft.com/office/powerpoint/2010/main" val="2178571926"/>
              </p:ext>
            </p:extLst>
          </p:nvPr>
        </p:nvGraphicFramePr>
        <p:xfrm>
          <a:off x="1837188" y="5933232"/>
          <a:ext cx="8902147" cy="736600"/>
        </p:xfrm>
        <a:graphic>
          <a:graphicData uri="http://schemas.openxmlformats.org/drawingml/2006/table">
            <a:tbl>
              <a:tblPr firstRow="1" bandRow="1">
                <a:tableStyleId>{5C22544A-7EE6-4342-B048-85BDC9FD1C3A}</a:tableStyleId>
              </a:tblPr>
              <a:tblGrid>
                <a:gridCol w="4118882">
                  <a:extLst>
                    <a:ext uri="{9D8B030D-6E8A-4147-A177-3AD203B41FA5}">
                      <a16:colId xmlns:a16="http://schemas.microsoft.com/office/drawing/2014/main" val="4129139056"/>
                    </a:ext>
                  </a:extLst>
                </a:gridCol>
                <a:gridCol w="4783265">
                  <a:extLst>
                    <a:ext uri="{9D8B030D-6E8A-4147-A177-3AD203B41FA5}">
                      <a16:colId xmlns:a16="http://schemas.microsoft.com/office/drawing/2014/main" val="2588524043"/>
                    </a:ext>
                  </a:extLst>
                </a:gridCol>
              </a:tblGrid>
              <a:tr h="0">
                <a:tc>
                  <a:txBody>
                    <a:bodyPr/>
                    <a:lstStyle/>
                    <a:p>
                      <a:r>
                        <a:rPr lang="en-GB" dirty="0"/>
                        <a:t>Ternary Operator</a:t>
                      </a:r>
                    </a:p>
                  </a:txBody>
                  <a:tcPr/>
                </a:tc>
                <a:tc>
                  <a:txBody>
                    <a:bodyPr/>
                    <a:lstStyle/>
                    <a:p>
                      <a:r>
                        <a:rPr lang="en-GB" dirty="0"/>
                        <a:t>Meaning</a:t>
                      </a:r>
                    </a:p>
                  </a:txBody>
                  <a:tcPr/>
                </a:tc>
                <a:extLst>
                  <a:ext uri="{0D108BD9-81ED-4DB2-BD59-A6C34878D82A}">
                    <a16:rowId xmlns:a16="http://schemas.microsoft.com/office/drawing/2014/main" val="2400999072"/>
                  </a:ext>
                </a:extLst>
              </a:tr>
              <a:tr h="370840">
                <a:tc>
                  <a:txBody>
                    <a:bodyPr/>
                    <a:lstStyle/>
                    <a:p>
                      <a:r>
                        <a:rPr lang="en-GB" dirty="0"/>
                        <a:t>?:</a:t>
                      </a:r>
                    </a:p>
                  </a:txBody>
                  <a:tcPr/>
                </a:tc>
                <a:tc>
                  <a:txBody>
                    <a:bodyPr/>
                    <a:lstStyle/>
                    <a:p>
                      <a:r>
                        <a:rPr lang="en-GB" dirty="0"/>
                        <a:t>Ternary or conditional operator</a:t>
                      </a:r>
                    </a:p>
                  </a:txBody>
                  <a:tcPr/>
                </a:tc>
                <a:extLst>
                  <a:ext uri="{0D108BD9-81ED-4DB2-BD59-A6C34878D82A}">
                    <a16:rowId xmlns:a16="http://schemas.microsoft.com/office/drawing/2014/main" val="2836216639"/>
                  </a:ext>
                </a:extLst>
              </a:tr>
            </a:tbl>
          </a:graphicData>
        </a:graphic>
      </p:graphicFrame>
    </p:spTree>
    <p:extLst>
      <p:ext uri="{BB962C8B-B14F-4D97-AF65-F5344CB8AC3E}">
        <p14:creationId xmlns:p14="http://schemas.microsoft.com/office/powerpoint/2010/main" val="25091049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Control Structures</a:t>
            </a:r>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p:txBody>
          <a:bodyPr>
            <a:normAutofit/>
          </a:bodyPr>
          <a:lstStyle/>
          <a:p>
            <a:pPr algn="just"/>
            <a:r>
              <a:rPr lang="en-US" sz="2200" dirty="0"/>
              <a:t>All programs written in terms of 3 control structures</a:t>
            </a:r>
          </a:p>
          <a:p>
            <a:pPr lvl="1" algn="just"/>
            <a:r>
              <a:rPr lang="en-US" sz="2000" dirty="0"/>
              <a:t>Sequence structures: Built into C. Programs executed sequentially by default</a:t>
            </a:r>
          </a:p>
          <a:p>
            <a:pPr lvl="1" algn="just"/>
            <a:r>
              <a:rPr lang="en-US" sz="2000" dirty="0"/>
              <a:t>Selection structures: C has three types: if, if...else, and switch</a:t>
            </a:r>
          </a:p>
          <a:p>
            <a:pPr lvl="1" algn="just"/>
            <a:r>
              <a:rPr lang="en-US" sz="2000" dirty="0"/>
              <a:t>Repetition structures: C has three types: while, do...while and for</a:t>
            </a:r>
          </a:p>
          <a:p>
            <a:pPr algn="just"/>
            <a:r>
              <a:rPr lang="en-US" sz="2200" dirty="0"/>
              <a:t>Selection structure:</a:t>
            </a:r>
          </a:p>
          <a:p>
            <a:pPr lvl="1" algn="just"/>
            <a:r>
              <a:rPr lang="en-US" sz="2000" dirty="0"/>
              <a:t>Used to choose among alternative courses of action</a:t>
            </a:r>
          </a:p>
          <a:p>
            <a:pPr lvl="1" algn="just"/>
            <a:r>
              <a:rPr lang="en-US" sz="2000" dirty="0"/>
              <a:t>Pseudocode:</a:t>
            </a:r>
          </a:p>
          <a:p>
            <a:pPr lvl="2" algn="just"/>
            <a:r>
              <a:rPr lang="en-US" sz="1800" dirty="0">
                <a:solidFill>
                  <a:srgbClr val="FF0000"/>
                </a:solidFill>
              </a:rPr>
              <a:t>If student’s grade is greater than or equal to 60 Print “Passed”</a:t>
            </a:r>
          </a:p>
          <a:p>
            <a:pPr algn="just"/>
            <a:r>
              <a:rPr lang="en-US" sz="2200" dirty="0"/>
              <a:t>If condition true:</a:t>
            </a:r>
          </a:p>
          <a:p>
            <a:pPr lvl="1" algn="just"/>
            <a:r>
              <a:rPr lang="en-US" sz="2000" dirty="0"/>
              <a:t>Print statement executed and program goes on to next statement</a:t>
            </a:r>
          </a:p>
          <a:p>
            <a:pPr lvl="1" algn="just"/>
            <a:r>
              <a:rPr lang="en-US" sz="2000" dirty="0"/>
              <a:t>If false, print statement is ignored and the program goes onto the next statement</a:t>
            </a:r>
          </a:p>
        </p:txBody>
      </p:sp>
    </p:spTree>
    <p:extLst>
      <p:ext uri="{BB962C8B-B14F-4D97-AF65-F5344CB8AC3E}">
        <p14:creationId xmlns:p14="http://schemas.microsoft.com/office/powerpoint/2010/main" val="343959421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GB" sz="4000" b="1" dirty="0"/>
              <a:t>The if-else Statement</a:t>
            </a:r>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p:txBody>
          <a:bodyPr>
            <a:normAutofit/>
          </a:bodyPr>
          <a:lstStyle/>
          <a:p>
            <a:pPr algn="just"/>
            <a:r>
              <a:rPr lang="en-US" sz="2200" dirty="0"/>
              <a:t>if only performs an action if the condition is true </a:t>
            </a:r>
          </a:p>
          <a:p>
            <a:pPr algn="just"/>
            <a:endParaRPr lang="en-US" sz="2200" dirty="0"/>
          </a:p>
          <a:p>
            <a:pPr algn="just"/>
            <a:r>
              <a:rPr lang="en-US" sz="2200" dirty="0"/>
              <a:t>if...else specifies an action to be performed both when the condition is true and when it is false.</a:t>
            </a:r>
            <a:endParaRPr lang="en-US" sz="2000" dirty="0"/>
          </a:p>
        </p:txBody>
      </p:sp>
      <p:pic>
        <p:nvPicPr>
          <p:cNvPr id="7170" name="Picture 2" descr="Using if else if statement in C">
            <a:extLst>
              <a:ext uri="{FF2B5EF4-FFF2-40B4-BE49-F238E27FC236}">
                <a16:creationId xmlns:a16="http://schemas.microsoft.com/office/drawing/2014/main" id="{72297F60-F0E5-EEEC-CBAE-D02945A0B1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28900" y="3258955"/>
            <a:ext cx="2122714" cy="3374877"/>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Decision Making in C (if , if..else, Nested if, if-else-if ) - GeeksforGeeks">
            <a:extLst>
              <a:ext uri="{FF2B5EF4-FFF2-40B4-BE49-F238E27FC236}">
                <a16:creationId xmlns:a16="http://schemas.microsoft.com/office/drawing/2014/main" id="{E4CF00AD-D17B-DE62-7EF0-DE4495A173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48976" y="3081874"/>
            <a:ext cx="4109399" cy="37290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4652928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US" sz="4000" b="1" dirty="0"/>
              <a:t>Example 8: if-else </a:t>
            </a:r>
            <a:r>
              <a:rPr lang="en-GB" sz="4000" b="1" dirty="0"/>
              <a:t>in C</a:t>
            </a:r>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a:xfrm>
            <a:off x="838200" y="1825625"/>
            <a:ext cx="5171588" cy="4351338"/>
          </a:xfrm>
        </p:spPr>
        <p:txBody>
          <a:bodyPr>
            <a:normAutofit/>
          </a:bodyPr>
          <a:lstStyle/>
          <a:p>
            <a:pPr algn="just"/>
            <a:r>
              <a:rPr lang="en-US" sz="2200" dirty="0"/>
              <a:t>Write a C program that asks the user to enter a character. The program should then determine whether the entered character is a vowel (a, e, </a:t>
            </a:r>
            <a:r>
              <a:rPr lang="en-US" sz="2200" dirty="0" err="1"/>
              <a:t>i</a:t>
            </a:r>
            <a:r>
              <a:rPr lang="en-US" sz="2200" dirty="0"/>
              <a:t>, o, u), a consonant, a digit (0-9), or a special character. Use nested if-else statements to implement the logic.</a:t>
            </a:r>
            <a:endParaRPr lang="en-US" sz="2000" dirty="0"/>
          </a:p>
        </p:txBody>
      </p:sp>
      <p:pic>
        <p:nvPicPr>
          <p:cNvPr id="5" name="Picture 4" descr="A screenshot of a computer screen&#10;&#10;Description automatically generated">
            <a:extLst>
              <a:ext uri="{FF2B5EF4-FFF2-40B4-BE49-F238E27FC236}">
                <a16:creationId xmlns:a16="http://schemas.microsoft.com/office/drawing/2014/main" id="{E17AA12E-D1BD-8545-3BA0-D77CC5E2707D}"/>
              </a:ext>
            </a:extLst>
          </p:cNvPr>
          <p:cNvPicPr>
            <a:picLocks noChangeAspect="1"/>
          </p:cNvPicPr>
          <p:nvPr/>
        </p:nvPicPr>
        <p:blipFill rotWithShape="1">
          <a:blip r:embed="rId3">
            <a:extLst>
              <a:ext uri="{28A0092B-C50C-407E-A947-70E740481C1C}">
                <a14:useLocalDpi xmlns:a14="http://schemas.microsoft.com/office/drawing/2010/main" val="0"/>
              </a:ext>
            </a:extLst>
          </a:blip>
          <a:srcRect t="12549"/>
          <a:stretch/>
        </p:blipFill>
        <p:spPr>
          <a:xfrm>
            <a:off x="6182214" y="860612"/>
            <a:ext cx="6228373" cy="5997388"/>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8390D653-A22B-04CD-71BB-EC58BFC33A21}"/>
              </a:ext>
            </a:extLst>
          </p:cNvPr>
          <p:cNvPicPr>
            <a:picLocks noChangeAspect="1"/>
          </p:cNvPicPr>
          <p:nvPr/>
        </p:nvPicPr>
        <p:blipFill rotWithShape="1">
          <a:blip r:embed="rId4">
            <a:extLst>
              <a:ext uri="{28A0092B-C50C-407E-A947-70E740481C1C}">
                <a14:useLocalDpi xmlns:a14="http://schemas.microsoft.com/office/drawing/2010/main" val="0"/>
              </a:ext>
            </a:extLst>
          </a:blip>
          <a:srcRect t="2996" r="12341" b="65506"/>
          <a:stretch/>
        </p:blipFill>
        <p:spPr>
          <a:xfrm>
            <a:off x="71295" y="4406598"/>
            <a:ext cx="6373566" cy="1663463"/>
          </a:xfrm>
          <a:prstGeom prst="rect">
            <a:avLst/>
          </a:prstGeom>
        </p:spPr>
      </p:pic>
      <p:sp>
        <p:nvSpPr>
          <p:cNvPr id="9" name="Arrow: Down 8">
            <a:extLst>
              <a:ext uri="{FF2B5EF4-FFF2-40B4-BE49-F238E27FC236}">
                <a16:creationId xmlns:a16="http://schemas.microsoft.com/office/drawing/2014/main" id="{3D10E481-228F-6FDD-EC08-D40A65B804C2}"/>
              </a:ext>
            </a:extLst>
          </p:cNvPr>
          <p:cNvSpPr/>
          <p:nvPr/>
        </p:nvSpPr>
        <p:spPr>
          <a:xfrm rot="7123737">
            <a:off x="8863252" y="2607619"/>
            <a:ext cx="149204" cy="39016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Box 9">
            <a:extLst>
              <a:ext uri="{FF2B5EF4-FFF2-40B4-BE49-F238E27FC236}">
                <a16:creationId xmlns:a16="http://schemas.microsoft.com/office/drawing/2014/main" id="{8489916E-4F29-47BC-2D35-25F532813922}"/>
              </a:ext>
            </a:extLst>
          </p:cNvPr>
          <p:cNvSpPr txBox="1"/>
          <p:nvPr/>
        </p:nvSpPr>
        <p:spPr>
          <a:xfrm>
            <a:off x="9019318" y="2679311"/>
            <a:ext cx="1736886" cy="369332"/>
          </a:xfrm>
          <a:prstGeom prst="rect">
            <a:avLst/>
          </a:prstGeom>
          <a:noFill/>
        </p:spPr>
        <p:txBody>
          <a:bodyPr wrap="none" rtlCol="0">
            <a:spAutoFit/>
          </a:bodyPr>
          <a:lstStyle/>
          <a:p>
            <a:r>
              <a:rPr lang="en-GB" dirty="0"/>
              <a:t>The OR operator</a:t>
            </a:r>
          </a:p>
        </p:txBody>
      </p:sp>
      <p:sp>
        <p:nvSpPr>
          <p:cNvPr id="11" name="Arrow: Down 10">
            <a:extLst>
              <a:ext uri="{FF2B5EF4-FFF2-40B4-BE49-F238E27FC236}">
                <a16:creationId xmlns:a16="http://schemas.microsoft.com/office/drawing/2014/main" id="{E1586AED-8A3C-DC50-693F-58C07046F33A}"/>
              </a:ext>
            </a:extLst>
          </p:cNvPr>
          <p:cNvSpPr/>
          <p:nvPr/>
        </p:nvSpPr>
        <p:spPr>
          <a:xfrm rot="15194603">
            <a:off x="7265560" y="2377159"/>
            <a:ext cx="199945" cy="973634"/>
          </a:xfrm>
          <a:prstGeom prst="downArrow">
            <a:avLst>
              <a:gd name="adj1" fmla="val 29958"/>
              <a:gd name="adj2" fmla="val 5000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Box 11">
            <a:extLst>
              <a:ext uri="{FF2B5EF4-FFF2-40B4-BE49-F238E27FC236}">
                <a16:creationId xmlns:a16="http://schemas.microsoft.com/office/drawing/2014/main" id="{657F4AF5-17CC-55D7-5805-CEAC88396580}"/>
              </a:ext>
            </a:extLst>
          </p:cNvPr>
          <p:cNvSpPr txBox="1"/>
          <p:nvPr/>
        </p:nvSpPr>
        <p:spPr>
          <a:xfrm>
            <a:off x="6152558" y="2931353"/>
            <a:ext cx="1134821" cy="646331"/>
          </a:xfrm>
          <a:prstGeom prst="rect">
            <a:avLst/>
          </a:prstGeom>
          <a:noFill/>
        </p:spPr>
        <p:txBody>
          <a:bodyPr wrap="square" rtlCol="0">
            <a:spAutoFit/>
          </a:bodyPr>
          <a:lstStyle/>
          <a:p>
            <a:r>
              <a:rPr lang="en-GB" dirty="0"/>
              <a:t>The AND operator</a:t>
            </a:r>
          </a:p>
        </p:txBody>
      </p:sp>
    </p:spTree>
    <p:extLst>
      <p:ext uri="{BB962C8B-B14F-4D97-AF65-F5344CB8AC3E}">
        <p14:creationId xmlns:p14="http://schemas.microsoft.com/office/powerpoint/2010/main" val="115074101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US" sz="4000" b="1" dirty="0"/>
              <a:t>Example 9: if-else </a:t>
            </a:r>
            <a:r>
              <a:rPr lang="en-GB" sz="4000" b="1" dirty="0"/>
              <a:t>in C</a:t>
            </a:r>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a:xfrm>
            <a:off x="838200" y="1825625"/>
            <a:ext cx="5171588" cy="4351338"/>
          </a:xfrm>
        </p:spPr>
        <p:txBody>
          <a:bodyPr>
            <a:normAutofit/>
          </a:bodyPr>
          <a:lstStyle/>
          <a:p>
            <a:pPr algn="just"/>
            <a:r>
              <a:rPr lang="en-US" sz="2200" dirty="0"/>
              <a:t>Write a C program that asks the user to enter an integer. The program should determine whether the entered integer is even or odd. If the number is even, check if it is also divisible by 4. Use nested if-else statements and the modulus operator to implement the logic.</a:t>
            </a:r>
            <a:endParaRPr lang="en-US" sz="2000" dirty="0"/>
          </a:p>
        </p:txBody>
      </p:sp>
      <p:pic>
        <p:nvPicPr>
          <p:cNvPr id="6" name="Picture 5" descr="A screenshot of a computer&#10;&#10;Description automatically generated">
            <a:extLst>
              <a:ext uri="{FF2B5EF4-FFF2-40B4-BE49-F238E27FC236}">
                <a16:creationId xmlns:a16="http://schemas.microsoft.com/office/drawing/2014/main" id="{CCBAD330-8330-540C-2E1D-F395AF08DF95}"/>
              </a:ext>
            </a:extLst>
          </p:cNvPr>
          <p:cNvPicPr>
            <a:picLocks noChangeAspect="1"/>
          </p:cNvPicPr>
          <p:nvPr/>
        </p:nvPicPr>
        <p:blipFill rotWithShape="1">
          <a:blip r:embed="rId3">
            <a:extLst>
              <a:ext uri="{28A0092B-C50C-407E-A947-70E740481C1C}">
                <a14:useLocalDpi xmlns:a14="http://schemas.microsoft.com/office/drawing/2010/main" val="0"/>
              </a:ext>
            </a:extLst>
          </a:blip>
          <a:srcRect l="2539" t="4134" r="3488" b="58646"/>
          <a:stretch/>
        </p:blipFill>
        <p:spPr>
          <a:xfrm>
            <a:off x="212522" y="4520111"/>
            <a:ext cx="6228374" cy="1791789"/>
          </a:xfrm>
          <a:prstGeom prst="rect">
            <a:avLst/>
          </a:prstGeom>
        </p:spPr>
      </p:pic>
      <p:grpSp>
        <p:nvGrpSpPr>
          <p:cNvPr id="13" name="Group 12">
            <a:extLst>
              <a:ext uri="{FF2B5EF4-FFF2-40B4-BE49-F238E27FC236}">
                <a16:creationId xmlns:a16="http://schemas.microsoft.com/office/drawing/2014/main" id="{E8C3B93D-6051-83A9-EE6C-ADBEFC81B53E}"/>
              </a:ext>
            </a:extLst>
          </p:cNvPr>
          <p:cNvGrpSpPr/>
          <p:nvPr/>
        </p:nvGrpSpPr>
        <p:grpSpPr>
          <a:xfrm>
            <a:off x="6714938" y="365125"/>
            <a:ext cx="5264540" cy="5495543"/>
            <a:chOff x="6714938" y="365125"/>
            <a:chExt cx="5264540" cy="5495543"/>
          </a:xfrm>
        </p:grpSpPr>
        <p:pic>
          <p:nvPicPr>
            <p:cNvPr id="9" name="Picture 8" descr="A screenshot of a computer&#10;&#10;Description automatically generated">
              <a:extLst>
                <a:ext uri="{FF2B5EF4-FFF2-40B4-BE49-F238E27FC236}">
                  <a16:creationId xmlns:a16="http://schemas.microsoft.com/office/drawing/2014/main" id="{BF6D66A0-6119-EB41-B3D2-D637895EE441}"/>
                </a:ext>
              </a:extLst>
            </p:cNvPr>
            <p:cNvPicPr>
              <a:picLocks noChangeAspect="1"/>
            </p:cNvPicPr>
            <p:nvPr/>
          </p:nvPicPr>
          <p:blipFill rotWithShape="1">
            <a:blip r:embed="rId4">
              <a:extLst>
                <a:ext uri="{28A0092B-C50C-407E-A947-70E740481C1C}">
                  <a14:useLocalDpi xmlns:a14="http://schemas.microsoft.com/office/drawing/2010/main" val="0"/>
                </a:ext>
              </a:extLst>
            </a:blip>
            <a:srcRect l="5928" t="12722" r="25172" b="21957"/>
            <a:stretch/>
          </p:blipFill>
          <p:spPr>
            <a:xfrm>
              <a:off x="6714938" y="365125"/>
              <a:ext cx="5264540" cy="5495543"/>
            </a:xfrm>
            <a:prstGeom prst="rect">
              <a:avLst/>
            </a:prstGeom>
          </p:spPr>
        </p:pic>
        <p:sp>
          <p:nvSpPr>
            <p:cNvPr id="12" name="Rectangle 11">
              <a:extLst>
                <a:ext uri="{FF2B5EF4-FFF2-40B4-BE49-F238E27FC236}">
                  <a16:creationId xmlns:a16="http://schemas.microsoft.com/office/drawing/2014/main" id="{307A6DC8-D5B6-4588-16D5-BDCB8AA949F1}"/>
                </a:ext>
              </a:extLst>
            </p:cNvPr>
            <p:cNvSpPr/>
            <p:nvPr/>
          </p:nvSpPr>
          <p:spPr>
            <a:xfrm>
              <a:off x="6786694" y="679508"/>
              <a:ext cx="1702965" cy="184558"/>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grpSp>
    </p:spTree>
    <p:extLst>
      <p:ext uri="{BB962C8B-B14F-4D97-AF65-F5344CB8AC3E}">
        <p14:creationId xmlns:p14="http://schemas.microsoft.com/office/powerpoint/2010/main" val="16936437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639725-6E4D-1DB9-D974-FF3E9BE423A3}"/>
              </a:ext>
            </a:extLst>
          </p:cNvPr>
          <p:cNvSpPr>
            <a:spLocks noGrp="1"/>
          </p:cNvSpPr>
          <p:nvPr>
            <p:ph type="title"/>
          </p:nvPr>
        </p:nvSpPr>
        <p:spPr/>
        <p:txBody>
          <a:bodyPr/>
          <a:lstStyle/>
          <a:p>
            <a:r>
              <a:rPr lang="en-US" sz="4000" b="1" dirty="0"/>
              <a:t>Example 10: Ternary </a:t>
            </a:r>
            <a:r>
              <a:rPr lang="en-GB" sz="4000" b="1" dirty="0"/>
              <a:t>in C</a:t>
            </a:r>
          </a:p>
        </p:txBody>
      </p:sp>
      <p:sp>
        <p:nvSpPr>
          <p:cNvPr id="3" name="Content Placeholder 2">
            <a:extLst>
              <a:ext uri="{FF2B5EF4-FFF2-40B4-BE49-F238E27FC236}">
                <a16:creationId xmlns:a16="http://schemas.microsoft.com/office/drawing/2014/main" id="{53F7AD4C-A77F-AE86-B4B0-AAA13822BA25}"/>
              </a:ext>
            </a:extLst>
          </p:cNvPr>
          <p:cNvSpPr>
            <a:spLocks noGrp="1"/>
          </p:cNvSpPr>
          <p:nvPr>
            <p:ph idx="1"/>
          </p:nvPr>
        </p:nvSpPr>
        <p:spPr>
          <a:xfrm>
            <a:off x="838200" y="1825625"/>
            <a:ext cx="5171588" cy="4351338"/>
          </a:xfrm>
        </p:spPr>
        <p:txBody>
          <a:bodyPr>
            <a:normAutofit/>
          </a:bodyPr>
          <a:lstStyle/>
          <a:p>
            <a:pPr algn="just"/>
            <a:r>
              <a:rPr lang="en-US" sz="2200" dirty="0"/>
              <a:t>Write a C program that takes two integers as input and uses the ternary operator to determine and print the larger of the two integers. If both integers are equal, print a message indicating they are equal.</a:t>
            </a:r>
            <a:endParaRPr lang="en-US" sz="2000" dirty="0"/>
          </a:p>
        </p:txBody>
      </p:sp>
      <p:pic>
        <p:nvPicPr>
          <p:cNvPr id="5" name="Picture 4" descr="A screenshot of a computer&#10;&#10;Description automatically generated">
            <a:extLst>
              <a:ext uri="{FF2B5EF4-FFF2-40B4-BE49-F238E27FC236}">
                <a16:creationId xmlns:a16="http://schemas.microsoft.com/office/drawing/2014/main" id="{63A44E7D-48FC-C0FE-C5B6-C19F6C6F27E7}"/>
              </a:ext>
            </a:extLst>
          </p:cNvPr>
          <p:cNvPicPr>
            <a:picLocks noChangeAspect="1"/>
          </p:cNvPicPr>
          <p:nvPr/>
        </p:nvPicPr>
        <p:blipFill rotWithShape="1">
          <a:blip r:embed="rId3">
            <a:extLst>
              <a:ext uri="{28A0092B-C50C-407E-A947-70E740481C1C}">
                <a14:useLocalDpi xmlns:a14="http://schemas.microsoft.com/office/drawing/2010/main" val="0"/>
              </a:ext>
            </a:extLst>
          </a:blip>
          <a:srcRect l="2726" t="4134" r="12687" b="63105"/>
          <a:stretch/>
        </p:blipFill>
        <p:spPr>
          <a:xfrm>
            <a:off x="139148" y="4530103"/>
            <a:ext cx="6977269" cy="1962772"/>
          </a:xfrm>
          <a:prstGeom prst="rect">
            <a:avLst/>
          </a:prstGeom>
        </p:spPr>
      </p:pic>
      <p:pic>
        <p:nvPicPr>
          <p:cNvPr id="8" name="Picture 7" descr="A screenshot of a computer screen&#10;&#10;Description automatically generated">
            <a:extLst>
              <a:ext uri="{FF2B5EF4-FFF2-40B4-BE49-F238E27FC236}">
                <a16:creationId xmlns:a16="http://schemas.microsoft.com/office/drawing/2014/main" id="{392BA90D-D317-4E9E-3046-2D7A57574B6B}"/>
              </a:ext>
            </a:extLst>
          </p:cNvPr>
          <p:cNvPicPr>
            <a:picLocks noChangeAspect="1"/>
          </p:cNvPicPr>
          <p:nvPr/>
        </p:nvPicPr>
        <p:blipFill rotWithShape="1">
          <a:blip r:embed="rId4">
            <a:extLst>
              <a:ext uri="{28A0092B-C50C-407E-A947-70E740481C1C}">
                <a14:useLocalDpi xmlns:a14="http://schemas.microsoft.com/office/drawing/2010/main" val="0"/>
              </a:ext>
            </a:extLst>
          </a:blip>
          <a:srcRect l="5903" t="9931" r="30106" b="56666"/>
          <a:stretch/>
        </p:blipFill>
        <p:spPr>
          <a:xfrm>
            <a:off x="6301409" y="1027906"/>
            <a:ext cx="5858535" cy="3367260"/>
          </a:xfrm>
          <a:prstGeom prst="rect">
            <a:avLst/>
          </a:prstGeom>
        </p:spPr>
      </p:pic>
    </p:spTree>
    <p:extLst>
      <p:ext uri="{BB962C8B-B14F-4D97-AF65-F5344CB8AC3E}">
        <p14:creationId xmlns:p14="http://schemas.microsoft.com/office/powerpoint/2010/main" val="30317424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36C14-235C-CB31-F749-488E6B6D97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062095-F8D0-443B-284D-E0EBB80DC85A}"/>
              </a:ext>
            </a:extLst>
          </p:cNvPr>
          <p:cNvSpPr>
            <a:spLocks noGrp="1"/>
          </p:cNvSpPr>
          <p:nvPr>
            <p:ph type="title"/>
          </p:nvPr>
        </p:nvSpPr>
        <p:spPr>
          <a:xfrm>
            <a:off x="838200" y="2766218"/>
            <a:ext cx="10515600" cy="1325563"/>
          </a:xfrm>
        </p:spPr>
        <p:txBody>
          <a:bodyPr>
            <a:normAutofit/>
          </a:bodyPr>
          <a:lstStyle/>
          <a:p>
            <a:pPr algn="ctr"/>
            <a:r>
              <a:rPr lang="en-US" b="1" dirty="0"/>
              <a:t>Thank you for listening </a:t>
            </a:r>
          </a:p>
        </p:txBody>
      </p:sp>
    </p:spTree>
    <p:extLst>
      <p:ext uri="{BB962C8B-B14F-4D97-AF65-F5344CB8AC3E}">
        <p14:creationId xmlns:p14="http://schemas.microsoft.com/office/powerpoint/2010/main" val="244848860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33147</TotalTime>
  <Words>3640</Words>
  <Application>Microsoft Office PowerPoint</Application>
  <PresentationFormat>Widescreen</PresentationFormat>
  <Paragraphs>415</Paragraphs>
  <Slides>45</Slides>
  <Notes>39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Aptos</vt:lpstr>
      <vt:lpstr>Arial</vt:lpstr>
      <vt:lpstr>Calibri</vt:lpstr>
      <vt:lpstr>Calibri (Body)</vt:lpstr>
      <vt:lpstr>Calibri Light</vt:lpstr>
      <vt:lpstr>Cambria Math</vt:lpstr>
      <vt:lpstr>Times New Roman</vt:lpstr>
      <vt:lpstr>Office Theme</vt:lpstr>
      <vt:lpstr>Lecture 1: C Programming in UNIX Environment  </vt:lpstr>
      <vt:lpstr>Supplementary Reading Material</vt:lpstr>
      <vt:lpstr>Lectures</vt:lpstr>
      <vt:lpstr>Outline</vt:lpstr>
      <vt:lpstr>System Software</vt:lpstr>
      <vt:lpstr>System Software vs. Application Software</vt:lpstr>
      <vt:lpstr>Elements of System Programming</vt:lpstr>
      <vt:lpstr>Elements of System Programming</vt:lpstr>
      <vt:lpstr>Elements of System Programming</vt:lpstr>
      <vt:lpstr>Elements of System Programming</vt:lpstr>
      <vt:lpstr>Why Unix in Programming</vt:lpstr>
      <vt:lpstr>Why C in Programming</vt:lpstr>
      <vt:lpstr>Tools in Unix</vt:lpstr>
      <vt:lpstr>Tools in Unix</vt:lpstr>
      <vt:lpstr>Tools in Unix</vt:lpstr>
      <vt:lpstr>Tools in Unix</vt:lpstr>
      <vt:lpstr>Tools in Unix</vt:lpstr>
      <vt:lpstr>Review of C Programming: Data Types</vt:lpstr>
      <vt:lpstr>Example 1: Basic Data Types: </vt:lpstr>
      <vt:lpstr>Example 1: Issue with float (single-precision)</vt:lpstr>
      <vt:lpstr>Example 1: Issue with float (single-precision)</vt:lpstr>
      <vt:lpstr>Example 2: Basic Data Types</vt:lpstr>
      <vt:lpstr>Example 3: Division with Basic Data Types</vt:lpstr>
      <vt:lpstr>Example 3: Issue</vt:lpstr>
      <vt:lpstr>Example 3: Issue Solved </vt:lpstr>
      <vt:lpstr>Review of C Programming: Data Types</vt:lpstr>
      <vt:lpstr>Example 4: Derived Data Types</vt:lpstr>
      <vt:lpstr>Example 4: Explanation</vt:lpstr>
      <vt:lpstr>Example 4: Explanation</vt:lpstr>
      <vt:lpstr>Example 4: Explanation</vt:lpstr>
      <vt:lpstr>Syntax of scanf</vt:lpstr>
      <vt:lpstr>Example 5: Scanf</vt:lpstr>
      <vt:lpstr>Example 5: Explanation</vt:lpstr>
      <vt:lpstr>Example 6: Scanf</vt:lpstr>
      <vt:lpstr>Example 6: Explanation</vt:lpstr>
      <vt:lpstr>Arithmetic Operations in C</vt:lpstr>
      <vt:lpstr>Operator precedence in C</vt:lpstr>
      <vt:lpstr>Example 7: Operations in C</vt:lpstr>
      <vt:lpstr>Equality, Relational, Logical, and Ternary Operators</vt:lpstr>
      <vt:lpstr>Control Structures</vt:lpstr>
      <vt:lpstr>The if-else Statement</vt:lpstr>
      <vt:lpstr>Example 8: if-else in C</vt:lpstr>
      <vt:lpstr>Example 9: if-else in C</vt:lpstr>
      <vt:lpstr>Example 10: Ternary in C</vt:lpstr>
      <vt:lpstr>Thank you for listening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 LEARNING IN COMPUTER VISION and NATURAL LANGUAGE PROCESSING  </dc:title>
  <dc:creator>Amir  Yavariabdi</dc:creator>
  <cp:lastModifiedBy>Amir  Yavariabdi</cp:lastModifiedBy>
  <cp:revision>153</cp:revision>
  <dcterms:created xsi:type="dcterms:W3CDTF">2024-03-24T15:49:21Z</dcterms:created>
  <dcterms:modified xsi:type="dcterms:W3CDTF">2024-09-15T21:37:32Z</dcterms:modified>
</cp:coreProperties>
</file>