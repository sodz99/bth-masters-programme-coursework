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7" r:id="rId2"/>
    <p:sldId id="429" r:id="rId3"/>
    <p:sldId id="475" r:id="rId4"/>
    <p:sldId id="479" r:id="rId5"/>
    <p:sldId id="481" r:id="rId6"/>
    <p:sldId id="476" r:id="rId7"/>
    <p:sldId id="482" r:id="rId8"/>
    <p:sldId id="478" r:id="rId9"/>
    <p:sldId id="483" r:id="rId10"/>
    <p:sldId id="484" r:id="rId11"/>
    <p:sldId id="485" r:id="rId12"/>
    <p:sldId id="486" r:id="rId13"/>
    <p:sldId id="487" r:id="rId14"/>
    <p:sldId id="488" r:id="rId15"/>
    <p:sldId id="489" r:id="rId16"/>
    <p:sldId id="490" r:id="rId17"/>
    <p:sldId id="491" r:id="rId18"/>
    <p:sldId id="492" r:id="rId19"/>
    <p:sldId id="493" r:id="rId20"/>
    <p:sldId id="494" r:id="rId21"/>
    <p:sldId id="497" r:id="rId22"/>
    <p:sldId id="496" r:id="rId23"/>
    <p:sldId id="495" r:id="rId24"/>
    <p:sldId id="498" r:id="rId25"/>
    <p:sldId id="499" r:id="rId26"/>
    <p:sldId id="500" r:id="rId27"/>
    <p:sldId id="501" r:id="rId28"/>
    <p:sldId id="502" r:id="rId29"/>
    <p:sldId id="503" r:id="rId30"/>
    <p:sldId id="504" r:id="rId31"/>
    <p:sldId id="505" r:id="rId32"/>
    <p:sldId id="507" r:id="rId33"/>
    <p:sldId id="508" r:id="rId34"/>
    <p:sldId id="506" r:id="rId35"/>
    <p:sldId id="509" r:id="rId36"/>
    <p:sldId id="510" r:id="rId37"/>
    <p:sldId id="511" r:id="rId38"/>
    <p:sldId id="512" r:id="rId39"/>
    <p:sldId id="513" r:id="rId40"/>
    <p:sldId id="514" r:id="rId41"/>
    <p:sldId id="515" r:id="rId42"/>
    <p:sldId id="516" r:id="rId43"/>
    <p:sldId id="517" r:id="rId44"/>
    <p:sldId id="518" r:id="rId45"/>
    <p:sldId id="519" r:id="rId46"/>
    <p:sldId id="520" r:id="rId47"/>
    <p:sldId id="521" r:id="rId48"/>
    <p:sldId id="522" r:id="rId49"/>
    <p:sldId id="523" r:id="rId50"/>
    <p:sldId id="524" r:id="rId51"/>
    <p:sldId id="525" r:id="rId52"/>
    <p:sldId id="526" r:id="rId53"/>
    <p:sldId id="527" r:id="rId54"/>
    <p:sldId id="531" r:id="rId55"/>
    <p:sldId id="528" r:id="rId56"/>
    <p:sldId id="529" r:id="rId57"/>
    <p:sldId id="532" r:id="rId58"/>
    <p:sldId id="420" r:id="rId59"/>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autoAdjust="0"/>
    <p:restoredTop sz="94978" autoAdjust="0"/>
  </p:normalViewPr>
  <p:slideViewPr>
    <p:cSldViewPr snapToGrid="0">
      <p:cViewPr varScale="1">
        <p:scale>
          <a:sx n="154" d="100"/>
          <a:sy n="154" d="100"/>
        </p:scale>
        <p:origin x="271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F4E199-04CC-48E8-99A0-31C124D1AF1B}" type="datetimeFigureOut">
              <a:rPr lang="en-GB" smtClean="0"/>
              <a:t>31/08/2024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291CC-A73C-4AD1-B614-7C2250A1126E}" type="slidenum">
              <a:rPr lang="en-GB" smtClean="0"/>
              <a:t>‹#›</a:t>
            </a:fld>
            <a:endParaRPr lang="en-GB"/>
          </a:p>
        </p:txBody>
      </p:sp>
    </p:spTree>
    <p:extLst>
      <p:ext uri="{BB962C8B-B14F-4D97-AF65-F5344CB8AC3E}">
        <p14:creationId xmlns:p14="http://schemas.microsoft.com/office/powerpoint/2010/main" val="3835734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39</a:t>
            </a:fld>
            <a:endParaRPr lang="en-GB"/>
          </a:p>
        </p:txBody>
      </p:sp>
    </p:spTree>
    <p:extLst>
      <p:ext uri="{BB962C8B-B14F-4D97-AF65-F5344CB8AC3E}">
        <p14:creationId xmlns:p14="http://schemas.microsoft.com/office/powerpoint/2010/main" val="1391284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40</a:t>
            </a:fld>
            <a:endParaRPr lang="en-GB"/>
          </a:p>
        </p:txBody>
      </p:sp>
    </p:spTree>
    <p:extLst>
      <p:ext uri="{BB962C8B-B14F-4D97-AF65-F5344CB8AC3E}">
        <p14:creationId xmlns:p14="http://schemas.microsoft.com/office/powerpoint/2010/main" val="3499348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43</a:t>
            </a:fld>
            <a:endParaRPr lang="en-GB"/>
          </a:p>
        </p:txBody>
      </p:sp>
    </p:spTree>
    <p:extLst>
      <p:ext uri="{BB962C8B-B14F-4D97-AF65-F5344CB8AC3E}">
        <p14:creationId xmlns:p14="http://schemas.microsoft.com/office/powerpoint/2010/main" val="2452365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44</a:t>
            </a:fld>
            <a:endParaRPr lang="en-GB"/>
          </a:p>
        </p:txBody>
      </p:sp>
    </p:spTree>
    <p:extLst>
      <p:ext uri="{BB962C8B-B14F-4D97-AF65-F5344CB8AC3E}">
        <p14:creationId xmlns:p14="http://schemas.microsoft.com/office/powerpoint/2010/main" val="3743445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48</a:t>
            </a:fld>
            <a:endParaRPr lang="en-GB"/>
          </a:p>
        </p:txBody>
      </p:sp>
    </p:spTree>
    <p:extLst>
      <p:ext uri="{BB962C8B-B14F-4D97-AF65-F5344CB8AC3E}">
        <p14:creationId xmlns:p14="http://schemas.microsoft.com/office/powerpoint/2010/main" val="234567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49</a:t>
            </a:fld>
            <a:endParaRPr lang="en-GB"/>
          </a:p>
        </p:txBody>
      </p:sp>
    </p:spTree>
    <p:extLst>
      <p:ext uri="{BB962C8B-B14F-4D97-AF65-F5344CB8AC3E}">
        <p14:creationId xmlns:p14="http://schemas.microsoft.com/office/powerpoint/2010/main" val="308104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50</a:t>
            </a:fld>
            <a:endParaRPr lang="en-GB"/>
          </a:p>
        </p:txBody>
      </p:sp>
    </p:spTree>
    <p:extLst>
      <p:ext uri="{BB962C8B-B14F-4D97-AF65-F5344CB8AC3E}">
        <p14:creationId xmlns:p14="http://schemas.microsoft.com/office/powerpoint/2010/main" val="674278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54</a:t>
            </a:fld>
            <a:endParaRPr lang="en-GB"/>
          </a:p>
        </p:txBody>
      </p:sp>
    </p:spTree>
    <p:extLst>
      <p:ext uri="{BB962C8B-B14F-4D97-AF65-F5344CB8AC3E}">
        <p14:creationId xmlns:p14="http://schemas.microsoft.com/office/powerpoint/2010/main" val="2675602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8368-B31E-CCF3-6EBE-F69CDA6C4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0A17EC8-D3DB-97B1-CBDF-5D5E9BFD6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5CA4377-ABF3-8399-43F4-CBF11E53151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A28AF15B-637A-37B4-7688-7590FE856E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F65C4E-A1D6-8726-B8F2-F63E4589D91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513020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3D3B-CC06-6D6F-995C-28DC5FEF915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A1CB01-ED7C-448D-3524-8AACEB03A2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576B95-E971-36DD-ABDF-1D64263B9C8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DDA8A084-7BF4-1CFF-CF83-BAE171C773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A9FBD-D43C-3203-42C4-634D4E0D5B25}"/>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159020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36C4-1EB4-E62D-0239-A35CD7BDD9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E28393F-F949-C102-2EC7-75880E7231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0F856-BCE1-9F32-4FE7-9C68A21BF3B9}"/>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02CA59D0-267F-5F00-4109-7D7718C965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8D5907-7B55-4612-CD1E-D4E6EDD9567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75990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19929-7FE8-07AA-6363-1C70BD823D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45923A-085E-D2BC-1316-D49BAFF52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140070B-2864-1704-4A98-C137180ACF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5D2E3C3-B254-3E63-EA1D-28432CEC3E48}"/>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A3697CBB-42F7-837E-9590-7991F89401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B42BF4-49B2-62D8-9EC5-579305D4532B}"/>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64007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43B3-2BB3-10ED-1420-1061EADCFA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7E0B60-893B-36F9-86B2-1D4B62FC07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444519-4CDA-9D1F-4824-A8AC9611C6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4173B01-9BD9-DDBA-197E-52C210FC99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9B13D-AB27-D4A6-4E1E-A70507B3E1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1D70A0-9B4B-E991-E711-289FC87F1BC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8" name="Footer Placeholder 7">
            <a:extLst>
              <a:ext uri="{FF2B5EF4-FFF2-40B4-BE49-F238E27FC236}">
                <a16:creationId xmlns:a16="http://schemas.microsoft.com/office/drawing/2014/main" id="{467511C9-6A84-A9F0-6CC9-D998478194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F160A1-5409-1442-9473-3B7B4CFBBED0}"/>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11690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0A34-CE5C-4DF1-3808-F84428A481E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E1B820D-78B3-40E4-8A59-8C791CD3687C}"/>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4" name="Footer Placeholder 3">
            <a:extLst>
              <a:ext uri="{FF2B5EF4-FFF2-40B4-BE49-F238E27FC236}">
                <a16:creationId xmlns:a16="http://schemas.microsoft.com/office/drawing/2014/main" id="{E51B0147-9B88-9A7D-1906-35A93461308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8CFE370-409E-4A20-6F9C-06EB4C95E8B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35173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9F2EC-C3AD-BCC1-0F39-B5B771413CA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3" name="Footer Placeholder 2">
            <a:extLst>
              <a:ext uri="{FF2B5EF4-FFF2-40B4-BE49-F238E27FC236}">
                <a16:creationId xmlns:a16="http://schemas.microsoft.com/office/drawing/2014/main" id="{AFC72AA2-9A6B-6C28-B222-3B85AD17FE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B0F743-87AD-B4C4-1788-84F660BE874F}"/>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01011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937D-8E66-BF14-D850-F64271EDAD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30E9AFD-7119-A492-9238-D51436F19D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EAB28-DA13-6DC2-6862-E07EBA1BA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BAC759-F7D6-7776-6001-BC0001884CD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EB8B2BB6-EEF5-593C-4DE3-02C22FA2657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00D5D2-A28E-BA6E-BEC9-8944848F7DBC}"/>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490916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853-5ACD-28F1-941A-DE84D9E0E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772948A-3172-609D-3F6F-B427B1E41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368962-DB8A-B23D-EC96-CD1DF0F0E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99956-5B23-E583-B979-76BF9434FBC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0452074F-7BF7-8C9C-2470-EEC5EA2DF9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00B982-8317-791F-628B-112A33893C2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403347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3E66-087B-7D5A-E5B9-98DB65BC48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8F9538-687F-D251-F3A4-0E26F3C42F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2F8BFD-BBC7-53D9-123D-9A267873BAD2}"/>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25D37EC0-1C4A-5718-0B00-9FB0EBB391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9DA87E-C299-2A29-2E9B-B1C1B722968A}"/>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84777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9CB12-EA03-8555-1536-5726881F3D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E56447-2D84-9C16-93D9-4894E920FB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F91E81-E963-1258-9E2F-F43E09D5A28F}"/>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95D6C1C-4E72-29F3-B562-AF479D78D8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85CD84-E612-4FEA-F381-31FA2613E4F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07964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2C3BED-CF1A-FD36-5F2C-22BB242859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276FE4-91EF-2D9D-369B-22B7B0CDD2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21E41A-C3A0-CF89-7631-BF6143D80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01F07D8-9DFA-0A79-BCF1-B91A556139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23B8BB5-5DAA-1AC8-9D67-058C73D7F3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A587D8-0FD9-4FA3-8619-3C8C78E80720}" type="slidenum">
              <a:rPr lang="en-GB" smtClean="0"/>
              <a:t>‹#›</a:t>
            </a:fld>
            <a:endParaRPr lang="en-GB"/>
          </a:p>
        </p:txBody>
      </p:sp>
    </p:spTree>
    <p:extLst>
      <p:ext uri="{BB962C8B-B14F-4D97-AF65-F5344CB8AC3E}">
        <p14:creationId xmlns:p14="http://schemas.microsoft.com/office/powerpoint/2010/main" val="399211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3948" y="2360116"/>
            <a:ext cx="6595183" cy="2137765"/>
          </a:xfrm>
          <a:prstGeom prst="rect">
            <a:avLst/>
          </a:prstGeom>
        </p:spPr>
        <p:txBody>
          <a:bodyPr vert="horz" wrap="square" lIns="0" tIns="97790" rIns="0" bIns="0" rtlCol="0" anchor="ctr">
            <a:spAutoFit/>
          </a:bodyPr>
          <a:lstStyle/>
          <a:p>
            <a:pPr marL="12700" marR="5080">
              <a:lnSpc>
                <a:spcPts val="5290"/>
              </a:lnSpc>
              <a:spcBef>
                <a:spcPts val="770"/>
              </a:spcBef>
            </a:pPr>
            <a:r>
              <a:rPr lang="en-US" sz="4900" spc="-10" dirty="0">
                <a:latin typeface="Calibri"/>
                <a:cs typeface="Calibri"/>
              </a:rPr>
              <a:t>Lecture 3: Strings, Pointers, Memory Allocations, Structures</a:t>
            </a:r>
            <a:endParaRPr lang="en-US" sz="4900" dirty="0">
              <a:latin typeface="Times New Roman"/>
              <a:cs typeface="Times New Roman"/>
            </a:endParaRPr>
          </a:p>
        </p:txBody>
      </p:sp>
      <p:sp>
        <p:nvSpPr>
          <p:cNvPr id="3" name="object 3"/>
          <p:cNvSpPr txBox="1"/>
          <p:nvPr/>
        </p:nvSpPr>
        <p:spPr>
          <a:xfrm>
            <a:off x="5493948" y="5264148"/>
            <a:ext cx="4125595" cy="591187"/>
          </a:xfrm>
          <a:prstGeom prst="rect">
            <a:avLst/>
          </a:prstGeom>
        </p:spPr>
        <p:txBody>
          <a:bodyPr vert="horz" wrap="square" lIns="0" tIns="97790" rIns="0" bIns="0" rtlCol="0">
            <a:spAutoFit/>
          </a:bodyPr>
          <a:lstStyle/>
          <a:p>
            <a:pPr marL="12700">
              <a:spcBef>
                <a:spcPts val="439"/>
              </a:spcBef>
            </a:pPr>
            <a:r>
              <a:rPr sz="3200" spc="-120" dirty="0">
                <a:solidFill>
                  <a:srgbClr val="888888"/>
                </a:solidFill>
                <a:latin typeface="Calibri"/>
                <a:cs typeface="Calibri"/>
              </a:rPr>
              <a:t>Dr.</a:t>
            </a:r>
            <a:r>
              <a:rPr sz="3200" spc="-80" dirty="0">
                <a:solidFill>
                  <a:srgbClr val="888888"/>
                </a:solidFill>
                <a:latin typeface="Times New Roman"/>
                <a:cs typeface="Times New Roman"/>
              </a:rPr>
              <a:t> </a:t>
            </a:r>
            <a:r>
              <a:rPr lang="en-US" sz="3200" dirty="0">
                <a:solidFill>
                  <a:srgbClr val="888888"/>
                </a:solidFill>
                <a:latin typeface="Calibri"/>
                <a:cs typeface="Calibri"/>
              </a:rPr>
              <a:t>Amir Yavariabdi</a:t>
            </a:r>
            <a:endParaRPr sz="3200" dirty="0">
              <a:latin typeface="Calibri"/>
              <a:cs typeface="Calibri"/>
            </a:endParaRPr>
          </a:p>
        </p:txBody>
      </p:sp>
      <p:pic>
        <p:nvPicPr>
          <p:cNvPr id="4" name="object 4"/>
          <p:cNvPicPr/>
          <p:nvPr/>
        </p:nvPicPr>
        <p:blipFill>
          <a:blip r:embed="rId2" cstate="print"/>
          <a:stretch>
            <a:fillRect/>
          </a:stretch>
        </p:blipFill>
        <p:spPr>
          <a:xfrm>
            <a:off x="851180" y="1905381"/>
            <a:ext cx="3054857" cy="3047237"/>
          </a:xfrm>
          <a:prstGeom prst="rect">
            <a:avLst/>
          </a:prstGeom>
        </p:spPr>
      </p:pic>
      <p:sp>
        <p:nvSpPr>
          <p:cNvPr id="5" name="object 5"/>
          <p:cNvSpPr/>
          <p:nvPr/>
        </p:nvSpPr>
        <p:spPr>
          <a:xfrm>
            <a:off x="5493948" y="746759"/>
            <a:ext cx="843915" cy="847090"/>
          </a:xfrm>
          <a:custGeom>
            <a:avLst/>
            <a:gdLst/>
            <a:ahLst/>
            <a:cxnLst/>
            <a:rect l="l" t="t" r="r" b="b"/>
            <a:pathLst>
              <a:path w="843914" h="847090">
                <a:moveTo>
                  <a:pt x="143570" y="846582"/>
                </a:moveTo>
                <a:lnTo>
                  <a:pt x="112633" y="823366"/>
                </a:lnTo>
                <a:lnTo>
                  <a:pt x="4352" y="573100"/>
                </a:lnTo>
                <a:lnTo>
                  <a:pt x="0" y="549021"/>
                </a:lnTo>
                <a:lnTo>
                  <a:pt x="1088" y="536334"/>
                </a:lnTo>
                <a:lnTo>
                  <a:pt x="112633" y="274675"/>
                </a:lnTo>
                <a:lnTo>
                  <a:pt x="143570" y="251460"/>
                </a:lnTo>
                <a:lnTo>
                  <a:pt x="360143" y="251460"/>
                </a:lnTo>
                <a:lnTo>
                  <a:pt x="391080" y="274675"/>
                </a:lnTo>
                <a:lnTo>
                  <a:pt x="499360" y="524941"/>
                </a:lnTo>
                <a:lnTo>
                  <a:pt x="503227" y="549021"/>
                </a:lnTo>
                <a:lnTo>
                  <a:pt x="502261" y="561707"/>
                </a:lnTo>
                <a:lnTo>
                  <a:pt x="391080" y="823366"/>
                </a:lnTo>
                <a:lnTo>
                  <a:pt x="360143" y="846582"/>
                </a:lnTo>
                <a:lnTo>
                  <a:pt x="143570" y="846582"/>
                </a:lnTo>
                <a:close/>
              </a:path>
              <a:path w="843914" h="847090">
                <a:moveTo>
                  <a:pt x="549741" y="484632"/>
                </a:moveTo>
                <a:lnTo>
                  <a:pt x="436102" y="261924"/>
                </a:lnTo>
                <a:lnTo>
                  <a:pt x="432549" y="242316"/>
                </a:lnTo>
                <a:lnTo>
                  <a:pt x="433437" y="231985"/>
                </a:lnTo>
                <a:lnTo>
                  <a:pt x="524494" y="18910"/>
                </a:lnTo>
                <a:lnTo>
                  <a:pt x="549741" y="0"/>
                </a:lnTo>
                <a:lnTo>
                  <a:pt x="726513" y="0"/>
                </a:lnTo>
                <a:lnTo>
                  <a:pt x="840165" y="222707"/>
                </a:lnTo>
                <a:lnTo>
                  <a:pt x="843318" y="242316"/>
                </a:lnTo>
                <a:lnTo>
                  <a:pt x="842529" y="252646"/>
                </a:lnTo>
                <a:lnTo>
                  <a:pt x="751773" y="465721"/>
                </a:lnTo>
                <a:lnTo>
                  <a:pt x="726513" y="484632"/>
                </a:lnTo>
                <a:lnTo>
                  <a:pt x="549741" y="484632"/>
                </a:lnTo>
                <a:close/>
              </a:path>
            </a:pathLst>
          </a:custGeom>
          <a:ln w="28575">
            <a:solidFill>
              <a:srgbClr val="000000"/>
            </a:solidFill>
          </a:ln>
        </p:spPr>
        <p:txBody>
          <a:bodyPr wrap="square" lIns="0" tIns="0" rIns="0" bIns="0" rtlCol="0"/>
          <a:lstStyle/>
          <a:p>
            <a:endParaRPr/>
          </a:p>
        </p:txBody>
      </p:sp>
      <p:sp>
        <p:nvSpPr>
          <p:cNvPr id="7" name="object 7"/>
          <p:cNvSpPr txBox="1"/>
          <p:nvPr/>
        </p:nvSpPr>
        <p:spPr>
          <a:xfrm>
            <a:off x="10038245" y="6195312"/>
            <a:ext cx="102870" cy="197490"/>
          </a:xfrm>
          <a:prstGeom prst="rect">
            <a:avLst/>
          </a:prstGeom>
        </p:spPr>
        <p:txBody>
          <a:bodyPr vert="horz" wrap="square" lIns="0" tIns="12700" rIns="0" bIns="0" rtlCol="0">
            <a:spAutoFit/>
          </a:bodyPr>
          <a:lstStyle/>
          <a:p>
            <a:pPr marL="12700">
              <a:spcBef>
                <a:spcPts val="100"/>
              </a:spcBef>
            </a:pPr>
            <a:r>
              <a:rPr sz="1200" spc="-50" dirty="0">
                <a:solidFill>
                  <a:srgbClr val="FFFFFF"/>
                </a:solidFill>
                <a:latin typeface="Calibri"/>
                <a:cs typeface="Calibri"/>
              </a:rPr>
              <a:t>1</a:t>
            </a:r>
            <a:endParaRPr sz="1200">
              <a:latin typeface="Calibri"/>
              <a:cs typeface="Calibri"/>
            </a:endParaRPr>
          </a:p>
        </p:txBody>
      </p:sp>
      <p:sp>
        <p:nvSpPr>
          <p:cNvPr id="6" name="object 3">
            <a:extLst>
              <a:ext uri="{FF2B5EF4-FFF2-40B4-BE49-F238E27FC236}">
                <a16:creationId xmlns:a16="http://schemas.microsoft.com/office/drawing/2014/main" id="{9E363249-E6F3-9319-3532-431A26DB72F0}"/>
              </a:ext>
            </a:extLst>
          </p:cNvPr>
          <p:cNvSpPr txBox="1"/>
          <p:nvPr/>
        </p:nvSpPr>
        <p:spPr>
          <a:xfrm>
            <a:off x="5493948" y="6195312"/>
            <a:ext cx="4125595" cy="375744"/>
          </a:xfrm>
          <a:prstGeom prst="rect">
            <a:avLst/>
          </a:prstGeom>
        </p:spPr>
        <p:txBody>
          <a:bodyPr vert="horz" wrap="square" lIns="0" tIns="97790" rIns="0" bIns="0" rtlCol="0">
            <a:spAutoFit/>
          </a:bodyPr>
          <a:lstStyle/>
          <a:p>
            <a:pPr marL="12700">
              <a:spcBef>
                <a:spcPts val="439"/>
              </a:spcBef>
            </a:pPr>
            <a:r>
              <a:rPr lang="en-US" spc="-120" dirty="0">
                <a:solidFill>
                  <a:srgbClr val="888888"/>
                </a:solidFill>
                <a:latin typeface="Calibri"/>
                <a:cs typeface="Calibri"/>
              </a:rPr>
              <a:t>amir.yavariabdi@bth.se</a:t>
            </a:r>
            <a:endParaRPr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75C1-1794-5405-0B6E-952517360EF5}"/>
              </a:ext>
            </a:extLst>
          </p:cNvPr>
          <p:cNvSpPr>
            <a:spLocks noGrp="1"/>
          </p:cNvSpPr>
          <p:nvPr>
            <p:ph type="title"/>
          </p:nvPr>
        </p:nvSpPr>
        <p:spPr/>
        <p:txBody>
          <a:bodyPr/>
          <a:lstStyle/>
          <a:p>
            <a:r>
              <a:rPr lang="en-GB" b="1" dirty="0"/>
              <a:t>Outline:</a:t>
            </a:r>
          </a:p>
        </p:txBody>
      </p:sp>
      <p:sp>
        <p:nvSpPr>
          <p:cNvPr id="3" name="Content Placeholder 2">
            <a:extLst>
              <a:ext uri="{FF2B5EF4-FFF2-40B4-BE49-F238E27FC236}">
                <a16:creationId xmlns:a16="http://schemas.microsoft.com/office/drawing/2014/main" id="{23F826C2-6788-3302-BDA3-FBF3E2E0B500}"/>
              </a:ext>
            </a:extLst>
          </p:cNvPr>
          <p:cNvSpPr>
            <a:spLocks noGrp="1"/>
          </p:cNvSpPr>
          <p:nvPr>
            <p:ph idx="1"/>
          </p:nvPr>
        </p:nvSpPr>
        <p:spPr/>
        <p:txBody>
          <a:bodyPr>
            <a:normAutofit/>
          </a:bodyPr>
          <a:lstStyle/>
          <a:p>
            <a:pPr algn="just" fontAlgn="base"/>
            <a:r>
              <a:rPr lang="en-US" sz="2400" dirty="0">
                <a:solidFill>
                  <a:srgbClr val="000000"/>
                </a:solidFill>
                <a:highlight>
                  <a:srgbClr val="FFFFFF"/>
                </a:highlight>
                <a:latin typeface="Aptos" panose="020B0004020202020204" pitchFamily="34" charset="0"/>
              </a:rPr>
              <a:t>Strings and Multidimensional Strings</a:t>
            </a:r>
          </a:p>
          <a:p>
            <a:pPr algn="just" fontAlgn="base"/>
            <a:r>
              <a:rPr lang="en-US" sz="2400" dirty="0">
                <a:solidFill>
                  <a:srgbClr val="000000"/>
                </a:solidFill>
                <a:highlight>
                  <a:srgbClr val="FFFFFF"/>
                </a:highlight>
                <a:latin typeface="Aptos" panose="020B0004020202020204" pitchFamily="34" charset="0"/>
              </a:rPr>
              <a:t>Pointers and their role in C programming</a:t>
            </a:r>
          </a:p>
          <a:p>
            <a:pPr algn="just" fontAlgn="base"/>
            <a:r>
              <a:rPr lang="en-US" sz="2400" dirty="0">
                <a:solidFill>
                  <a:srgbClr val="000000"/>
                </a:solidFill>
                <a:highlight>
                  <a:srgbClr val="FFFFFF"/>
                </a:highlight>
                <a:latin typeface="Aptos" panose="020B0004020202020204" pitchFamily="34" charset="0"/>
              </a:rPr>
              <a:t>Dynamic Memory Allocation. </a:t>
            </a:r>
          </a:p>
          <a:p>
            <a:pPr algn="just" fontAlgn="base"/>
            <a:r>
              <a:rPr lang="en-US" sz="2400" dirty="0">
                <a:solidFill>
                  <a:srgbClr val="000000"/>
                </a:solidFill>
                <a:highlight>
                  <a:srgbClr val="FFFFFF"/>
                </a:highlight>
                <a:latin typeface="Aptos" panose="020B0004020202020204" pitchFamily="34" charset="0"/>
              </a:rPr>
              <a:t>Introduction to Structures in C.</a:t>
            </a:r>
            <a:endParaRPr lang="en-GB" sz="2400" dirty="0">
              <a:solidFill>
                <a:srgbClr val="000000"/>
              </a:solidFill>
              <a:highlight>
                <a:srgbClr val="FFFFFF"/>
              </a:highlight>
              <a:latin typeface="Aptos" panose="020B0004020202020204" pitchFamily="34" charset="0"/>
            </a:endParaRPr>
          </a:p>
        </p:txBody>
      </p:sp>
    </p:spTree>
    <p:extLst>
      <p:ext uri="{BB962C8B-B14F-4D97-AF65-F5344CB8AC3E}">
        <p14:creationId xmlns:p14="http://schemas.microsoft.com/office/powerpoint/2010/main" val="231257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String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2200" dirty="0">
                <a:latin typeface="Calibri" panose="020F0502020204030204" pitchFamily="34" charset="0"/>
                <a:cs typeface="Calibri" panose="020F0502020204030204" pitchFamily="34" charset="0"/>
              </a:rPr>
              <a:t>A string is a specific type of array: </a:t>
            </a:r>
          </a:p>
          <a:p>
            <a:pPr lvl="1"/>
            <a:r>
              <a:rPr lang="en-US" sz="2000" dirty="0">
                <a:latin typeface="Calibri" panose="020F0502020204030204" pitchFamily="34" charset="0"/>
                <a:cs typeface="Calibri" panose="020F0502020204030204" pitchFamily="34" charset="0"/>
              </a:rPr>
              <a:t>it is an array of char, containing a sequence of values where a value of ’\0’ signifies the end of the string. </a:t>
            </a:r>
          </a:p>
          <a:p>
            <a:r>
              <a:rPr lang="en-US" sz="2400" dirty="0">
                <a:latin typeface="Calibri" panose="020F0502020204030204" pitchFamily="34" charset="0"/>
                <a:cs typeface="Calibri" panose="020F0502020204030204" pitchFamily="34" charset="0"/>
              </a:rPr>
              <a:t>Although the array </a:t>
            </a:r>
            <a:r>
              <a:rPr lang="en-US" sz="2200" dirty="0">
                <a:latin typeface="Calibri" panose="020F0502020204030204" pitchFamily="34" charset="0"/>
                <a:cs typeface="Calibri" panose="020F0502020204030204" pitchFamily="34" charset="0"/>
              </a:rPr>
              <a:t>could be of any size, it is assumed that the valid data in the array</a:t>
            </a:r>
          </a:p>
          <a:p>
            <a:pPr lvl="1"/>
            <a:r>
              <a:rPr lang="en-US" sz="2000" dirty="0">
                <a:latin typeface="Calibri" panose="020F0502020204030204" pitchFamily="34" charset="0"/>
                <a:cs typeface="Calibri" panose="020F0502020204030204" pitchFamily="34" charset="0"/>
              </a:rPr>
              <a:t>starts at the first cell, and </a:t>
            </a:r>
          </a:p>
          <a:p>
            <a:pPr lvl="1"/>
            <a:r>
              <a:rPr lang="en-US" sz="2000" dirty="0">
                <a:latin typeface="Calibri" panose="020F0502020204030204" pitchFamily="34" charset="0"/>
                <a:cs typeface="Calibri" panose="020F0502020204030204" pitchFamily="34" charset="0"/>
              </a:rPr>
              <a:t>ends with the first cell having a value of ’\0’. </a:t>
            </a:r>
          </a:p>
          <a:p>
            <a:r>
              <a:rPr lang="en-US" sz="2200" dirty="0">
                <a:latin typeface="Calibri" panose="020F0502020204030204" pitchFamily="34" charset="0"/>
                <a:cs typeface="Calibri" panose="020F0502020204030204" pitchFamily="34" charset="0"/>
              </a:rPr>
              <a:t>For example:</a:t>
            </a:r>
          </a:p>
          <a:p>
            <a:pPr marL="0" indent="0" algn="l">
              <a:buNone/>
            </a:pPr>
            <a:endParaRPr lang="en-GB" sz="1500" dirty="0">
              <a:latin typeface="Calibri" panose="020F0502020204030204" pitchFamily="34" charset="0"/>
              <a:cs typeface="Calibri" panose="020F0502020204030204" pitchFamily="34" charset="0"/>
            </a:endParaRPr>
          </a:p>
          <a:p>
            <a:pPr marL="0" indent="0" algn="l">
              <a:buNone/>
            </a:pPr>
            <a:r>
              <a:rPr lang="en-GB" sz="1500" dirty="0">
                <a:solidFill>
                  <a:srgbClr val="0070C0"/>
                </a:solidFill>
                <a:latin typeface="Calibri" panose="020F0502020204030204" pitchFamily="34" charset="0"/>
                <a:cs typeface="Calibri" panose="020F0502020204030204" pitchFamily="34" charset="0"/>
              </a:rPr>
              <a:t>char d[8];</a:t>
            </a:r>
          </a:p>
          <a:p>
            <a:pPr marL="0" indent="0" algn="l">
              <a:buNone/>
            </a:pPr>
            <a:r>
              <a:rPr lang="en-GB" sz="1500" dirty="0">
                <a:solidFill>
                  <a:srgbClr val="0070C0"/>
                </a:solidFill>
                <a:latin typeface="Calibri" panose="020F0502020204030204" pitchFamily="34" charset="0"/>
                <a:cs typeface="Calibri" panose="020F0502020204030204" pitchFamily="34" charset="0"/>
              </a:rPr>
              <a:t>d[0]=’H’; d[1]=’e’; d[2]=’l’; d[3]=’l’; d[4]=’o’;</a:t>
            </a:r>
          </a:p>
          <a:p>
            <a:pPr marL="0" indent="0" algn="l">
              <a:buNone/>
            </a:pPr>
            <a:r>
              <a:rPr lang="en-US" sz="1500" dirty="0">
                <a:solidFill>
                  <a:srgbClr val="0070C0"/>
                </a:solidFill>
                <a:latin typeface="Calibri" panose="020F0502020204030204" pitchFamily="34" charset="0"/>
                <a:cs typeface="Calibri" panose="020F0502020204030204" pitchFamily="34" charset="0"/>
              </a:rPr>
              <a:t>d[5]=’\0’;      /* ’\0’ indicates the end of string */</a:t>
            </a:r>
          </a:p>
        </p:txBody>
      </p:sp>
      <p:pic>
        <p:nvPicPr>
          <p:cNvPr id="5" name="Picture 4">
            <a:extLst>
              <a:ext uri="{FF2B5EF4-FFF2-40B4-BE49-F238E27FC236}">
                <a16:creationId xmlns:a16="http://schemas.microsoft.com/office/drawing/2014/main" id="{2EA27A79-F60E-3B2D-BCFE-0DB2B35F62E4}"/>
              </a:ext>
            </a:extLst>
          </p:cNvPr>
          <p:cNvPicPr>
            <a:picLocks noChangeAspect="1"/>
          </p:cNvPicPr>
          <p:nvPr/>
        </p:nvPicPr>
        <p:blipFill>
          <a:blip r:embed="rId2"/>
          <a:stretch>
            <a:fillRect/>
          </a:stretch>
        </p:blipFill>
        <p:spPr>
          <a:xfrm>
            <a:off x="9445336" y="3833906"/>
            <a:ext cx="2343497" cy="2658969"/>
          </a:xfrm>
          <a:prstGeom prst="rect">
            <a:avLst/>
          </a:prstGeom>
        </p:spPr>
      </p:pic>
      <p:sp>
        <p:nvSpPr>
          <p:cNvPr id="7" name="TextBox 6">
            <a:extLst>
              <a:ext uri="{FF2B5EF4-FFF2-40B4-BE49-F238E27FC236}">
                <a16:creationId xmlns:a16="http://schemas.microsoft.com/office/drawing/2014/main" id="{44BE56DA-8CCB-E3FC-9660-7033FF20D19C}"/>
              </a:ext>
            </a:extLst>
          </p:cNvPr>
          <p:cNvSpPr txBox="1"/>
          <p:nvPr/>
        </p:nvSpPr>
        <p:spPr>
          <a:xfrm>
            <a:off x="5465618" y="4458365"/>
            <a:ext cx="3979718" cy="2169825"/>
          </a:xfrm>
          <a:prstGeom prst="rect">
            <a:avLst/>
          </a:prstGeom>
          <a:noFill/>
        </p:spPr>
        <p:txBody>
          <a:bodyPr wrap="square">
            <a:spAutoFit/>
          </a:bodyPr>
          <a:lstStyle/>
          <a:p>
            <a:pPr algn="just"/>
            <a:r>
              <a:rPr lang="en-US" sz="1500" b="0" i="0" u="none" strike="noStrike" baseline="0" dirty="0">
                <a:latin typeface="Calibri" panose="020F0502020204030204" pitchFamily="34" charset="0"/>
                <a:cs typeface="Calibri" panose="020F0502020204030204" pitchFamily="34" charset="0"/>
              </a:rPr>
              <a:t>Although the array has eight cells, only the first six are used. </a:t>
            </a:r>
          </a:p>
          <a:p>
            <a:pPr algn="just"/>
            <a:endParaRPr lang="en-US" sz="1500" dirty="0">
              <a:latin typeface="Calibri" panose="020F0502020204030204" pitchFamily="34" charset="0"/>
              <a:cs typeface="Calibri" panose="020F0502020204030204" pitchFamily="34" charset="0"/>
            </a:endParaRPr>
          </a:p>
          <a:p>
            <a:pPr algn="just"/>
            <a:r>
              <a:rPr lang="en-US" sz="1500" b="0" i="0" u="none" strike="noStrike" baseline="0" dirty="0">
                <a:latin typeface="Calibri" panose="020F0502020204030204" pitchFamily="34" charset="0"/>
                <a:cs typeface="Calibri" panose="020F0502020204030204" pitchFamily="34" charset="0"/>
              </a:rPr>
              <a:t>The cell containing</a:t>
            </a:r>
            <a:r>
              <a:rPr lang="en-US" sz="1500" dirty="0">
                <a:latin typeface="Calibri" panose="020F0502020204030204" pitchFamily="34" charset="0"/>
                <a:cs typeface="Calibri" panose="020F0502020204030204" pitchFamily="34" charset="0"/>
              </a:rPr>
              <a:t> </a:t>
            </a:r>
            <a:r>
              <a:rPr lang="en-US" sz="1500" b="0" i="0" u="none" strike="noStrike" baseline="0" dirty="0">
                <a:latin typeface="Calibri" panose="020F0502020204030204" pitchFamily="34" charset="0"/>
                <a:cs typeface="Calibri" panose="020F0502020204030204" pitchFamily="34" charset="0"/>
              </a:rPr>
              <a:t>the ’\0’ character is not seen during either printing or the scanning of input.</a:t>
            </a:r>
          </a:p>
          <a:p>
            <a:pPr algn="just"/>
            <a:endParaRPr lang="en-US" sz="1500" dirty="0">
              <a:latin typeface="Calibri" panose="020F0502020204030204" pitchFamily="34" charset="0"/>
              <a:cs typeface="Calibri" panose="020F0502020204030204" pitchFamily="34" charset="0"/>
            </a:endParaRPr>
          </a:p>
          <a:p>
            <a:pPr algn="just"/>
            <a:r>
              <a:rPr lang="en-US" sz="1500" b="0" i="0" u="none" strike="noStrike" baseline="0" dirty="0">
                <a:latin typeface="Calibri" panose="020F0502020204030204" pitchFamily="34" charset="0"/>
                <a:cs typeface="Calibri" panose="020F0502020204030204" pitchFamily="34" charset="0"/>
              </a:rPr>
              <a:t>The slash-symbol pair within the single quotes is called an escape sequence and is used to represent the nonprintable character.</a:t>
            </a:r>
          </a:p>
        </p:txBody>
      </p:sp>
    </p:spTree>
    <p:extLst>
      <p:ext uri="{BB962C8B-B14F-4D97-AF65-F5344CB8AC3E}">
        <p14:creationId xmlns:p14="http://schemas.microsoft.com/office/powerpoint/2010/main" val="2389979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String: </a:t>
            </a:r>
            <a:r>
              <a:rPr lang="en-GB" b="1" dirty="0" err="1"/>
              <a:t>printf</a:t>
            </a:r>
            <a:r>
              <a:rPr lang="en-GB" b="1" dirty="0"/>
              <a:t> and </a:t>
            </a:r>
            <a:r>
              <a:rPr lang="en-GB" b="1" dirty="0" err="1"/>
              <a:t>scanf</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fontScale="85000" lnSpcReduction="20000"/>
          </a:bodyPr>
          <a:lstStyle/>
          <a:p>
            <a:pPr algn="l"/>
            <a:r>
              <a:rPr lang="en-US" sz="2400" b="0" i="0" u="none" strike="noStrike" baseline="0" dirty="0">
                <a:latin typeface="Calibri" panose="020F0502020204030204" pitchFamily="34" charset="0"/>
                <a:cs typeface="Calibri" panose="020F0502020204030204" pitchFamily="34" charset="0"/>
              </a:rPr>
              <a:t>The basic functions for reading string input from the keyboard and for writing string output to the screen are </a:t>
            </a:r>
            <a:r>
              <a:rPr lang="en-US" sz="2400" b="0" i="0" u="none" strike="noStrike" baseline="0" dirty="0" err="1">
                <a:latin typeface="Calibri" panose="020F0502020204030204" pitchFamily="34" charset="0"/>
                <a:cs typeface="Calibri" panose="020F0502020204030204" pitchFamily="34" charset="0"/>
              </a:rPr>
              <a:t>scanf</a:t>
            </a:r>
            <a:r>
              <a:rPr lang="en-US" sz="2400" b="0" i="0" u="none" strike="noStrike" baseline="0" dirty="0">
                <a:latin typeface="Calibri" panose="020F0502020204030204" pitchFamily="34" charset="0"/>
                <a:cs typeface="Calibri" panose="020F0502020204030204" pitchFamily="34" charset="0"/>
              </a:rPr>
              <a:t>() and </a:t>
            </a:r>
            <a:r>
              <a:rPr lang="en-US" sz="2400" b="0" i="0" u="none" strike="noStrike" baseline="0" dirty="0" err="1">
                <a:latin typeface="Calibri" panose="020F0502020204030204" pitchFamily="34" charset="0"/>
                <a:cs typeface="Calibri" panose="020F0502020204030204" pitchFamily="34" charset="0"/>
              </a:rPr>
              <a:t>printf</a:t>
            </a:r>
            <a:r>
              <a:rPr lang="en-US" sz="2400" b="0" i="0" u="none" strike="noStrike" baseline="0" dirty="0">
                <a:latin typeface="Calibri" panose="020F0502020204030204" pitchFamily="34" charset="0"/>
                <a:cs typeface="Calibri" panose="020F0502020204030204" pitchFamily="34" charset="0"/>
              </a:rPr>
              <a:t>(), respectively. </a:t>
            </a:r>
          </a:p>
          <a:p>
            <a:pPr marL="0" indent="0" algn="l">
              <a:buNone/>
            </a:pPr>
            <a:endParaRPr lang="en-US" sz="2400" dirty="0">
              <a:latin typeface="Calibri" panose="020F0502020204030204" pitchFamily="34" charset="0"/>
              <a:cs typeface="Calibri" panose="020F0502020204030204" pitchFamily="34" charset="0"/>
            </a:endParaRPr>
          </a:p>
          <a:p>
            <a:pPr algn="l"/>
            <a:r>
              <a:rPr lang="en-US" sz="2400" b="0" i="0" u="none" strike="noStrike" baseline="0" dirty="0">
                <a:latin typeface="Calibri" panose="020F0502020204030204" pitchFamily="34" charset="0"/>
                <a:cs typeface="Calibri" panose="020F0502020204030204" pitchFamily="34" charset="0"/>
              </a:rPr>
              <a:t>Just as each basic data type has its own % identifier (char uses %c, int uses %</a:t>
            </a:r>
            <a:r>
              <a:rPr lang="en-US" sz="2400" b="0" i="0" u="none" strike="noStrike" baseline="0" dirty="0" err="1">
                <a:latin typeface="Calibri" panose="020F0502020204030204" pitchFamily="34" charset="0"/>
                <a:cs typeface="Calibri" panose="020F0502020204030204" pitchFamily="34" charset="0"/>
              </a:rPr>
              <a:t>i</a:t>
            </a:r>
            <a:r>
              <a:rPr lang="en-US" sz="2400" b="0" i="0" u="none" strike="noStrike" baseline="0" dirty="0">
                <a:latin typeface="Calibri" panose="020F0502020204030204" pitchFamily="34" charset="0"/>
                <a:cs typeface="Calibri" panose="020F0502020204030204" pitchFamily="34" charset="0"/>
              </a:rPr>
              <a:t> or %d, float uses %f, double uses %</a:t>
            </a:r>
            <a:r>
              <a:rPr lang="en-US" sz="2400" b="0" i="0" u="none" strike="noStrike" baseline="0" dirty="0" err="1">
                <a:latin typeface="Calibri" panose="020F0502020204030204" pitchFamily="34" charset="0"/>
                <a:cs typeface="Calibri" panose="020F0502020204030204" pitchFamily="34" charset="0"/>
              </a:rPr>
              <a:t>lf</a:t>
            </a:r>
            <a:r>
              <a:rPr lang="en-US" sz="2400" b="0" i="0" u="none" strike="noStrike" baseline="0" dirty="0">
                <a:latin typeface="Calibri" panose="020F0502020204030204" pitchFamily="34" charset="0"/>
                <a:cs typeface="Calibri" panose="020F0502020204030204" pitchFamily="34" charset="0"/>
              </a:rPr>
              <a:t>), a string uses %s. </a:t>
            </a:r>
          </a:p>
          <a:p>
            <a:pPr marL="0" indent="0" algn="l">
              <a:buNone/>
            </a:pPr>
            <a:r>
              <a:rPr lang="en-GB" sz="1800" b="1" i="0" u="none" strike="noStrike" baseline="0" dirty="0" err="1">
                <a:solidFill>
                  <a:srgbClr val="0070C0"/>
                </a:solidFill>
                <a:latin typeface="Calibri" panose="020F0502020204030204" pitchFamily="34" charset="0"/>
                <a:cs typeface="Calibri" panose="020F0502020204030204" pitchFamily="34" charset="0"/>
              </a:rPr>
              <a:t>printf</a:t>
            </a:r>
            <a:r>
              <a:rPr lang="en-GB" sz="1800" b="1" i="0" u="none" strike="noStrike" baseline="0" dirty="0">
                <a:solidFill>
                  <a:srgbClr val="0070C0"/>
                </a:solidFill>
                <a:latin typeface="Calibri" panose="020F0502020204030204" pitchFamily="34" charset="0"/>
                <a:cs typeface="Calibri" panose="020F0502020204030204" pitchFamily="34" charset="0"/>
              </a:rPr>
              <a:t>("%s\</a:t>
            </a:r>
            <a:r>
              <a:rPr lang="en-GB" sz="1800" b="1" i="0" u="none" strike="noStrike" baseline="0" dirty="0" err="1">
                <a:solidFill>
                  <a:srgbClr val="0070C0"/>
                </a:solidFill>
                <a:latin typeface="Calibri" panose="020F0502020204030204" pitchFamily="34" charset="0"/>
                <a:cs typeface="Calibri" panose="020F0502020204030204" pitchFamily="34" charset="0"/>
              </a:rPr>
              <a:t>n",d</a:t>
            </a:r>
            <a:r>
              <a:rPr lang="en-GB" sz="1800" b="1" i="0" u="none" strike="noStrike" baseline="0" dirty="0">
                <a:solidFill>
                  <a:srgbClr val="0070C0"/>
                </a:solidFill>
                <a:latin typeface="Calibri" panose="020F0502020204030204" pitchFamily="34" charset="0"/>
                <a:cs typeface="Calibri" panose="020F0502020204030204" pitchFamily="34" charset="0"/>
              </a:rPr>
              <a:t>);</a:t>
            </a:r>
            <a:endParaRPr lang="en-US" sz="1800" b="1" dirty="0">
              <a:solidFill>
                <a:srgbClr val="0070C0"/>
              </a:solidFill>
              <a:latin typeface="Calibri" panose="020F0502020204030204" pitchFamily="34" charset="0"/>
              <a:cs typeface="Calibri" panose="020F0502020204030204" pitchFamily="34" charset="0"/>
            </a:endParaRPr>
          </a:p>
          <a:p>
            <a:pPr algn="l"/>
            <a:endParaRPr lang="en-US" sz="2400" b="0" i="0" u="none" strike="noStrike" baseline="0" dirty="0">
              <a:latin typeface="Calibri" panose="020F0502020204030204" pitchFamily="34" charset="0"/>
              <a:cs typeface="Calibri" panose="020F0502020204030204" pitchFamily="34" charset="0"/>
            </a:endParaRPr>
          </a:p>
          <a:p>
            <a:pPr algn="l"/>
            <a:r>
              <a:rPr lang="en-US" sz="2400" b="0" i="0" u="none" strike="noStrike" baseline="0" dirty="0">
                <a:latin typeface="Calibri" panose="020F0502020204030204" pitchFamily="34" charset="0"/>
                <a:cs typeface="Calibri" panose="020F0502020204030204" pitchFamily="34" charset="0"/>
              </a:rPr>
              <a:t>When reading input using the </a:t>
            </a:r>
            <a:r>
              <a:rPr lang="en-US" sz="2400" b="0" i="0" u="none" strike="noStrike" baseline="0" dirty="0" err="1">
                <a:latin typeface="Calibri" panose="020F0502020204030204" pitchFamily="34" charset="0"/>
                <a:cs typeface="Calibri" panose="020F0502020204030204" pitchFamily="34" charset="0"/>
              </a:rPr>
              <a:t>scanf</a:t>
            </a:r>
            <a:r>
              <a:rPr lang="en-US" sz="2400" b="0" i="0" u="none" strike="noStrike" baseline="0" dirty="0">
                <a:latin typeface="Calibri" panose="020F0502020204030204" pitchFamily="34" charset="0"/>
                <a:cs typeface="Calibri" panose="020F0502020204030204" pitchFamily="34" charset="0"/>
              </a:rPr>
              <a:t>() function, the </a:t>
            </a:r>
            <a:r>
              <a:rPr lang="en-US" sz="2400" b="1" i="0" u="none" strike="noStrike" baseline="0" dirty="0">
                <a:latin typeface="Calibri" panose="020F0502020204030204" pitchFamily="34" charset="0"/>
                <a:cs typeface="Calibri" panose="020F0502020204030204" pitchFamily="34" charset="0"/>
              </a:rPr>
              <a:t>&amp;</a:t>
            </a:r>
            <a:r>
              <a:rPr lang="en-US" sz="2400" b="0" i="0" u="none" strike="noStrike" baseline="0" dirty="0">
                <a:latin typeface="Calibri" panose="020F0502020204030204" pitchFamily="34" charset="0"/>
                <a:cs typeface="Calibri" panose="020F0502020204030204" pitchFamily="34" charset="0"/>
              </a:rPr>
              <a:t> symbol is required in front of the variable name for the basic data types (char, int, float, and double). However, it is </a:t>
            </a:r>
            <a:r>
              <a:rPr lang="en-US" sz="2400" b="1" i="0" u="none" strike="noStrike" baseline="0" dirty="0">
                <a:latin typeface="Calibri" panose="020F0502020204030204" pitchFamily="34" charset="0"/>
                <a:cs typeface="Calibri" panose="020F0502020204030204" pitchFamily="34" charset="0"/>
              </a:rPr>
              <a:t>not required </a:t>
            </a:r>
            <a:r>
              <a:rPr lang="en-US" sz="2400" b="0" i="0" u="none" strike="noStrike" baseline="0" dirty="0">
                <a:latin typeface="Calibri" panose="020F0502020204030204" pitchFamily="34" charset="0"/>
                <a:cs typeface="Calibri" panose="020F0502020204030204" pitchFamily="34" charset="0"/>
              </a:rPr>
              <a:t>for a string.</a:t>
            </a:r>
          </a:p>
          <a:p>
            <a:pPr marL="0" indent="0" algn="l">
              <a:buNone/>
            </a:pPr>
            <a:r>
              <a:rPr lang="en-GB" sz="1600" b="0" i="0" u="none" strike="noStrike" baseline="0" dirty="0">
                <a:solidFill>
                  <a:srgbClr val="0070C0"/>
                </a:solidFill>
                <a:latin typeface="Calibri" panose="020F0502020204030204" pitchFamily="34" charset="0"/>
                <a:cs typeface="Calibri" panose="020F0502020204030204" pitchFamily="34" charset="0"/>
              </a:rPr>
              <a:t>int x;</a:t>
            </a:r>
          </a:p>
          <a:p>
            <a:pPr marL="0" indent="0" algn="l">
              <a:buNone/>
            </a:pPr>
            <a:r>
              <a:rPr lang="en-GB" sz="1600" b="0" i="0" u="none" strike="noStrike" baseline="0" dirty="0">
                <a:solidFill>
                  <a:srgbClr val="0070C0"/>
                </a:solidFill>
                <a:latin typeface="Calibri" panose="020F0502020204030204" pitchFamily="34" charset="0"/>
                <a:cs typeface="Calibri" panose="020F0502020204030204" pitchFamily="34" charset="0"/>
              </a:rPr>
              <a:t>float f;</a:t>
            </a:r>
          </a:p>
          <a:p>
            <a:pPr marL="0" indent="0" algn="l">
              <a:buNone/>
            </a:pPr>
            <a:r>
              <a:rPr lang="en-GB" sz="1600" b="0" i="0" u="none" strike="noStrike" baseline="0" dirty="0">
                <a:solidFill>
                  <a:srgbClr val="0070C0"/>
                </a:solidFill>
                <a:latin typeface="Calibri" panose="020F0502020204030204" pitchFamily="34" charset="0"/>
                <a:cs typeface="Calibri" panose="020F0502020204030204" pitchFamily="34" charset="0"/>
              </a:rPr>
              <a:t>char s[6];</a:t>
            </a:r>
          </a:p>
          <a:p>
            <a:pPr marL="0" indent="0" algn="l">
              <a:buNone/>
            </a:pPr>
            <a:r>
              <a:rPr lang="en-GB" sz="1600" b="0" i="0" u="none" strike="noStrike" baseline="0" dirty="0" err="1">
                <a:solidFill>
                  <a:srgbClr val="0070C0"/>
                </a:solidFill>
                <a:latin typeface="Calibri" panose="020F0502020204030204" pitchFamily="34" charset="0"/>
                <a:cs typeface="Calibri" panose="020F0502020204030204" pitchFamily="34" charset="0"/>
              </a:rPr>
              <a:t>scanf</a:t>
            </a:r>
            <a:r>
              <a:rPr lang="en-GB" sz="1600" b="0" i="0" u="none" strike="noStrike" baseline="0" dirty="0">
                <a:solidFill>
                  <a:srgbClr val="0070C0"/>
                </a:solidFill>
                <a:latin typeface="Calibri" panose="020F0502020204030204" pitchFamily="34" charset="0"/>
                <a:cs typeface="Calibri" panose="020F0502020204030204" pitchFamily="34" charset="0"/>
              </a:rPr>
              <a:t>("%</a:t>
            </a:r>
            <a:r>
              <a:rPr lang="en-GB" sz="1600" b="0" i="0" u="none" strike="noStrike" baseline="0" dirty="0" err="1">
                <a:solidFill>
                  <a:srgbClr val="0070C0"/>
                </a:solidFill>
                <a:latin typeface="Calibri" panose="020F0502020204030204" pitchFamily="34" charset="0"/>
                <a:cs typeface="Calibri" panose="020F0502020204030204" pitchFamily="34" charset="0"/>
              </a:rPr>
              <a:t>d",&amp;x</a:t>
            </a:r>
            <a:r>
              <a:rPr lang="en-GB" sz="1600" b="0" i="0" u="none" strike="noStrike" baseline="0" dirty="0">
                <a:solidFill>
                  <a:srgbClr val="0070C0"/>
                </a:solidFill>
                <a:latin typeface="Calibri" panose="020F0502020204030204" pitchFamily="34" charset="0"/>
                <a:cs typeface="Calibri" panose="020F0502020204030204" pitchFamily="34" charset="0"/>
              </a:rPr>
              <a:t>);</a:t>
            </a:r>
          </a:p>
          <a:p>
            <a:pPr marL="0" indent="0" algn="l">
              <a:buNone/>
            </a:pPr>
            <a:r>
              <a:rPr lang="en-GB" sz="1600" b="0" i="0" u="none" strike="noStrike" baseline="0" dirty="0" err="1">
                <a:solidFill>
                  <a:srgbClr val="0070C0"/>
                </a:solidFill>
                <a:latin typeface="Calibri" panose="020F0502020204030204" pitchFamily="34" charset="0"/>
                <a:cs typeface="Calibri" panose="020F0502020204030204" pitchFamily="34" charset="0"/>
              </a:rPr>
              <a:t>scanf</a:t>
            </a:r>
            <a:r>
              <a:rPr lang="en-GB" sz="1600" b="0" i="0" u="none" strike="noStrike" baseline="0" dirty="0">
                <a:solidFill>
                  <a:srgbClr val="0070C0"/>
                </a:solidFill>
                <a:latin typeface="Calibri" panose="020F0502020204030204" pitchFamily="34" charset="0"/>
                <a:cs typeface="Calibri" panose="020F0502020204030204" pitchFamily="34" charset="0"/>
              </a:rPr>
              <a:t>("%</a:t>
            </a:r>
            <a:r>
              <a:rPr lang="en-GB" sz="1600" b="0" i="0" u="none" strike="noStrike" baseline="0" dirty="0" err="1">
                <a:solidFill>
                  <a:srgbClr val="0070C0"/>
                </a:solidFill>
                <a:latin typeface="Calibri" panose="020F0502020204030204" pitchFamily="34" charset="0"/>
                <a:cs typeface="Calibri" panose="020F0502020204030204" pitchFamily="34" charset="0"/>
              </a:rPr>
              <a:t>f",&amp;f</a:t>
            </a:r>
            <a:r>
              <a:rPr lang="en-GB" sz="1600" b="0" i="0" u="none" strike="noStrike" baseline="0" dirty="0">
                <a:solidFill>
                  <a:srgbClr val="0070C0"/>
                </a:solidFill>
                <a:latin typeface="Calibri" panose="020F0502020204030204" pitchFamily="34" charset="0"/>
                <a:cs typeface="Calibri" panose="020F0502020204030204" pitchFamily="34" charset="0"/>
              </a:rPr>
              <a:t>);</a:t>
            </a:r>
          </a:p>
          <a:p>
            <a:pPr marL="0" indent="0" algn="l">
              <a:buNone/>
            </a:pPr>
            <a:r>
              <a:rPr lang="en-GB" sz="1600" b="1" i="0" u="none" strike="noStrike" baseline="0" dirty="0" err="1">
                <a:solidFill>
                  <a:srgbClr val="0070C0"/>
                </a:solidFill>
                <a:latin typeface="Calibri" panose="020F0502020204030204" pitchFamily="34" charset="0"/>
                <a:cs typeface="Calibri" panose="020F0502020204030204" pitchFamily="34" charset="0"/>
              </a:rPr>
              <a:t>scanf</a:t>
            </a:r>
            <a:r>
              <a:rPr lang="en-GB" sz="1600" b="1" i="0" u="none" strike="noStrike" baseline="0" dirty="0">
                <a:solidFill>
                  <a:srgbClr val="0070C0"/>
                </a:solidFill>
                <a:latin typeface="Calibri" panose="020F0502020204030204" pitchFamily="34" charset="0"/>
                <a:cs typeface="Calibri" panose="020F0502020204030204" pitchFamily="34" charset="0"/>
              </a:rPr>
              <a:t>("%</a:t>
            </a:r>
            <a:r>
              <a:rPr lang="en-GB" sz="1600" b="1" i="0" u="none" strike="noStrike" baseline="0" dirty="0" err="1">
                <a:solidFill>
                  <a:srgbClr val="0070C0"/>
                </a:solidFill>
                <a:latin typeface="Calibri" panose="020F0502020204030204" pitchFamily="34" charset="0"/>
                <a:cs typeface="Calibri" panose="020F0502020204030204" pitchFamily="34" charset="0"/>
              </a:rPr>
              <a:t>s",s</a:t>
            </a:r>
            <a:r>
              <a:rPr lang="en-GB" sz="1600" b="1" i="0" u="none" strike="noStrike" baseline="0" dirty="0">
                <a:solidFill>
                  <a:srgbClr val="0070C0"/>
                </a:solidFill>
                <a:latin typeface="Calibri" panose="020F0502020204030204" pitchFamily="34" charset="0"/>
                <a:cs typeface="Calibri" panose="020F0502020204030204" pitchFamily="34" charset="0"/>
              </a:rPr>
              <a:t>);</a:t>
            </a:r>
            <a:endParaRPr lang="en-US" sz="1600" b="1" i="0" u="none" strike="noStrike" baseline="0" dirty="0">
              <a:solidFill>
                <a:srgbClr val="0070C0"/>
              </a:solidFill>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5518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1: String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2200" b="0" i="0" u="none" strike="noStrike" baseline="0" dirty="0">
                <a:latin typeface="Calibri" panose="020F0502020204030204" pitchFamily="34" charset="0"/>
                <a:cs typeface="Calibri" panose="020F0502020204030204" pitchFamily="34" charset="0"/>
              </a:rPr>
              <a:t>Write code to split an input string (variable “name”) into two output strings (variables “first” and “last”). </a:t>
            </a:r>
          </a:p>
          <a:p>
            <a:pPr algn="l"/>
            <a:r>
              <a:rPr lang="en-US" sz="2200" b="0" i="0" u="none" strike="noStrike" baseline="0" dirty="0">
                <a:latin typeface="Calibri" panose="020F0502020204030204" pitchFamily="34" charset="0"/>
                <a:cs typeface="Calibri" panose="020F0502020204030204" pitchFamily="34" charset="0"/>
              </a:rPr>
              <a:t>Assume that the user provides input containing only the characters a through z and A through Z. Assume there are exactly two capital letters in the input, one at the beginning of the first name, and one at the beginning of the last name. </a:t>
            </a:r>
          </a:p>
          <a:p>
            <a:pPr algn="l"/>
            <a:r>
              <a:rPr lang="en-US" sz="2200" b="0" i="0" u="none" strike="noStrike" baseline="0" dirty="0">
                <a:latin typeface="Calibri" panose="020F0502020204030204" pitchFamily="34" charset="0"/>
                <a:cs typeface="Calibri" panose="020F0502020204030204" pitchFamily="34" charset="0"/>
              </a:rPr>
              <a:t>For example, given the input “</a:t>
            </a:r>
            <a:r>
              <a:rPr lang="en-US" sz="2200" b="0" i="0" u="none" strike="noStrike" baseline="0" dirty="0" err="1">
                <a:latin typeface="Calibri" panose="020F0502020204030204" pitchFamily="34" charset="0"/>
                <a:cs typeface="Calibri" panose="020F0502020204030204" pitchFamily="34" charset="0"/>
              </a:rPr>
              <a:t>JoeSmith</a:t>
            </a:r>
            <a:r>
              <a:rPr lang="en-US" sz="2200" b="0" i="0" u="none" strike="noStrike" baseline="0" dirty="0">
                <a:latin typeface="Calibri" panose="020F0502020204030204" pitchFamily="34" charset="0"/>
                <a:cs typeface="Calibri" panose="020F0502020204030204" pitchFamily="34" charset="0"/>
              </a:rPr>
              <a:t>”, your code should split it into “Joe” and “Smith”. Your code should use the following lines:</a:t>
            </a:r>
          </a:p>
          <a:p>
            <a:pPr marL="0" indent="0" algn="l">
              <a:buNone/>
            </a:pPr>
            <a:r>
              <a:rPr lang="en-US" sz="1500" b="0" i="0" u="none" strike="noStrike" baseline="0" dirty="0">
                <a:solidFill>
                  <a:srgbClr val="0070C0"/>
                </a:solidFill>
                <a:latin typeface="Calibri" panose="020F0502020204030204" pitchFamily="34" charset="0"/>
                <a:cs typeface="Calibri" panose="020F0502020204030204" pitchFamily="34" charset="0"/>
              </a:rPr>
              <a:t>char name[50],first[25],last[25];</a:t>
            </a:r>
          </a:p>
          <a:p>
            <a:pPr marL="0" indent="0" algn="l">
              <a:buNone/>
            </a:pPr>
            <a:r>
              <a:rPr lang="en-US" sz="1500" b="0" i="0" u="none" strike="noStrike" baseline="0" dirty="0" err="1">
                <a:solidFill>
                  <a:srgbClr val="0070C0"/>
                </a:solidFill>
                <a:latin typeface="Calibri" panose="020F0502020204030204" pitchFamily="34" charset="0"/>
                <a:cs typeface="Calibri" panose="020F0502020204030204" pitchFamily="34" charset="0"/>
              </a:rPr>
              <a:t>printf</a:t>
            </a:r>
            <a:r>
              <a:rPr lang="en-US" sz="1500" b="0" i="0" u="none" strike="noStrike" baseline="0" dirty="0">
                <a:solidFill>
                  <a:srgbClr val="0070C0"/>
                </a:solidFill>
                <a:latin typeface="Calibri" panose="020F0502020204030204" pitchFamily="34" charset="0"/>
                <a:cs typeface="Calibri" panose="020F0502020204030204" pitchFamily="34" charset="0"/>
              </a:rPr>
              <a:t>("What is your name? ");</a:t>
            </a:r>
          </a:p>
          <a:p>
            <a:pPr marL="0" indent="0" algn="l">
              <a:buNone/>
            </a:pPr>
            <a:r>
              <a:rPr lang="en-US" sz="1500" b="0" i="0" u="none" strike="noStrike" baseline="0" dirty="0" err="1">
                <a:solidFill>
                  <a:srgbClr val="0070C0"/>
                </a:solidFill>
                <a:latin typeface="Calibri" panose="020F0502020204030204" pitchFamily="34" charset="0"/>
                <a:cs typeface="Calibri" panose="020F0502020204030204" pitchFamily="34" charset="0"/>
              </a:rPr>
              <a:t>scanf</a:t>
            </a:r>
            <a:r>
              <a:rPr lang="en-US" sz="1500" b="0" i="0" u="none" strike="noStrike" baseline="0" dirty="0">
                <a:solidFill>
                  <a:srgbClr val="0070C0"/>
                </a:solidFill>
                <a:latin typeface="Calibri" panose="020F0502020204030204" pitchFamily="34" charset="0"/>
                <a:cs typeface="Calibri" panose="020F0502020204030204" pitchFamily="34" charset="0"/>
              </a:rPr>
              <a:t>("%</a:t>
            </a:r>
            <a:r>
              <a:rPr lang="en-US" sz="1500" b="0" i="0" u="none" strike="noStrike" baseline="0" dirty="0" err="1">
                <a:solidFill>
                  <a:srgbClr val="0070C0"/>
                </a:solidFill>
                <a:latin typeface="Calibri" panose="020F0502020204030204" pitchFamily="34" charset="0"/>
                <a:cs typeface="Calibri" panose="020F0502020204030204" pitchFamily="34" charset="0"/>
              </a:rPr>
              <a:t>s",name</a:t>
            </a:r>
            <a:r>
              <a:rPr lang="en-US" sz="1500" b="0" i="0" u="none" strike="noStrike" baseline="0" dirty="0">
                <a:solidFill>
                  <a:srgbClr val="0070C0"/>
                </a:solidFill>
                <a:latin typeface="Calibri" panose="020F0502020204030204" pitchFamily="34" charset="0"/>
                <a:cs typeface="Calibri" panose="020F0502020204030204" pitchFamily="34" charset="0"/>
              </a:rPr>
              <a:t>);</a:t>
            </a:r>
          </a:p>
          <a:p>
            <a:pPr marL="0" indent="0" algn="l">
              <a:buNone/>
            </a:pPr>
            <a:endParaRPr lang="en-US" sz="2400" dirty="0">
              <a:latin typeface="Calibri" panose="020F0502020204030204" pitchFamily="34" charset="0"/>
              <a:cs typeface="Calibri" panose="020F0502020204030204" pitchFamily="34" charset="0"/>
            </a:endParaRPr>
          </a:p>
          <a:p>
            <a:pPr marL="0" indent="0" algn="l">
              <a:buNone/>
            </a:pPr>
            <a:endParaRPr lang="en-US" sz="2400" b="0" i="0" u="none" strike="noStrike" baseline="0" dirty="0">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182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 String</a:t>
            </a:r>
          </a:p>
        </p:txBody>
      </p:sp>
      <p:pic>
        <p:nvPicPr>
          <p:cNvPr id="9" name="Picture 8" descr="A screenshot of a computer&#10;&#10;Description automatically generated">
            <a:extLst>
              <a:ext uri="{FF2B5EF4-FFF2-40B4-BE49-F238E27FC236}">
                <a16:creationId xmlns:a16="http://schemas.microsoft.com/office/drawing/2014/main" id="{9824188A-EE6D-A535-EA39-C7D551B0A69C}"/>
              </a:ext>
            </a:extLst>
          </p:cNvPr>
          <p:cNvPicPr>
            <a:picLocks noChangeAspect="1"/>
          </p:cNvPicPr>
          <p:nvPr/>
        </p:nvPicPr>
        <p:blipFill rotWithShape="1">
          <a:blip r:embed="rId2">
            <a:extLst>
              <a:ext uri="{28A0092B-C50C-407E-A947-70E740481C1C}">
                <a14:useLocalDpi xmlns:a14="http://schemas.microsoft.com/office/drawing/2010/main" val="0"/>
              </a:ext>
            </a:extLst>
          </a:blip>
          <a:srcRect l="5442" t="7936" r="27488" b="24127"/>
          <a:stretch/>
        </p:blipFill>
        <p:spPr>
          <a:xfrm>
            <a:off x="6270171" y="914400"/>
            <a:ext cx="5758545" cy="5705223"/>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D484D550-1E61-2740-32E5-46F16EAA861B}"/>
              </a:ext>
            </a:extLst>
          </p:cNvPr>
          <p:cNvPicPr>
            <a:picLocks noChangeAspect="1"/>
          </p:cNvPicPr>
          <p:nvPr/>
        </p:nvPicPr>
        <p:blipFill rotWithShape="1">
          <a:blip r:embed="rId3">
            <a:extLst>
              <a:ext uri="{28A0092B-C50C-407E-A947-70E740481C1C}">
                <a14:useLocalDpi xmlns:a14="http://schemas.microsoft.com/office/drawing/2010/main" val="0"/>
              </a:ext>
            </a:extLst>
          </a:blip>
          <a:srcRect l="2755" t="3486" r="27433" b="59993"/>
          <a:stretch/>
        </p:blipFill>
        <p:spPr>
          <a:xfrm>
            <a:off x="163284" y="4136571"/>
            <a:ext cx="5758546" cy="2188029"/>
          </a:xfrm>
          <a:prstGeom prst="rect">
            <a:avLst/>
          </a:prstGeom>
        </p:spPr>
      </p:pic>
    </p:spTree>
    <p:extLst>
      <p:ext uri="{BB962C8B-B14F-4D97-AF65-F5344CB8AC3E}">
        <p14:creationId xmlns:p14="http://schemas.microsoft.com/office/powerpoint/2010/main" val="333220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#include &lt;</a:t>
            </a:r>
            <a:r>
              <a:rPr lang="en-US" sz="2200" b="1" dirty="0" err="1">
                <a:latin typeface="Calibri" panose="020F0502020204030204" pitchFamily="34" charset="0"/>
                <a:cs typeface="Calibri" panose="020F0502020204030204" pitchFamily="34" charset="0"/>
              </a:rPr>
              <a:t>stdio.h</a:t>
            </a:r>
            <a:r>
              <a:rPr lang="en-US" sz="2200" b="1" dirty="0">
                <a:latin typeface="Calibri" panose="020F0502020204030204" pitchFamily="34" charset="0"/>
                <a:cs typeface="Calibri" panose="020F0502020204030204" pitchFamily="34" charset="0"/>
              </a:rPr>
              <a:t>&gt;: </a:t>
            </a:r>
            <a:r>
              <a:rPr lang="en-US" sz="2200" dirty="0">
                <a:latin typeface="Calibri" panose="020F0502020204030204" pitchFamily="34" charset="0"/>
                <a:cs typeface="Calibri" panose="020F0502020204030204" pitchFamily="34" charset="0"/>
              </a:rPr>
              <a:t>This includes the standard input/output library, which allows us to use functions like </a:t>
            </a:r>
            <a:r>
              <a:rPr lang="en-US" sz="2200" dirty="0" err="1">
                <a:latin typeface="Calibri" panose="020F0502020204030204" pitchFamily="34" charset="0"/>
                <a:cs typeface="Calibri" panose="020F0502020204030204" pitchFamily="34" charset="0"/>
              </a:rPr>
              <a:t>printf</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scanf</a:t>
            </a:r>
            <a:r>
              <a:rPr lang="en-US" sz="2200" dirty="0">
                <a:latin typeface="Calibri" panose="020F0502020204030204" pitchFamily="34" charset="0"/>
                <a:cs typeface="Calibri" panose="020F0502020204030204" pitchFamily="34" charset="0"/>
              </a:rPr>
              <a:t>. </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#include &lt;</a:t>
            </a:r>
            <a:r>
              <a:rPr lang="en-US" sz="2200" b="1" dirty="0" err="1">
                <a:latin typeface="Calibri" panose="020F0502020204030204" pitchFamily="34" charset="0"/>
                <a:cs typeface="Calibri" panose="020F0502020204030204" pitchFamily="34" charset="0"/>
              </a:rPr>
              <a:t>ctype.h</a:t>
            </a:r>
            <a:r>
              <a:rPr lang="en-US" sz="2200" b="1" dirty="0">
                <a:latin typeface="Calibri" panose="020F0502020204030204" pitchFamily="34" charset="0"/>
                <a:cs typeface="Calibri" panose="020F0502020204030204" pitchFamily="34" charset="0"/>
              </a:rPr>
              <a:t>&gt;: </a:t>
            </a:r>
            <a:r>
              <a:rPr lang="en-US" sz="2200" dirty="0">
                <a:latin typeface="Calibri" panose="020F0502020204030204" pitchFamily="34" charset="0"/>
                <a:cs typeface="Calibri" panose="020F0502020204030204" pitchFamily="34" charset="0"/>
              </a:rPr>
              <a:t>This includes the character type library, giving us access to functions like </a:t>
            </a:r>
            <a:r>
              <a:rPr lang="en-US" sz="2200" dirty="0" err="1">
                <a:latin typeface="Calibri" panose="020F0502020204030204" pitchFamily="34" charset="0"/>
                <a:cs typeface="Calibri" panose="020F0502020204030204" pitchFamily="34" charset="0"/>
              </a:rPr>
              <a:t>isupper</a:t>
            </a:r>
            <a:r>
              <a:rPr lang="en-US" sz="2200" dirty="0">
                <a:latin typeface="Calibri" panose="020F0502020204030204" pitchFamily="34" charset="0"/>
                <a:cs typeface="Calibri" panose="020F0502020204030204" pitchFamily="34" charset="0"/>
              </a:rPr>
              <a:t>, which checks if a character is uppercase.</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Variables:</a:t>
            </a:r>
          </a:p>
          <a:p>
            <a:pPr lvl="1" algn="just"/>
            <a:r>
              <a:rPr lang="en-US" sz="2000" dirty="0">
                <a:latin typeface="Calibri" panose="020F0502020204030204" pitchFamily="34" charset="0"/>
                <a:cs typeface="Calibri" panose="020F0502020204030204" pitchFamily="34" charset="0"/>
              </a:rPr>
              <a:t>name[50]: An array to store the full name entered by the user (e.g., "</a:t>
            </a:r>
            <a:r>
              <a:rPr lang="en-US" sz="2000" dirty="0" err="1">
                <a:latin typeface="Calibri" panose="020F0502020204030204" pitchFamily="34" charset="0"/>
                <a:cs typeface="Calibri" panose="020F0502020204030204" pitchFamily="34" charset="0"/>
              </a:rPr>
              <a:t>AmirYavariabdi</a:t>
            </a:r>
            <a:r>
              <a:rPr lang="en-US" sz="2000" dirty="0">
                <a:latin typeface="Calibri" panose="020F0502020204030204" pitchFamily="34" charset="0"/>
                <a:cs typeface="Calibri" panose="020F0502020204030204" pitchFamily="34" charset="0"/>
              </a:rPr>
              <a:t>"). </a:t>
            </a:r>
          </a:p>
          <a:p>
            <a:pPr lvl="1" algn="just"/>
            <a:r>
              <a:rPr lang="en-US" sz="2000" dirty="0">
                <a:latin typeface="Calibri" panose="020F0502020204030204" pitchFamily="34" charset="0"/>
                <a:cs typeface="Calibri" panose="020F0502020204030204" pitchFamily="34" charset="0"/>
              </a:rPr>
              <a:t>first[25]: An array to store the first name after splitting. </a:t>
            </a:r>
          </a:p>
          <a:p>
            <a:pPr lvl="1" algn="just"/>
            <a:r>
              <a:rPr lang="en-US" sz="2000" dirty="0">
                <a:latin typeface="Calibri" panose="020F0502020204030204" pitchFamily="34" charset="0"/>
                <a:cs typeface="Calibri" panose="020F0502020204030204" pitchFamily="34" charset="0"/>
              </a:rPr>
              <a:t>last[25]: An array to store the last name after splitting. </a:t>
            </a:r>
          </a:p>
          <a:p>
            <a:pPr lvl="1" algn="just"/>
            <a:r>
              <a:rPr lang="en-US" sz="2000" dirty="0" err="1">
                <a:latin typeface="Calibri" panose="020F0502020204030204" pitchFamily="34" charset="0"/>
                <a:cs typeface="Calibri" panose="020F0502020204030204" pitchFamily="34" charset="0"/>
              </a:rPr>
              <a:t>splitIndex</a:t>
            </a:r>
            <a:r>
              <a:rPr lang="en-US" sz="2000" dirty="0">
                <a:latin typeface="Calibri" panose="020F0502020204030204" pitchFamily="34" charset="0"/>
                <a:cs typeface="Calibri" panose="020F0502020204030204" pitchFamily="34" charset="0"/>
              </a:rPr>
              <a:t>: An integer to store the index where the last name starts.</a:t>
            </a:r>
          </a:p>
        </p:txBody>
      </p:sp>
    </p:spTree>
    <p:extLst>
      <p:ext uri="{BB962C8B-B14F-4D97-AF65-F5344CB8AC3E}">
        <p14:creationId xmlns:p14="http://schemas.microsoft.com/office/powerpoint/2010/main" val="727000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lnSpcReduction="10000"/>
          </a:bodyPr>
          <a:lstStyle/>
          <a:p>
            <a:pPr algn="just"/>
            <a:r>
              <a:rPr lang="en-US" sz="2200" b="1" dirty="0">
                <a:latin typeface="Calibri" panose="020F0502020204030204" pitchFamily="34" charset="0"/>
                <a:cs typeface="Calibri" panose="020F0502020204030204" pitchFamily="34" charset="0"/>
              </a:rPr>
              <a:t>Copying the First Name:</a:t>
            </a:r>
          </a:p>
          <a:p>
            <a:pPr lvl="1" algn="just"/>
            <a:r>
              <a:rPr lang="en-US" sz="2000" dirty="0">
                <a:latin typeface="Calibri" panose="020F0502020204030204" pitchFamily="34" charset="0"/>
                <a:cs typeface="Calibri" panose="020F0502020204030204" pitchFamily="34" charset="0"/>
              </a:rPr>
              <a:t>A loop runs from the start of the name string up to </a:t>
            </a:r>
            <a:r>
              <a:rPr lang="en-US" sz="2000" dirty="0" err="1">
                <a:latin typeface="Calibri" panose="020F0502020204030204" pitchFamily="34" charset="0"/>
                <a:cs typeface="Calibri" panose="020F0502020204030204" pitchFamily="34" charset="0"/>
              </a:rPr>
              <a:t>splitIndex</a:t>
            </a:r>
            <a:r>
              <a:rPr lang="en-US" sz="2000"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from "</a:t>
            </a:r>
            <a:r>
              <a:rPr lang="en-US" sz="2000" dirty="0" err="1">
                <a:latin typeface="Calibri" panose="020F0502020204030204" pitchFamily="34" charset="0"/>
                <a:cs typeface="Calibri" panose="020F0502020204030204" pitchFamily="34" charset="0"/>
              </a:rPr>
              <a:t>AmirYavariabdi</a:t>
            </a:r>
            <a:r>
              <a:rPr lang="en-US" sz="2000" dirty="0">
                <a:latin typeface="Calibri" panose="020F0502020204030204" pitchFamily="34" charset="0"/>
                <a:cs typeface="Calibri" panose="020F0502020204030204" pitchFamily="34" charset="0"/>
              </a:rPr>
              <a:t>“, we copied "Amir" to the first array</a:t>
            </a:r>
          </a:p>
          <a:p>
            <a:pPr lvl="1" algn="just"/>
            <a:r>
              <a:rPr lang="en-US" sz="2000" dirty="0">
                <a:latin typeface="Calibri" panose="020F0502020204030204" pitchFamily="34" charset="0"/>
                <a:cs typeface="Calibri" panose="020F0502020204030204" pitchFamily="34" charset="0"/>
              </a:rPr>
              <a:t>first[</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 '\0'; adds a null terminator to mark the end of the first name string.</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Copying the Last Name:</a:t>
            </a:r>
          </a:p>
          <a:p>
            <a:pPr lvl="1" algn="just"/>
            <a:r>
              <a:rPr lang="en-US" sz="2000" dirty="0">
                <a:latin typeface="Calibri" panose="020F0502020204030204" pitchFamily="34" charset="0"/>
                <a:cs typeface="Calibri" panose="020F0502020204030204" pitchFamily="34" charset="0"/>
              </a:rPr>
              <a:t>Another loop runs from </a:t>
            </a:r>
            <a:r>
              <a:rPr lang="en-US" sz="2000" dirty="0" err="1">
                <a:latin typeface="Calibri" panose="020F0502020204030204" pitchFamily="34" charset="0"/>
                <a:cs typeface="Calibri" panose="020F0502020204030204" pitchFamily="34" charset="0"/>
              </a:rPr>
              <a:t>splitIndex</a:t>
            </a:r>
            <a:r>
              <a:rPr lang="en-US" sz="2000" dirty="0">
                <a:latin typeface="Calibri" panose="020F0502020204030204" pitchFamily="34" charset="0"/>
                <a:cs typeface="Calibri" panose="020F0502020204030204" pitchFamily="34" charset="0"/>
              </a:rPr>
              <a:t> (index 4) to the end of the name string.</a:t>
            </a:r>
          </a:p>
          <a:p>
            <a:pPr lvl="1" algn="just"/>
            <a:r>
              <a:rPr lang="en-US" sz="2000" dirty="0">
                <a:latin typeface="Calibri" panose="020F0502020204030204" pitchFamily="34" charset="0"/>
                <a:cs typeface="Calibri" panose="020F0502020204030204" pitchFamily="34" charset="0"/>
              </a:rPr>
              <a:t>Characters from "Yavariabdi" are copied to the last array.</a:t>
            </a:r>
          </a:p>
          <a:p>
            <a:pPr lvl="1" algn="just"/>
            <a:r>
              <a:rPr lang="en-US" sz="2000" dirty="0">
                <a:latin typeface="Calibri" panose="020F0502020204030204" pitchFamily="34" charset="0"/>
                <a:cs typeface="Calibri" panose="020F0502020204030204" pitchFamily="34" charset="0"/>
              </a:rPr>
              <a:t>last[</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 </a:t>
            </a:r>
            <a:r>
              <a:rPr lang="en-US" sz="2000" dirty="0" err="1">
                <a:latin typeface="Calibri" panose="020F0502020204030204" pitchFamily="34" charset="0"/>
                <a:cs typeface="Calibri" panose="020F0502020204030204" pitchFamily="34" charset="0"/>
              </a:rPr>
              <a:t>splitIndex</a:t>
            </a:r>
            <a:r>
              <a:rPr lang="en-US" sz="2000" dirty="0">
                <a:latin typeface="Calibri" panose="020F0502020204030204" pitchFamily="34" charset="0"/>
                <a:cs typeface="Calibri" panose="020F0502020204030204" pitchFamily="34" charset="0"/>
              </a:rPr>
              <a:t>] = '\0'; adds a null terminator to mark the end of the last name string.</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Output:</a:t>
            </a:r>
          </a:p>
          <a:p>
            <a:pPr lvl="1" algn="just"/>
            <a:r>
              <a:rPr lang="en-US" sz="2000" dirty="0">
                <a:latin typeface="Calibri" panose="020F0502020204030204" pitchFamily="34" charset="0"/>
                <a:cs typeface="Calibri" panose="020F0502020204030204" pitchFamily="34" charset="0"/>
              </a:rPr>
              <a:t>The program prints the first and last names.</a:t>
            </a:r>
          </a:p>
        </p:txBody>
      </p:sp>
    </p:spTree>
    <p:extLst>
      <p:ext uri="{BB962C8B-B14F-4D97-AF65-F5344CB8AC3E}">
        <p14:creationId xmlns:p14="http://schemas.microsoft.com/office/powerpoint/2010/main" val="2163518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Multidimensional String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1800" b="0" i="0" u="none" strike="noStrike" baseline="0" dirty="0">
                <a:latin typeface="Minion-Regular"/>
              </a:rPr>
              <a:t>One of the common uses for multidimensional arrays is to store a list of strings.</a:t>
            </a:r>
          </a:p>
          <a:p>
            <a:pPr algn="l"/>
            <a:r>
              <a:rPr lang="en-US" sz="1800" b="0" i="0" u="none" strike="noStrike" baseline="0" dirty="0">
                <a:latin typeface="Minion-Regular"/>
              </a:rPr>
              <a:t>Since each string is a one-dimensional array, a list of strings requires a two dimensional</a:t>
            </a:r>
            <a:r>
              <a:rPr lang="en-US" sz="1800" dirty="0">
                <a:latin typeface="Minion-Regular"/>
              </a:rPr>
              <a:t> </a:t>
            </a:r>
            <a:r>
              <a:rPr lang="en-GB" sz="1800" b="0" i="0" u="none" strike="noStrike" baseline="0" dirty="0">
                <a:latin typeface="Minion-Regular"/>
              </a:rPr>
              <a:t>array. </a:t>
            </a:r>
          </a:p>
          <a:p>
            <a:pPr algn="l"/>
            <a:r>
              <a:rPr lang="en-GB" sz="1800" b="0" i="0" u="none" strike="noStrike" baseline="0" dirty="0">
                <a:latin typeface="Minion-Regular"/>
              </a:rPr>
              <a:t>For example:</a:t>
            </a:r>
          </a:p>
          <a:p>
            <a:pPr marL="0" indent="0" algn="l">
              <a:buNone/>
            </a:pPr>
            <a:r>
              <a:rPr lang="en-GB" sz="1500" dirty="0">
                <a:solidFill>
                  <a:srgbClr val="0070C0"/>
                </a:solidFill>
                <a:latin typeface="Calibri" panose="020F0502020204030204" pitchFamily="34" charset="0"/>
                <a:cs typeface="Calibri" panose="020F0502020204030204" pitchFamily="34" charset="0"/>
              </a:rPr>
              <a:t>char n[2][4];</a:t>
            </a:r>
          </a:p>
          <a:p>
            <a:pPr marL="0" indent="0" algn="l">
              <a:buNone/>
            </a:pPr>
            <a:r>
              <a:rPr lang="pt-BR" sz="1500" dirty="0">
                <a:solidFill>
                  <a:srgbClr val="0070C0"/>
                </a:solidFill>
                <a:latin typeface="Calibri" panose="020F0502020204030204" pitchFamily="34" charset="0"/>
                <a:cs typeface="Calibri" panose="020F0502020204030204" pitchFamily="34" charset="0"/>
              </a:rPr>
              <a:t>n[0][0]=’T’; n[0][1]=’o’; n[0][2]=’m’; n[0][3]=0;</a:t>
            </a:r>
          </a:p>
          <a:p>
            <a:pPr marL="0" indent="0" algn="l">
              <a:buNone/>
            </a:pPr>
            <a:r>
              <a:rPr lang="pt-BR" sz="1500" dirty="0">
                <a:solidFill>
                  <a:srgbClr val="0070C0"/>
                </a:solidFill>
                <a:latin typeface="Calibri" panose="020F0502020204030204" pitchFamily="34" charset="0"/>
                <a:cs typeface="Calibri" panose="020F0502020204030204" pitchFamily="34" charset="0"/>
              </a:rPr>
              <a:t>n[1][0]=’S’; n[1][1]=’u’; n[1][2]=’e’; n[1][3]=0;</a:t>
            </a:r>
          </a:p>
          <a:p>
            <a:pPr marL="0" indent="0" algn="l">
              <a:buNone/>
            </a:pPr>
            <a:endParaRPr lang="pt-BR" sz="1800" dirty="0">
              <a:latin typeface="ZztexMono-Regular"/>
              <a:cs typeface="Calibri" panose="020F0502020204030204" pitchFamily="34" charset="0"/>
            </a:endParaRPr>
          </a:p>
          <a:p>
            <a:pPr algn="l"/>
            <a:r>
              <a:rPr lang="en-US" sz="1800" b="0" i="0" u="none" strike="noStrike" baseline="0" dirty="0">
                <a:latin typeface="Minion-Regular"/>
              </a:rPr>
              <a:t>Each string in the two-dimensional array can be referenced using the address label for the one-dimensional array that stores it. </a:t>
            </a:r>
          </a:p>
          <a:p>
            <a:pPr algn="l"/>
            <a:r>
              <a:rPr lang="en-US" sz="1800" b="0" i="0" u="none" strike="noStrike" baseline="0" dirty="0">
                <a:latin typeface="Minion-Regular"/>
              </a:rPr>
              <a:t>For example, the following code prints out the two strings:</a:t>
            </a:r>
          </a:p>
          <a:p>
            <a:pPr marL="0" indent="0">
              <a:buNone/>
            </a:pPr>
            <a:r>
              <a:rPr lang="pt-BR" sz="1500" dirty="0">
                <a:solidFill>
                  <a:srgbClr val="0070C0"/>
                </a:solidFill>
                <a:latin typeface="Calibri" panose="020F0502020204030204" pitchFamily="34" charset="0"/>
                <a:cs typeface="Calibri" panose="020F0502020204030204" pitchFamily="34" charset="0"/>
              </a:rPr>
              <a:t>printf("%s %s\n",n[0],n[1]);</a:t>
            </a:r>
            <a:endParaRPr lang="en-US" sz="1500" dirty="0">
              <a:solidFill>
                <a:srgbClr val="0070C0"/>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BD6987AD-1340-3826-D7E4-05BB05F4CE90}"/>
              </a:ext>
            </a:extLst>
          </p:cNvPr>
          <p:cNvPicPr>
            <a:picLocks noChangeAspect="1"/>
          </p:cNvPicPr>
          <p:nvPr/>
        </p:nvPicPr>
        <p:blipFill>
          <a:blip r:embed="rId2"/>
          <a:stretch>
            <a:fillRect/>
          </a:stretch>
        </p:blipFill>
        <p:spPr>
          <a:xfrm>
            <a:off x="7376923" y="2673878"/>
            <a:ext cx="3152257" cy="1751254"/>
          </a:xfrm>
          <a:prstGeom prst="rect">
            <a:avLst/>
          </a:prstGeom>
        </p:spPr>
      </p:pic>
      <p:sp>
        <p:nvSpPr>
          <p:cNvPr id="11" name="TextBox 10">
            <a:extLst>
              <a:ext uri="{FF2B5EF4-FFF2-40B4-BE49-F238E27FC236}">
                <a16:creationId xmlns:a16="http://schemas.microsoft.com/office/drawing/2014/main" id="{591F6325-1C97-2F9A-DFF4-E5F541DA1913}"/>
              </a:ext>
            </a:extLst>
          </p:cNvPr>
          <p:cNvSpPr txBox="1"/>
          <p:nvPr/>
        </p:nvSpPr>
        <p:spPr>
          <a:xfrm>
            <a:off x="2419161" y="5807631"/>
            <a:ext cx="6882897" cy="369332"/>
          </a:xfrm>
          <a:prstGeom prst="rect">
            <a:avLst/>
          </a:prstGeom>
          <a:noFill/>
        </p:spPr>
        <p:txBody>
          <a:bodyPr wrap="square">
            <a:spAutoFit/>
          </a:bodyPr>
          <a:lstStyle/>
          <a:p>
            <a:pPr algn="l"/>
            <a:r>
              <a:rPr lang="en-US" sz="1800" b="0" i="0" u="none" strike="noStrike" baseline="0" dirty="0">
                <a:latin typeface="Minion-Regular"/>
              </a:rPr>
              <a:t>Both </a:t>
            </a:r>
            <a:r>
              <a:rPr lang="en-US" sz="1600" b="0" i="0" u="none" strike="noStrike" baseline="0" dirty="0">
                <a:latin typeface="ZztexMono-Regular"/>
              </a:rPr>
              <a:t>n[0] </a:t>
            </a:r>
            <a:r>
              <a:rPr lang="en-US" sz="1800" b="0" i="0" u="none" strike="noStrike" baseline="0" dirty="0">
                <a:latin typeface="Minion-Regular"/>
              </a:rPr>
              <a:t>and </a:t>
            </a:r>
            <a:r>
              <a:rPr lang="en-US" sz="1600" b="0" i="0" u="none" strike="noStrike" baseline="0" dirty="0">
                <a:latin typeface="ZztexMono-Regular"/>
              </a:rPr>
              <a:t>n[1] </a:t>
            </a:r>
            <a:r>
              <a:rPr lang="en-US" sz="1800" b="0" i="0" u="none" strike="noStrike" baseline="0" dirty="0">
                <a:latin typeface="Minion-Regular"/>
              </a:rPr>
              <a:t>identify addresses (400 and 404, respectively). </a:t>
            </a:r>
          </a:p>
        </p:txBody>
      </p:sp>
    </p:spTree>
    <p:extLst>
      <p:ext uri="{BB962C8B-B14F-4D97-AF65-F5344CB8AC3E}">
        <p14:creationId xmlns:p14="http://schemas.microsoft.com/office/powerpoint/2010/main" val="34380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2: Multidimensional String</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l"/>
            <a:r>
              <a:rPr lang="en-US" sz="2400" dirty="0">
                <a:latin typeface="Calibri" panose="020F0502020204030204" pitchFamily="34" charset="0"/>
                <a:cs typeface="Calibri" panose="020F0502020204030204" pitchFamily="34" charset="0"/>
              </a:rPr>
              <a:t>Write a C program that initializes and manipulates a multidimensional array of strings.</a:t>
            </a:r>
          </a:p>
          <a:p>
            <a:pPr algn="l"/>
            <a:r>
              <a:rPr lang="en-US" sz="2400" dirty="0">
                <a:latin typeface="Calibri" panose="020F0502020204030204" pitchFamily="34" charset="0"/>
                <a:cs typeface="Calibri" panose="020F0502020204030204" pitchFamily="34" charset="0"/>
              </a:rPr>
              <a:t>Task:</a:t>
            </a:r>
          </a:p>
          <a:p>
            <a:pPr lvl="1"/>
            <a:r>
              <a:rPr lang="en-US" sz="2000" dirty="0">
                <a:latin typeface="Calibri" panose="020F0502020204030204" pitchFamily="34" charset="0"/>
                <a:cs typeface="Calibri" panose="020F0502020204030204" pitchFamily="34" charset="0"/>
              </a:rPr>
              <a:t>Define a 2D array of strings to store 3 names, each up to 20 characters long.</a:t>
            </a:r>
          </a:p>
          <a:p>
            <a:pPr lvl="1"/>
            <a:r>
              <a:rPr lang="en-US" sz="2000" dirty="0">
                <a:latin typeface="Calibri" panose="020F0502020204030204" pitchFamily="34" charset="0"/>
                <a:cs typeface="Calibri" panose="020F0502020204030204" pitchFamily="34" charset="0"/>
              </a:rPr>
              <a:t>Initialize the array with the names of three people.</a:t>
            </a:r>
          </a:p>
          <a:p>
            <a:pPr lvl="1"/>
            <a:r>
              <a:rPr lang="en-US" sz="2000" dirty="0">
                <a:latin typeface="Calibri" panose="020F0502020204030204" pitchFamily="34" charset="0"/>
                <a:cs typeface="Calibri" panose="020F0502020204030204" pitchFamily="34" charset="0"/>
              </a:rPr>
              <a:t>Print each name along with its length.</a:t>
            </a:r>
          </a:p>
          <a:p>
            <a:pPr lvl="1"/>
            <a:r>
              <a:rPr lang="en-US" sz="2000" dirty="0">
                <a:latin typeface="Calibri" panose="020F0502020204030204" pitchFamily="34" charset="0"/>
                <a:cs typeface="Calibri" panose="020F0502020204030204" pitchFamily="34" charset="0"/>
              </a:rPr>
              <a:t>Modify the second name in the array.</a:t>
            </a:r>
          </a:p>
          <a:p>
            <a:pPr lvl="1"/>
            <a:r>
              <a:rPr lang="en-US" sz="2000" dirty="0">
                <a:latin typeface="Calibri" panose="020F0502020204030204" pitchFamily="34" charset="0"/>
                <a:cs typeface="Calibri" panose="020F0502020204030204" pitchFamily="34" charset="0"/>
              </a:rPr>
              <a:t>Print the updated list of names with their new lengths.</a:t>
            </a:r>
          </a:p>
          <a:p>
            <a:pPr marL="0" indent="0" algn="l">
              <a:buNone/>
            </a:pPr>
            <a:endParaRPr lang="en-US" sz="2400" b="0" i="0" u="none" strike="noStrike" baseline="0" dirty="0">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6659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2: Multidimensional String</a:t>
            </a:r>
          </a:p>
        </p:txBody>
      </p:sp>
      <p:pic>
        <p:nvPicPr>
          <p:cNvPr id="4" name="Picture 3" descr="A screenshot of a computer program&#10;&#10;Description automatically generated">
            <a:extLst>
              <a:ext uri="{FF2B5EF4-FFF2-40B4-BE49-F238E27FC236}">
                <a16:creationId xmlns:a16="http://schemas.microsoft.com/office/drawing/2014/main" id="{619CA440-4A95-AB7D-B15A-D0138BB28390}"/>
              </a:ext>
            </a:extLst>
          </p:cNvPr>
          <p:cNvPicPr>
            <a:picLocks noChangeAspect="1"/>
          </p:cNvPicPr>
          <p:nvPr/>
        </p:nvPicPr>
        <p:blipFill rotWithShape="1">
          <a:blip r:embed="rId2">
            <a:extLst>
              <a:ext uri="{28A0092B-C50C-407E-A947-70E740481C1C}">
                <a14:useLocalDpi xmlns:a14="http://schemas.microsoft.com/office/drawing/2010/main" val="0"/>
              </a:ext>
            </a:extLst>
          </a:blip>
          <a:srcRect l="2359" t="5485" r="27564" b="42368"/>
          <a:stretch/>
        </p:blipFill>
        <p:spPr>
          <a:xfrm>
            <a:off x="262633" y="3751853"/>
            <a:ext cx="5071368" cy="2741022"/>
          </a:xfrm>
          <a:prstGeom prst="rect">
            <a:avLst/>
          </a:prstGeom>
        </p:spPr>
      </p:pic>
      <p:pic>
        <p:nvPicPr>
          <p:cNvPr id="6" name="Picture 5" descr="A screenshot of a computer screen&#10;&#10;Description automatically generated">
            <a:extLst>
              <a:ext uri="{FF2B5EF4-FFF2-40B4-BE49-F238E27FC236}">
                <a16:creationId xmlns:a16="http://schemas.microsoft.com/office/drawing/2014/main" id="{52A866A8-F2AE-B7C1-765E-ED0C58C8E0CC}"/>
              </a:ext>
            </a:extLst>
          </p:cNvPr>
          <p:cNvPicPr>
            <a:picLocks noChangeAspect="1"/>
          </p:cNvPicPr>
          <p:nvPr/>
        </p:nvPicPr>
        <p:blipFill rotWithShape="1">
          <a:blip r:embed="rId3">
            <a:extLst>
              <a:ext uri="{28A0092B-C50C-407E-A947-70E740481C1C}">
                <a14:useLocalDpi xmlns:a14="http://schemas.microsoft.com/office/drawing/2010/main" val="0"/>
              </a:ext>
            </a:extLst>
          </a:blip>
          <a:srcRect l="5084" t="8198" r="20239" b="31326"/>
          <a:stretch/>
        </p:blipFill>
        <p:spPr>
          <a:xfrm>
            <a:off x="5682343" y="1458685"/>
            <a:ext cx="6509657" cy="5156299"/>
          </a:xfrm>
          <a:prstGeom prst="rect">
            <a:avLst/>
          </a:prstGeom>
        </p:spPr>
      </p:pic>
      <p:sp>
        <p:nvSpPr>
          <p:cNvPr id="7" name="Rectangle 6">
            <a:extLst>
              <a:ext uri="{FF2B5EF4-FFF2-40B4-BE49-F238E27FC236}">
                <a16:creationId xmlns:a16="http://schemas.microsoft.com/office/drawing/2014/main" id="{5ABEFC45-985F-F7D3-0001-0FC49D99704C}"/>
              </a:ext>
            </a:extLst>
          </p:cNvPr>
          <p:cNvSpPr/>
          <p:nvPr/>
        </p:nvSpPr>
        <p:spPr>
          <a:xfrm>
            <a:off x="10363200" y="4223658"/>
            <a:ext cx="482851" cy="2849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510CC3B6-D523-70D8-879D-DC6B1230ABE1}"/>
              </a:ext>
            </a:extLst>
          </p:cNvPr>
          <p:cNvSpPr/>
          <p:nvPr/>
        </p:nvSpPr>
        <p:spPr>
          <a:xfrm>
            <a:off x="6023576" y="4807390"/>
            <a:ext cx="566057" cy="2263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51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Array Definition:</a:t>
            </a:r>
          </a:p>
          <a:p>
            <a:pPr lvl="1" algn="just"/>
            <a:r>
              <a:rPr lang="en-US" sz="2000" dirty="0">
                <a:latin typeface="Calibri" panose="020F0502020204030204" pitchFamily="34" charset="0"/>
                <a:cs typeface="Calibri" panose="020F0502020204030204" pitchFamily="34" charset="0"/>
              </a:rPr>
              <a:t>char names[MAX_NAMES][MAX_NAME_LENGTH] creates a 2D array where MAX_NAMES is the number of names (3 in this case) and MAX_NAME_LENGTH is the maximum length of each name (20 characters).</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Initialization:</a:t>
            </a:r>
          </a:p>
          <a:p>
            <a:pPr lvl="1" algn="just"/>
            <a:r>
              <a:rPr lang="en-US" sz="2000" dirty="0">
                <a:latin typeface="Calibri" panose="020F0502020204030204" pitchFamily="34" charset="0"/>
                <a:cs typeface="Calibri" panose="020F0502020204030204" pitchFamily="34" charset="0"/>
              </a:rPr>
              <a:t>The array names is initialized with three names: "Alice", "Bob", and "Charlie".</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Printing Names and Lengths:</a:t>
            </a:r>
          </a:p>
          <a:p>
            <a:pPr lvl="1" algn="just"/>
            <a:r>
              <a:rPr lang="en-US" sz="1800" dirty="0">
                <a:latin typeface="Calibri" panose="020F0502020204030204" pitchFamily="34" charset="0"/>
                <a:cs typeface="Calibri" panose="020F0502020204030204" pitchFamily="34" charset="0"/>
              </a:rPr>
              <a:t>A for loop is used to iterate through the names array. For each name, the </a:t>
            </a:r>
            <a:r>
              <a:rPr lang="en-US" sz="1800" dirty="0" err="1">
                <a:latin typeface="Calibri" panose="020F0502020204030204" pitchFamily="34" charset="0"/>
                <a:cs typeface="Calibri" panose="020F0502020204030204" pitchFamily="34" charset="0"/>
              </a:rPr>
              <a:t>printf</a:t>
            </a:r>
            <a:r>
              <a:rPr lang="en-US" sz="1800" dirty="0">
                <a:latin typeface="Calibri" panose="020F0502020204030204" pitchFamily="34" charset="0"/>
                <a:cs typeface="Calibri" panose="020F0502020204030204" pitchFamily="34" charset="0"/>
              </a:rPr>
              <a:t> function displays the name and its </a:t>
            </a:r>
            <a:r>
              <a:rPr lang="en-US" sz="1800" b="1" dirty="0">
                <a:latin typeface="Calibri" panose="020F0502020204030204" pitchFamily="34" charset="0"/>
                <a:cs typeface="Calibri" panose="020F0502020204030204" pitchFamily="34" charset="0"/>
              </a:rPr>
              <a:t>length</a:t>
            </a:r>
            <a:r>
              <a:rPr lang="en-US" sz="1800" dirty="0">
                <a:latin typeface="Calibri" panose="020F0502020204030204" pitchFamily="34" charset="0"/>
                <a:cs typeface="Calibri" panose="020F0502020204030204" pitchFamily="34" charset="0"/>
              </a:rPr>
              <a:t> using </a:t>
            </a:r>
            <a:r>
              <a:rPr lang="en-US" sz="1800" b="1" dirty="0" err="1">
                <a:solidFill>
                  <a:srgbClr val="FF0000"/>
                </a:solidFill>
                <a:latin typeface="Calibri" panose="020F0502020204030204" pitchFamily="34" charset="0"/>
                <a:cs typeface="Calibri" panose="020F0502020204030204" pitchFamily="34" charset="0"/>
              </a:rPr>
              <a:t>strlen</a:t>
            </a:r>
            <a:r>
              <a:rPr lang="en-US" sz="1800" dirty="0">
                <a:latin typeface="Calibri" panose="020F0502020204030204" pitchFamily="34" charset="0"/>
                <a:cs typeface="Calibri" panose="020F0502020204030204" pitchFamily="34" charset="0"/>
              </a:rPr>
              <a:t>(names[</a:t>
            </a:r>
            <a:r>
              <a:rPr lang="en-US" sz="1800" dirty="0" err="1">
                <a:latin typeface="Calibri" panose="020F0502020204030204" pitchFamily="34" charset="0"/>
                <a:cs typeface="Calibri" panose="020F0502020204030204" pitchFamily="34" charset="0"/>
              </a:rPr>
              <a:t>i</a:t>
            </a:r>
            <a:r>
              <a:rPr lang="en-US" sz="1800" dirty="0">
                <a:latin typeface="Calibri" panose="020F0502020204030204" pitchFamily="34" charset="0"/>
                <a:cs typeface="Calibri" panose="020F0502020204030204" pitchFamily="34" charset="0"/>
              </a:rPr>
              <a:t>]).</a:t>
            </a:r>
          </a:p>
          <a:p>
            <a:pPr algn="just"/>
            <a:endParaRPr lang="en-US" sz="24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8034FD4-FD4F-D71E-C710-5FA8409521DC}"/>
              </a:ext>
            </a:extLst>
          </p:cNvPr>
          <p:cNvPicPr>
            <a:picLocks noChangeAspect="1"/>
          </p:cNvPicPr>
          <p:nvPr/>
        </p:nvPicPr>
        <p:blipFill>
          <a:blip r:embed="rId2"/>
          <a:stretch>
            <a:fillRect/>
          </a:stretch>
        </p:blipFill>
        <p:spPr>
          <a:xfrm>
            <a:off x="9743321" y="5575518"/>
            <a:ext cx="1610479" cy="1202889"/>
          </a:xfrm>
          <a:prstGeom prst="rect">
            <a:avLst/>
          </a:prstGeom>
        </p:spPr>
      </p:pic>
    </p:spTree>
    <p:extLst>
      <p:ext uri="{BB962C8B-B14F-4D97-AF65-F5344CB8AC3E}">
        <p14:creationId xmlns:p14="http://schemas.microsoft.com/office/powerpoint/2010/main" val="1308563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Modifying a Name:</a:t>
            </a:r>
          </a:p>
          <a:p>
            <a:pPr lvl="1" algn="just"/>
            <a:r>
              <a:rPr lang="en-US" sz="2000" dirty="0">
                <a:latin typeface="Calibri" panose="020F0502020204030204" pitchFamily="34" charset="0"/>
                <a:cs typeface="Calibri" panose="020F0502020204030204" pitchFamily="34" charset="0"/>
              </a:rPr>
              <a:t>The </a:t>
            </a:r>
            <a:r>
              <a:rPr lang="en-US" sz="2000" b="1" dirty="0" err="1">
                <a:solidFill>
                  <a:srgbClr val="FF0000"/>
                </a:solidFill>
                <a:latin typeface="Calibri" panose="020F0502020204030204" pitchFamily="34" charset="0"/>
                <a:cs typeface="Calibri" panose="020F0502020204030204" pitchFamily="34" charset="0"/>
              </a:rPr>
              <a:t>strncpy</a:t>
            </a:r>
            <a:r>
              <a:rPr lang="en-US" sz="2000" dirty="0">
                <a:latin typeface="Calibri" panose="020F0502020204030204" pitchFamily="34" charset="0"/>
                <a:cs typeface="Calibri" panose="020F0502020204030204" pitchFamily="34" charset="0"/>
              </a:rPr>
              <a:t> function is used to copy "Bobby" into the second position of the array (names[1]). The MAX_NAME_LENGTH - 1 ensures that we do not exceed the array bounds. The last character is set to '\0' to ensure null termination.</a:t>
            </a:r>
          </a:p>
          <a:p>
            <a:pPr algn="just"/>
            <a:endParaRPr lang="en-US" sz="24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Printing Updated Names:</a:t>
            </a:r>
          </a:p>
          <a:p>
            <a:pPr lvl="1" algn="just"/>
            <a:r>
              <a:rPr lang="en-US" sz="2000" dirty="0">
                <a:latin typeface="Calibri" panose="020F0502020204030204" pitchFamily="34" charset="0"/>
                <a:cs typeface="Calibri" panose="020F0502020204030204" pitchFamily="34" charset="0"/>
              </a:rPr>
              <a:t>Another for loop is used to print the updated names and their lengths.</a:t>
            </a:r>
          </a:p>
        </p:txBody>
      </p:sp>
    </p:spTree>
    <p:extLst>
      <p:ext uri="{BB962C8B-B14F-4D97-AF65-F5344CB8AC3E}">
        <p14:creationId xmlns:p14="http://schemas.microsoft.com/office/powerpoint/2010/main" val="3009076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Pointers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l"/>
            <a:r>
              <a:rPr lang="en-US" sz="2200" b="0" i="0" u="none" strike="noStrike" baseline="0" dirty="0">
                <a:latin typeface="Calibri" panose="020F0502020204030204" pitchFamily="34" charset="0"/>
                <a:cs typeface="Calibri" panose="020F0502020204030204" pitchFamily="34" charset="0"/>
              </a:rPr>
              <a:t>A pointer is a construct used to store an address of a variable. </a:t>
            </a:r>
          </a:p>
          <a:p>
            <a:pPr algn="l"/>
            <a:endParaRPr lang="en-US" sz="2200" b="0" i="0" u="none" strike="noStrike" baseline="0" dirty="0">
              <a:latin typeface="Calibri" panose="020F0502020204030204" pitchFamily="34" charset="0"/>
              <a:cs typeface="Calibri" panose="020F0502020204030204" pitchFamily="34" charset="0"/>
            </a:endParaRPr>
          </a:p>
          <a:p>
            <a:pPr algn="l"/>
            <a:r>
              <a:rPr lang="en-US" sz="2200" b="0" i="0" u="none" strike="noStrike" baseline="0" dirty="0">
                <a:latin typeface="Calibri" panose="020F0502020204030204" pitchFamily="34" charset="0"/>
                <a:cs typeface="Calibri" panose="020F0502020204030204" pitchFamily="34" charset="0"/>
              </a:rPr>
              <a:t>We declare a variable to be a pointer-type variable by preceding its name with the asterisk </a:t>
            </a:r>
            <a:r>
              <a:rPr lang="en-GB" sz="2200" b="0" i="0" u="none" strike="noStrike" baseline="0" dirty="0">
                <a:latin typeface="Calibri" panose="020F0502020204030204" pitchFamily="34" charset="0"/>
                <a:cs typeface="Calibri" panose="020F0502020204030204" pitchFamily="34" charset="0"/>
              </a:rPr>
              <a:t>symbol (*). </a:t>
            </a:r>
          </a:p>
          <a:p>
            <a:pPr algn="l"/>
            <a:endParaRPr lang="en-GB" sz="2200" dirty="0">
              <a:latin typeface="Calibri" panose="020F0502020204030204" pitchFamily="34" charset="0"/>
              <a:cs typeface="Calibri" panose="020F0502020204030204" pitchFamily="34" charset="0"/>
            </a:endParaRPr>
          </a:p>
          <a:p>
            <a:pPr algn="l"/>
            <a:r>
              <a:rPr lang="en-GB" sz="2200" b="0" i="0" u="none" strike="noStrike" baseline="0" dirty="0">
                <a:latin typeface="Calibri" panose="020F0502020204030204" pitchFamily="34" charset="0"/>
                <a:cs typeface="Calibri" panose="020F0502020204030204" pitchFamily="34" charset="0"/>
              </a:rPr>
              <a:t>For example:</a:t>
            </a:r>
          </a:p>
          <a:p>
            <a:pPr marL="0" indent="0">
              <a:buNone/>
            </a:pPr>
            <a:r>
              <a:rPr lang="en-GB" sz="1500" dirty="0">
                <a:solidFill>
                  <a:srgbClr val="0070C0"/>
                </a:solidFill>
                <a:latin typeface="Calibri" panose="020F0502020204030204" pitchFamily="34" charset="0"/>
                <a:cs typeface="Calibri" panose="020F0502020204030204" pitchFamily="34" charset="0"/>
              </a:rPr>
              <a:t>	char c,*cp;</a:t>
            </a:r>
          </a:p>
          <a:p>
            <a:pPr marL="0" indent="0">
              <a:buNone/>
            </a:pPr>
            <a:r>
              <a:rPr lang="en-GB" sz="1500" dirty="0">
                <a:solidFill>
                  <a:srgbClr val="0070C0"/>
                </a:solidFill>
                <a:latin typeface="Calibri" panose="020F0502020204030204" pitchFamily="34" charset="0"/>
                <a:cs typeface="Calibri" panose="020F0502020204030204" pitchFamily="34" charset="0"/>
              </a:rPr>
              <a:t>	int </a:t>
            </a:r>
            <a:r>
              <a:rPr lang="en-GB" sz="1500" dirty="0" err="1">
                <a:solidFill>
                  <a:srgbClr val="0070C0"/>
                </a:solidFill>
                <a:latin typeface="Calibri" panose="020F0502020204030204" pitchFamily="34" charset="0"/>
                <a:cs typeface="Calibri" panose="020F0502020204030204" pitchFamily="34" charset="0"/>
              </a:rPr>
              <a:t>i</a:t>
            </a:r>
            <a:r>
              <a:rPr lang="en-GB" sz="1500" dirty="0">
                <a:solidFill>
                  <a:srgbClr val="0070C0"/>
                </a:solidFill>
                <a:latin typeface="Calibri" panose="020F0502020204030204" pitchFamily="34" charset="0"/>
                <a:cs typeface="Calibri" panose="020F0502020204030204" pitchFamily="34" charset="0"/>
              </a:rPr>
              <a:t>,*</a:t>
            </a:r>
            <a:r>
              <a:rPr lang="en-GB" sz="1500" dirty="0" err="1">
                <a:solidFill>
                  <a:srgbClr val="0070C0"/>
                </a:solidFill>
                <a:latin typeface="Calibri" panose="020F0502020204030204" pitchFamily="34" charset="0"/>
                <a:cs typeface="Calibri" panose="020F0502020204030204" pitchFamily="34" charset="0"/>
              </a:rPr>
              <a:t>ip</a:t>
            </a:r>
            <a:r>
              <a:rPr lang="en-GB" sz="1500" dirty="0">
                <a:solidFill>
                  <a:srgbClr val="0070C0"/>
                </a:solidFill>
                <a:latin typeface="Calibri" panose="020F0502020204030204" pitchFamily="34" charset="0"/>
                <a:cs typeface="Calibri" panose="020F0502020204030204" pitchFamily="34" charset="0"/>
              </a:rPr>
              <a:t>;</a:t>
            </a:r>
          </a:p>
          <a:p>
            <a:pPr marL="0" indent="0">
              <a:buNone/>
            </a:pPr>
            <a:r>
              <a:rPr lang="en-GB" sz="1500" dirty="0">
                <a:solidFill>
                  <a:srgbClr val="0070C0"/>
                </a:solidFill>
                <a:latin typeface="Calibri" panose="020F0502020204030204" pitchFamily="34" charset="0"/>
                <a:cs typeface="Calibri" panose="020F0502020204030204" pitchFamily="34" charset="0"/>
              </a:rPr>
              <a:t>	float f,*</a:t>
            </a:r>
            <a:r>
              <a:rPr lang="en-GB" sz="1500" dirty="0" err="1">
                <a:solidFill>
                  <a:srgbClr val="0070C0"/>
                </a:solidFill>
                <a:latin typeface="Calibri" panose="020F0502020204030204" pitchFamily="34" charset="0"/>
                <a:cs typeface="Calibri" panose="020F0502020204030204" pitchFamily="34" charset="0"/>
              </a:rPr>
              <a:t>fp</a:t>
            </a:r>
            <a:r>
              <a:rPr lang="en-GB" sz="1500" dirty="0">
                <a:solidFill>
                  <a:srgbClr val="0070C0"/>
                </a:solidFill>
                <a:latin typeface="Calibri" panose="020F0502020204030204" pitchFamily="34" charset="0"/>
                <a:cs typeface="Calibri" panose="020F0502020204030204" pitchFamily="34" charset="0"/>
              </a:rPr>
              <a:t>;</a:t>
            </a:r>
          </a:p>
          <a:p>
            <a:pPr marL="0" indent="0">
              <a:buNone/>
            </a:pPr>
            <a:r>
              <a:rPr lang="en-GB" sz="1500" dirty="0">
                <a:solidFill>
                  <a:srgbClr val="0070C0"/>
                </a:solidFill>
                <a:latin typeface="Calibri" panose="020F0502020204030204" pitchFamily="34" charset="0"/>
                <a:cs typeface="Calibri" panose="020F0502020204030204" pitchFamily="34" charset="0"/>
              </a:rPr>
              <a:t>	double d,*</a:t>
            </a:r>
            <a:r>
              <a:rPr lang="en-GB" sz="1500" dirty="0" err="1">
                <a:solidFill>
                  <a:srgbClr val="0070C0"/>
                </a:solidFill>
                <a:latin typeface="Calibri" panose="020F0502020204030204" pitchFamily="34" charset="0"/>
                <a:cs typeface="Calibri" panose="020F0502020204030204" pitchFamily="34" charset="0"/>
              </a:rPr>
              <a:t>dp</a:t>
            </a:r>
            <a:r>
              <a:rPr lang="en-GB" sz="1500" dirty="0">
                <a:solidFill>
                  <a:srgbClr val="0070C0"/>
                </a:solidFill>
                <a:latin typeface="Calibri" panose="020F0502020204030204" pitchFamily="34" charset="0"/>
                <a:cs typeface="Calibri" panose="020F0502020204030204" pitchFamily="34" charset="0"/>
              </a:rPr>
              <a:t>;</a:t>
            </a:r>
          </a:p>
          <a:p>
            <a:pPr lvl="1"/>
            <a:r>
              <a:rPr lang="en-US" sz="2000" b="0" i="0" u="none" strike="noStrike" baseline="0" dirty="0">
                <a:latin typeface="Calibri" panose="020F0502020204030204" pitchFamily="34" charset="0"/>
                <a:cs typeface="Calibri" panose="020F0502020204030204" pitchFamily="34" charset="0"/>
              </a:rPr>
              <a:t>The variables c, </a:t>
            </a:r>
            <a:r>
              <a:rPr lang="en-US" sz="2000" b="0" i="0" u="none" strike="noStrike" baseline="0" dirty="0" err="1">
                <a:latin typeface="Calibri" panose="020F0502020204030204" pitchFamily="34" charset="0"/>
                <a:cs typeface="Calibri" panose="020F0502020204030204" pitchFamily="34" charset="0"/>
              </a:rPr>
              <a:t>i</a:t>
            </a:r>
            <a:r>
              <a:rPr lang="en-US" sz="2000" b="0" i="0" u="none" strike="noStrike" baseline="0" dirty="0">
                <a:latin typeface="Calibri" panose="020F0502020204030204" pitchFamily="34" charset="0"/>
                <a:cs typeface="Calibri" panose="020F0502020204030204" pitchFamily="34" charset="0"/>
              </a:rPr>
              <a:t>, f, and d are normal variables, each holding a different type of value. </a:t>
            </a:r>
          </a:p>
          <a:p>
            <a:pPr lvl="1"/>
            <a:r>
              <a:rPr lang="en-US" sz="2000" b="0" i="0" u="none" strike="noStrike" baseline="0" dirty="0">
                <a:latin typeface="Calibri" panose="020F0502020204030204" pitchFamily="34" charset="0"/>
                <a:cs typeface="Calibri" panose="020F0502020204030204" pitchFamily="34" charset="0"/>
              </a:rPr>
              <a:t>The variables cp, </a:t>
            </a:r>
            <a:r>
              <a:rPr lang="en-US" sz="2000" b="0" i="0" u="none" strike="noStrike" baseline="0" dirty="0" err="1">
                <a:latin typeface="Calibri" panose="020F0502020204030204" pitchFamily="34" charset="0"/>
                <a:cs typeface="Calibri" panose="020F0502020204030204" pitchFamily="34" charset="0"/>
              </a:rPr>
              <a:t>ip</a:t>
            </a:r>
            <a:r>
              <a:rPr lang="en-US" sz="2000" b="0" i="0" u="none" strike="noStrike" baseline="0" dirty="0">
                <a:latin typeface="Calibri" panose="020F0502020204030204" pitchFamily="34" charset="0"/>
                <a:cs typeface="Calibri" panose="020F0502020204030204" pitchFamily="34" charset="0"/>
              </a:rPr>
              <a:t>, </a:t>
            </a:r>
            <a:r>
              <a:rPr lang="en-US" sz="2000" b="0" i="0" u="none" strike="noStrike" baseline="0" dirty="0" err="1">
                <a:latin typeface="Calibri" panose="020F0502020204030204" pitchFamily="34" charset="0"/>
                <a:cs typeface="Calibri" panose="020F0502020204030204" pitchFamily="34" charset="0"/>
              </a:rPr>
              <a:t>fp</a:t>
            </a:r>
            <a:r>
              <a:rPr lang="en-US" sz="2000" b="0" i="0" u="none" strike="noStrike" baseline="0" dirty="0">
                <a:latin typeface="Calibri" panose="020F0502020204030204" pitchFamily="34" charset="0"/>
                <a:cs typeface="Calibri" panose="020F0502020204030204" pitchFamily="34" charset="0"/>
              </a:rPr>
              <a:t>, and </a:t>
            </a:r>
            <a:r>
              <a:rPr lang="en-US" sz="2000" b="0" i="0" u="none" strike="noStrike" baseline="0" dirty="0" err="1">
                <a:latin typeface="Calibri" panose="020F0502020204030204" pitchFamily="34" charset="0"/>
                <a:cs typeface="Calibri" panose="020F0502020204030204" pitchFamily="34" charset="0"/>
              </a:rPr>
              <a:t>dp</a:t>
            </a:r>
            <a:r>
              <a:rPr lang="en-US" sz="2000" b="0" i="0" u="none" strike="noStrike" baseline="0" dirty="0">
                <a:latin typeface="Calibri" panose="020F0502020204030204" pitchFamily="34" charset="0"/>
                <a:cs typeface="Calibri" panose="020F0502020204030204" pitchFamily="34" charset="0"/>
              </a:rPr>
              <a:t> are all pointers, each holding an address.</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879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Pointers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r>
                  <a:rPr lang="en-US" sz="2200" dirty="0">
                    <a:latin typeface="Calibri" panose="020F0502020204030204" pitchFamily="34" charset="0"/>
                    <a:cs typeface="Calibri" panose="020F0502020204030204" pitchFamily="34" charset="0"/>
                  </a:rPr>
                  <a:t>In a 32-bit architecture, the size of a pointer is 4 bytes. </a:t>
                </a:r>
              </a:p>
              <a:p>
                <a:pPr lvl="1"/>
                <a:r>
                  <a:rPr lang="en-US" sz="1800" dirty="0">
                    <a:latin typeface="Calibri" panose="020F0502020204030204" pitchFamily="34" charset="0"/>
                    <a:cs typeface="Calibri" panose="020F0502020204030204" pitchFamily="34" charset="0"/>
                  </a:rPr>
                  <a:t>This is because a pointer holds a memory address, and with a 32-bit address bus, it takes 32 bits (or 4 bytes) to represent each possible address in memory. </a:t>
                </a:r>
              </a:p>
              <a:p>
                <a:pPr lvl="1"/>
                <a:r>
                  <a:rPr lang="en-US" sz="1800" dirty="0">
                    <a:latin typeface="Calibri" panose="020F0502020204030204" pitchFamily="34" charset="0"/>
                    <a:cs typeface="Calibri" panose="020F0502020204030204" pitchFamily="34" charset="0"/>
                  </a:rPr>
                  <a:t>This 4-byte size allows the system to address up to 4 GB of memory, as </a:t>
                </a:r>
                <a14:m>
                  <m:oMath xmlns:m="http://schemas.openxmlformats.org/officeDocument/2006/math">
                    <m:sSup>
                      <m:sSupPr>
                        <m:ctrlPr>
                          <a:rPr lang="en-GB" sz="1800" b="0" i="1" smtClean="0">
                            <a:latin typeface="Cambria Math" panose="02040503050406030204" pitchFamily="18" charset="0"/>
                            <a:cs typeface="Calibri" panose="020F0502020204030204" pitchFamily="34" charset="0"/>
                          </a:rPr>
                        </m:ctrlPr>
                      </m:sSupPr>
                      <m:e>
                        <m:r>
                          <a:rPr lang="en-GB" sz="1800" b="0" i="1" smtClean="0">
                            <a:latin typeface="Cambria Math" panose="02040503050406030204" pitchFamily="18" charset="0"/>
                            <a:cs typeface="Calibri" panose="020F0502020204030204" pitchFamily="34" charset="0"/>
                          </a:rPr>
                          <m:t>2</m:t>
                        </m:r>
                      </m:e>
                      <m:sup>
                        <m:r>
                          <a:rPr lang="en-GB" sz="1800" b="0" i="1" smtClean="0">
                            <a:latin typeface="Cambria Math" panose="02040503050406030204" pitchFamily="18" charset="0"/>
                            <a:cs typeface="Calibri" panose="020F0502020204030204" pitchFamily="34" charset="0"/>
                          </a:rPr>
                          <m:t>32</m:t>
                        </m:r>
                      </m:sup>
                    </m:sSup>
                  </m:oMath>
                </a14:m>
                <a:r>
                  <a:rPr lang="en-US" sz="1800" dirty="0">
                    <a:latin typeface="Calibri" panose="020F0502020204030204" pitchFamily="34" charset="0"/>
                    <a:cs typeface="Calibri" panose="020F0502020204030204" pitchFamily="34" charset="0"/>
                  </a:rPr>
                  <a:t> addresses can each refer to a single byte of memory.</a:t>
                </a:r>
              </a:p>
              <a:p>
                <a:r>
                  <a:rPr lang="en-US" sz="2200" dirty="0">
                    <a:latin typeface="Calibri" panose="020F0502020204030204" pitchFamily="34" charset="0"/>
                    <a:cs typeface="Calibri" panose="020F0502020204030204" pitchFamily="34" charset="0"/>
                  </a:rPr>
                  <a:t>In contrast, on a 64-bit architecture, the size of a pointer is typically 8 bytes, allowing for a much larger addressable memory space.</a:t>
                </a:r>
              </a:p>
              <a:p>
                <a:pPr marL="0" indent="0">
                  <a:buNone/>
                </a:pPr>
                <a:endParaRPr lang="en-US" sz="2200" dirty="0">
                  <a:latin typeface="Calibri" panose="020F0502020204030204" pitchFamily="34" charset="0"/>
                  <a:cs typeface="Calibri" panose="020F0502020204030204" pitchFamily="34" charset="0"/>
                </a:endParaRPr>
              </a:p>
              <a:p>
                <a:r>
                  <a:rPr lang="en-US" sz="2200" dirty="0">
                    <a:latin typeface="Calibri" panose="020F0502020204030204" pitchFamily="34" charset="0"/>
                    <a:cs typeface="Calibri" panose="020F0502020204030204" pitchFamily="34" charset="0"/>
                  </a:rPr>
                  <a:t>The use of pointer variables involves two symbols: </a:t>
                </a:r>
              </a:p>
              <a:p>
                <a:pPr lvl="1"/>
                <a:r>
                  <a:rPr lang="en-US" sz="2000" dirty="0">
                    <a:latin typeface="Calibri" panose="020F0502020204030204" pitchFamily="34" charset="0"/>
                    <a:cs typeface="Calibri" panose="020F0502020204030204" pitchFamily="34" charset="0"/>
                  </a:rPr>
                  <a:t>&amp;: indicates the “address of” a variable</a:t>
                </a:r>
              </a:p>
              <a:p>
                <a:pPr marL="685800" lvl="2">
                  <a:spcBef>
                    <a:spcPts val="1000"/>
                  </a:spcBef>
                </a:pPr>
                <a:r>
                  <a:rPr lang="en-US" dirty="0">
                    <a:latin typeface="Calibri" panose="020F0502020204030204" pitchFamily="34" charset="0"/>
                    <a:cs typeface="Calibri" panose="020F0502020204030204" pitchFamily="34" charset="0"/>
                  </a:rPr>
                  <a:t>*: indicates “at the address given by” a variable.</a:t>
                </a:r>
              </a:p>
              <a:p>
                <a:pPr algn="l"/>
                <a:r>
                  <a:rPr lang="en-US" sz="2200" b="0" i="0" u="none" strike="noStrike" baseline="0" dirty="0">
                    <a:latin typeface="Calibri" panose="020F0502020204030204" pitchFamily="34" charset="0"/>
                    <a:cs typeface="Calibri" panose="020F0502020204030204" pitchFamily="34" charset="0"/>
                  </a:rPr>
                  <a:t>The </a:t>
                </a:r>
                <a:r>
                  <a:rPr lang="en-US" sz="2200" b="0" i="0" u="none" strike="noStrike" baseline="0" dirty="0" err="1">
                    <a:latin typeface="Calibri" panose="020F0502020204030204" pitchFamily="34" charset="0"/>
                    <a:cs typeface="Calibri" panose="020F0502020204030204" pitchFamily="34" charset="0"/>
                  </a:rPr>
                  <a:t>printf</a:t>
                </a:r>
                <a:r>
                  <a:rPr lang="en-US" sz="2200" b="0" i="0" u="none" strike="noStrike" baseline="0" dirty="0">
                    <a:latin typeface="Calibri" panose="020F0502020204030204" pitchFamily="34" charset="0"/>
                    <a:cs typeface="Calibri" panose="020F0502020204030204" pitchFamily="34" charset="0"/>
                  </a:rPr>
                  <a:t>() function also provides the %p identifier for pointers, to display the address in hexadecimal.</a:t>
                </a:r>
                <a:endParaRPr lang="en-US" sz="2200" dirty="0">
                  <a:latin typeface="Calibri" panose="020F0502020204030204" pitchFamily="34" charset="0"/>
                  <a:cs typeface="Calibri" panose="020F0502020204030204" pitchFamily="34" charset="0"/>
                </a:endParaRPr>
              </a:p>
              <a:p>
                <a:pPr algn="l"/>
                <a:endParaRPr lang="en-US" sz="22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95A32E2-BAA9-2A5F-82B6-E22E3E527FC7}"/>
                  </a:ext>
                </a:extLst>
              </p:cNvPr>
              <p:cNvSpPr>
                <a:spLocks noGrp="1" noRot="1" noChangeAspect="1" noMove="1" noResize="1" noEditPoints="1" noAdjustHandles="1" noChangeArrowheads="1" noChangeShapeType="1" noTextEdit="1"/>
              </p:cNvSpPr>
              <p:nvPr>
                <p:ph idx="1"/>
              </p:nvPr>
            </p:nvSpPr>
            <p:spPr>
              <a:blipFill>
                <a:blip r:embed="rId2"/>
                <a:stretch>
                  <a:fillRect l="-696" t="-1681" r="-870" b="-7843"/>
                </a:stretch>
              </a:blipFill>
            </p:spPr>
            <p:txBody>
              <a:bodyPr/>
              <a:lstStyle/>
              <a:p>
                <a:r>
                  <a:rPr lang="en-GB">
                    <a:noFill/>
                  </a:rPr>
                  <a:t> </a:t>
                </a:r>
              </a:p>
            </p:txBody>
          </p:sp>
        </mc:Fallback>
      </mc:AlternateContent>
    </p:spTree>
    <p:extLst>
      <p:ext uri="{BB962C8B-B14F-4D97-AF65-F5344CB8AC3E}">
        <p14:creationId xmlns:p14="http://schemas.microsoft.com/office/powerpoint/2010/main" val="3588918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3: Pointer</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Write a C program to demonstrate the use of pointer symbols * (dereferencing) and &amp; (address-of).</a:t>
            </a:r>
          </a:p>
          <a:p>
            <a:pPr algn="just"/>
            <a:r>
              <a:rPr lang="en-US" sz="2200" dirty="0">
                <a:latin typeface="Calibri" panose="020F0502020204030204" pitchFamily="34" charset="0"/>
                <a:cs typeface="Calibri" panose="020F0502020204030204" pitchFamily="34" charset="0"/>
              </a:rPr>
              <a:t>Task:</a:t>
            </a:r>
          </a:p>
          <a:p>
            <a:pPr lvl="1" algn="just"/>
            <a:r>
              <a:rPr lang="en-US" sz="2000" dirty="0">
                <a:latin typeface="Calibri" panose="020F0502020204030204" pitchFamily="34" charset="0"/>
                <a:cs typeface="Calibri" panose="020F0502020204030204" pitchFamily="34" charset="0"/>
              </a:rPr>
              <a:t>Define an integer variable and a pointer to an integer.</a:t>
            </a:r>
          </a:p>
          <a:p>
            <a:pPr lvl="1" algn="just"/>
            <a:r>
              <a:rPr lang="en-US" sz="2000" dirty="0">
                <a:latin typeface="Calibri" panose="020F0502020204030204" pitchFamily="34" charset="0"/>
                <a:cs typeface="Calibri" panose="020F0502020204030204" pitchFamily="34" charset="0"/>
              </a:rPr>
              <a:t>Assign the address of the integer variable to the pointer.</a:t>
            </a:r>
          </a:p>
          <a:p>
            <a:pPr lvl="1" algn="just"/>
            <a:r>
              <a:rPr lang="en-US" sz="2000" dirty="0">
                <a:latin typeface="Calibri" panose="020F0502020204030204" pitchFamily="34" charset="0"/>
                <a:cs typeface="Calibri" panose="020F0502020204030204" pitchFamily="34" charset="0"/>
              </a:rPr>
              <a:t>Use the pointer to modify the value of the integer variable.</a:t>
            </a:r>
          </a:p>
          <a:p>
            <a:pPr lvl="1" algn="just"/>
            <a:r>
              <a:rPr lang="en-US" sz="2000" dirty="0">
                <a:latin typeface="Calibri" panose="020F0502020204030204" pitchFamily="34" charset="0"/>
                <a:cs typeface="Calibri" panose="020F0502020204030204" pitchFamily="34" charset="0"/>
              </a:rPr>
              <a:t>Print both the address and value of the integer variable using both the pointer and the address-of operator.</a:t>
            </a:r>
          </a:p>
          <a:p>
            <a:pPr lvl="1" algn="just"/>
            <a:r>
              <a:rPr lang="en-US" sz="2000" dirty="0">
                <a:latin typeface="Calibri" panose="020F0502020204030204" pitchFamily="34" charset="0"/>
                <a:cs typeface="Calibri" panose="020F0502020204030204" pitchFamily="34" charset="0"/>
              </a:rPr>
              <a:t>Show how to use the dereferencing operator to access and modify the integer variable’s value.</a:t>
            </a:r>
            <a:endParaRPr lang="en-US" sz="2000" b="0" i="0" u="none" strike="noStrike" baseline="0" dirty="0">
              <a:latin typeface="Calibri" panose="020F0502020204030204" pitchFamily="34" charset="0"/>
              <a:cs typeface="Calibri" panose="020F0502020204030204" pitchFamily="34" charset="0"/>
            </a:endParaRPr>
          </a:p>
          <a:p>
            <a:pPr algn="l"/>
            <a:endParaRPr lang="en-US" sz="18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5084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3: Pointer</a:t>
            </a:r>
          </a:p>
        </p:txBody>
      </p:sp>
      <p:pic>
        <p:nvPicPr>
          <p:cNvPr id="5" name="Picture 4" descr="A screenshot of a computer&#10;&#10;Description automatically generated">
            <a:extLst>
              <a:ext uri="{FF2B5EF4-FFF2-40B4-BE49-F238E27FC236}">
                <a16:creationId xmlns:a16="http://schemas.microsoft.com/office/drawing/2014/main" id="{32255BBD-3CF8-23D4-DAC9-A7786979091F}"/>
              </a:ext>
            </a:extLst>
          </p:cNvPr>
          <p:cNvPicPr>
            <a:picLocks noChangeAspect="1"/>
          </p:cNvPicPr>
          <p:nvPr/>
        </p:nvPicPr>
        <p:blipFill rotWithShape="1">
          <a:blip r:embed="rId2">
            <a:extLst>
              <a:ext uri="{28A0092B-C50C-407E-A947-70E740481C1C}">
                <a14:useLocalDpi xmlns:a14="http://schemas.microsoft.com/office/drawing/2010/main" val="0"/>
              </a:ext>
            </a:extLst>
          </a:blip>
          <a:srcRect l="5385" t="9625" r="14391" b="47816"/>
          <a:stretch/>
        </p:blipFill>
        <p:spPr>
          <a:xfrm>
            <a:off x="5052291" y="1634172"/>
            <a:ext cx="6918038" cy="3589656"/>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BDAF802F-D88C-AAFF-A47E-3DECDF69D156}"/>
              </a:ext>
            </a:extLst>
          </p:cNvPr>
          <p:cNvPicPr>
            <a:picLocks noChangeAspect="1"/>
          </p:cNvPicPr>
          <p:nvPr/>
        </p:nvPicPr>
        <p:blipFill rotWithShape="1">
          <a:blip r:embed="rId3">
            <a:extLst>
              <a:ext uri="{28A0092B-C50C-407E-A947-70E740481C1C}">
                <a14:useLocalDpi xmlns:a14="http://schemas.microsoft.com/office/drawing/2010/main" val="0"/>
              </a:ext>
            </a:extLst>
          </a:blip>
          <a:srcRect l="2412" t="2633" r="28164" b="55743"/>
          <a:stretch/>
        </p:blipFill>
        <p:spPr>
          <a:xfrm>
            <a:off x="221671" y="4453575"/>
            <a:ext cx="4682837" cy="2039300"/>
          </a:xfrm>
          <a:prstGeom prst="rect">
            <a:avLst/>
          </a:prstGeom>
        </p:spPr>
      </p:pic>
    </p:spTree>
    <p:extLst>
      <p:ext uri="{BB962C8B-B14F-4D97-AF65-F5344CB8AC3E}">
        <p14:creationId xmlns:p14="http://schemas.microsoft.com/office/powerpoint/2010/main" val="179633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3: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Variable and Pointer Definition:</a:t>
            </a:r>
          </a:p>
          <a:p>
            <a:pPr lvl="1" algn="just"/>
            <a:r>
              <a:rPr lang="en-US" sz="2000" dirty="0">
                <a:latin typeface="Calibri" panose="020F0502020204030204" pitchFamily="34" charset="0"/>
                <a:cs typeface="Calibri" panose="020F0502020204030204" pitchFamily="34" charset="0"/>
              </a:rPr>
              <a:t>int number = 10; creates an integer variable number and initializes it to 10.</a:t>
            </a:r>
          </a:p>
          <a:p>
            <a:pPr lvl="1" algn="just"/>
            <a:r>
              <a:rPr lang="en-US" sz="2000" dirty="0">
                <a:latin typeface="Calibri" panose="020F0502020204030204" pitchFamily="34" charset="0"/>
                <a:cs typeface="Calibri" panose="020F0502020204030204" pitchFamily="34" charset="0"/>
              </a:rPr>
              <a:t>int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declares a pointer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to an integer.</a:t>
            </a:r>
          </a:p>
          <a:p>
            <a:pPr lvl="1" algn="just"/>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 &amp;number; assigns the address of number to the pointer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using &amp; operator.</a:t>
            </a:r>
          </a:p>
          <a:p>
            <a:pPr lvl="1" algn="just"/>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 20; uses the dereferencing operator * to change the value at the address stored in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a:t>
            </a:r>
          </a:p>
          <a:p>
            <a:pPr algn="just"/>
            <a:r>
              <a:rPr lang="en-US" sz="2200" b="1" dirty="0">
                <a:latin typeface="Calibri" panose="020F0502020204030204" pitchFamily="34" charset="0"/>
                <a:cs typeface="Calibri" panose="020F0502020204030204" pitchFamily="34" charset="0"/>
              </a:rPr>
              <a:t>Printing Values and Addresses:</a:t>
            </a:r>
          </a:p>
          <a:p>
            <a:pPr lvl="1" algn="just"/>
            <a:r>
              <a:rPr lang="en-US" sz="2000" dirty="0" err="1">
                <a:latin typeface="Calibri" panose="020F0502020204030204" pitchFamily="34" charset="0"/>
                <a:cs typeface="Calibri" panose="020F0502020204030204" pitchFamily="34" charset="0"/>
              </a:rPr>
              <a:t>printf</a:t>
            </a:r>
            <a:r>
              <a:rPr lang="en-US" sz="2000" dirty="0">
                <a:latin typeface="Calibri" panose="020F0502020204030204" pitchFamily="34" charset="0"/>
                <a:cs typeface="Calibri" panose="020F0502020204030204" pitchFamily="34" charset="0"/>
              </a:rPr>
              <a:t>("Address of number: </a:t>
            </a:r>
            <a:r>
              <a:rPr lang="en-US" sz="2000" dirty="0">
                <a:solidFill>
                  <a:srgbClr val="FF0000"/>
                </a:solidFill>
                <a:latin typeface="Calibri" panose="020F0502020204030204" pitchFamily="34" charset="0"/>
                <a:cs typeface="Calibri" panose="020F0502020204030204" pitchFamily="34" charset="0"/>
              </a:rPr>
              <a:t>%p</a:t>
            </a:r>
            <a:r>
              <a:rPr lang="en-US" sz="2000" dirty="0">
                <a:latin typeface="Calibri" panose="020F0502020204030204" pitchFamily="34" charset="0"/>
                <a:cs typeface="Calibri" panose="020F0502020204030204" pitchFamily="34" charset="0"/>
              </a:rPr>
              <a:t>\n", </a:t>
            </a:r>
            <a:r>
              <a:rPr lang="en-US" sz="2000" dirty="0">
                <a:solidFill>
                  <a:srgbClr val="FF0000"/>
                </a:solidFill>
                <a:latin typeface="Calibri" panose="020F0502020204030204" pitchFamily="34" charset="0"/>
                <a:cs typeface="Calibri" panose="020F0502020204030204" pitchFamily="34" charset="0"/>
              </a:rPr>
              <a:t>(void*)&amp;number</a:t>
            </a:r>
            <a:r>
              <a:rPr lang="en-US" sz="2000" dirty="0">
                <a:latin typeface="Calibri" panose="020F0502020204030204" pitchFamily="34" charset="0"/>
                <a:cs typeface="Calibri" panose="020F0502020204030204" pitchFamily="34" charset="0"/>
              </a:rPr>
              <a:t>); prints the address of number using the &amp; operator. </a:t>
            </a:r>
          </a:p>
          <a:p>
            <a:pPr lvl="2" algn="just"/>
            <a:r>
              <a:rPr lang="en-US" sz="1800" dirty="0">
                <a:latin typeface="Calibri" panose="020F0502020204030204" pitchFamily="34" charset="0"/>
                <a:cs typeface="Calibri" panose="020F0502020204030204" pitchFamily="34" charset="0"/>
              </a:rPr>
              <a:t>The C standard specifies that %p should be used with void*. Using (void*) ensures that the code is standard-compliant and portable across different platforms and compilers.</a:t>
            </a:r>
          </a:p>
          <a:p>
            <a:pPr lvl="2" algn="just"/>
            <a:r>
              <a:rPr lang="en-US" sz="1800" dirty="0">
                <a:latin typeface="Calibri" panose="020F0502020204030204" pitchFamily="34" charset="0"/>
                <a:cs typeface="Calibri" panose="020F0502020204030204" pitchFamily="34" charset="0"/>
              </a:rPr>
              <a:t>Even though &amp;number is technically a pointer, to match the type that %p expects, it is good practice to use it with void*. This ensures that there are no warnings or issues, particularly in more strictly typed environments or with certain compilers.</a:t>
            </a:r>
          </a:p>
        </p:txBody>
      </p:sp>
    </p:spTree>
    <p:extLst>
      <p:ext uri="{BB962C8B-B14F-4D97-AF65-F5344CB8AC3E}">
        <p14:creationId xmlns:p14="http://schemas.microsoft.com/office/powerpoint/2010/main" val="318116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3: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Printing Values and Addresses:</a:t>
            </a:r>
          </a:p>
          <a:p>
            <a:pPr lvl="1" algn="just"/>
            <a:r>
              <a:rPr lang="en-US" sz="2000" dirty="0" err="1">
                <a:latin typeface="Calibri" panose="020F0502020204030204" pitchFamily="34" charset="0"/>
                <a:cs typeface="Calibri" panose="020F0502020204030204" pitchFamily="34" charset="0"/>
              </a:rPr>
              <a:t>printf</a:t>
            </a:r>
            <a:r>
              <a:rPr lang="en-US" sz="2000" dirty="0">
                <a:latin typeface="Calibri" panose="020F0502020204030204" pitchFamily="34" charset="0"/>
                <a:cs typeface="Calibri" panose="020F0502020204030204" pitchFamily="34" charset="0"/>
              </a:rPr>
              <a:t>("Address of number: </a:t>
            </a:r>
            <a:r>
              <a:rPr lang="en-US" sz="2000" dirty="0">
                <a:solidFill>
                  <a:srgbClr val="FF0000"/>
                </a:solidFill>
                <a:latin typeface="Calibri" panose="020F0502020204030204" pitchFamily="34" charset="0"/>
                <a:cs typeface="Calibri" panose="020F0502020204030204" pitchFamily="34" charset="0"/>
              </a:rPr>
              <a:t>%p</a:t>
            </a:r>
            <a:r>
              <a:rPr lang="en-US" sz="2000" dirty="0">
                <a:latin typeface="Calibri" panose="020F0502020204030204" pitchFamily="34" charset="0"/>
                <a:cs typeface="Calibri" panose="020F0502020204030204" pitchFamily="34" charset="0"/>
              </a:rPr>
              <a:t>\n", </a:t>
            </a:r>
            <a:r>
              <a:rPr lang="en-US" sz="2000" dirty="0">
                <a:solidFill>
                  <a:srgbClr val="FF0000"/>
                </a:solidFill>
                <a:latin typeface="Calibri" panose="020F0502020204030204" pitchFamily="34" charset="0"/>
                <a:cs typeface="Calibri" panose="020F0502020204030204" pitchFamily="34" charset="0"/>
              </a:rPr>
              <a:t>(void*)&amp;number</a:t>
            </a:r>
            <a:r>
              <a:rPr lang="en-US" sz="2000" dirty="0">
                <a:latin typeface="Calibri" panose="020F0502020204030204" pitchFamily="34" charset="0"/>
                <a:cs typeface="Calibri" panose="020F0502020204030204" pitchFamily="34" charset="0"/>
              </a:rPr>
              <a:t>); prints the address of number using the &amp; operator. </a:t>
            </a:r>
          </a:p>
          <a:p>
            <a:pPr lvl="2" algn="just"/>
            <a:r>
              <a:rPr lang="en-US" sz="1800" dirty="0">
                <a:latin typeface="Calibri" panose="020F0502020204030204" pitchFamily="34" charset="0"/>
                <a:cs typeface="Calibri" panose="020F0502020204030204" pitchFamily="34" charset="0"/>
              </a:rPr>
              <a:t>The C standard specifies that %p should be used with void*. Using (void*) ensures that the code is standard-compliant and portable across different platforms and compilers.</a:t>
            </a:r>
          </a:p>
          <a:p>
            <a:pPr lvl="2" algn="just"/>
            <a:r>
              <a:rPr lang="en-US" sz="1800" dirty="0">
                <a:latin typeface="Calibri" panose="020F0502020204030204" pitchFamily="34" charset="0"/>
                <a:cs typeface="Calibri" panose="020F0502020204030204" pitchFamily="34" charset="0"/>
              </a:rPr>
              <a:t>Even though &amp;number is technically a pointer, to match the type that %p expects, it is good practice to use it with void*. This ensures that there are no warnings or issues, particularly in more strictly typed environments or with certain compilers.</a:t>
            </a:r>
          </a:p>
          <a:p>
            <a:pPr lvl="1" algn="just"/>
            <a:r>
              <a:rPr lang="en-US" sz="2000" dirty="0" err="1">
                <a:latin typeface="Calibri" panose="020F0502020204030204" pitchFamily="34" charset="0"/>
                <a:cs typeface="Calibri" panose="020F0502020204030204" pitchFamily="34" charset="0"/>
              </a:rPr>
              <a:t>printf</a:t>
            </a:r>
            <a:r>
              <a:rPr lang="en-US" sz="2000" dirty="0">
                <a:latin typeface="Calibri" panose="020F0502020204030204" pitchFamily="34" charset="0"/>
                <a:cs typeface="Calibri" panose="020F0502020204030204" pitchFamily="34" charset="0"/>
              </a:rPr>
              <a:t>("Address stored in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a:t>
            </a:r>
            <a:r>
              <a:rPr lang="en-US" sz="2000" dirty="0">
                <a:solidFill>
                  <a:srgbClr val="FF0000"/>
                </a:solidFill>
                <a:latin typeface="Calibri" panose="020F0502020204030204" pitchFamily="34" charset="0"/>
                <a:cs typeface="Calibri" panose="020F0502020204030204" pitchFamily="34" charset="0"/>
              </a:rPr>
              <a:t>%p</a:t>
            </a:r>
            <a:r>
              <a:rPr lang="en-US" sz="2000" dirty="0">
                <a:latin typeface="Calibri" panose="020F0502020204030204" pitchFamily="34" charset="0"/>
                <a:cs typeface="Calibri" panose="020F0502020204030204" pitchFamily="34" charset="0"/>
              </a:rPr>
              <a:t>\n", (void*)</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prints the address stored in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a:t>
            </a:r>
          </a:p>
          <a:p>
            <a:pPr lvl="1" algn="just"/>
            <a:r>
              <a:rPr lang="en-US" sz="2000" dirty="0" err="1">
                <a:latin typeface="Calibri" panose="020F0502020204030204" pitchFamily="34" charset="0"/>
                <a:cs typeface="Calibri" panose="020F0502020204030204" pitchFamily="34" charset="0"/>
              </a:rPr>
              <a:t>printf</a:t>
            </a:r>
            <a:r>
              <a:rPr lang="en-US" sz="2000" dirty="0">
                <a:latin typeface="Calibri" panose="020F0502020204030204" pitchFamily="34" charset="0"/>
                <a:cs typeface="Calibri" panose="020F0502020204030204" pitchFamily="34" charset="0"/>
              </a:rPr>
              <a:t>("Value pointed to by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a:t>
            </a:r>
            <a:r>
              <a:rPr lang="en-US" sz="2000" dirty="0">
                <a:solidFill>
                  <a:srgbClr val="FF0000"/>
                </a:solidFill>
                <a:latin typeface="Calibri" panose="020F0502020204030204" pitchFamily="34" charset="0"/>
                <a:cs typeface="Calibri" panose="020F0502020204030204" pitchFamily="34" charset="0"/>
              </a:rPr>
              <a:t>%d</a:t>
            </a:r>
            <a:r>
              <a:rPr lang="en-US" sz="2000" dirty="0">
                <a:latin typeface="Calibri" panose="020F0502020204030204" pitchFamily="34" charset="0"/>
                <a:cs typeface="Calibri" panose="020F0502020204030204" pitchFamily="34" charset="0"/>
              </a:rPr>
              <a:t>\n",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prints the value at the address stored in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a:t>
            </a:r>
          </a:p>
          <a:p>
            <a:pPr algn="just"/>
            <a:r>
              <a:rPr lang="en-US" sz="2200" b="1" dirty="0">
                <a:latin typeface="Calibri" panose="020F0502020204030204" pitchFamily="34" charset="0"/>
                <a:cs typeface="Calibri" panose="020F0502020204030204" pitchFamily="34" charset="0"/>
              </a:rPr>
              <a:t>Modifying Again:</a:t>
            </a:r>
          </a:p>
          <a:p>
            <a:pPr lvl="1" algn="just"/>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 30; modifies number again using the pointer.</a:t>
            </a:r>
          </a:p>
        </p:txBody>
      </p:sp>
    </p:spTree>
    <p:extLst>
      <p:ext uri="{BB962C8B-B14F-4D97-AF65-F5344CB8AC3E}">
        <p14:creationId xmlns:p14="http://schemas.microsoft.com/office/powerpoint/2010/main" val="901302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Using Pointers: </a:t>
            </a:r>
            <a:r>
              <a:rPr lang="en-US" b="1" dirty="0"/>
              <a:t>Passing Values Back from a Function</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most common reason for using pointers is to pass values back from a function.</a:t>
            </a:r>
          </a:p>
          <a:p>
            <a:pPr algn="just"/>
            <a:r>
              <a:rPr lang="en-GB" sz="2200" b="0" i="0" u="none" strike="noStrike" baseline="0" dirty="0">
                <a:latin typeface="Calibri" panose="020F0502020204030204" pitchFamily="34" charset="0"/>
                <a:cs typeface="Calibri" panose="020F0502020204030204" pitchFamily="34" charset="0"/>
              </a:rPr>
              <a:t>Consider the following example (example 4):</a:t>
            </a:r>
            <a:endParaRPr lang="en-US" sz="2200" dirty="0">
              <a:latin typeface="Calibri" panose="020F0502020204030204" pitchFamily="34" charset="0"/>
              <a:cs typeface="Calibri" panose="020F0502020204030204" pitchFamily="34" charset="0"/>
            </a:endParaRPr>
          </a:p>
        </p:txBody>
      </p:sp>
      <p:pic>
        <p:nvPicPr>
          <p:cNvPr id="5" name="Picture 4" descr="A screen shot of a computer&#10;&#10;Description automatically generated">
            <a:extLst>
              <a:ext uri="{FF2B5EF4-FFF2-40B4-BE49-F238E27FC236}">
                <a16:creationId xmlns:a16="http://schemas.microsoft.com/office/drawing/2014/main" id="{C561F756-3E78-BB58-3E8C-1C7396C2B131}"/>
              </a:ext>
            </a:extLst>
          </p:cNvPr>
          <p:cNvPicPr>
            <a:picLocks noChangeAspect="1"/>
          </p:cNvPicPr>
          <p:nvPr/>
        </p:nvPicPr>
        <p:blipFill rotWithShape="1">
          <a:blip r:embed="rId2">
            <a:extLst>
              <a:ext uri="{28A0092B-C50C-407E-A947-70E740481C1C}">
                <a14:useLocalDpi xmlns:a14="http://schemas.microsoft.com/office/drawing/2010/main" val="0"/>
              </a:ext>
            </a:extLst>
          </a:blip>
          <a:srcRect l="4817" t="11589" r="27605" b="36296"/>
          <a:stretch/>
        </p:blipFill>
        <p:spPr>
          <a:xfrm>
            <a:off x="258617" y="2682442"/>
            <a:ext cx="5358160" cy="4041630"/>
          </a:xfrm>
          <a:prstGeom prst="rect">
            <a:avLst/>
          </a:prstGeom>
        </p:spPr>
      </p:pic>
      <p:pic>
        <p:nvPicPr>
          <p:cNvPr id="7" name="Picture 6" descr="A screenshot of a computer program&#10;&#10;Description automatically generated">
            <a:extLst>
              <a:ext uri="{FF2B5EF4-FFF2-40B4-BE49-F238E27FC236}">
                <a16:creationId xmlns:a16="http://schemas.microsoft.com/office/drawing/2014/main" id="{80F173BB-D8FE-5878-39D7-222D7EF41A4A}"/>
              </a:ext>
            </a:extLst>
          </p:cNvPr>
          <p:cNvPicPr>
            <a:picLocks noChangeAspect="1"/>
          </p:cNvPicPr>
          <p:nvPr/>
        </p:nvPicPr>
        <p:blipFill rotWithShape="1">
          <a:blip r:embed="rId3">
            <a:extLst>
              <a:ext uri="{28A0092B-C50C-407E-A947-70E740481C1C}">
                <a14:useLocalDpi xmlns:a14="http://schemas.microsoft.com/office/drawing/2010/main" val="0"/>
              </a:ext>
            </a:extLst>
          </a:blip>
          <a:srcRect l="2652" t="3195" r="22675" b="60115"/>
          <a:stretch/>
        </p:blipFill>
        <p:spPr>
          <a:xfrm>
            <a:off x="5856986" y="4380346"/>
            <a:ext cx="6159524" cy="2198256"/>
          </a:xfrm>
          <a:prstGeom prst="rect">
            <a:avLst/>
          </a:prstGeom>
        </p:spPr>
      </p:pic>
    </p:spTree>
    <p:extLst>
      <p:ext uri="{BB962C8B-B14F-4D97-AF65-F5344CB8AC3E}">
        <p14:creationId xmlns:p14="http://schemas.microsoft.com/office/powerpoint/2010/main" val="947078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5: </a:t>
            </a:r>
            <a:r>
              <a:rPr lang="en-US" b="1" dirty="0"/>
              <a:t>Passing Values Back from a Function</a:t>
            </a:r>
            <a:endParaRPr lang="en-GB"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Write a C program to find the centroid (geometric center) of a set of points in a 2D space. The program should use an array to store the coordinates of the points and use pointers to access and manipulate the array data. </a:t>
                </a:r>
              </a:p>
              <a:p>
                <a:pPr algn="just"/>
                <a:r>
                  <a:rPr lang="en-US" sz="2200" dirty="0">
                    <a:latin typeface="Calibri" panose="020F0502020204030204" pitchFamily="34" charset="0"/>
                    <a:cs typeface="Calibri" panose="020F0502020204030204" pitchFamily="34" charset="0"/>
                  </a:rPr>
                  <a:t>Assume that: </a:t>
                </a:r>
              </a:p>
              <a:p>
                <a:pPr lvl="1" algn="just"/>
                <a:r>
                  <a:rPr lang="en-US" sz="2000" dirty="0">
                    <a:latin typeface="Calibri" panose="020F0502020204030204" pitchFamily="34" charset="0"/>
                    <a:cs typeface="Calibri" panose="020F0502020204030204" pitchFamily="34" charset="0"/>
                  </a:rPr>
                  <a:t>the points are stored as pairs of coordinates (x, y) in a 2D array, where each row represents a point. </a:t>
                </a:r>
                <a14:m>
                  <m:oMath xmlns:m="http://schemas.openxmlformats.org/officeDocument/2006/math">
                    <m:r>
                      <m:rPr>
                        <m:sty m:val="p"/>
                      </m:rPr>
                      <a:rPr lang="en-GB" sz="2000" b="0" i="0" smtClean="0">
                        <a:latin typeface="Cambria Math" panose="02040503050406030204" pitchFamily="18" charset="0"/>
                        <a:cs typeface="Calibri" panose="020F0502020204030204" pitchFamily="34" charset="0"/>
                      </a:rPr>
                      <m:t>points</m:t>
                    </m:r>
                    <m:r>
                      <a:rPr lang="en-GB" sz="2000" b="0" i="1" smtClean="0">
                        <a:latin typeface="Cambria Math" panose="02040503050406030204" pitchFamily="18" charset="0"/>
                        <a:cs typeface="Calibri" panose="020F0502020204030204" pitchFamily="34" charset="0"/>
                      </a:rPr>
                      <m:t>=</m:t>
                    </m:r>
                    <m:r>
                      <m:rPr>
                        <m:nor/>
                      </m:rPr>
                      <a:rPr lang="en-GB" sz="2000" b="0" i="0" smtClean="0">
                        <a:latin typeface="Cambria Math" panose="02040503050406030204" pitchFamily="18" charset="0"/>
                        <a:cs typeface="Calibri" panose="020F0502020204030204" pitchFamily="34" charset="0"/>
                      </a:rPr>
                      <m:t>{</m:t>
                    </m:r>
                    <m:r>
                      <m:rPr>
                        <m:nor/>
                      </m:rPr>
                      <a:rPr lang="sv-SE" sz="2000" dirty="0"/>
                      <m:t>(1, 2) (3, 4) (5, 6)</m:t>
                    </m:r>
                    <m:r>
                      <m:rPr>
                        <m:nor/>
                      </m:rPr>
                      <a:rPr lang="en-GB" sz="2000" b="0" i="0" dirty="0" smtClean="0"/>
                      <m:t>}</m:t>
                    </m:r>
                  </m:oMath>
                </a14:m>
                <a:endParaRPr lang="en-US" sz="20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The centroid is calculated as the average of the x-coordinates and the average of the y-coordinates of all the points.</a:t>
                </a:r>
              </a:p>
              <a:p>
                <a:pPr algn="just"/>
                <a:endParaRPr lang="en-US" sz="2200" b="0" i="0" u="none" strike="noStrike" baseline="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95A32E2-BAA9-2A5F-82B6-E22E3E527FC7}"/>
                  </a:ext>
                </a:extLst>
              </p:cNvPr>
              <p:cNvSpPr>
                <a:spLocks noGrp="1" noRot="1" noChangeAspect="1" noMove="1" noResize="1" noEditPoints="1" noAdjustHandles="1" noChangeArrowheads="1" noChangeShapeType="1" noTextEdit="1"/>
              </p:cNvSpPr>
              <p:nvPr>
                <p:ph idx="1"/>
              </p:nvPr>
            </p:nvSpPr>
            <p:spPr>
              <a:blipFill>
                <a:blip r:embed="rId2"/>
                <a:stretch>
                  <a:fillRect l="-696" t="-1681" r="-696"/>
                </a:stretch>
              </a:blipFill>
            </p:spPr>
            <p:txBody>
              <a:bodyPr/>
              <a:lstStyle/>
              <a:p>
                <a:r>
                  <a:rPr lang="en-GB">
                    <a:noFill/>
                  </a:rPr>
                  <a:t> </a:t>
                </a:r>
              </a:p>
            </p:txBody>
          </p:sp>
        </mc:Fallback>
      </mc:AlternateContent>
    </p:spTree>
    <p:extLst>
      <p:ext uri="{BB962C8B-B14F-4D97-AF65-F5344CB8AC3E}">
        <p14:creationId xmlns:p14="http://schemas.microsoft.com/office/powerpoint/2010/main" val="1361727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5: </a:t>
            </a:r>
            <a:r>
              <a:rPr lang="en-US" b="1" dirty="0"/>
              <a:t>Passing Values Back from a Function</a:t>
            </a:r>
            <a:endParaRPr lang="en-GB" b="1" dirty="0"/>
          </a:p>
        </p:txBody>
      </p:sp>
      <p:pic>
        <p:nvPicPr>
          <p:cNvPr id="6" name="Picture 5" descr="A screen shot of a computer&#10;&#10;Description automatically generated">
            <a:extLst>
              <a:ext uri="{FF2B5EF4-FFF2-40B4-BE49-F238E27FC236}">
                <a16:creationId xmlns:a16="http://schemas.microsoft.com/office/drawing/2014/main" id="{ADEE4550-802B-3508-3E41-DC2942D3FF47}"/>
              </a:ext>
            </a:extLst>
          </p:cNvPr>
          <p:cNvPicPr>
            <a:picLocks noChangeAspect="1"/>
          </p:cNvPicPr>
          <p:nvPr/>
        </p:nvPicPr>
        <p:blipFill rotWithShape="1">
          <a:blip r:embed="rId2">
            <a:extLst>
              <a:ext uri="{28A0092B-C50C-407E-A947-70E740481C1C}">
                <a14:useLocalDpi xmlns:a14="http://schemas.microsoft.com/office/drawing/2010/main" val="0"/>
              </a:ext>
            </a:extLst>
          </a:blip>
          <a:srcRect l="5343" t="8889" r="19307" b="41173"/>
          <a:stretch/>
        </p:blipFill>
        <p:spPr>
          <a:xfrm>
            <a:off x="273063" y="1939907"/>
            <a:ext cx="7023664" cy="4552968"/>
          </a:xfrm>
          <a:prstGeom prst="rect">
            <a:avLst/>
          </a:prstGeom>
        </p:spPr>
      </p:pic>
      <p:pic>
        <p:nvPicPr>
          <p:cNvPr id="9" name="Picture 8" descr="A screenshot of a computer program&#10;&#10;Description automatically generated">
            <a:extLst>
              <a:ext uri="{FF2B5EF4-FFF2-40B4-BE49-F238E27FC236}">
                <a16:creationId xmlns:a16="http://schemas.microsoft.com/office/drawing/2014/main" id="{FE1CC59D-0A11-4E73-8598-25EA8D09698F}"/>
              </a:ext>
            </a:extLst>
          </p:cNvPr>
          <p:cNvPicPr>
            <a:picLocks noChangeAspect="1"/>
          </p:cNvPicPr>
          <p:nvPr/>
        </p:nvPicPr>
        <p:blipFill rotWithShape="1">
          <a:blip r:embed="rId3">
            <a:extLst>
              <a:ext uri="{28A0092B-C50C-407E-A947-70E740481C1C}">
                <a14:useLocalDpi xmlns:a14="http://schemas.microsoft.com/office/drawing/2010/main" val="0"/>
              </a:ext>
            </a:extLst>
          </a:blip>
          <a:srcRect l="2571" t="3125" r="27718" b="68971"/>
          <a:stretch/>
        </p:blipFill>
        <p:spPr>
          <a:xfrm>
            <a:off x="6841059" y="4980059"/>
            <a:ext cx="5203453" cy="1512816"/>
          </a:xfrm>
          <a:prstGeom prst="rect">
            <a:avLst/>
          </a:prstGeom>
        </p:spPr>
      </p:pic>
    </p:spTree>
    <p:extLst>
      <p:ext uri="{BB962C8B-B14F-4D97-AF65-F5344CB8AC3E}">
        <p14:creationId xmlns:p14="http://schemas.microsoft.com/office/powerpoint/2010/main" val="2852291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Using Pointers: </a:t>
            </a:r>
            <a:r>
              <a:rPr lang="en-US" b="1" dirty="0"/>
              <a:t>Pointers and Arrays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second most common use of a pointer is when an array is used.</a:t>
            </a:r>
          </a:p>
          <a:p>
            <a:pPr algn="just"/>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Pointer: A variable that stores the memory address of another variable.</a:t>
            </a:r>
          </a:p>
          <a:p>
            <a:pPr algn="just"/>
            <a:r>
              <a:rPr lang="en-US" sz="2200" b="0" i="0" u="none" strike="noStrike" baseline="0" dirty="0">
                <a:latin typeface="Calibri" panose="020F0502020204030204" pitchFamily="34" charset="0"/>
                <a:cs typeface="Calibri" panose="020F0502020204030204" pitchFamily="34" charset="0"/>
              </a:rPr>
              <a:t>Array: A collection of elements stored in contiguous memory locations.</a:t>
            </a:r>
          </a:p>
          <a:p>
            <a:pPr algn="just"/>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Pointer and Array Relationship:</a:t>
            </a:r>
          </a:p>
          <a:p>
            <a:pPr lvl="1" algn="just"/>
            <a:r>
              <a:rPr lang="en-US" sz="2000" b="0" i="0" u="none" strike="noStrike" baseline="0" dirty="0">
                <a:latin typeface="Calibri" panose="020F0502020204030204" pitchFamily="34" charset="0"/>
                <a:cs typeface="Calibri" panose="020F0502020204030204" pitchFamily="34" charset="0"/>
              </a:rPr>
              <a:t>The name of an array acts as a pointer to the first element.</a:t>
            </a:r>
          </a:p>
          <a:p>
            <a:pPr lvl="1" algn="just"/>
            <a:r>
              <a:rPr lang="en-US" sz="2000" b="0" i="0" u="none" strike="noStrike" baseline="0" dirty="0">
                <a:latin typeface="Calibri" panose="020F0502020204030204" pitchFamily="34" charset="0"/>
                <a:cs typeface="Calibri" panose="020F0502020204030204" pitchFamily="34" charset="0"/>
              </a:rPr>
              <a:t>You can use pointers to traverse and manipulate array elements.</a:t>
            </a:r>
          </a:p>
          <a:p>
            <a:pPr algn="just"/>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Array Access: array[</a:t>
            </a:r>
            <a:r>
              <a:rPr lang="en-US" sz="2200" b="0" i="0" u="none" strike="noStrike" baseline="0" dirty="0" err="1">
                <a:latin typeface="Calibri" panose="020F0502020204030204" pitchFamily="34" charset="0"/>
                <a:cs typeface="Calibri" panose="020F0502020204030204" pitchFamily="34" charset="0"/>
              </a:rPr>
              <a:t>i</a:t>
            </a:r>
            <a:r>
              <a:rPr lang="en-US" sz="2200" b="0" i="0" u="none" strike="noStrike" baseline="0" dirty="0">
                <a:latin typeface="Calibri" panose="020F0502020204030204" pitchFamily="34" charset="0"/>
                <a:cs typeface="Calibri" panose="020F0502020204030204" pitchFamily="34" charset="0"/>
              </a:rPr>
              <a:t>] is equivalent to *(array + </a:t>
            </a:r>
            <a:r>
              <a:rPr lang="en-US" sz="2200" b="0" i="0" u="none" strike="noStrike" baseline="0" dirty="0" err="1">
                <a:latin typeface="Calibri" panose="020F0502020204030204" pitchFamily="34" charset="0"/>
                <a:cs typeface="Calibri" panose="020F0502020204030204" pitchFamily="34" charset="0"/>
              </a:rPr>
              <a:t>i</a:t>
            </a:r>
            <a:r>
              <a:rPr lang="en-US" sz="2200" b="0" i="0" u="none" strike="noStrike" baseline="0" dirty="0">
                <a:latin typeface="Calibri" panose="020F0502020204030204" pitchFamily="34" charset="0"/>
                <a:cs typeface="Calibri" panose="020F0502020204030204" pitchFamily="34" charset="0"/>
              </a:rPr>
              <a:t>).</a:t>
            </a:r>
          </a:p>
          <a:p>
            <a:pPr algn="just"/>
            <a:r>
              <a:rPr lang="en-US" sz="2200" b="0" i="0" u="none" strike="noStrike" baseline="0" dirty="0">
                <a:latin typeface="Calibri" panose="020F0502020204030204" pitchFamily="34" charset="0"/>
                <a:cs typeface="Calibri" panose="020F0502020204030204" pitchFamily="34" charset="0"/>
              </a:rPr>
              <a:t>Pointer Arithmetic: *(</a:t>
            </a:r>
            <a:r>
              <a:rPr lang="en-US" sz="2200" b="0" i="0" u="none" strike="noStrike" baseline="0" dirty="0" err="1">
                <a:latin typeface="Calibri" panose="020F0502020204030204" pitchFamily="34" charset="0"/>
                <a:cs typeface="Calibri" panose="020F0502020204030204" pitchFamily="34" charset="0"/>
              </a:rPr>
              <a:t>ptr</a:t>
            </a:r>
            <a:r>
              <a:rPr lang="en-US" sz="2200" b="0" i="0" u="none" strike="noStrike" baseline="0" dirty="0">
                <a:latin typeface="Calibri" panose="020F0502020204030204" pitchFamily="34" charset="0"/>
                <a:cs typeface="Calibri" panose="020F0502020204030204" pitchFamily="34" charset="0"/>
              </a:rPr>
              <a:t> + </a:t>
            </a:r>
            <a:r>
              <a:rPr lang="en-US" sz="2200" b="0" i="0" u="none" strike="noStrike" baseline="0" dirty="0" err="1">
                <a:latin typeface="Calibri" panose="020F0502020204030204" pitchFamily="34" charset="0"/>
                <a:cs typeface="Calibri" panose="020F0502020204030204" pitchFamily="34" charset="0"/>
              </a:rPr>
              <a:t>i</a:t>
            </a:r>
            <a:r>
              <a:rPr lang="en-US" sz="2200" b="0" i="0" u="none" strike="noStrike" baseline="0" dirty="0">
                <a:latin typeface="Calibri" panose="020F0502020204030204" pitchFamily="34" charset="0"/>
                <a:cs typeface="Calibri" panose="020F0502020204030204" pitchFamily="34" charset="0"/>
              </a:rPr>
              <a:t>) accesses the element at index </a:t>
            </a:r>
            <a:r>
              <a:rPr lang="en-US" sz="2200" b="0" i="0" u="none" strike="noStrike" baseline="0" dirty="0" err="1">
                <a:latin typeface="Calibri" panose="020F0502020204030204" pitchFamily="34" charset="0"/>
                <a:cs typeface="Calibri" panose="020F0502020204030204" pitchFamily="34" charset="0"/>
              </a:rPr>
              <a:t>i</a:t>
            </a:r>
            <a:r>
              <a:rPr lang="en-US" sz="2200" b="0" i="0" u="none" strike="noStrike" baseline="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7274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6: </a:t>
            </a:r>
            <a:r>
              <a:rPr lang="en-US" b="1" dirty="0"/>
              <a:t>Pointers and Arrays</a:t>
            </a:r>
            <a:endParaRPr lang="en-GB" b="1" dirty="0"/>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373880" cy="4351338"/>
          </a:xfrm>
        </p:spPr>
        <p:txBody>
          <a:bodyPr>
            <a:noAutofit/>
          </a:bodyPr>
          <a:lstStyle/>
          <a:p>
            <a:pPr algn="just"/>
            <a:r>
              <a:rPr lang="en-US" sz="2200" dirty="0">
                <a:latin typeface="Calibri" panose="020F0502020204030204" pitchFamily="34" charset="0"/>
                <a:cs typeface="Calibri" panose="020F0502020204030204" pitchFamily="34" charset="0"/>
              </a:rPr>
              <a:t>Write a C program that demonstrates how to use pointers to access and modify elements in an array. </a:t>
            </a:r>
          </a:p>
          <a:p>
            <a:pPr algn="just"/>
            <a:r>
              <a:rPr lang="en-US" sz="2200" dirty="0">
                <a:latin typeface="Calibri" panose="020F0502020204030204" pitchFamily="34" charset="0"/>
                <a:cs typeface="Calibri" panose="020F0502020204030204" pitchFamily="34" charset="0"/>
              </a:rPr>
              <a:t>Task:</a:t>
            </a:r>
          </a:p>
          <a:p>
            <a:pPr lvl="1" algn="just"/>
            <a:r>
              <a:rPr lang="en-US" sz="2000" dirty="0">
                <a:latin typeface="Calibri" panose="020F0502020204030204" pitchFamily="34" charset="0"/>
                <a:cs typeface="Calibri" panose="020F0502020204030204" pitchFamily="34" charset="0"/>
              </a:rPr>
              <a:t>The program should initialize an array of 5 integers, </a:t>
            </a:r>
          </a:p>
          <a:p>
            <a:pPr lvl="1" algn="just"/>
            <a:r>
              <a:rPr lang="en-US" sz="2000" dirty="0">
                <a:latin typeface="Calibri" panose="020F0502020204030204" pitchFamily="34" charset="0"/>
                <a:cs typeface="Calibri" panose="020F0502020204030204" pitchFamily="34" charset="0"/>
              </a:rPr>
              <a:t>display its elements using pointer arithmetic, </a:t>
            </a:r>
          </a:p>
          <a:p>
            <a:pPr lvl="1" algn="just"/>
            <a:r>
              <a:rPr lang="en-US" sz="2000" dirty="0">
                <a:latin typeface="Calibri" panose="020F0502020204030204" pitchFamily="34" charset="0"/>
                <a:cs typeface="Calibri" panose="020F0502020204030204" pitchFamily="34" charset="0"/>
              </a:rPr>
              <a:t>modify one of the elements through the pointer, and </a:t>
            </a:r>
          </a:p>
          <a:p>
            <a:pPr lvl="1" algn="just"/>
            <a:r>
              <a:rPr lang="en-US" sz="2000" dirty="0">
                <a:latin typeface="Calibri" panose="020F0502020204030204" pitchFamily="34" charset="0"/>
                <a:cs typeface="Calibri" panose="020F0502020204030204" pitchFamily="34" charset="0"/>
              </a:rPr>
              <a:t>then display the updated array. </a:t>
            </a:r>
            <a:endParaRPr lang="en-US" sz="2000" b="0" i="0" u="none" strike="noStrike" baseline="0" dirty="0">
              <a:latin typeface="Calibri" panose="020F0502020204030204" pitchFamily="34" charset="0"/>
              <a:cs typeface="Calibri" panose="020F0502020204030204" pitchFamily="34" charset="0"/>
            </a:endParaRPr>
          </a:p>
        </p:txBody>
      </p:sp>
      <p:pic>
        <p:nvPicPr>
          <p:cNvPr id="5" name="Picture 4" descr="A screenshot of a computer&#10;&#10;Description automatically generated">
            <a:extLst>
              <a:ext uri="{FF2B5EF4-FFF2-40B4-BE49-F238E27FC236}">
                <a16:creationId xmlns:a16="http://schemas.microsoft.com/office/drawing/2014/main" id="{4BA3F7FC-3CBE-B1FE-44B4-16537461453F}"/>
              </a:ext>
            </a:extLst>
          </p:cNvPr>
          <p:cNvPicPr>
            <a:picLocks noChangeAspect="1"/>
          </p:cNvPicPr>
          <p:nvPr/>
        </p:nvPicPr>
        <p:blipFill rotWithShape="1">
          <a:blip r:embed="rId2">
            <a:extLst>
              <a:ext uri="{28A0092B-C50C-407E-A947-70E740481C1C}">
                <a14:useLocalDpi xmlns:a14="http://schemas.microsoft.com/office/drawing/2010/main" val="0"/>
              </a:ext>
            </a:extLst>
          </a:blip>
          <a:srcRect l="5949" t="12639" r="26816" b="50000"/>
          <a:stretch/>
        </p:blipFill>
        <p:spPr>
          <a:xfrm>
            <a:off x="6096000" y="1439068"/>
            <a:ext cx="5852160" cy="318069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0312399-F091-5B67-84B5-6A8641489DDB}"/>
              </a:ext>
            </a:extLst>
          </p:cNvPr>
          <p:cNvPicPr>
            <a:picLocks noChangeAspect="1"/>
          </p:cNvPicPr>
          <p:nvPr/>
        </p:nvPicPr>
        <p:blipFill rotWithShape="1">
          <a:blip r:embed="rId3">
            <a:extLst>
              <a:ext uri="{28A0092B-C50C-407E-A947-70E740481C1C}">
                <a14:useLocalDpi xmlns:a14="http://schemas.microsoft.com/office/drawing/2010/main" val="0"/>
              </a:ext>
            </a:extLst>
          </a:blip>
          <a:srcRect l="2886" t="3281" r="29323" b="39909"/>
          <a:stretch/>
        </p:blipFill>
        <p:spPr>
          <a:xfrm>
            <a:off x="7213497" y="4480560"/>
            <a:ext cx="3617166" cy="2201682"/>
          </a:xfrm>
          <a:prstGeom prst="rect">
            <a:avLst/>
          </a:prstGeom>
        </p:spPr>
      </p:pic>
      <p:sp>
        <p:nvSpPr>
          <p:cNvPr id="9" name="Rectangle 2">
            <a:extLst>
              <a:ext uri="{FF2B5EF4-FFF2-40B4-BE49-F238E27FC236}">
                <a16:creationId xmlns:a16="http://schemas.microsoft.com/office/drawing/2014/main" id="{15394448-7409-ECD3-5A24-91B02A65496A}"/>
              </a:ext>
            </a:extLst>
          </p:cNvPr>
          <p:cNvSpPr>
            <a:spLocks noChangeArrowheads="1"/>
          </p:cNvSpPr>
          <p:nvPr/>
        </p:nvSpPr>
        <p:spPr bwMode="auto">
          <a:xfrm>
            <a:off x="10429240" y="2007215"/>
            <a:ext cx="218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ptr</a:t>
            </a:r>
            <a:r>
              <a:rPr kumimoji="0" lang="en-GB"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is a pointer to the first element of the array. </a:t>
            </a:r>
          </a:p>
        </p:txBody>
      </p:sp>
      <p:sp>
        <p:nvSpPr>
          <p:cNvPr id="10" name="Rectangle 3">
            <a:extLst>
              <a:ext uri="{FF2B5EF4-FFF2-40B4-BE49-F238E27FC236}">
                <a16:creationId xmlns:a16="http://schemas.microsoft.com/office/drawing/2014/main" id="{6057985D-1250-D4B9-0267-4D1320D36921}"/>
              </a:ext>
            </a:extLst>
          </p:cNvPr>
          <p:cNvSpPr>
            <a:spLocks noChangeArrowheads="1"/>
          </p:cNvSpPr>
          <p:nvPr/>
        </p:nvSpPr>
        <p:spPr bwMode="auto">
          <a:xfrm>
            <a:off x="10027920" y="2856964"/>
            <a:ext cx="21640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ptr</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points</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to the </a:t>
            </a: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first</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element, so *(</a:t>
            </a: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ptr</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i) </a:t>
            </a: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accesses</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elements like </a:t>
            </a:r>
            <a:r>
              <a:rPr kumimoji="0" lang="sv-SE" altLang="sv-SE" sz="12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array</a:t>
            </a:r>
            <a:r>
              <a:rPr kumimoji="0" lang="sv-SE" altLang="sv-SE"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 </a:t>
            </a:r>
          </a:p>
        </p:txBody>
      </p:sp>
      <p:cxnSp>
        <p:nvCxnSpPr>
          <p:cNvPr id="12" name="Straight Arrow Connector 11">
            <a:extLst>
              <a:ext uri="{FF2B5EF4-FFF2-40B4-BE49-F238E27FC236}">
                <a16:creationId xmlns:a16="http://schemas.microsoft.com/office/drawing/2014/main" id="{EB4FC405-3BDD-314D-2E60-CA6D3860B880}"/>
              </a:ext>
            </a:extLst>
          </p:cNvPr>
          <p:cNvCxnSpPr/>
          <p:nvPr/>
        </p:nvCxnSpPr>
        <p:spPr>
          <a:xfrm>
            <a:off x="9235440" y="2856964"/>
            <a:ext cx="863600" cy="1808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4B653D5-3308-565D-F354-AA984F92E5C2}"/>
              </a:ext>
            </a:extLst>
          </p:cNvPr>
          <p:cNvCxnSpPr/>
          <p:nvPr/>
        </p:nvCxnSpPr>
        <p:spPr>
          <a:xfrm>
            <a:off x="7020560" y="3230880"/>
            <a:ext cx="3007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2692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Dynamic Memory Allocation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sv-SE" sz="2200" dirty="0" err="1">
                <a:latin typeface="Calibri" panose="020F0502020204030204" pitchFamily="34" charset="0"/>
                <a:cs typeface="Calibri" panose="020F0502020204030204" pitchFamily="34" charset="0"/>
              </a:rPr>
              <a:t>Static</a:t>
            </a:r>
            <a:r>
              <a:rPr lang="sv-SE" sz="2200" dirty="0">
                <a:latin typeface="Calibri" panose="020F0502020204030204" pitchFamily="34" charset="0"/>
                <a:cs typeface="Calibri" panose="020F0502020204030204" pitchFamily="34" charset="0"/>
              </a:rPr>
              <a:t> </a:t>
            </a:r>
            <a:r>
              <a:rPr lang="sv-SE" sz="2200" dirty="0" err="1">
                <a:latin typeface="Calibri" panose="020F0502020204030204" pitchFamily="34" charset="0"/>
                <a:cs typeface="Calibri" panose="020F0502020204030204" pitchFamily="34" charset="0"/>
              </a:rPr>
              <a:t>Memory</a:t>
            </a:r>
            <a:r>
              <a:rPr lang="sv-SE" sz="2200" dirty="0">
                <a:latin typeface="Calibri" panose="020F0502020204030204" pitchFamily="34" charset="0"/>
                <a:cs typeface="Calibri" panose="020F0502020204030204" pitchFamily="34" charset="0"/>
              </a:rPr>
              <a:t> </a:t>
            </a:r>
            <a:r>
              <a:rPr lang="sv-SE" sz="2200" dirty="0" err="1">
                <a:latin typeface="Calibri" panose="020F0502020204030204" pitchFamily="34" charset="0"/>
                <a:cs typeface="Calibri" panose="020F0502020204030204" pitchFamily="34" charset="0"/>
              </a:rPr>
              <a:t>Allocation</a:t>
            </a:r>
            <a:r>
              <a:rPr lang="sv-SE" sz="2200" dirty="0">
                <a:latin typeface="Calibri" panose="020F0502020204030204" pitchFamily="34" charset="0"/>
                <a:cs typeface="Calibri" panose="020F0502020204030204" pitchFamily="34" charset="0"/>
              </a:rPr>
              <a:t>:</a:t>
            </a:r>
            <a:endParaRPr lang="en-US" sz="22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Space for variables is allocated at compile time.</a:t>
            </a:r>
          </a:p>
          <a:p>
            <a:pPr lvl="1" algn="just"/>
            <a:r>
              <a:rPr lang="en-GB" sz="2000" b="0" i="0" u="none" strike="noStrike" baseline="0" dirty="0">
                <a:latin typeface="Calibri" panose="020F0502020204030204" pitchFamily="34" charset="0"/>
                <a:cs typeface="Calibri" panose="020F0502020204030204" pitchFamily="34" charset="0"/>
              </a:rPr>
              <a:t>This means </a:t>
            </a:r>
            <a:r>
              <a:rPr lang="en-US" sz="2000" b="0" i="0" u="none" strike="noStrike" baseline="0" dirty="0">
                <a:latin typeface="Calibri" panose="020F0502020204030204" pitchFamily="34" charset="0"/>
                <a:cs typeface="Calibri" panose="020F0502020204030204" pitchFamily="34" charset="0"/>
              </a:rPr>
              <a:t>that the size (in bytes) of each of the variables is known before the program runs.</a:t>
            </a:r>
          </a:p>
          <a:p>
            <a:pPr lvl="1" algn="just"/>
            <a:r>
              <a:rPr lang="en-US" sz="2000" b="0" i="0" u="none" strike="noStrike" baseline="0" dirty="0">
                <a:latin typeface="Calibri" panose="020F0502020204030204" pitchFamily="34" charset="0"/>
                <a:cs typeface="Calibri" panose="020F0502020204030204" pitchFamily="34" charset="0"/>
              </a:rPr>
              <a:t>Upon starting execution of the program, the operating system (O/S) finds a place in memory for all the global variables in the program.</a:t>
            </a:r>
          </a:p>
          <a:p>
            <a:pPr lvl="1" algn="just"/>
            <a:r>
              <a:rPr lang="en-US" sz="2000" dirty="0">
                <a:latin typeface="Calibri" panose="020F0502020204030204" pitchFamily="34" charset="0"/>
                <a:cs typeface="Calibri" panose="020F0502020204030204" pitchFamily="34" charset="0"/>
              </a:rPr>
              <a:t>T</a:t>
            </a:r>
            <a:r>
              <a:rPr lang="en-US" sz="2000" b="0" i="0" u="none" strike="noStrike" baseline="0" dirty="0">
                <a:latin typeface="Calibri" panose="020F0502020204030204" pitchFamily="34" charset="0"/>
                <a:cs typeface="Calibri" panose="020F0502020204030204" pitchFamily="34" charset="0"/>
              </a:rPr>
              <a:t>he entire time that the program is running, the size of a </a:t>
            </a:r>
            <a:r>
              <a:rPr lang="en-GB" sz="2000" b="0" i="0" u="none" strike="noStrike" baseline="0" dirty="0">
                <a:latin typeface="Calibri" panose="020F0502020204030204" pitchFamily="34" charset="0"/>
                <a:cs typeface="Calibri" panose="020F0502020204030204" pitchFamily="34" charset="0"/>
              </a:rPr>
              <a:t>variable does not change.</a:t>
            </a:r>
          </a:p>
          <a:p>
            <a:pPr algn="just"/>
            <a:endParaRPr lang="sv-SE" sz="2200" dirty="0">
              <a:latin typeface="Calibri" panose="020F0502020204030204" pitchFamily="34" charset="0"/>
              <a:cs typeface="Calibri" panose="020F0502020204030204" pitchFamily="34" charset="0"/>
            </a:endParaRPr>
          </a:p>
          <a:p>
            <a:pPr algn="just"/>
            <a:r>
              <a:rPr lang="sv-SE" sz="2200" dirty="0" err="1">
                <a:latin typeface="Calibri" panose="020F0502020204030204" pitchFamily="34" charset="0"/>
                <a:cs typeface="Calibri" panose="020F0502020204030204" pitchFamily="34" charset="0"/>
              </a:rPr>
              <a:t>Static</a:t>
            </a:r>
            <a:r>
              <a:rPr lang="sv-SE" sz="2200" dirty="0">
                <a:latin typeface="Calibri" panose="020F0502020204030204" pitchFamily="34" charset="0"/>
                <a:cs typeface="Calibri" panose="020F0502020204030204" pitchFamily="34" charset="0"/>
              </a:rPr>
              <a:t> </a:t>
            </a:r>
            <a:r>
              <a:rPr lang="sv-SE" sz="2200" dirty="0" err="1">
                <a:latin typeface="Calibri" panose="020F0502020204030204" pitchFamily="34" charset="0"/>
                <a:cs typeface="Calibri" panose="020F0502020204030204" pitchFamily="34" charset="0"/>
              </a:rPr>
              <a:t>memory</a:t>
            </a:r>
            <a:r>
              <a:rPr lang="sv-SE" sz="2200" dirty="0">
                <a:latin typeface="Calibri" panose="020F0502020204030204" pitchFamily="34" charset="0"/>
                <a:cs typeface="Calibri" panose="020F0502020204030204" pitchFamily="34" charset="0"/>
              </a:rPr>
              <a:t> </a:t>
            </a:r>
            <a:r>
              <a:rPr lang="sv-SE" sz="2200" dirty="0" err="1">
                <a:latin typeface="Calibri" panose="020F0502020204030204" pitchFamily="34" charset="0"/>
                <a:cs typeface="Calibri" panose="020F0502020204030204" pitchFamily="34" charset="0"/>
              </a:rPr>
              <a:t>allocation</a:t>
            </a:r>
            <a:r>
              <a:rPr lang="en-US" sz="2200" dirty="0">
                <a:latin typeface="Calibri" panose="020F0502020204030204" pitchFamily="34" charset="0"/>
                <a:cs typeface="Calibri" panose="020F0502020204030204" pitchFamily="34" charset="0"/>
              </a:rPr>
              <a:t> is efficient but inflexible for variable-sized data.</a:t>
            </a:r>
          </a:p>
          <a:p>
            <a:pPr marL="457200" lvl="1" indent="0" algn="just">
              <a:buNone/>
            </a:pPr>
            <a:endParaRPr lang="en-US" sz="22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2982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Dynamic Memory Allocation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Sometimes a program does not know how much memory it needs prior to execution.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For example, in reading a line of text from a file, the program might not know how big a string is needed to store all the words before the file has been selected and read.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In this case, a programmer might decide to declare a string of sufficient size to store any possible line of text. </a:t>
            </a:r>
          </a:p>
          <a:p>
            <a:pPr lvl="1" algn="just"/>
            <a:r>
              <a:rPr lang="en-US" sz="1800" dirty="0">
                <a:latin typeface="Calibri" panose="020F0502020204030204" pitchFamily="34" charset="0"/>
                <a:cs typeface="Calibri" panose="020F0502020204030204" pitchFamily="34" charset="0"/>
              </a:rPr>
              <a:t>This is wasteful and perhaps, in some cases, impossible. </a:t>
            </a:r>
          </a:p>
          <a:p>
            <a:pPr algn="just"/>
            <a:r>
              <a:rPr lang="en-US" sz="2200" dirty="0">
                <a:latin typeface="Calibri" panose="020F0502020204030204" pitchFamily="34" charset="0"/>
                <a:cs typeface="Calibri" panose="020F0502020204030204" pitchFamily="34" charset="0"/>
              </a:rPr>
              <a:t>The maximum size of something to be read might not be known beforehand.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The alternative is to use dynamic memory allocation.</a:t>
            </a:r>
          </a:p>
          <a:p>
            <a:pPr lvl="1" algn="just"/>
            <a:endParaRPr lang="en-US" sz="22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6695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Dynamic Memory Allocation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Key Functions:</a:t>
            </a:r>
          </a:p>
          <a:p>
            <a:pPr lvl="1" algn="just"/>
            <a:r>
              <a:rPr lang="en-US" sz="2000" dirty="0">
                <a:latin typeface="Calibri" panose="020F0502020204030204" pitchFamily="34" charset="0"/>
                <a:cs typeface="Calibri" panose="020F0502020204030204" pitchFamily="34" charset="0"/>
              </a:rPr>
              <a:t>malloc(</a:t>
            </a:r>
            <a:r>
              <a:rPr lang="en-US" sz="2000" dirty="0" err="1">
                <a:latin typeface="Calibri" panose="020F0502020204030204" pitchFamily="34" charset="0"/>
                <a:cs typeface="Calibri" panose="020F0502020204030204" pitchFamily="34" charset="0"/>
              </a:rPr>
              <a:t>size_t</a:t>
            </a:r>
            <a:r>
              <a:rPr lang="en-US" sz="2000" dirty="0">
                <a:latin typeface="Calibri" panose="020F0502020204030204" pitchFamily="34" charset="0"/>
                <a:cs typeface="Calibri" panose="020F0502020204030204" pitchFamily="34" charset="0"/>
              </a:rPr>
              <a:t> size)</a:t>
            </a:r>
          </a:p>
          <a:p>
            <a:pPr lvl="2" algn="just"/>
            <a:r>
              <a:rPr lang="en-US" sz="1800" dirty="0">
                <a:latin typeface="Calibri" panose="020F0502020204030204" pitchFamily="34" charset="0"/>
                <a:cs typeface="Calibri" panose="020F0502020204030204" pitchFamily="34" charset="0"/>
              </a:rPr>
              <a:t>Allocates size bytes of memory.</a:t>
            </a:r>
          </a:p>
          <a:p>
            <a:pPr lvl="2" algn="just"/>
            <a:r>
              <a:rPr lang="en-US" sz="1800" dirty="0">
                <a:latin typeface="Calibri" panose="020F0502020204030204" pitchFamily="34" charset="0"/>
                <a:cs typeface="Calibri" panose="020F0502020204030204" pitchFamily="34" charset="0"/>
              </a:rPr>
              <a:t>Syntax: void *</a:t>
            </a:r>
            <a:r>
              <a:rPr lang="en-US" sz="1800" dirty="0" err="1">
                <a:latin typeface="Calibri" panose="020F0502020204030204" pitchFamily="34" charset="0"/>
                <a:cs typeface="Calibri" panose="020F0502020204030204" pitchFamily="34" charset="0"/>
              </a:rPr>
              <a:t>ptr</a:t>
            </a:r>
            <a:r>
              <a:rPr lang="en-US" sz="1800" dirty="0">
                <a:latin typeface="Calibri" panose="020F0502020204030204" pitchFamily="34" charset="0"/>
                <a:cs typeface="Calibri" panose="020F0502020204030204" pitchFamily="34" charset="0"/>
              </a:rPr>
              <a:t> = malloc(size);</a:t>
            </a:r>
          </a:p>
          <a:p>
            <a:pPr lvl="2" algn="just"/>
            <a:r>
              <a:rPr lang="en-US" sz="1800" dirty="0">
                <a:latin typeface="Calibri" panose="020F0502020204030204" pitchFamily="34" charset="0"/>
                <a:cs typeface="Calibri" panose="020F0502020204030204" pitchFamily="34" charset="0"/>
              </a:rPr>
              <a:t>Returns: Pointer to allocated memory or NULL if allocation fails.</a:t>
            </a:r>
          </a:p>
          <a:p>
            <a:pPr lvl="1" algn="just"/>
            <a:endParaRPr lang="en-US" sz="1800" dirty="0">
              <a:latin typeface="Calibri" panose="020F0502020204030204" pitchFamily="34" charset="0"/>
              <a:cs typeface="Calibri" panose="020F0502020204030204" pitchFamily="34" charset="0"/>
            </a:endParaRPr>
          </a:p>
          <a:p>
            <a:pPr lvl="1" algn="just"/>
            <a:r>
              <a:rPr lang="en-US" sz="2000" dirty="0" err="1">
                <a:latin typeface="Calibri" panose="020F0502020204030204" pitchFamily="34" charset="0"/>
                <a:cs typeface="Calibri" panose="020F0502020204030204" pitchFamily="34" charset="0"/>
              </a:rPr>
              <a:t>calloc</a:t>
            </a: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size_t</a:t>
            </a:r>
            <a:r>
              <a:rPr lang="en-US" sz="2000" dirty="0">
                <a:latin typeface="Calibri" panose="020F0502020204030204" pitchFamily="34" charset="0"/>
                <a:cs typeface="Calibri" panose="020F0502020204030204" pitchFamily="34" charset="0"/>
              </a:rPr>
              <a:t> num, </a:t>
            </a:r>
            <a:r>
              <a:rPr lang="en-US" sz="2000" dirty="0" err="1">
                <a:latin typeface="Calibri" panose="020F0502020204030204" pitchFamily="34" charset="0"/>
                <a:cs typeface="Calibri" panose="020F0502020204030204" pitchFamily="34" charset="0"/>
              </a:rPr>
              <a:t>size_t</a:t>
            </a:r>
            <a:r>
              <a:rPr lang="en-US" sz="2000" dirty="0">
                <a:latin typeface="Calibri" panose="020F0502020204030204" pitchFamily="34" charset="0"/>
                <a:cs typeface="Calibri" panose="020F0502020204030204" pitchFamily="34" charset="0"/>
              </a:rPr>
              <a:t> size)</a:t>
            </a:r>
          </a:p>
          <a:p>
            <a:pPr lvl="2" algn="just"/>
            <a:r>
              <a:rPr lang="en-US" sz="1800" dirty="0">
                <a:latin typeface="Calibri" panose="020F0502020204030204" pitchFamily="34" charset="0"/>
                <a:cs typeface="Calibri" panose="020F0502020204030204" pitchFamily="34" charset="0"/>
              </a:rPr>
              <a:t>Allocates memory for an array of num elements, each of size </a:t>
            </a:r>
            <a:r>
              <a:rPr lang="en-US" sz="1800" dirty="0" err="1">
                <a:latin typeface="Calibri" panose="020F0502020204030204" pitchFamily="34" charset="0"/>
                <a:cs typeface="Calibri" panose="020F0502020204030204" pitchFamily="34" charset="0"/>
              </a:rPr>
              <a:t>size</a:t>
            </a:r>
            <a:r>
              <a:rPr lang="en-US" sz="1800" dirty="0">
                <a:latin typeface="Calibri" panose="020F0502020204030204" pitchFamily="34" charset="0"/>
                <a:cs typeface="Calibri" panose="020F0502020204030204" pitchFamily="34" charset="0"/>
              </a:rPr>
              <a:t>. Initializes all bytes to zero.</a:t>
            </a:r>
          </a:p>
          <a:p>
            <a:pPr lvl="2" algn="just"/>
            <a:r>
              <a:rPr lang="en-US" sz="1800" dirty="0">
                <a:latin typeface="Calibri" panose="020F0502020204030204" pitchFamily="34" charset="0"/>
                <a:cs typeface="Calibri" panose="020F0502020204030204" pitchFamily="34" charset="0"/>
              </a:rPr>
              <a:t>Syntax: void *</a:t>
            </a:r>
            <a:r>
              <a:rPr lang="en-US" sz="1800" dirty="0" err="1">
                <a:latin typeface="Calibri" panose="020F0502020204030204" pitchFamily="34" charset="0"/>
                <a:cs typeface="Calibri" panose="020F0502020204030204" pitchFamily="34" charset="0"/>
              </a:rPr>
              <a:t>ptr</a:t>
            </a:r>
            <a:r>
              <a:rPr lang="en-US" sz="1800" dirty="0">
                <a:latin typeface="Calibri" panose="020F0502020204030204" pitchFamily="34" charset="0"/>
                <a:cs typeface="Calibri" panose="020F0502020204030204" pitchFamily="34" charset="0"/>
              </a:rPr>
              <a:t> = </a:t>
            </a:r>
            <a:r>
              <a:rPr lang="en-US" sz="1800" dirty="0" err="1">
                <a:latin typeface="Calibri" panose="020F0502020204030204" pitchFamily="34" charset="0"/>
                <a:cs typeface="Calibri" panose="020F0502020204030204" pitchFamily="34" charset="0"/>
              </a:rPr>
              <a:t>calloc</a:t>
            </a:r>
            <a:r>
              <a:rPr lang="en-US" sz="1800" dirty="0">
                <a:latin typeface="Calibri" panose="020F0502020204030204" pitchFamily="34" charset="0"/>
                <a:cs typeface="Calibri" panose="020F0502020204030204" pitchFamily="34" charset="0"/>
              </a:rPr>
              <a:t>(num, size);</a:t>
            </a:r>
          </a:p>
          <a:p>
            <a:pPr lvl="2" algn="just"/>
            <a:r>
              <a:rPr lang="en-US" sz="1800" dirty="0">
                <a:latin typeface="Calibri" panose="020F0502020204030204" pitchFamily="34" charset="0"/>
                <a:cs typeface="Calibri" panose="020F0502020204030204" pitchFamily="34" charset="0"/>
              </a:rPr>
              <a:t>Returns: Pointer to allocated memory or NULL if allocation fails.</a:t>
            </a:r>
          </a:p>
          <a:p>
            <a:pPr lvl="1" algn="just"/>
            <a:endParaRPr lang="en-US" sz="22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118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Dynamic Memory Allocation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Key Functions:</a:t>
            </a:r>
          </a:p>
          <a:p>
            <a:pPr lvl="1" algn="just"/>
            <a:r>
              <a:rPr lang="en-US" sz="2000" dirty="0" err="1">
                <a:latin typeface="Calibri" panose="020F0502020204030204" pitchFamily="34" charset="0"/>
                <a:cs typeface="Calibri" panose="020F0502020204030204" pitchFamily="34" charset="0"/>
              </a:rPr>
              <a:t>realloc</a:t>
            </a:r>
            <a:r>
              <a:rPr lang="en-US" sz="2000" dirty="0">
                <a:latin typeface="Calibri" panose="020F0502020204030204" pitchFamily="34" charset="0"/>
                <a:cs typeface="Calibri" panose="020F0502020204030204" pitchFamily="34" charset="0"/>
              </a:rPr>
              <a:t>(void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size_t</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new_size</a:t>
            </a:r>
            <a:r>
              <a:rPr lang="en-US" sz="2000" dirty="0">
                <a:latin typeface="Calibri" panose="020F0502020204030204" pitchFamily="34" charset="0"/>
                <a:cs typeface="Calibri" panose="020F0502020204030204" pitchFamily="34" charset="0"/>
              </a:rPr>
              <a:t>)</a:t>
            </a:r>
          </a:p>
          <a:p>
            <a:pPr lvl="2" algn="just"/>
            <a:r>
              <a:rPr lang="en-US" sz="1800" dirty="0">
                <a:latin typeface="Calibri" panose="020F0502020204030204" pitchFamily="34" charset="0"/>
                <a:cs typeface="Calibri" panose="020F0502020204030204" pitchFamily="34" charset="0"/>
              </a:rPr>
              <a:t>Resizes an existing memory block.</a:t>
            </a:r>
          </a:p>
          <a:p>
            <a:pPr lvl="2" algn="just"/>
            <a:r>
              <a:rPr lang="en-US" sz="1800" dirty="0">
                <a:latin typeface="Calibri" panose="020F0502020204030204" pitchFamily="34" charset="0"/>
                <a:cs typeface="Calibri" panose="020F0502020204030204" pitchFamily="34" charset="0"/>
              </a:rPr>
              <a:t>Syntax: void *</a:t>
            </a:r>
            <a:r>
              <a:rPr lang="en-US" sz="1800" dirty="0" err="1">
                <a:latin typeface="Calibri" panose="020F0502020204030204" pitchFamily="34" charset="0"/>
                <a:cs typeface="Calibri" panose="020F0502020204030204" pitchFamily="34" charset="0"/>
              </a:rPr>
              <a:t>new_ptr</a:t>
            </a:r>
            <a:r>
              <a:rPr lang="en-US" sz="1800" dirty="0">
                <a:latin typeface="Calibri" panose="020F0502020204030204" pitchFamily="34" charset="0"/>
                <a:cs typeface="Calibri" panose="020F0502020204030204" pitchFamily="34" charset="0"/>
              </a:rPr>
              <a:t> = </a:t>
            </a:r>
            <a:r>
              <a:rPr lang="en-US" sz="1800" dirty="0" err="1">
                <a:latin typeface="Calibri" panose="020F0502020204030204" pitchFamily="34" charset="0"/>
                <a:cs typeface="Calibri" panose="020F0502020204030204" pitchFamily="34" charset="0"/>
              </a:rPr>
              <a:t>realloc</a:t>
            </a:r>
            <a:r>
              <a:rPr lang="en-US" sz="1800" dirty="0">
                <a:latin typeface="Calibri" panose="020F0502020204030204" pitchFamily="34" charset="0"/>
                <a:cs typeface="Calibri" panose="020F0502020204030204" pitchFamily="34" charset="0"/>
              </a:rPr>
              <a:t>(</a:t>
            </a:r>
            <a:r>
              <a:rPr lang="en-US" sz="1800" dirty="0" err="1">
                <a:latin typeface="Calibri" panose="020F0502020204030204" pitchFamily="34" charset="0"/>
                <a:cs typeface="Calibri" panose="020F0502020204030204" pitchFamily="34" charset="0"/>
              </a:rPr>
              <a:t>ptr</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new_size</a:t>
            </a:r>
            <a:r>
              <a:rPr lang="en-US" sz="1800" dirty="0">
                <a:latin typeface="Calibri" panose="020F0502020204030204" pitchFamily="34" charset="0"/>
                <a:cs typeface="Calibri" panose="020F0502020204030204" pitchFamily="34" charset="0"/>
              </a:rPr>
              <a:t>);</a:t>
            </a:r>
          </a:p>
          <a:p>
            <a:pPr lvl="2" algn="just"/>
            <a:r>
              <a:rPr lang="en-US" sz="1800" dirty="0">
                <a:latin typeface="Calibri" panose="020F0502020204030204" pitchFamily="34" charset="0"/>
                <a:cs typeface="Calibri" panose="020F0502020204030204" pitchFamily="34" charset="0"/>
              </a:rPr>
              <a:t>Returns: Pointer to reallocated memory or NULL if reallocation fails.</a:t>
            </a:r>
          </a:p>
          <a:p>
            <a:pPr lvl="1" algn="just"/>
            <a:endParaRPr lang="en-US" sz="18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free(void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a:t>
            </a:r>
          </a:p>
          <a:p>
            <a:pPr lvl="2" algn="just"/>
            <a:r>
              <a:rPr lang="en-US" sz="1800" dirty="0">
                <a:latin typeface="Calibri" panose="020F0502020204030204" pitchFamily="34" charset="0"/>
                <a:cs typeface="Calibri" panose="020F0502020204030204" pitchFamily="34" charset="0"/>
              </a:rPr>
              <a:t>Deallocates previously allocated memory.</a:t>
            </a:r>
          </a:p>
          <a:p>
            <a:pPr lvl="2" algn="just"/>
            <a:r>
              <a:rPr lang="en-US" sz="1800" dirty="0">
                <a:latin typeface="Calibri" panose="020F0502020204030204" pitchFamily="34" charset="0"/>
                <a:cs typeface="Calibri" panose="020F0502020204030204" pitchFamily="34" charset="0"/>
              </a:rPr>
              <a:t>Syntax: free(</a:t>
            </a:r>
            <a:r>
              <a:rPr lang="en-US" sz="1800" dirty="0" err="1">
                <a:latin typeface="Calibri" panose="020F0502020204030204" pitchFamily="34" charset="0"/>
                <a:cs typeface="Calibri" panose="020F0502020204030204" pitchFamily="34" charset="0"/>
              </a:rPr>
              <a:t>ptr</a:t>
            </a:r>
            <a:r>
              <a:rPr lang="en-US" sz="1800" dirty="0">
                <a:latin typeface="Calibri" panose="020F0502020204030204" pitchFamily="34" charset="0"/>
                <a:cs typeface="Calibri" panose="020F0502020204030204" pitchFamily="34" charset="0"/>
              </a:rPr>
              <a:t>);</a:t>
            </a:r>
          </a:p>
          <a:p>
            <a:pPr lvl="2" algn="just"/>
            <a:r>
              <a:rPr lang="en-US" sz="1800" dirty="0">
                <a:latin typeface="Calibri" panose="020F0502020204030204" pitchFamily="34" charset="0"/>
                <a:cs typeface="Calibri" panose="020F0502020204030204" pitchFamily="34" charset="0"/>
              </a:rPr>
              <a:t>Usage: Releases memory back to the system.</a:t>
            </a:r>
          </a:p>
          <a:p>
            <a:pPr lvl="3" algn="just"/>
            <a:endParaRPr lang="en-US" sz="16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3044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7: Dynamic Memory Allocation</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lnSpcReduction="10000"/>
          </a:bodyPr>
          <a:lstStyle/>
          <a:p>
            <a:pPr algn="just"/>
            <a:r>
              <a:rPr lang="en-US" sz="2200" dirty="0">
                <a:latin typeface="Calibri" panose="020F0502020204030204" pitchFamily="34" charset="0"/>
                <a:cs typeface="Calibri" panose="020F0502020204030204" pitchFamily="34" charset="0"/>
              </a:rPr>
              <a:t>Write a C program that demonstrates the use of malloc, </a:t>
            </a:r>
            <a:r>
              <a:rPr lang="en-US" sz="2200" dirty="0" err="1">
                <a:latin typeface="Calibri" panose="020F0502020204030204" pitchFamily="34" charset="0"/>
                <a:cs typeface="Calibri" panose="020F0502020204030204" pitchFamily="34" charset="0"/>
              </a:rPr>
              <a:t>calloc</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realloc</a:t>
            </a:r>
            <a:r>
              <a:rPr lang="en-US" sz="2200" dirty="0">
                <a:latin typeface="Calibri" panose="020F0502020204030204" pitchFamily="34" charset="0"/>
                <a:cs typeface="Calibri" panose="020F0502020204030204" pitchFamily="34" charset="0"/>
              </a:rPr>
              <a:t>, and free for managing dynamic memory. The program should:</a:t>
            </a:r>
          </a:p>
          <a:p>
            <a:pPr lvl="1" algn="just"/>
            <a:r>
              <a:rPr lang="en-US" sz="2000" dirty="0">
                <a:latin typeface="Calibri" panose="020F0502020204030204" pitchFamily="34" charset="0"/>
                <a:cs typeface="Calibri" panose="020F0502020204030204" pitchFamily="34" charset="0"/>
              </a:rPr>
              <a:t>Allocate memory for an array of integers using malloc and initialize the array with values.</a:t>
            </a:r>
          </a:p>
          <a:p>
            <a:pPr lvl="1" algn="just"/>
            <a:r>
              <a:rPr lang="en-US" sz="2000" dirty="0">
                <a:latin typeface="Calibri" panose="020F0502020204030204" pitchFamily="34" charset="0"/>
                <a:cs typeface="Calibri" panose="020F0502020204030204" pitchFamily="34" charset="0"/>
              </a:rPr>
              <a:t>Use </a:t>
            </a:r>
            <a:r>
              <a:rPr lang="en-US" sz="2000" dirty="0" err="1">
                <a:latin typeface="Calibri" panose="020F0502020204030204" pitchFamily="34" charset="0"/>
                <a:cs typeface="Calibri" panose="020F0502020204030204" pitchFamily="34" charset="0"/>
              </a:rPr>
              <a:t>calloc</a:t>
            </a:r>
            <a:r>
              <a:rPr lang="en-US" sz="2000" dirty="0">
                <a:latin typeface="Calibri" panose="020F0502020204030204" pitchFamily="34" charset="0"/>
                <a:cs typeface="Calibri" panose="020F0502020204030204" pitchFamily="34" charset="0"/>
              </a:rPr>
              <a:t> to allocate memory for a new array and initialize it with zeroes.</a:t>
            </a:r>
          </a:p>
          <a:p>
            <a:pPr lvl="1" algn="just"/>
            <a:r>
              <a:rPr lang="en-US" sz="2000" dirty="0">
                <a:latin typeface="Calibri" panose="020F0502020204030204" pitchFamily="34" charset="0"/>
                <a:cs typeface="Calibri" panose="020F0502020204030204" pitchFamily="34" charset="0"/>
              </a:rPr>
              <a:t>Resize the array using </a:t>
            </a:r>
            <a:r>
              <a:rPr lang="en-US" sz="2000" dirty="0" err="1">
                <a:latin typeface="Calibri" panose="020F0502020204030204" pitchFamily="34" charset="0"/>
                <a:cs typeface="Calibri" panose="020F0502020204030204" pitchFamily="34" charset="0"/>
              </a:rPr>
              <a:t>realloc</a:t>
            </a:r>
            <a:r>
              <a:rPr lang="en-US" sz="2000" dirty="0">
                <a:latin typeface="Calibri" panose="020F0502020204030204" pitchFamily="34" charset="0"/>
                <a:cs typeface="Calibri" panose="020F0502020204030204" pitchFamily="34" charset="0"/>
              </a:rPr>
              <a:t> to accommodate more elements.</a:t>
            </a:r>
          </a:p>
          <a:p>
            <a:pPr lvl="1" algn="just"/>
            <a:r>
              <a:rPr lang="en-US" sz="2000" dirty="0">
                <a:latin typeface="Calibri" panose="020F0502020204030204" pitchFamily="34" charset="0"/>
                <a:cs typeface="Calibri" panose="020F0502020204030204" pitchFamily="34" charset="0"/>
              </a:rPr>
              <a:t>Free the allocated memory at appropriate places to avoid memory leaks.</a:t>
            </a:r>
          </a:p>
          <a:p>
            <a:pPr lvl="1" algn="just"/>
            <a:r>
              <a:rPr lang="en-US" sz="2000" dirty="0">
                <a:latin typeface="Calibri" panose="020F0502020204030204" pitchFamily="34" charset="0"/>
                <a:cs typeface="Calibri" panose="020F0502020204030204" pitchFamily="34" charset="0"/>
              </a:rPr>
              <a:t>Print the contents of each array before and after resizing.</a:t>
            </a:r>
          </a:p>
          <a:p>
            <a:pPr algn="just"/>
            <a:r>
              <a:rPr lang="en-US" sz="2200" dirty="0">
                <a:latin typeface="Calibri" panose="020F0502020204030204" pitchFamily="34" charset="0"/>
                <a:cs typeface="Calibri" panose="020F0502020204030204" pitchFamily="34" charset="0"/>
              </a:rPr>
              <a:t>Requirements:</a:t>
            </a:r>
          </a:p>
          <a:p>
            <a:pPr lvl="1" algn="just"/>
            <a:r>
              <a:rPr lang="en-US" sz="2000" dirty="0">
                <a:latin typeface="Calibri" panose="020F0502020204030204" pitchFamily="34" charset="0"/>
                <a:cs typeface="Calibri" panose="020F0502020204030204" pitchFamily="34" charset="0"/>
              </a:rPr>
              <a:t>Initial array of 5 integers and initialize them with consecutive values starting from 1.</a:t>
            </a:r>
          </a:p>
          <a:p>
            <a:pPr lvl="1" algn="just"/>
            <a:r>
              <a:rPr lang="en-US" sz="2000" dirty="0">
                <a:latin typeface="Calibri" panose="020F0502020204030204" pitchFamily="34" charset="0"/>
                <a:cs typeface="Calibri" panose="020F0502020204030204" pitchFamily="34" charset="0"/>
              </a:rPr>
              <a:t>Allocate a second array of 10 integers using </a:t>
            </a:r>
            <a:r>
              <a:rPr lang="en-US" sz="2000" dirty="0" err="1">
                <a:latin typeface="Calibri" panose="020F0502020204030204" pitchFamily="34" charset="0"/>
                <a:cs typeface="Calibri" panose="020F0502020204030204" pitchFamily="34" charset="0"/>
              </a:rPr>
              <a:t>calloc</a:t>
            </a:r>
            <a:r>
              <a:rPr lang="en-US" sz="2000" dirty="0">
                <a:latin typeface="Calibri" panose="020F0502020204030204" pitchFamily="34" charset="0"/>
                <a:cs typeface="Calibri" panose="020F0502020204030204" pitchFamily="34" charset="0"/>
              </a:rPr>
              <a:t>, all initialized to 0.</a:t>
            </a:r>
          </a:p>
          <a:p>
            <a:pPr lvl="1" algn="just"/>
            <a:r>
              <a:rPr lang="en-US" sz="2000" dirty="0">
                <a:latin typeface="Calibri" panose="020F0502020204030204" pitchFamily="34" charset="0"/>
                <a:cs typeface="Calibri" panose="020F0502020204030204" pitchFamily="34" charset="0"/>
              </a:rPr>
              <a:t>Resize the first array to hold 10 integers and set new values in the resized portion.</a:t>
            </a:r>
          </a:p>
          <a:p>
            <a:pPr lvl="1" algn="just"/>
            <a:r>
              <a:rPr lang="en-US" sz="2000" dirty="0">
                <a:latin typeface="Calibri" panose="020F0502020204030204" pitchFamily="34" charset="0"/>
                <a:cs typeface="Calibri" panose="020F0502020204030204" pitchFamily="34" charset="0"/>
              </a:rPr>
              <a:t>Print the contents of both arrays before and after resizing.</a:t>
            </a:r>
          </a:p>
          <a:p>
            <a:pPr lvl="1" algn="just"/>
            <a:r>
              <a:rPr lang="en-US" sz="2000" dirty="0">
                <a:latin typeface="Calibri" panose="020F0502020204030204" pitchFamily="34" charset="0"/>
                <a:cs typeface="Calibri" panose="020F0502020204030204" pitchFamily="34" charset="0"/>
              </a:rPr>
              <a:t>Free all allocated memory before the program exits.</a:t>
            </a:r>
            <a:endParaRPr lang="en-US" sz="20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969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7: Dynamic Memory Allocation</a:t>
            </a:r>
          </a:p>
        </p:txBody>
      </p:sp>
      <p:pic>
        <p:nvPicPr>
          <p:cNvPr id="7" name="Picture 6" descr="A screenshot of a computer screen&#10;&#10;Description automatically generated">
            <a:extLst>
              <a:ext uri="{FF2B5EF4-FFF2-40B4-BE49-F238E27FC236}">
                <a16:creationId xmlns:a16="http://schemas.microsoft.com/office/drawing/2014/main" id="{BA4436C6-51D3-D180-65B2-4928204A89FE}"/>
              </a:ext>
            </a:extLst>
          </p:cNvPr>
          <p:cNvPicPr>
            <a:picLocks noChangeAspect="1"/>
          </p:cNvPicPr>
          <p:nvPr/>
        </p:nvPicPr>
        <p:blipFill rotWithShape="1">
          <a:blip r:embed="rId2">
            <a:extLst>
              <a:ext uri="{28A0092B-C50C-407E-A947-70E740481C1C}">
                <a14:useLocalDpi xmlns:a14="http://schemas.microsoft.com/office/drawing/2010/main" val="0"/>
              </a:ext>
            </a:extLst>
          </a:blip>
          <a:srcRect l="5627" t="56088" r="35398" b="9481"/>
          <a:stretch/>
        </p:blipFill>
        <p:spPr>
          <a:xfrm>
            <a:off x="4785994" y="1810136"/>
            <a:ext cx="4135121" cy="2361248"/>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65121550-4988-6FFB-790A-2D95EAAFCB7B}"/>
              </a:ext>
            </a:extLst>
          </p:cNvPr>
          <p:cNvPicPr>
            <a:picLocks noChangeAspect="1"/>
          </p:cNvPicPr>
          <p:nvPr/>
        </p:nvPicPr>
        <p:blipFill rotWithShape="1">
          <a:blip r:embed="rId3">
            <a:extLst>
              <a:ext uri="{28A0092B-C50C-407E-A947-70E740481C1C}">
                <a14:useLocalDpi xmlns:a14="http://schemas.microsoft.com/office/drawing/2010/main" val="0"/>
              </a:ext>
            </a:extLst>
          </a:blip>
          <a:srcRect l="5225" t="9037" r="27540" b="9482"/>
          <a:stretch/>
        </p:blipFill>
        <p:spPr>
          <a:xfrm>
            <a:off x="71754" y="1263650"/>
            <a:ext cx="4714240" cy="558800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FC0B9758-41CC-239D-1A81-29207638C69D}"/>
              </a:ext>
            </a:extLst>
          </p:cNvPr>
          <p:cNvPicPr>
            <a:picLocks noChangeAspect="1"/>
          </p:cNvPicPr>
          <p:nvPr/>
        </p:nvPicPr>
        <p:blipFill rotWithShape="1">
          <a:blip r:embed="rId4">
            <a:extLst>
              <a:ext uri="{28A0092B-C50C-407E-A947-70E740481C1C}">
                <a14:useLocalDpi xmlns:a14="http://schemas.microsoft.com/office/drawing/2010/main" val="0"/>
              </a:ext>
            </a:extLst>
          </a:blip>
          <a:srcRect l="2455" t="2347" r="28614" b="57631"/>
          <a:stretch/>
        </p:blipFill>
        <p:spPr>
          <a:xfrm>
            <a:off x="6950074" y="4366646"/>
            <a:ext cx="4714240" cy="1988048"/>
          </a:xfrm>
          <a:prstGeom prst="rect">
            <a:avLst/>
          </a:prstGeom>
        </p:spPr>
      </p:pic>
    </p:spTree>
    <p:extLst>
      <p:ext uri="{BB962C8B-B14F-4D97-AF65-F5344CB8AC3E}">
        <p14:creationId xmlns:p14="http://schemas.microsoft.com/office/powerpoint/2010/main" val="3837956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7: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lnSpcReduction="10000"/>
          </a:bodyPr>
          <a:lstStyle/>
          <a:p>
            <a:pPr algn="just"/>
            <a:r>
              <a:rPr lang="en-US" sz="2200" dirty="0">
                <a:latin typeface="Calibri" panose="020F0502020204030204" pitchFamily="34" charset="0"/>
                <a:cs typeface="Calibri" panose="020F0502020204030204" pitchFamily="34" charset="0"/>
              </a:rPr>
              <a:t>In C programming, the </a:t>
            </a:r>
            <a:r>
              <a:rPr lang="en-US" sz="2200" dirty="0" err="1">
                <a:latin typeface="Calibri" panose="020F0502020204030204" pitchFamily="34" charset="0"/>
                <a:cs typeface="Calibri" panose="020F0502020204030204" pitchFamily="34" charset="0"/>
              </a:rPr>
              <a:t>stdlib.h</a:t>
            </a:r>
            <a:r>
              <a:rPr lang="en-US" sz="2200" dirty="0">
                <a:latin typeface="Calibri" panose="020F0502020204030204" pitchFamily="34" charset="0"/>
                <a:cs typeface="Calibri" panose="020F0502020204030204" pitchFamily="34" charset="0"/>
              </a:rPr>
              <a:t> header file is crucial for several reasons related to dynamic memory management, process control, and utility functions such as malloc, </a:t>
            </a:r>
            <a:r>
              <a:rPr lang="en-US" sz="2200" dirty="0" err="1">
                <a:latin typeface="Calibri" panose="020F0502020204030204" pitchFamily="34" charset="0"/>
                <a:cs typeface="Calibri" panose="020F0502020204030204" pitchFamily="34" charset="0"/>
              </a:rPr>
              <a:t>calloc</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realloc</a:t>
            </a:r>
            <a:r>
              <a:rPr lang="en-US" sz="2200" dirty="0">
                <a:latin typeface="Calibri" panose="020F0502020204030204" pitchFamily="34" charset="0"/>
                <a:cs typeface="Calibri" panose="020F0502020204030204" pitchFamily="34" charset="0"/>
              </a:rPr>
              <a:t>, and free.</a:t>
            </a:r>
          </a:p>
          <a:p>
            <a:pPr algn="just"/>
            <a:r>
              <a:rPr lang="en-US" sz="2200" dirty="0">
                <a:latin typeface="Calibri" panose="020F0502020204030204" pitchFamily="34" charset="0"/>
                <a:cs typeface="Calibri" panose="020F0502020204030204" pitchFamily="34" charset="0"/>
              </a:rPr>
              <a:t>malloc Usage:</a:t>
            </a:r>
          </a:p>
          <a:p>
            <a:pPr lvl="1" algn="just"/>
            <a:r>
              <a:rPr lang="en-US" sz="2000" dirty="0">
                <a:latin typeface="Calibri" panose="020F0502020204030204" pitchFamily="34" charset="0"/>
                <a:cs typeface="Calibri" panose="020F0502020204030204" pitchFamily="34" charset="0"/>
              </a:rPr>
              <a:t>Allocates memory for array1 to hold 5 integers.</a:t>
            </a:r>
          </a:p>
          <a:p>
            <a:pPr lvl="1" algn="just"/>
            <a:r>
              <a:rPr lang="en-US" sz="2000" dirty="0">
                <a:latin typeface="Calibri" panose="020F0502020204030204" pitchFamily="34" charset="0"/>
                <a:cs typeface="Calibri" panose="020F0502020204030204" pitchFamily="34" charset="0"/>
              </a:rPr>
              <a:t>Initializes array1 with values 1 through 5.</a:t>
            </a:r>
          </a:p>
          <a:p>
            <a:pPr algn="just"/>
            <a:r>
              <a:rPr lang="en-US" sz="2200" dirty="0" err="1">
                <a:latin typeface="Calibri" panose="020F0502020204030204" pitchFamily="34" charset="0"/>
                <a:cs typeface="Calibri" panose="020F0502020204030204" pitchFamily="34" charset="0"/>
              </a:rPr>
              <a:t>calloc</a:t>
            </a:r>
            <a:r>
              <a:rPr lang="en-US" sz="2200" dirty="0">
                <a:latin typeface="Calibri" panose="020F0502020204030204" pitchFamily="34" charset="0"/>
                <a:cs typeface="Calibri" panose="020F0502020204030204" pitchFamily="34" charset="0"/>
              </a:rPr>
              <a:t> Usage:</a:t>
            </a:r>
          </a:p>
          <a:p>
            <a:pPr lvl="1" algn="just"/>
            <a:r>
              <a:rPr lang="en-US" sz="2000" dirty="0">
                <a:latin typeface="Calibri" panose="020F0502020204030204" pitchFamily="34" charset="0"/>
                <a:cs typeface="Calibri" panose="020F0502020204030204" pitchFamily="34" charset="0"/>
              </a:rPr>
              <a:t>Allocates memory for array2 to hold 10 integers, all initialized to 0.</a:t>
            </a:r>
          </a:p>
          <a:p>
            <a:pPr algn="just"/>
            <a:r>
              <a:rPr lang="en-US" sz="2200" dirty="0" err="1">
                <a:latin typeface="Calibri" panose="020F0502020204030204" pitchFamily="34" charset="0"/>
                <a:cs typeface="Calibri" panose="020F0502020204030204" pitchFamily="34" charset="0"/>
              </a:rPr>
              <a:t>realloc</a:t>
            </a:r>
            <a:r>
              <a:rPr lang="en-US" sz="2200" dirty="0">
                <a:latin typeface="Calibri" panose="020F0502020204030204" pitchFamily="34" charset="0"/>
                <a:cs typeface="Calibri" panose="020F0502020204030204" pitchFamily="34" charset="0"/>
              </a:rPr>
              <a:t> Usage:</a:t>
            </a:r>
          </a:p>
          <a:p>
            <a:pPr lvl="1" algn="just"/>
            <a:r>
              <a:rPr lang="en-US" sz="2000" dirty="0">
                <a:latin typeface="Calibri" panose="020F0502020204030204" pitchFamily="34" charset="0"/>
                <a:cs typeface="Calibri" panose="020F0502020204030204" pitchFamily="34" charset="0"/>
              </a:rPr>
              <a:t>Resizes array1 to hold 10 integers.</a:t>
            </a:r>
          </a:p>
          <a:p>
            <a:pPr lvl="1" algn="just"/>
            <a:r>
              <a:rPr lang="en-US" sz="2000" dirty="0">
                <a:latin typeface="Calibri" panose="020F0502020204030204" pitchFamily="34" charset="0"/>
                <a:cs typeface="Calibri" panose="020F0502020204030204" pitchFamily="34" charset="0"/>
              </a:rPr>
              <a:t>Initializes the newly allocated space with values 6 through 10.</a:t>
            </a:r>
          </a:p>
          <a:p>
            <a:pPr algn="just"/>
            <a:r>
              <a:rPr lang="en-US" sz="2200" dirty="0">
                <a:latin typeface="Calibri" panose="020F0502020204030204" pitchFamily="34" charset="0"/>
                <a:cs typeface="Calibri" panose="020F0502020204030204" pitchFamily="34" charset="0"/>
              </a:rPr>
              <a:t>free Usage:</a:t>
            </a:r>
          </a:p>
          <a:p>
            <a:pPr lvl="1" algn="just"/>
            <a:r>
              <a:rPr lang="en-US" sz="2000" dirty="0">
                <a:latin typeface="Calibri" panose="020F0502020204030204" pitchFamily="34" charset="0"/>
                <a:cs typeface="Calibri" panose="020F0502020204030204" pitchFamily="34" charset="0"/>
              </a:rPr>
              <a:t>Frees the memory allocated for both array1 and array2 to prevent memory leaks.</a:t>
            </a:r>
          </a:p>
        </p:txBody>
      </p:sp>
    </p:spTree>
    <p:extLst>
      <p:ext uri="{BB962C8B-B14F-4D97-AF65-F5344CB8AC3E}">
        <p14:creationId xmlns:p14="http://schemas.microsoft.com/office/powerpoint/2010/main" val="704801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Memory Leak Problem</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In C, when you allocate memory dynamically using malloc(), the allocated memory remains reserved for your use until you explicitly release it using free(). </a:t>
            </a:r>
          </a:p>
          <a:p>
            <a:pPr algn="just"/>
            <a:r>
              <a:rPr lang="en-US" sz="2200" dirty="0">
                <a:latin typeface="Calibri" panose="020F0502020204030204" pitchFamily="34" charset="0"/>
                <a:cs typeface="Calibri" panose="020F0502020204030204" pitchFamily="34" charset="0"/>
              </a:rPr>
              <a:t>However, if you overwrite the pointer to this allocated memory without freeing it, you lose access to that memory block.</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double *a;</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 = (double *)malloc(70);  // Allocates 70 bytes of memory</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 = (double *)malloc(300); // Allocates 300 bytes of memory, overwriting the previous address stored in 'a'</a:t>
            </a:r>
          </a:p>
        </p:txBody>
      </p:sp>
    </p:spTree>
    <p:extLst>
      <p:ext uri="{BB962C8B-B14F-4D97-AF65-F5344CB8AC3E}">
        <p14:creationId xmlns:p14="http://schemas.microsoft.com/office/powerpoint/2010/main" val="2472111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Memory Leak Problem</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double *a;</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 = (double *)malloc(70);  // Allocates 70 bytes of memory</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 = (double *)malloc(300); // Allocates 300 bytes of memory, overwriting the previous address stored in 'a’</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The address of the 70-byte memory block is lost, and we no longer have a way to access or free that memory.</a:t>
            </a:r>
          </a:p>
          <a:p>
            <a:pPr algn="just"/>
            <a:r>
              <a:rPr lang="en-US" sz="2200" dirty="0">
                <a:latin typeface="Calibri" panose="020F0502020204030204" pitchFamily="34" charset="0"/>
                <a:cs typeface="Calibri" panose="020F0502020204030204" pitchFamily="34" charset="0"/>
              </a:rPr>
              <a:t>The 70 bytes of memory are still reserved by the operating system, but since your program has lost the pointer to that memory, it becomes a memory leak.</a:t>
            </a:r>
          </a:p>
          <a:p>
            <a:pPr algn="just"/>
            <a:r>
              <a:rPr lang="en-US" sz="2200" dirty="0">
                <a:latin typeface="Calibri" panose="020F0502020204030204" pitchFamily="34" charset="0"/>
                <a:cs typeface="Calibri" panose="020F0502020204030204" pitchFamily="34" charset="0"/>
              </a:rPr>
              <a:t>Memory leaks lead to wasted memory and can eventually cause the program to run out of memory if they accumulate over time.</a:t>
            </a:r>
          </a:p>
          <a:p>
            <a:pPr lvl="1" algn="just"/>
            <a:r>
              <a:rPr lang="en-US" sz="2000" b="0" i="0" u="none" strike="noStrike" baseline="0" dirty="0">
                <a:latin typeface="Calibri" panose="020F0502020204030204" pitchFamily="34" charset="0"/>
                <a:cs typeface="Calibri" panose="020F0502020204030204" pitchFamily="34" charset="0"/>
              </a:rPr>
              <a:t>To avoid memory leaks, always ensure that you free() any previously allocated memory before overwriting the pointer. </a:t>
            </a:r>
          </a:p>
        </p:txBody>
      </p:sp>
    </p:spTree>
    <p:extLst>
      <p:ext uri="{BB962C8B-B14F-4D97-AF65-F5344CB8AC3E}">
        <p14:creationId xmlns:p14="http://schemas.microsoft.com/office/powerpoint/2010/main" val="956773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Double Pointers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Double Pointers Overview:</a:t>
            </a:r>
          </a:p>
          <a:p>
            <a:pPr lvl="1" algn="just"/>
            <a:r>
              <a:rPr lang="en-US" sz="2000" dirty="0">
                <a:latin typeface="Calibri" panose="020F0502020204030204" pitchFamily="34" charset="0"/>
                <a:cs typeface="Calibri" panose="020F0502020204030204" pitchFamily="34" charset="0"/>
              </a:rPr>
              <a:t>Definition: A pointer to a pointer, used to handle arrays of pointers.</a:t>
            </a:r>
          </a:p>
          <a:p>
            <a:pPr lvl="1" algn="just"/>
            <a:r>
              <a:rPr lang="en-US" sz="2000" dirty="0">
                <a:latin typeface="Calibri" panose="020F0502020204030204" pitchFamily="34" charset="0"/>
                <a:cs typeface="Calibri" panose="020F0502020204030204" pitchFamily="34" charset="0"/>
              </a:rPr>
              <a:t>Syntax: type **</a:t>
            </a:r>
            <a:r>
              <a:rPr lang="en-US" sz="2000" dirty="0" err="1">
                <a:latin typeface="Calibri" panose="020F0502020204030204" pitchFamily="34" charset="0"/>
                <a:cs typeface="Calibri" panose="020F0502020204030204" pitchFamily="34" charset="0"/>
              </a:rPr>
              <a:t>ptr</a:t>
            </a:r>
            <a:r>
              <a:rPr lang="en-US" sz="2000" dirty="0">
                <a:latin typeface="Calibri" panose="020F0502020204030204" pitchFamily="34" charset="0"/>
                <a:cs typeface="Calibri" panose="020F0502020204030204" pitchFamily="34" charset="0"/>
              </a:rPr>
              <a:t>;</a:t>
            </a:r>
          </a:p>
          <a:p>
            <a:pPr algn="just"/>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Benefits of Using Double Pointers:</a:t>
            </a:r>
          </a:p>
          <a:p>
            <a:pPr lvl="1" algn="just"/>
            <a:r>
              <a:rPr lang="en-US" sz="2000" b="0" i="0" u="none" strike="noStrike" baseline="0" dirty="0">
                <a:latin typeface="Calibri" panose="020F0502020204030204" pitchFamily="34" charset="0"/>
                <a:cs typeface="Calibri" panose="020F0502020204030204" pitchFamily="34" charset="0"/>
              </a:rPr>
              <a:t>Flexibility in creating and managing multidimensional arrays dynamically.</a:t>
            </a:r>
          </a:p>
          <a:p>
            <a:pPr lvl="1" algn="just"/>
            <a:r>
              <a:rPr lang="en-US" sz="2000" b="0" i="0" u="none" strike="noStrike" baseline="0" dirty="0">
                <a:latin typeface="Calibri" panose="020F0502020204030204" pitchFamily="34" charset="0"/>
                <a:cs typeface="Calibri" panose="020F0502020204030204" pitchFamily="34" charset="0"/>
              </a:rPr>
              <a:t>Useful for functions that need to modify array dimensions.</a:t>
            </a:r>
          </a:p>
        </p:txBody>
      </p:sp>
    </p:spTree>
    <p:extLst>
      <p:ext uri="{BB962C8B-B14F-4D97-AF65-F5344CB8AC3E}">
        <p14:creationId xmlns:p14="http://schemas.microsoft.com/office/powerpoint/2010/main" val="102656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8: Double Pointers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4688840" cy="4351338"/>
          </a:xfrm>
        </p:spPr>
        <p:txBody>
          <a:bodyPr>
            <a:noAutofit/>
          </a:bodyPr>
          <a:lstStyle/>
          <a:p>
            <a:pPr algn="just"/>
            <a:r>
              <a:rPr lang="en-US" sz="2200" dirty="0">
                <a:latin typeface="Calibri" panose="020F0502020204030204" pitchFamily="34" charset="0"/>
                <a:cs typeface="Calibri" panose="020F0502020204030204" pitchFamily="34" charset="0"/>
              </a:rPr>
              <a:t>Write a C program that dynamically allocates a 2D array using double pointers. </a:t>
            </a:r>
          </a:p>
          <a:p>
            <a:pPr algn="just"/>
            <a:r>
              <a:rPr lang="en-US" sz="2200" dirty="0">
                <a:latin typeface="Calibri" panose="020F0502020204030204" pitchFamily="34" charset="0"/>
                <a:cs typeface="Calibri" panose="020F0502020204030204" pitchFamily="34" charset="0"/>
              </a:rPr>
              <a:t>Tasks:</a:t>
            </a:r>
          </a:p>
          <a:p>
            <a:pPr lvl="1" algn="just"/>
            <a:r>
              <a:rPr lang="en-US" sz="2000" dirty="0">
                <a:latin typeface="Calibri" panose="020F0502020204030204" pitchFamily="34" charset="0"/>
                <a:cs typeface="Calibri" panose="020F0502020204030204" pitchFamily="34" charset="0"/>
              </a:rPr>
              <a:t>Allocate memory for a 2D array with 3 rows and 2 columns.</a:t>
            </a:r>
          </a:p>
          <a:p>
            <a:pPr lvl="1" algn="just"/>
            <a:r>
              <a:rPr lang="en-US" sz="2000" dirty="0">
                <a:latin typeface="Calibri" panose="020F0502020204030204" pitchFamily="34" charset="0"/>
                <a:cs typeface="Calibri" panose="020F0502020204030204" pitchFamily="34" charset="0"/>
              </a:rPr>
              <a:t>Initialize the array such that each element is equal to its row index (starts at 1) plus its column index.</a:t>
            </a:r>
          </a:p>
          <a:p>
            <a:pPr lvl="1" algn="just"/>
            <a:r>
              <a:rPr lang="en-US" sz="2000" dirty="0">
                <a:latin typeface="Calibri" panose="020F0502020204030204" pitchFamily="34" charset="0"/>
                <a:cs typeface="Calibri" panose="020F0502020204030204" pitchFamily="34" charset="0"/>
              </a:rPr>
              <a:t>Print the element located at the second row and second column.</a:t>
            </a:r>
          </a:p>
          <a:p>
            <a:pPr lvl="1" algn="just"/>
            <a:r>
              <a:rPr lang="en-US" sz="2000" dirty="0">
                <a:latin typeface="Calibri" panose="020F0502020204030204" pitchFamily="34" charset="0"/>
                <a:cs typeface="Calibri" panose="020F0502020204030204" pitchFamily="34" charset="0"/>
              </a:rPr>
              <a:t>Free the memory allocated for the 2D array.</a:t>
            </a:r>
            <a:endParaRPr lang="en-US" sz="2000" b="0" i="0" u="none" strike="noStrike" baseline="0" dirty="0">
              <a:latin typeface="Calibri" panose="020F0502020204030204" pitchFamily="34" charset="0"/>
              <a:cs typeface="Calibri" panose="020F0502020204030204" pitchFamily="34" charset="0"/>
            </a:endParaRPr>
          </a:p>
        </p:txBody>
      </p:sp>
      <p:pic>
        <p:nvPicPr>
          <p:cNvPr id="5" name="Picture 4" descr="A screenshot of a computer program&#10;&#10;Description automatically generated">
            <a:extLst>
              <a:ext uri="{FF2B5EF4-FFF2-40B4-BE49-F238E27FC236}">
                <a16:creationId xmlns:a16="http://schemas.microsoft.com/office/drawing/2014/main" id="{64CA2DD0-7519-1A53-2600-8FE667DAA90B}"/>
              </a:ext>
            </a:extLst>
          </p:cNvPr>
          <p:cNvPicPr>
            <a:picLocks noChangeAspect="1"/>
          </p:cNvPicPr>
          <p:nvPr/>
        </p:nvPicPr>
        <p:blipFill rotWithShape="1">
          <a:blip r:embed="rId2">
            <a:extLst>
              <a:ext uri="{28A0092B-C50C-407E-A947-70E740481C1C}">
                <a14:useLocalDpi xmlns:a14="http://schemas.microsoft.com/office/drawing/2010/main" val="0"/>
              </a:ext>
            </a:extLst>
          </a:blip>
          <a:srcRect l="5224" t="12640" r="24062" b="5324"/>
          <a:stretch/>
        </p:blipFill>
        <p:spPr>
          <a:xfrm>
            <a:off x="7233920" y="1231899"/>
            <a:ext cx="4958080" cy="562610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8623026-DB62-7045-CF4B-C32D0D0BFC92}"/>
              </a:ext>
            </a:extLst>
          </p:cNvPr>
          <p:cNvPicPr>
            <a:picLocks noChangeAspect="1"/>
          </p:cNvPicPr>
          <p:nvPr/>
        </p:nvPicPr>
        <p:blipFill rotWithShape="1">
          <a:blip r:embed="rId3">
            <a:extLst>
              <a:ext uri="{28A0092B-C50C-407E-A947-70E740481C1C}">
                <a14:useLocalDpi xmlns:a14="http://schemas.microsoft.com/office/drawing/2010/main" val="0"/>
              </a:ext>
            </a:extLst>
          </a:blip>
          <a:srcRect l="2579" t="10402" r="31155" b="75395"/>
          <a:stretch/>
        </p:blipFill>
        <p:spPr>
          <a:xfrm>
            <a:off x="1671320" y="6015059"/>
            <a:ext cx="4958080" cy="771821"/>
          </a:xfrm>
          <a:prstGeom prst="rect">
            <a:avLst/>
          </a:prstGeom>
        </p:spPr>
      </p:pic>
    </p:spTree>
    <p:extLst>
      <p:ext uri="{BB962C8B-B14F-4D97-AF65-F5344CB8AC3E}">
        <p14:creationId xmlns:p14="http://schemas.microsoft.com/office/powerpoint/2010/main" val="73221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8: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lnSpcReduction="10000"/>
          </a:bodyPr>
          <a:lstStyle/>
          <a:p>
            <a:pPr algn="just"/>
            <a:r>
              <a:rPr lang="en-US" sz="2200" dirty="0">
                <a:latin typeface="Calibri" panose="020F0502020204030204" pitchFamily="34" charset="0"/>
                <a:cs typeface="Calibri" panose="020F0502020204030204" pitchFamily="34" charset="0"/>
              </a:rPr>
              <a:t>The use of ‘**’ in (</a:t>
            </a:r>
            <a:r>
              <a:rPr lang="en-US" sz="2200" dirty="0">
                <a:solidFill>
                  <a:schemeClr val="tx2">
                    <a:lumMod val="75000"/>
                    <a:lumOff val="25000"/>
                  </a:schemeClr>
                </a:solidFill>
                <a:latin typeface="Calibri" panose="020F0502020204030204" pitchFamily="34" charset="0"/>
                <a:cs typeface="Calibri" panose="020F0502020204030204" pitchFamily="34" charset="0"/>
              </a:rPr>
              <a:t>int **matrix</a:t>
            </a:r>
            <a:r>
              <a:rPr lang="en-US" sz="2200" dirty="0">
                <a:latin typeface="Calibri" panose="020F0502020204030204" pitchFamily="34" charset="0"/>
                <a:cs typeface="Calibri" panose="020F0502020204030204" pitchFamily="34" charset="0"/>
              </a:rPr>
              <a:t>) is essential for handling a 2D array dynamically in C.</a:t>
            </a:r>
          </a:p>
          <a:p>
            <a:pPr algn="just"/>
            <a:r>
              <a:rPr lang="en-US" sz="2200" b="1" dirty="0">
                <a:latin typeface="Calibri" panose="020F0502020204030204" pitchFamily="34" charset="0"/>
                <a:cs typeface="Calibri" panose="020F0502020204030204" pitchFamily="34" charset="0"/>
              </a:rPr>
              <a:t>Memory Allocation:</a:t>
            </a:r>
          </a:p>
          <a:p>
            <a:pPr lvl="1" algn="just"/>
            <a:r>
              <a:rPr lang="en-US" sz="2000" dirty="0">
                <a:latin typeface="Calibri" panose="020F0502020204030204" pitchFamily="34" charset="0"/>
                <a:cs typeface="Calibri" panose="020F0502020204030204" pitchFamily="34" charset="0"/>
              </a:rPr>
              <a:t>The program first allocates memory for the array of pointers (rows) using malloc.</a:t>
            </a:r>
          </a:p>
          <a:p>
            <a:pPr lvl="1" algn="just"/>
            <a:r>
              <a:rPr lang="en-US" sz="2000" dirty="0">
                <a:latin typeface="Calibri" panose="020F0502020204030204" pitchFamily="34" charset="0"/>
                <a:cs typeface="Calibri" panose="020F0502020204030204" pitchFamily="34" charset="0"/>
              </a:rPr>
              <a:t>It then allocates memory for each row (columns) separately.</a:t>
            </a:r>
          </a:p>
          <a:p>
            <a:pPr algn="just"/>
            <a:r>
              <a:rPr lang="en-US" sz="2200" b="1" dirty="0">
                <a:latin typeface="Calibri" panose="020F0502020204030204" pitchFamily="34" charset="0"/>
                <a:cs typeface="Calibri" panose="020F0502020204030204" pitchFamily="34" charset="0"/>
              </a:rPr>
              <a:t>Initialization:</a:t>
            </a:r>
          </a:p>
          <a:p>
            <a:pPr lvl="1" algn="just"/>
            <a:r>
              <a:rPr lang="en-US" sz="2000" dirty="0">
                <a:latin typeface="Calibri" panose="020F0502020204030204" pitchFamily="34" charset="0"/>
                <a:cs typeface="Calibri" panose="020F0502020204030204" pitchFamily="34" charset="0"/>
              </a:rPr>
              <a:t>Each element in the 2D array is initialized using the formula (</a:t>
            </a:r>
            <a:r>
              <a:rPr lang="en-US" sz="2000" dirty="0" err="1">
                <a:latin typeface="Calibri" panose="020F0502020204030204" pitchFamily="34" charset="0"/>
                <a:cs typeface="Calibri" panose="020F0502020204030204" pitchFamily="34" charset="0"/>
              </a:rPr>
              <a:t>row_index</a:t>
            </a:r>
            <a:r>
              <a:rPr lang="en-US" sz="2000" dirty="0">
                <a:latin typeface="Calibri" panose="020F0502020204030204" pitchFamily="34" charset="0"/>
                <a:cs typeface="Calibri" panose="020F0502020204030204" pitchFamily="34" charset="0"/>
              </a:rPr>
              <a:t> + 1) + (</a:t>
            </a:r>
            <a:r>
              <a:rPr lang="en-US" sz="2000" dirty="0" err="1">
                <a:latin typeface="Calibri" panose="020F0502020204030204" pitchFamily="34" charset="0"/>
                <a:cs typeface="Calibri" panose="020F0502020204030204" pitchFamily="34" charset="0"/>
              </a:rPr>
              <a:t>col_index</a:t>
            </a:r>
            <a:r>
              <a:rPr lang="en-US" sz="2000" dirty="0">
                <a:latin typeface="Calibri" panose="020F0502020204030204" pitchFamily="34" charset="0"/>
                <a:cs typeface="Calibri" panose="020F0502020204030204" pitchFamily="34" charset="0"/>
              </a:rPr>
              <a:t> + 1) because indices in C start from 0, but the problem statement asks for indices starting from 1.</a:t>
            </a:r>
          </a:p>
          <a:p>
            <a:pPr algn="just"/>
            <a:r>
              <a:rPr lang="en-US" sz="2200" b="1" dirty="0">
                <a:latin typeface="Calibri" panose="020F0502020204030204" pitchFamily="34" charset="0"/>
                <a:cs typeface="Calibri" panose="020F0502020204030204" pitchFamily="34" charset="0"/>
              </a:rPr>
              <a:t>Access and Print:</a:t>
            </a:r>
          </a:p>
          <a:p>
            <a:pPr lvl="1" algn="just"/>
            <a:r>
              <a:rPr lang="en-US" sz="2000" dirty="0">
                <a:latin typeface="Calibri" panose="020F0502020204030204" pitchFamily="34" charset="0"/>
                <a:cs typeface="Calibri" panose="020F0502020204030204" pitchFamily="34" charset="0"/>
              </a:rPr>
              <a:t>The element at the second row and second column (which corresponds to matrix[1][1]) is accessed and printed.</a:t>
            </a:r>
          </a:p>
          <a:p>
            <a:pPr algn="just"/>
            <a:r>
              <a:rPr lang="en-US" sz="2200" b="1" dirty="0">
                <a:latin typeface="Calibri" panose="020F0502020204030204" pitchFamily="34" charset="0"/>
                <a:cs typeface="Calibri" panose="020F0502020204030204" pitchFamily="34" charset="0"/>
              </a:rPr>
              <a:t>Memory Deallocation:</a:t>
            </a:r>
          </a:p>
          <a:p>
            <a:pPr lvl="1" algn="just"/>
            <a:r>
              <a:rPr lang="en-US" sz="2000" dirty="0">
                <a:latin typeface="Calibri" panose="020F0502020204030204" pitchFamily="34" charset="0"/>
                <a:cs typeface="Calibri" panose="020F0502020204030204" pitchFamily="34" charset="0"/>
              </a:rPr>
              <a:t>The program deallocates the memory for each row, followed by the memory for the array of pointers.</a:t>
            </a:r>
          </a:p>
        </p:txBody>
      </p:sp>
    </p:spTree>
    <p:extLst>
      <p:ext uri="{BB962C8B-B14F-4D97-AF65-F5344CB8AC3E}">
        <p14:creationId xmlns:p14="http://schemas.microsoft.com/office/powerpoint/2010/main" val="976004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A structure is a construct used to group a set of variables together under one name.</a:t>
            </a:r>
          </a:p>
          <a:p>
            <a:pPr algn="just"/>
            <a:r>
              <a:rPr lang="en-US" sz="2200" b="0" i="0" u="none" strike="noStrike" baseline="0" dirty="0">
                <a:latin typeface="Calibri" panose="020F0502020204030204" pitchFamily="34" charset="0"/>
                <a:cs typeface="Calibri" panose="020F0502020204030204" pitchFamily="34" charset="0"/>
              </a:rPr>
              <a:t>The first step in using a structure is to declare its organization. </a:t>
            </a:r>
          </a:p>
          <a:p>
            <a:pPr algn="just"/>
            <a:r>
              <a:rPr lang="en-US" sz="2200" b="0" i="0" u="none" strike="noStrike" baseline="0" dirty="0">
                <a:latin typeface="Calibri" panose="020F0502020204030204" pitchFamily="34" charset="0"/>
                <a:cs typeface="Calibri" panose="020F0502020204030204" pitchFamily="34" charset="0"/>
              </a:rPr>
              <a:t>For </a:t>
            </a:r>
            <a:r>
              <a:rPr lang="en-GB" sz="2200" b="0" i="0" u="none" strike="noStrike" baseline="0" dirty="0">
                <a:latin typeface="Calibri" panose="020F0502020204030204" pitchFamily="34" charset="0"/>
                <a:cs typeface="Calibri" panose="020F0502020204030204" pitchFamily="34" charset="0"/>
              </a:rPr>
              <a:t>example:</a:t>
            </a:r>
          </a:p>
          <a:p>
            <a:pPr marL="0" indent="0" algn="just">
              <a:buNone/>
            </a:pPr>
            <a:r>
              <a:rPr lang="en-US"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struct person { /* "person" is name for structure type */</a:t>
            </a:r>
          </a:p>
          <a:p>
            <a:pPr marL="0" indent="0" algn="just">
              <a:buNone/>
            </a:pPr>
            <a:r>
              <a:rPr lang="en-US"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char first[32]; /* first field is array of char */</a:t>
            </a:r>
          </a:p>
          <a:p>
            <a:pPr marL="0" indent="0" algn="just">
              <a:buNone/>
            </a:pPr>
            <a:r>
              <a:rPr lang="en-US"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char last[32]; /* second field is array of char */</a:t>
            </a:r>
          </a:p>
          <a:p>
            <a:pPr marL="0" indent="0" algn="just">
              <a:buNone/>
            </a:pPr>
            <a:r>
              <a:rPr lang="en-US"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int year; /* third field is int */</a:t>
            </a:r>
          </a:p>
          <a:p>
            <a:pPr marL="0" indent="0" algn="just">
              <a:buNone/>
            </a:pPr>
            <a:r>
              <a:rPr lang="en-US"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double ppg; /* fourth field is double */</a:t>
            </a:r>
          </a:p>
          <a:p>
            <a:pPr marL="0" indent="0" algn="just">
              <a:buNone/>
            </a:pPr>
            <a:r>
              <a:rPr lang="en-GB" sz="18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 /* ending ; to end definition */</a:t>
            </a:r>
            <a:endParaRPr lang="en-GB" sz="220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This code does not create a variable. </a:t>
            </a:r>
          </a:p>
          <a:p>
            <a:pPr algn="just"/>
            <a:r>
              <a:rPr lang="en-US" sz="2200" b="0" i="0" u="none" strike="noStrike" baseline="0" dirty="0">
                <a:latin typeface="Calibri" panose="020F0502020204030204" pitchFamily="34" charset="0"/>
                <a:cs typeface="Calibri" panose="020F0502020204030204" pitchFamily="34" charset="0"/>
              </a:rPr>
              <a:t>There are no bytes of storage named yet.</a:t>
            </a:r>
          </a:p>
          <a:p>
            <a:pPr algn="just"/>
            <a:r>
              <a:rPr lang="en-US" sz="2200" b="0" i="0" u="none" strike="noStrike" baseline="0" dirty="0">
                <a:latin typeface="Calibri" panose="020F0502020204030204" pitchFamily="34" charset="0"/>
                <a:cs typeface="Calibri" panose="020F0502020204030204" pitchFamily="34" charset="0"/>
              </a:rPr>
              <a:t>Instead, this code creates a </a:t>
            </a:r>
            <a:r>
              <a:rPr lang="en-US" sz="2200" b="0" i="1" u="none" strike="noStrike" baseline="0" dirty="0">
                <a:latin typeface="Calibri" panose="020F0502020204030204" pitchFamily="34" charset="0"/>
                <a:cs typeface="Calibri" panose="020F0502020204030204" pitchFamily="34" charset="0"/>
              </a:rPr>
              <a:t>template </a:t>
            </a:r>
            <a:r>
              <a:rPr lang="en-US" sz="2200" b="0" i="0" u="none" strike="noStrike" baseline="0" dirty="0">
                <a:latin typeface="Calibri" panose="020F0502020204030204" pitchFamily="34" charset="0"/>
                <a:cs typeface="Calibri" panose="020F0502020204030204" pitchFamily="34" charset="0"/>
              </a:rPr>
              <a:t>for a new variable type called struct person.</a:t>
            </a:r>
          </a:p>
        </p:txBody>
      </p:sp>
      <p:sp>
        <p:nvSpPr>
          <p:cNvPr id="5" name="TextBox 4">
            <a:extLst>
              <a:ext uri="{FF2B5EF4-FFF2-40B4-BE49-F238E27FC236}">
                <a16:creationId xmlns:a16="http://schemas.microsoft.com/office/drawing/2014/main" id="{E8F4D066-F589-0652-93EC-6A62C32867A5}"/>
              </a:ext>
            </a:extLst>
          </p:cNvPr>
          <p:cNvSpPr txBox="1"/>
          <p:nvPr/>
        </p:nvSpPr>
        <p:spPr>
          <a:xfrm>
            <a:off x="5782963" y="3616573"/>
            <a:ext cx="5881816" cy="769441"/>
          </a:xfrm>
          <a:prstGeom prst="rect">
            <a:avLst/>
          </a:prstGeom>
          <a:noFill/>
        </p:spPr>
        <p:txBody>
          <a:bodyPr wrap="square">
            <a:spAutoFit/>
          </a:bodyPr>
          <a:lstStyle/>
          <a:p>
            <a:pPr algn="l"/>
            <a:r>
              <a:rPr lang="en-US" sz="2200" b="0" i="0" u="none" strike="noStrike" baseline="0" dirty="0">
                <a:latin typeface="Calibri" panose="020F0502020204030204" pitchFamily="34" charset="0"/>
                <a:cs typeface="Calibri" panose="020F0502020204030204" pitchFamily="34" charset="0"/>
              </a:rPr>
              <a:t>the struct person consists of two arrays of 32 char, </a:t>
            </a:r>
          </a:p>
          <a:p>
            <a:pPr algn="l"/>
            <a:r>
              <a:rPr lang="en-US" sz="2200" b="0" i="0" u="none" strike="noStrike" baseline="0" dirty="0">
                <a:latin typeface="Calibri" panose="020F0502020204030204" pitchFamily="34" charset="0"/>
                <a:cs typeface="Calibri" panose="020F0502020204030204" pitchFamily="34" charset="0"/>
              </a:rPr>
              <a:t>an int, and a double, for a </a:t>
            </a:r>
            <a:r>
              <a:rPr lang="en-GB" sz="2200" b="0" i="0" u="none" strike="noStrike" baseline="0" dirty="0">
                <a:latin typeface="Calibri" panose="020F0502020204030204" pitchFamily="34" charset="0"/>
                <a:cs typeface="Calibri" panose="020F0502020204030204" pitchFamily="34" charset="0"/>
              </a:rPr>
              <a:t>total of 76 bytes.</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5949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We can use this definition of a struct person to declare a variable as follows:</a:t>
            </a:r>
          </a:p>
          <a:p>
            <a:pPr algn="just"/>
            <a:r>
              <a:rPr lang="en-GB" sz="2200" b="0" i="0" u="none" strike="noStrike" baseline="0" dirty="0">
                <a:latin typeface="Calibri" panose="020F0502020204030204" pitchFamily="34" charset="0"/>
                <a:cs typeface="Calibri" panose="020F0502020204030204" pitchFamily="34" charset="0"/>
              </a:rPr>
              <a:t>struct person teacher;</a:t>
            </a:r>
            <a:endParaRPr lang="en-US" sz="2200" dirty="0">
              <a:latin typeface="Calibri" panose="020F0502020204030204" pitchFamily="34" charset="0"/>
              <a:cs typeface="Calibri" panose="020F0502020204030204" pitchFamily="34" charset="0"/>
            </a:endParaRPr>
          </a:p>
          <a:p>
            <a:pPr algn="l"/>
            <a:r>
              <a:rPr lang="en-US" sz="2200" b="0" i="0" u="none" strike="noStrike" baseline="0" dirty="0">
                <a:latin typeface="Calibri" panose="020F0502020204030204" pitchFamily="34" charset="0"/>
                <a:cs typeface="Calibri" panose="020F0502020204030204" pitchFamily="34" charset="0"/>
              </a:rPr>
              <a:t>We now have a variable named teacher that provides 76 bytes of storage. </a:t>
            </a:r>
          </a:p>
          <a:p>
            <a:pPr algn="l"/>
            <a:r>
              <a:rPr lang="en-US" sz="2200" b="0" i="0" u="none" strike="noStrike" baseline="0" dirty="0">
                <a:latin typeface="Calibri" panose="020F0502020204030204" pitchFamily="34" charset="0"/>
                <a:cs typeface="Calibri" panose="020F0502020204030204" pitchFamily="34" charset="0"/>
              </a:rPr>
              <a:t>Each</a:t>
            </a:r>
            <a:r>
              <a:rPr lang="en-US" sz="2200" dirty="0">
                <a:latin typeface="Calibri" panose="020F0502020204030204" pitchFamily="34" charset="0"/>
                <a:cs typeface="Calibri" panose="020F0502020204030204" pitchFamily="34" charset="0"/>
              </a:rPr>
              <a:t> </a:t>
            </a:r>
            <a:r>
              <a:rPr lang="en-US" sz="2200" b="0" i="0" u="none" strike="noStrike" baseline="0" dirty="0">
                <a:latin typeface="Calibri" panose="020F0502020204030204" pitchFamily="34" charset="0"/>
                <a:cs typeface="Calibri" panose="020F0502020204030204" pitchFamily="34" charset="0"/>
              </a:rPr>
              <a:t>part of the variable is called a field and is accessed using the period (.) symbol.</a:t>
            </a:r>
          </a:p>
          <a:p>
            <a:pPr algn="l"/>
            <a:r>
              <a:rPr lang="en-GB" sz="2200" b="0" i="0" u="none" strike="noStrike" baseline="0" dirty="0">
                <a:latin typeface="Calibri" panose="020F0502020204030204" pitchFamily="34" charset="0"/>
                <a:cs typeface="Calibri" panose="020F0502020204030204" pitchFamily="34" charset="0"/>
              </a:rPr>
              <a:t>For example:</a:t>
            </a:r>
          </a:p>
          <a:p>
            <a:pPr marL="0" indent="0" algn="l">
              <a:buNone/>
            </a:pPr>
            <a:r>
              <a:rPr lang="en-GB" sz="1500" b="0" i="0" u="none" strike="noStrike" baseline="0" dirty="0" err="1">
                <a:solidFill>
                  <a:schemeClr val="tx2">
                    <a:lumMod val="75000"/>
                    <a:lumOff val="25000"/>
                  </a:schemeClr>
                </a:solidFill>
                <a:latin typeface="ZztexMono-Regular"/>
              </a:rPr>
              <a:t>teacher.year</a:t>
            </a:r>
            <a:r>
              <a:rPr lang="en-GB" sz="1500" b="0" i="0" u="none" strike="noStrike" baseline="0" dirty="0">
                <a:solidFill>
                  <a:schemeClr val="tx2">
                    <a:lumMod val="75000"/>
                    <a:lumOff val="25000"/>
                  </a:schemeClr>
                </a:solidFill>
                <a:latin typeface="ZztexMono-Regular"/>
              </a:rPr>
              <a:t>=2006;</a:t>
            </a:r>
          </a:p>
          <a:p>
            <a:pPr marL="0" indent="0" algn="l">
              <a:buNone/>
            </a:pPr>
            <a:r>
              <a:rPr lang="en-GB" sz="1500" b="0" i="0" u="none" strike="noStrike" baseline="0" dirty="0" err="1">
                <a:solidFill>
                  <a:schemeClr val="tx2">
                    <a:lumMod val="75000"/>
                    <a:lumOff val="25000"/>
                  </a:schemeClr>
                </a:solidFill>
                <a:latin typeface="ZztexMono-Regular"/>
              </a:rPr>
              <a:t>teacher.ppg</a:t>
            </a:r>
            <a:r>
              <a:rPr lang="en-GB" sz="1500" b="0" i="0" u="none" strike="noStrike" baseline="0" dirty="0">
                <a:solidFill>
                  <a:schemeClr val="tx2">
                    <a:lumMod val="75000"/>
                    <a:lumOff val="25000"/>
                  </a:schemeClr>
                </a:solidFill>
                <a:latin typeface="ZztexMono-Regular"/>
              </a:rPr>
              <a:t>=10.4;</a:t>
            </a:r>
          </a:p>
          <a:p>
            <a:pPr marL="0" indent="0" algn="l">
              <a:buNone/>
            </a:pPr>
            <a:r>
              <a:rPr lang="en-GB" sz="1500" b="0" i="0" u="none" strike="noStrike" baseline="0" dirty="0" err="1">
                <a:solidFill>
                  <a:schemeClr val="tx2">
                    <a:lumMod val="75000"/>
                    <a:lumOff val="25000"/>
                  </a:schemeClr>
                </a:solidFill>
                <a:latin typeface="ZztexMono-Regular"/>
              </a:rPr>
              <a:t>strcpy</a:t>
            </a:r>
            <a:r>
              <a:rPr lang="en-GB" sz="1500" b="0" i="0" u="none" strike="noStrike" baseline="0" dirty="0">
                <a:solidFill>
                  <a:schemeClr val="tx2">
                    <a:lumMod val="75000"/>
                    <a:lumOff val="25000"/>
                  </a:schemeClr>
                </a:solidFill>
                <a:latin typeface="ZztexMono-Regular"/>
              </a:rPr>
              <a:t>(</a:t>
            </a:r>
            <a:r>
              <a:rPr lang="en-GB" sz="1500" b="0" i="0" u="none" strike="noStrike" baseline="0" dirty="0" err="1">
                <a:solidFill>
                  <a:schemeClr val="tx2">
                    <a:lumMod val="75000"/>
                    <a:lumOff val="25000"/>
                  </a:schemeClr>
                </a:solidFill>
                <a:latin typeface="ZztexMono-Regular"/>
              </a:rPr>
              <a:t>teacher.first,"Adam</a:t>
            </a:r>
            <a:r>
              <a:rPr lang="en-GB" sz="1500" b="0" i="0" u="none" strike="noStrike" baseline="0" dirty="0">
                <a:solidFill>
                  <a:schemeClr val="tx2">
                    <a:lumMod val="75000"/>
                    <a:lumOff val="25000"/>
                  </a:schemeClr>
                </a:solidFill>
                <a:latin typeface="ZztexMono-Regular"/>
              </a:rPr>
              <a:t>");</a:t>
            </a:r>
          </a:p>
          <a:p>
            <a:pPr marL="0" indent="0" algn="l">
              <a:buNone/>
            </a:pPr>
            <a:r>
              <a:rPr lang="en-GB" sz="1500" b="0" i="0" u="none" strike="noStrike" baseline="0" dirty="0" err="1">
                <a:solidFill>
                  <a:schemeClr val="tx2">
                    <a:lumMod val="75000"/>
                    <a:lumOff val="25000"/>
                  </a:schemeClr>
                </a:solidFill>
                <a:latin typeface="ZztexMono-Regular"/>
              </a:rPr>
              <a:t>strcpy</a:t>
            </a:r>
            <a:r>
              <a:rPr lang="en-GB" sz="1500" b="0" i="0" u="none" strike="noStrike" baseline="0" dirty="0">
                <a:solidFill>
                  <a:schemeClr val="tx2">
                    <a:lumMod val="75000"/>
                    <a:lumOff val="25000"/>
                  </a:schemeClr>
                </a:solidFill>
                <a:latin typeface="ZztexMono-Regular"/>
              </a:rPr>
              <a:t>(</a:t>
            </a:r>
            <a:r>
              <a:rPr lang="en-GB" sz="1500" b="0" i="0" u="none" strike="noStrike" baseline="0" dirty="0" err="1">
                <a:solidFill>
                  <a:schemeClr val="tx2">
                    <a:lumMod val="75000"/>
                    <a:lumOff val="25000"/>
                  </a:schemeClr>
                </a:solidFill>
                <a:latin typeface="ZztexMono-Regular"/>
              </a:rPr>
              <a:t>teacher.last,"Hoover</a:t>
            </a:r>
            <a:r>
              <a:rPr lang="en-GB" sz="1500" b="0" i="0" u="none" strike="noStrike" baseline="0" dirty="0">
                <a:solidFill>
                  <a:schemeClr val="tx2">
                    <a:lumMod val="75000"/>
                    <a:lumOff val="25000"/>
                  </a:schemeClr>
                </a:solidFill>
                <a:latin typeface="ZztexMono-Regular"/>
              </a:rPr>
              <a:t>");</a:t>
            </a:r>
            <a:endPar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012B655-64DB-1820-D75B-29BE9055A06E}"/>
              </a:ext>
            </a:extLst>
          </p:cNvPr>
          <p:cNvPicPr>
            <a:picLocks noChangeAspect="1"/>
          </p:cNvPicPr>
          <p:nvPr/>
        </p:nvPicPr>
        <p:blipFill>
          <a:blip r:embed="rId2"/>
          <a:stretch>
            <a:fillRect/>
          </a:stretch>
        </p:blipFill>
        <p:spPr>
          <a:xfrm>
            <a:off x="7850747" y="3636632"/>
            <a:ext cx="3503053" cy="3011912"/>
          </a:xfrm>
          <a:prstGeom prst="rect">
            <a:avLst/>
          </a:prstGeom>
        </p:spPr>
      </p:pic>
    </p:spTree>
    <p:extLst>
      <p:ext uri="{BB962C8B-B14F-4D97-AF65-F5344CB8AC3E}">
        <p14:creationId xmlns:p14="http://schemas.microsoft.com/office/powerpoint/2010/main" val="2355367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GB" sz="2200" b="0" i="0" u="none" strike="noStrike" baseline="0" dirty="0">
                <a:latin typeface="Calibri" panose="020F0502020204030204" pitchFamily="34" charset="0"/>
                <a:cs typeface="Calibri" panose="020F0502020204030204" pitchFamily="34" charset="0"/>
              </a:rPr>
              <a:t>To copy one structure to another structure, one can use the following example code:</a:t>
            </a:r>
          </a:p>
          <a:p>
            <a:pPr marL="0" indent="0" algn="just">
              <a:buNone/>
            </a:pP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struct person </a:t>
            </a:r>
            <a:r>
              <a:rPr lang="en-GB" sz="1500" b="0" i="0" u="none" strike="noStrike" baseline="0" dirty="0" err="1">
                <a:solidFill>
                  <a:schemeClr val="tx2">
                    <a:lumMod val="75000"/>
                    <a:lumOff val="25000"/>
                  </a:schemeClr>
                </a:solidFill>
                <a:latin typeface="Calibri" panose="020F0502020204030204" pitchFamily="34" charset="0"/>
                <a:cs typeface="Calibri" panose="020F0502020204030204" pitchFamily="34" charset="0"/>
              </a:rPr>
              <a:t>mailman,teacher</a:t>
            </a: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t>
            </a:r>
          </a:p>
          <a:p>
            <a:pPr marL="0" indent="0" algn="just">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mailman=teacher; /* copy entire contents of struct */</a:t>
            </a:r>
          </a:p>
          <a:p>
            <a:pPr algn="just"/>
            <a:r>
              <a:rPr lang="en-US" sz="2200" b="0" i="0" u="none" strike="noStrike" baseline="0" dirty="0">
                <a:latin typeface="Calibri" panose="020F0502020204030204" pitchFamily="34" charset="0"/>
                <a:cs typeface="Calibri" panose="020F0502020204030204" pitchFamily="34" charset="0"/>
              </a:rPr>
              <a:t>Assigning a structure to another copies every byte. </a:t>
            </a:r>
          </a:p>
          <a:p>
            <a:pPr algn="just"/>
            <a:r>
              <a:rPr lang="en-US" sz="2200" dirty="0">
                <a:latin typeface="Calibri" panose="020F0502020204030204" pitchFamily="34" charset="0"/>
                <a:cs typeface="Calibri" panose="020F0502020204030204" pitchFamily="34" charset="0"/>
              </a:rPr>
              <a:t>Note: </a:t>
            </a:r>
            <a:r>
              <a:rPr lang="en-US" sz="2200" b="0" i="0" u="none" strike="noStrike" baseline="0" dirty="0">
                <a:latin typeface="Calibri" panose="020F0502020204030204" pitchFamily="34" charset="0"/>
                <a:cs typeface="Calibri" panose="020F0502020204030204" pitchFamily="34" charset="0"/>
              </a:rPr>
              <a:t>To copy structures, the structures must be of the same type. </a:t>
            </a:r>
          </a:p>
          <a:p>
            <a:pPr algn="just"/>
            <a:r>
              <a:rPr lang="en-US" sz="2200" dirty="0">
                <a:latin typeface="Calibri" panose="020F0502020204030204" pitchFamily="34" charset="0"/>
                <a:cs typeface="Calibri" panose="020F0502020204030204" pitchFamily="34" charset="0"/>
              </a:rPr>
              <a:t>To </a:t>
            </a:r>
            <a:r>
              <a:rPr lang="en-US" sz="2200" b="0" i="0" u="none" strike="noStrike" baseline="0" dirty="0">
                <a:latin typeface="Calibri" panose="020F0502020204030204" pitchFamily="34" charset="0"/>
                <a:cs typeface="Calibri" panose="020F0502020204030204" pitchFamily="34" charset="0"/>
              </a:rPr>
              <a:t>pass a structure as a parameter to a function, one can use the following example code:</a:t>
            </a:r>
          </a:p>
          <a:p>
            <a:pPr algn="just"/>
            <a:endParaRPr lang="en-US" sz="2200" dirty="0">
              <a:latin typeface="Calibri" panose="020F0502020204030204" pitchFamily="34" charset="0"/>
              <a:cs typeface="Calibri" panose="020F0502020204030204" pitchFamily="34" charset="0"/>
            </a:endParaRPr>
          </a:p>
          <a:p>
            <a:pPr algn="just"/>
            <a:endParaRPr lang="en-US" sz="2200" b="0" i="0" u="none" strike="noStrike" baseline="0" dirty="0">
              <a:latin typeface="Calibri" panose="020F0502020204030204" pitchFamily="34" charset="0"/>
              <a:cs typeface="Calibri" panose="020F0502020204030204" pitchFamily="34" charset="0"/>
            </a:endParaRPr>
          </a:p>
          <a:p>
            <a:pPr marL="0" indent="0" algn="just">
              <a:buNone/>
            </a:pPr>
            <a:endParaRPr lang="en-US" sz="2200" b="0" i="0" u="none" strike="noStrike" baseline="0" dirty="0">
              <a:latin typeface="Calibri" panose="020F0502020204030204" pitchFamily="34" charset="0"/>
              <a:cs typeface="Calibri" panose="020F0502020204030204" pitchFamily="34" charset="0"/>
            </a:endParaRPr>
          </a:p>
          <a:p>
            <a:pPr algn="l"/>
            <a:r>
              <a:rPr lang="en-US" sz="2200" b="0" i="0" u="none" strike="noStrike" baseline="0" dirty="0">
                <a:latin typeface="Calibri" panose="020F0502020204030204" pitchFamily="34" charset="0"/>
                <a:cs typeface="Calibri" panose="020F0502020204030204" pitchFamily="34" charset="0"/>
              </a:rPr>
              <a:t>When the function call to </a:t>
            </a:r>
            <a:r>
              <a:rPr lang="en-US" sz="2200" b="0" i="0" u="none" strike="noStrike" baseline="0" dirty="0" err="1">
                <a:latin typeface="Calibri" panose="020F0502020204030204" pitchFamily="34" charset="0"/>
                <a:cs typeface="Calibri" panose="020F0502020204030204" pitchFamily="34" charset="0"/>
              </a:rPr>
              <a:t>DisplayStats</a:t>
            </a:r>
            <a:r>
              <a:rPr lang="en-US" sz="2200" b="0" i="0" u="none" strike="noStrike" baseline="0" dirty="0">
                <a:latin typeface="Calibri" panose="020F0502020204030204" pitchFamily="34" charset="0"/>
                <a:cs typeface="Calibri" panose="020F0502020204030204" pitchFamily="34" charset="0"/>
              </a:rPr>
              <a:t>() is made, all 76 bytes in the variable teacher are copied to Input.</a:t>
            </a:r>
          </a:p>
        </p:txBody>
      </p:sp>
      <p:graphicFrame>
        <p:nvGraphicFramePr>
          <p:cNvPr id="7" name="Table 6">
            <a:extLst>
              <a:ext uri="{FF2B5EF4-FFF2-40B4-BE49-F238E27FC236}">
                <a16:creationId xmlns:a16="http://schemas.microsoft.com/office/drawing/2014/main" id="{96830855-C9F2-AB07-FC81-6CEE7884F0C4}"/>
              </a:ext>
            </a:extLst>
          </p:cNvPr>
          <p:cNvGraphicFramePr>
            <a:graphicFrameLocks noGrp="1"/>
          </p:cNvGraphicFramePr>
          <p:nvPr>
            <p:extLst>
              <p:ext uri="{D42A27DB-BD31-4B8C-83A1-F6EECF244321}">
                <p14:modId xmlns:p14="http://schemas.microsoft.com/office/powerpoint/2010/main" val="4262098393"/>
              </p:ext>
            </p:extLst>
          </p:nvPr>
        </p:nvGraphicFramePr>
        <p:xfrm>
          <a:off x="838199" y="4421418"/>
          <a:ext cx="10289721" cy="1234440"/>
        </p:xfrm>
        <a:graphic>
          <a:graphicData uri="http://schemas.openxmlformats.org/drawingml/2006/table">
            <a:tbl>
              <a:tblPr firstRow="1" bandRow="1">
                <a:tableStyleId>{5C22544A-7EE6-4342-B048-85BDC9FD1C3A}</a:tableStyleId>
              </a:tblPr>
              <a:tblGrid>
                <a:gridCol w="6845651">
                  <a:extLst>
                    <a:ext uri="{9D8B030D-6E8A-4147-A177-3AD203B41FA5}">
                      <a16:colId xmlns:a16="http://schemas.microsoft.com/office/drawing/2014/main" val="2536667656"/>
                    </a:ext>
                  </a:extLst>
                </a:gridCol>
                <a:gridCol w="3444070">
                  <a:extLst>
                    <a:ext uri="{9D8B030D-6E8A-4147-A177-3AD203B41FA5}">
                      <a16:colId xmlns:a16="http://schemas.microsoft.com/office/drawing/2014/main" val="2594463549"/>
                    </a:ext>
                  </a:extLst>
                </a:gridCol>
              </a:tblGrid>
              <a:tr h="370840">
                <a:tc>
                  <a:txBody>
                    <a:bodyPr/>
                    <a:lstStyle/>
                    <a:p>
                      <a:pPr marL="0" indent="0" algn="l">
                        <a:buNone/>
                      </a:pPr>
                      <a:r>
                        <a:rPr lang="en-GB" sz="1500" b="0" i="0" u="none" strike="noStrike" baseline="0" dirty="0" err="1">
                          <a:solidFill>
                            <a:schemeClr val="tx2">
                              <a:lumMod val="75000"/>
                              <a:lumOff val="25000"/>
                            </a:schemeClr>
                          </a:solidFill>
                          <a:latin typeface="ZztexMono-Regular"/>
                        </a:rPr>
                        <a:t>DisplayStats</a:t>
                      </a:r>
                      <a:r>
                        <a:rPr lang="en-GB" sz="1500" b="0" i="0" u="none" strike="noStrike" baseline="0" dirty="0">
                          <a:solidFill>
                            <a:schemeClr val="tx2">
                              <a:lumMod val="75000"/>
                              <a:lumOff val="25000"/>
                            </a:schemeClr>
                          </a:solidFill>
                          <a:latin typeface="ZztexMono-Regular"/>
                        </a:rPr>
                        <a:t>(struct person Input)</a:t>
                      </a:r>
                    </a:p>
                    <a:p>
                      <a:pPr marL="0" indent="0" algn="l">
                        <a:buNone/>
                      </a:pPr>
                      <a:r>
                        <a:rPr lang="en-GB" sz="1500" b="0" i="0" u="none" strike="noStrike" baseline="0" dirty="0">
                          <a:solidFill>
                            <a:schemeClr val="tx2">
                              <a:lumMod val="75000"/>
                              <a:lumOff val="25000"/>
                            </a:schemeClr>
                          </a:solidFill>
                          <a:latin typeface="ZztexMono-Regular"/>
                        </a:rPr>
                        <a:t>{</a:t>
                      </a:r>
                    </a:p>
                    <a:p>
                      <a:pPr marL="0" indent="0" algn="l">
                        <a:buNone/>
                      </a:pPr>
                      <a:r>
                        <a:rPr lang="en-US" sz="1500" b="0" i="0" u="none" strike="noStrike" baseline="0" dirty="0" err="1">
                          <a:solidFill>
                            <a:schemeClr val="tx2">
                              <a:lumMod val="75000"/>
                              <a:lumOff val="25000"/>
                            </a:schemeClr>
                          </a:solidFill>
                          <a:latin typeface="ZztexMono-Regular"/>
                        </a:rPr>
                        <a:t>printf</a:t>
                      </a:r>
                      <a:r>
                        <a:rPr lang="en-US" sz="1500" b="0" i="0" u="none" strike="noStrike" baseline="0" dirty="0">
                          <a:solidFill>
                            <a:schemeClr val="tx2">
                              <a:lumMod val="75000"/>
                              <a:lumOff val="25000"/>
                            </a:schemeClr>
                          </a:solidFill>
                          <a:latin typeface="ZztexMono-Regular"/>
                        </a:rPr>
                        <a:t>("%s, %s: %</a:t>
                      </a:r>
                      <a:r>
                        <a:rPr lang="en-US" sz="1500" b="0" i="0" u="none" strike="noStrike" baseline="0" dirty="0" err="1">
                          <a:solidFill>
                            <a:schemeClr val="tx2">
                              <a:lumMod val="75000"/>
                              <a:lumOff val="25000"/>
                            </a:schemeClr>
                          </a:solidFill>
                          <a:latin typeface="ZztexMono-Regular"/>
                        </a:rPr>
                        <a:t>lf</a:t>
                      </a:r>
                      <a:r>
                        <a:rPr lang="en-US" sz="1500" b="0" i="0" u="none" strike="noStrike" baseline="0" dirty="0">
                          <a:solidFill>
                            <a:schemeClr val="tx2">
                              <a:lumMod val="75000"/>
                              <a:lumOff val="25000"/>
                            </a:schemeClr>
                          </a:solidFill>
                          <a:latin typeface="ZztexMono-Regular"/>
                        </a:rPr>
                        <a:t> PPG in %d\n",</a:t>
                      </a:r>
                      <a:r>
                        <a:rPr lang="en-US" sz="1500" b="0" i="0" u="none" strike="noStrike" baseline="0" dirty="0" err="1">
                          <a:solidFill>
                            <a:schemeClr val="tx2">
                              <a:lumMod val="75000"/>
                              <a:lumOff val="25000"/>
                            </a:schemeClr>
                          </a:solidFill>
                          <a:latin typeface="ZztexMono-Regular"/>
                        </a:rPr>
                        <a:t>Input.last,Input.first</a:t>
                      </a:r>
                      <a:r>
                        <a:rPr lang="en-US" sz="1500" b="0" i="0" u="none" strike="noStrike" baseline="0" dirty="0">
                          <a:solidFill>
                            <a:schemeClr val="tx2">
                              <a:lumMod val="75000"/>
                              <a:lumOff val="25000"/>
                            </a:schemeClr>
                          </a:solidFill>
                          <a:latin typeface="ZztexMono-Regular"/>
                        </a:rPr>
                        <a:t>,</a:t>
                      </a:r>
                      <a:r>
                        <a:rPr lang="en-GB" sz="1500" b="0" i="0" u="none" strike="noStrike" baseline="0" dirty="0" err="1">
                          <a:solidFill>
                            <a:schemeClr val="tx2">
                              <a:lumMod val="75000"/>
                              <a:lumOff val="25000"/>
                            </a:schemeClr>
                          </a:solidFill>
                          <a:latin typeface="ZztexMono-Regular"/>
                        </a:rPr>
                        <a:t>Input.ppg,Input.year</a:t>
                      </a:r>
                      <a:r>
                        <a:rPr lang="en-GB" sz="1500" b="0" i="0" u="none" strike="noStrike" baseline="0" dirty="0">
                          <a:solidFill>
                            <a:schemeClr val="tx2">
                              <a:lumMod val="75000"/>
                              <a:lumOff val="25000"/>
                            </a:schemeClr>
                          </a:solidFill>
                          <a:latin typeface="ZztexMono-Regular"/>
                        </a:rPr>
                        <a:t>);</a:t>
                      </a:r>
                    </a:p>
                    <a:p>
                      <a:pPr marL="0" indent="0" algn="l">
                        <a:buNone/>
                      </a:pPr>
                      <a:r>
                        <a:rPr lang="en-GB" sz="1500" b="0" i="0" u="none" strike="noStrike" baseline="0" dirty="0">
                          <a:solidFill>
                            <a:schemeClr val="tx2">
                              <a:lumMod val="75000"/>
                              <a:lumOff val="25000"/>
                            </a:schemeClr>
                          </a:solidFill>
                          <a:latin typeface="ZztexMono-Regular"/>
                        </a:rPr>
                        <a:t>}</a:t>
                      </a:r>
                      <a:endPar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main()</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struct person teacher;</a:t>
                      </a:r>
                    </a:p>
                    <a:p>
                      <a:r>
                        <a:rPr lang="en-GB"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DisplayStats</a:t>
                      </a:r>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(teacher);</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endParaRPr lang="en-GB" sz="150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749322"/>
                  </a:ext>
                </a:extLst>
              </a:tr>
            </a:tbl>
          </a:graphicData>
        </a:graphic>
      </p:graphicFrame>
    </p:spTree>
    <p:extLst>
      <p:ext uri="{BB962C8B-B14F-4D97-AF65-F5344CB8AC3E}">
        <p14:creationId xmlns:p14="http://schemas.microsoft.com/office/powerpoint/2010/main" val="6116990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9: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defines a structure to store information about a student. </a:t>
            </a:r>
          </a:p>
          <a:p>
            <a:pPr algn="just"/>
            <a:r>
              <a:rPr lang="en-US" sz="2200" b="0" i="0" u="none" strike="noStrike" baseline="0" dirty="0">
                <a:latin typeface="Calibri" panose="020F0502020204030204" pitchFamily="34" charset="0"/>
                <a:cs typeface="Calibri" panose="020F0502020204030204" pitchFamily="34" charset="0"/>
              </a:rPr>
              <a:t>The structure should contain the following members:</a:t>
            </a:r>
          </a:p>
          <a:p>
            <a:pPr lvl="1" algn="just"/>
            <a:r>
              <a:rPr lang="en-US" sz="2000" b="0" i="0" u="none" strike="noStrike" baseline="0" dirty="0">
                <a:latin typeface="Calibri" panose="020F0502020204030204" pitchFamily="34" charset="0"/>
                <a:cs typeface="Calibri" panose="020F0502020204030204" pitchFamily="34" charset="0"/>
              </a:rPr>
              <a:t>name: a string (character array) to store the student's name.</a:t>
            </a:r>
          </a:p>
          <a:p>
            <a:pPr lvl="1" algn="just"/>
            <a:r>
              <a:rPr lang="en-US" sz="2000" b="0" i="0" u="none" strike="noStrike" baseline="0" dirty="0" err="1">
                <a:latin typeface="Calibri" panose="020F0502020204030204" pitchFamily="34" charset="0"/>
                <a:cs typeface="Calibri" panose="020F0502020204030204" pitchFamily="34" charset="0"/>
              </a:rPr>
              <a:t>rollNumber</a:t>
            </a:r>
            <a:r>
              <a:rPr lang="en-US" sz="2000" b="0" i="0" u="none" strike="noStrike" baseline="0" dirty="0">
                <a:latin typeface="Calibri" panose="020F0502020204030204" pitchFamily="34" charset="0"/>
                <a:cs typeface="Calibri" panose="020F0502020204030204" pitchFamily="34" charset="0"/>
              </a:rPr>
              <a:t>: an integer to store the student's roll number.</a:t>
            </a:r>
          </a:p>
          <a:p>
            <a:pPr lvl="1" algn="just"/>
            <a:r>
              <a:rPr lang="en-US" sz="2000" b="0" i="0" u="none" strike="noStrike" baseline="0" dirty="0">
                <a:latin typeface="Calibri" panose="020F0502020204030204" pitchFamily="34" charset="0"/>
                <a:cs typeface="Calibri" panose="020F0502020204030204" pitchFamily="34" charset="0"/>
              </a:rPr>
              <a:t>marks: a float to store the student's marks.</a:t>
            </a:r>
          </a:p>
          <a:p>
            <a:pPr algn="just"/>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Write a function that takes this structure as input and prints the student's information. In the main function, create an instance of the structure, initialize it with some values, and then call the function to display the student's details.</a:t>
            </a:r>
            <a:endParaRPr lang="en-GB" sz="22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62198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9: Structures</a:t>
            </a:r>
          </a:p>
        </p:txBody>
      </p:sp>
      <p:pic>
        <p:nvPicPr>
          <p:cNvPr id="5" name="Picture 4" descr="A screenshot of a computer&#10;&#10;Description automatically generated">
            <a:extLst>
              <a:ext uri="{FF2B5EF4-FFF2-40B4-BE49-F238E27FC236}">
                <a16:creationId xmlns:a16="http://schemas.microsoft.com/office/drawing/2014/main" id="{25B98F05-1BAF-66B0-A3C5-67085C1FE276}"/>
              </a:ext>
            </a:extLst>
          </p:cNvPr>
          <p:cNvPicPr>
            <a:picLocks noChangeAspect="1"/>
          </p:cNvPicPr>
          <p:nvPr/>
        </p:nvPicPr>
        <p:blipFill rotWithShape="1">
          <a:blip r:embed="rId2">
            <a:extLst>
              <a:ext uri="{28A0092B-C50C-407E-A947-70E740481C1C}">
                <a14:useLocalDpi xmlns:a14="http://schemas.microsoft.com/office/drawing/2010/main" val="0"/>
              </a:ext>
            </a:extLst>
          </a:blip>
          <a:srcRect l="4437" t="8181" r="44519" b="25246"/>
          <a:stretch/>
        </p:blipFill>
        <p:spPr>
          <a:xfrm>
            <a:off x="7188591" y="708296"/>
            <a:ext cx="4740813" cy="6047739"/>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E30F841C-70F6-8177-6BE3-CE96E1B190B3}"/>
              </a:ext>
            </a:extLst>
          </p:cNvPr>
          <p:cNvPicPr>
            <a:picLocks noChangeAspect="1"/>
          </p:cNvPicPr>
          <p:nvPr/>
        </p:nvPicPr>
        <p:blipFill rotWithShape="1">
          <a:blip r:embed="rId3">
            <a:extLst>
              <a:ext uri="{28A0092B-C50C-407E-A947-70E740481C1C}">
                <a14:useLocalDpi xmlns:a14="http://schemas.microsoft.com/office/drawing/2010/main" val="0"/>
              </a:ext>
            </a:extLst>
          </a:blip>
          <a:srcRect l="2789" t="2988" r="31380" b="49952"/>
          <a:stretch/>
        </p:blipFill>
        <p:spPr>
          <a:xfrm>
            <a:off x="262596" y="3673427"/>
            <a:ext cx="5833404" cy="2819448"/>
          </a:xfrm>
          <a:prstGeom prst="rect">
            <a:avLst/>
          </a:prstGeom>
        </p:spPr>
      </p:pic>
    </p:spTree>
    <p:extLst>
      <p:ext uri="{BB962C8B-B14F-4D97-AF65-F5344CB8AC3E}">
        <p14:creationId xmlns:p14="http://schemas.microsoft.com/office/powerpoint/2010/main" val="3489711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9: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Structure Definition:</a:t>
            </a:r>
          </a:p>
          <a:p>
            <a:pPr lvl="1" algn="just"/>
            <a:r>
              <a:rPr lang="en-US" sz="1800" dirty="0">
                <a:latin typeface="Calibri" panose="020F0502020204030204" pitchFamily="34" charset="0"/>
                <a:cs typeface="Calibri" panose="020F0502020204030204" pitchFamily="34" charset="0"/>
              </a:rPr>
              <a:t>The struct Student defines a template (blueprint) for the student data, with members for name, </a:t>
            </a:r>
            <a:r>
              <a:rPr lang="en-US" sz="1800" dirty="0" err="1">
                <a:latin typeface="Calibri" panose="020F0502020204030204" pitchFamily="34" charset="0"/>
                <a:cs typeface="Calibri" panose="020F0502020204030204" pitchFamily="34" charset="0"/>
              </a:rPr>
              <a:t>rollNumber</a:t>
            </a:r>
            <a:r>
              <a:rPr lang="en-US" sz="1800" dirty="0">
                <a:latin typeface="Calibri" panose="020F0502020204030204" pitchFamily="34" charset="0"/>
                <a:cs typeface="Calibri" panose="020F0502020204030204" pitchFamily="34" charset="0"/>
              </a:rPr>
              <a:t>, and marks.</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Function to Display Student Info:</a:t>
            </a:r>
          </a:p>
          <a:p>
            <a:pPr lvl="1" algn="just"/>
            <a:r>
              <a:rPr lang="en-US" sz="1800" dirty="0">
                <a:latin typeface="Calibri" panose="020F0502020204030204" pitchFamily="34" charset="0"/>
                <a:cs typeface="Calibri" panose="020F0502020204030204" pitchFamily="34" charset="0"/>
              </a:rPr>
              <a:t>The </a:t>
            </a:r>
            <a:r>
              <a:rPr lang="en-US" sz="1800" dirty="0" err="1">
                <a:latin typeface="Calibri" panose="020F0502020204030204" pitchFamily="34" charset="0"/>
                <a:cs typeface="Calibri" panose="020F0502020204030204" pitchFamily="34" charset="0"/>
              </a:rPr>
              <a:t>displayStudentInfo</a:t>
            </a:r>
            <a:r>
              <a:rPr lang="en-US" sz="1800" dirty="0">
                <a:latin typeface="Calibri" panose="020F0502020204030204" pitchFamily="34" charset="0"/>
                <a:cs typeface="Calibri" panose="020F0502020204030204" pitchFamily="34" charset="0"/>
              </a:rPr>
              <a:t>() function takes a Student structure as an argument and prints its members.</a:t>
            </a:r>
          </a:p>
          <a:p>
            <a:pPr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Main Function:</a:t>
            </a:r>
          </a:p>
          <a:p>
            <a:pPr lvl="1" algn="just"/>
            <a:r>
              <a:rPr lang="en-US" sz="1800" dirty="0">
                <a:latin typeface="Calibri" panose="020F0502020204030204" pitchFamily="34" charset="0"/>
                <a:cs typeface="Calibri" panose="020F0502020204030204" pitchFamily="34" charset="0"/>
              </a:rPr>
              <a:t>In main(), an instance of Student called student1 is created.</a:t>
            </a:r>
          </a:p>
          <a:p>
            <a:pPr lvl="1" algn="just"/>
            <a:r>
              <a:rPr lang="en-US" sz="1800" dirty="0">
                <a:latin typeface="Calibri" panose="020F0502020204030204" pitchFamily="34" charset="0"/>
                <a:cs typeface="Calibri" panose="020F0502020204030204" pitchFamily="34" charset="0"/>
              </a:rPr>
              <a:t>The program prompts the user to enter the student's name, roll number, and marks.</a:t>
            </a:r>
          </a:p>
          <a:p>
            <a:pPr lvl="1" algn="just"/>
            <a:r>
              <a:rPr lang="en-US" sz="1800" dirty="0">
                <a:latin typeface="Calibri" panose="020F0502020204030204" pitchFamily="34" charset="0"/>
                <a:cs typeface="Calibri" panose="020F0502020204030204" pitchFamily="34" charset="0"/>
              </a:rPr>
              <a:t>The information entered by the user is then displayed using the </a:t>
            </a:r>
            <a:r>
              <a:rPr lang="en-US" sz="1800" dirty="0" err="1">
                <a:latin typeface="Calibri" panose="020F0502020204030204" pitchFamily="34" charset="0"/>
                <a:cs typeface="Calibri" panose="020F0502020204030204" pitchFamily="34" charset="0"/>
              </a:rPr>
              <a:t>displayStudentInfo</a:t>
            </a:r>
            <a:r>
              <a:rPr lang="en-US" sz="1800" dirty="0">
                <a:latin typeface="Calibri" panose="020F0502020204030204" pitchFamily="34" charset="0"/>
                <a:cs typeface="Calibri" panose="020F0502020204030204" pitchFamily="34" charset="0"/>
              </a:rPr>
              <a:t>() function.</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13719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Arrays and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It is possible to create an array of structs, just like it is possible to have an array of any data type. </a:t>
            </a:r>
          </a:p>
          <a:p>
            <a:pPr algn="just"/>
            <a:r>
              <a:rPr lang="en-US" sz="2200" dirty="0">
                <a:latin typeface="Calibri" panose="020F0502020204030204" pitchFamily="34" charset="0"/>
                <a:cs typeface="Calibri" panose="020F0502020204030204" pitchFamily="34" charset="0"/>
              </a:rPr>
              <a:t>The template for the structure definition remains unchanged; it still must be declared first.</a:t>
            </a:r>
            <a:endParaRPr lang="en-GB"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To </a:t>
            </a:r>
            <a:r>
              <a:rPr lang="en-US" sz="2200" b="0" i="0" u="none" strike="noStrike" baseline="0" dirty="0">
                <a:latin typeface="Calibri" panose="020F0502020204030204" pitchFamily="34" charset="0"/>
                <a:cs typeface="Calibri" panose="020F0502020204030204" pitchFamily="34" charset="0"/>
              </a:rPr>
              <a:t>use array with a structure, one can use the following example code:</a:t>
            </a: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err="1">
                <a:latin typeface="Calibri" panose="020F0502020204030204" pitchFamily="34" charset="0"/>
                <a:cs typeface="Calibri" panose="020F0502020204030204" pitchFamily="34" charset="0"/>
              </a:rPr>
              <a:t>strcpy</a:t>
            </a:r>
            <a:r>
              <a:rPr lang="en-US" sz="2200" b="0" i="0" u="none" strike="noStrike" baseline="0" dirty="0">
                <a:latin typeface="Calibri" panose="020F0502020204030204" pitchFamily="34" charset="0"/>
                <a:cs typeface="Calibri" panose="020F0502020204030204" pitchFamily="34" charset="0"/>
              </a:rPr>
              <a:t> is a function in the C standard library used to copy a string from one location (source) to another (destination). </a:t>
            </a:r>
          </a:p>
          <a:p>
            <a:pPr algn="just"/>
            <a:r>
              <a:rPr lang="en-US" sz="2200" b="0" i="0" u="none" strike="noStrike" baseline="0" dirty="0">
                <a:latin typeface="Calibri" panose="020F0502020204030204" pitchFamily="34" charset="0"/>
                <a:cs typeface="Calibri" panose="020F0502020204030204" pitchFamily="34" charset="0"/>
              </a:rPr>
              <a:t>The function is defined in the header file </a:t>
            </a:r>
            <a:r>
              <a:rPr lang="en-US" sz="2200" b="0" i="0" u="none" strike="noStrike" baseline="0" dirty="0" err="1">
                <a:latin typeface="Calibri" panose="020F0502020204030204" pitchFamily="34" charset="0"/>
                <a:cs typeface="Calibri" panose="020F0502020204030204" pitchFamily="34" charset="0"/>
              </a:rPr>
              <a:t>string.h</a:t>
            </a:r>
            <a:endParaRPr lang="en-US" sz="2200" b="0" i="0" u="none" strike="noStrike" baseline="0"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96830855-C9F2-AB07-FC81-6CEE7884F0C4}"/>
              </a:ext>
            </a:extLst>
          </p:cNvPr>
          <p:cNvGraphicFramePr>
            <a:graphicFrameLocks noGrp="1"/>
          </p:cNvGraphicFramePr>
          <p:nvPr>
            <p:extLst>
              <p:ext uri="{D42A27DB-BD31-4B8C-83A1-F6EECF244321}">
                <p14:modId xmlns:p14="http://schemas.microsoft.com/office/powerpoint/2010/main" val="4259248489"/>
              </p:ext>
            </p:extLst>
          </p:nvPr>
        </p:nvGraphicFramePr>
        <p:xfrm>
          <a:off x="838199" y="3830404"/>
          <a:ext cx="10289721" cy="1463040"/>
        </p:xfrm>
        <a:graphic>
          <a:graphicData uri="http://schemas.openxmlformats.org/drawingml/2006/table">
            <a:tbl>
              <a:tblPr firstRow="1" bandRow="1">
                <a:tableStyleId>{5C22544A-7EE6-4342-B048-85BDC9FD1C3A}</a:tableStyleId>
              </a:tblPr>
              <a:tblGrid>
                <a:gridCol w="5105401">
                  <a:extLst>
                    <a:ext uri="{9D8B030D-6E8A-4147-A177-3AD203B41FA5}">
                      <a16:colId xmlns:a16="http://schemas.microsoft.com/office/drawing/2014/main" val="2536667656"/>
                    </a:ext>
                  </a:extLst>
                </a:gridCol>
                <a:gridCol w="5184320">
                  <a:extLst>
                    <a:ext uri="{9D8B030D-6E8A-4147-A177-3AD203B41FA5}">
                      <a16:colId xmlns:a16="http://schemas.microsoft.com/office/drawing/2014/main" val="2594463549"/>
                    </a:ext>
                  </a:extLst>
                </a:gridCol>
              </a:tblGrid>
              <a:tr h="370840">
                <a:tc>
                  <a:txBody>
                    <a:bodyPr/>
                    <a:lstStyle/>
                    <a:p>
                      <a:pPr marL="0" indent="0" algn="l">
                        <a:buNone/>
                      </a:pPr>
                      <a:r>
                        <a:rPr lang="en-US" sz="1500" b="0" i="0" u="none" strike="noStrike" baseline="0" dirty="0">
                          <a:solidFill>
                            <a:schemeClr val="tx2">
                              <a:lumMod val="75000"/>
                              <a:lumOff val="25000"/>
                            </a:schemeClr>
                          </a:solidFill>
                          <a:latin typeface="ZztexMono-Regular"/>
                        </a:rPr>
                        <a:t>struct person class[54]; /* array of "struct person" */</a:t>
                      </a:r>
                    </a:p>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class[0].year=2006; /* notice where array subscript goes */</a:t>
                      </a:r>
                    </a:p>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class[0].ppg=5.2;</a:t>
                      </a:r>
                    </a:p>
                    <a:p>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strcpy</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(class[0].</a:t>
                      </a:r>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first,"Jane</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p>
                    <a:p>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strcpy</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(class[0].</a:t>
                      </a:r>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last,"Doe</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p>
                    <a:p>
                      <a:pPr marL="0" indent="0" algn="l">
                        <a:buNone/>
                      </a:pPr>
                      <a:endPar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class[1].first[0]=’B’; /* array field in a struct array */</a:t>
                      </a:r>
                    </a:p>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class[1].first[1]=’o’;</a:t>
                      </a:r>
                    </a:p>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class[1].first[2]=’b’;</a:t>
                      </a:r>
                    </a:p>
                    <a:p>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class[1].first[3]=0;</a:t>
                      </a:r>
                      <a:endParaRPr lang="en-GB" sz="150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749322"/>
                  </a:ext>
                </a:extLst>
              </a:tr>
            </a:tbl>
          </a:graphicData>
        </a:graphic>
      </p:graphicFrame>
    </p:spTree>
    <p:extLst>
      <p:ext uri="{BB962C8B-B14F-4D97-AF65-F5344CB8AC3E}">
        <p14:creationId xmlns:p14="http://schemas.microsoft.com/office/powerpoint/2010/main" val="1212679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10: Arrays and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demonstrates the use of an array of structures. </a:t>
            </a:r>
          </a:p>
          <a:p>
            <a:pPr algn="just"/>
            <a:r>
              <a:rPr lang="en-US" sz="2200" b="0" i="0" u="none" strike="noStrike" baseline="0" dirty="0">
                <a:latin typeface="Calibri" panose="020F0502020204030204" pitchFamily="34" charset="0"/>
                <a:cs typeface="Calibri" panose="020F0502020204030204" pitchFamily="34" charset="0"/>
              </a:rPr>
              <a:t>The program should:</a:t>
            </a:r>
          </a:p>
          <a:p>
            <a:pPr lvl="1" algn="just"/>
            <a:r>
              <a:rPr lang="en-US" sz="2000" b="0" i="0" u="none" strike="noStrike" baseline="0" dirty="0">
                <a:latin typeface="Calibri" panose="020F0502020204030204" pitchFamily="34" charset="0"/>
                <a:cs typeface="Calibri" panose="020F0502020204030204" pitchFamily="34" charset="0"/>
              </a:rPr>
              <a:t>Define a global structure named fraction with two integer fields, x and y.</a:t>
            </a:r>
          </a:p>
          <a:p>
            <a:pPr lvl="1" algn="just"/>
            <a:r>
              <a:rPr lang="en-US" sz="2000" b="0" i="0" u="none" strike="noStrike" baseline="0" dirty="0">
                <a:latin typeface="Calibri" panose="020F0502020204030204" pitchFamily="34" charset="0"/>
                <a:cs typeface="Calibri" panose="020F0502020204030204" pitchFamily="34" charset="0"/>
              </a:rPr>
              <a:t>Inside the main() function, create an array of 3 fraction structures.</a:t>
            </a:r>
          </a:p>
          <a:p>
            <a:pPr lvl="1" algn="just"/>
            <a:r>
              <a:rPr lang="en-US" sz="2000" b="0" i="0" u="none" strike="noStrike" baseline="0" dirty="0">
                <a:latin typeface="Calibri" panose="020F0502020204030204" pitchFamily="34" charset="0"/>
                <a:cs typeface="Calibri" panose="020F0502020204030204" pitchFamily="34" charset="0"/>
              </a:rPr>
              <a:t>Initialize each element of the array with values for x and y.</a:t>
            </a:r>
          </a:p>
          <a:p>
            <a:pPr lvl="1" algn="just"/>
            <a:r>
              <a:rPr lang="en-US" sz="2000" b="0" i="0" u="none" strike="noStrike" baseline="0" dirty="0">
                <a:latin typeface="Calibri" panose="020F0502020204030204" pitchFamily="34" charset="0"/>
                <a:cs typeface="Calibri" panose="020F0502020204030204" pitchFamily="34" charset="0"/>
              </a:rPr>
              <a:t>Modify and print the values of the array elements using a separate function.</a:t>
            </a:r>
            <a:endParaRPr lang="en-GB" sz="20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5099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10: Arrays and Structures</a:t>
            </a:r>
          </a:p>
        </p:txBody>
      </p:sp>
      <p:pic>
        <p:nvPicPr>
          <p:cNvPr id="7" name="Picture 6" descr="A screenshot of a computer screen&#10;&#10;Description automatically generated">
            <a:extLst>
              <a:ext uri="{FF2B5EF4-FFF2-40B4-BE49-F238E27FC236}">
                <a16:creationId xmlns:a16="http://schemas.microsoft.com/office/drawing/2014/main" id="{39D39B85-76CE-8C4A-4EF0-E2249D7E00B0}"/>
              </a:ext>
            </a:extLst>
          </p:cNvPr>
          <p:cNvPicPr>
            <a:picLocks noChangeAspect="1"/>
          </p:cNvPicPr>
          <p:nvPr/>
        </p:nvPicPr>
        <p:blipFill rotWithShape="1">
          <a:blip r:embed="rId2">
            <a:extLst>
              <a:ext uri="{28A0092B-C50C-407E-A947-70E740481C1C}">
                <a14:useLocalDpi xmlns:a14="http://schemas.microsoft.com/office/drawing/2010/main" val="0"/>
              </a:ext>
            </a:extLst>
          </a:blip>
          <a:srcRect l="5366" t="9665" r="24611" b="13016"/>
          <a:stretch/>
        </p:blipFill>
        <p:spPr>
          <a:xfrm>
            <a:off x="0" y="1379598"/>
            <a:ext cx="4914227" cy="5307526"/>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10A04814-0760-F81D-851C-D819C9BD5D35}"/>
              </a:ext>
            </a:extLst>
          </p:cNvPr>
          <p:cNvPicPr>
            <a:picLocks noChangeAspect="1"/>
          </p:cNvPicPr>
          <p:nvPr/>
        </p:nvPicPr>
        <p:blipFill rotWithShape="1">
          <a:blip r:embed="rId3">
            <a:extLst>
              <a:ext uri="{28A0092B-C50C-407E-A947-70E740481C1C}">
                <a14:useLocalDpi xmlns:a14="http://schemas.microsoft.com/office/drawing/2010/main" val="0"/>
              </a:ext>
            </a:extLst>
          </a:blip>
          <a:srcRect l="5593" t="9931" r="22580" b="7076"/>
          <a:stretch/>
        </p:blipFill>
        <p:spPr>
          <a:xfrm>
            <a:off x="4972082" y="1379598"/>
            <a:ext cx="4696361" cy="5307526"/>
          </a:xfrm>
          <a:prstGeom prst="rect">
            <a:avLst/>
          </a:prstGeom>
        </p:spPr>
      </p:pic>
      <p:pic>
        <p:nvPicPr>
          <p:cNvPr id="4" name="Picture 3" descr="A screenshot of a computer program&#10;&#10;Description automatically generated">
            <a:extLst>
              <a:ext uri="{FF2B5EF4-FFF2-40B4-BE49-F238E27FC236}">
                <a16:creationId xmlns:a16="http://schemas.microsoft.com/office/drawing/2014/main" id="{ABEACF73-FBEA-266A-BDF2-DAF1CECA0034}"/>
              </a:ext>
            </a:extLst>
          </p:cNvPr>
          <p:cNvPicPr>
            <a:picLocks noChangeAspect="1"/>
          </p:cNvPicPr>
          <p:nvPr/>
        </p:nvPicPr>
        <p:blipFill rotWithShape="1">
          <a:blip r:embed="rId4">
            <a:extLst>
              <a:ext uri="{28A0092B-C50C-407E-A947-70E740481C1C}">
                <a14:useLocalDpi xmlns:a14="http://schemas.microsoft.com/office/drawing/2010/main" val="0"/>
              </a:ext>
            </a:extLst>
          </a:blip>
          <a:srcRect l="2849" t="4445" r="27910" b="47889"/>
          <a:stretch/>
        </p:blipFill>
        <p:spPr>
          <a:xfrm>
            <a:off x="8873503" y="4497643"/>
            <a:ext cx="3275238" cy="1637619"/>
          </a:xfrm>
          <a:prstGeom prst="rect">
            <a:avLst/>
          </a:prstGeom>
        </p:spPr>
      </p:pic>
      <p:sp>
        <p:nvSpPr>
          <p:cNvPr id="10" name="TextBox 9">
            <a:extLst>
              <a:ext uri="{FF2B5EF4-FFF2-40B4-BE49-F238E27FC236}">
                <a16:creationId xmlns:a16="http://schemas.microsoft.com/office/drawing/2014/main" id="{7D5BB3F3-0A22-60D1-3E97-1D5EA60426E7}"/>
              </a:ext>
            </a:extLst>
          </p:cNvPr>
          <p:cNvSpPr txBox="1"/>
          <p:nvPr/>
        </p:nvSpPr>
        <p:spPr>
          <a:xfrm>
            <a:off x="1554301" y="6417682"/>
            <a:ext cx="1805623" cy="369332"/>
          </a:xfrm>
          <a:prstGeom prst="rect">
            <a:avLst/>
          </a:prstGeom>
          <a:noFill/>
        </p:spPr>
        <p:txBody>
          <a:bodyPr wrap="none" rtlCol="0">
            <a:spAutoFit/>
          </a:bodyPr>
          <a:lstStyle/>
          <a:p>
            <a:r>
              <a:rPr lang="en-GB" dirty="0"/>
              <a:t>Global structure</a:t>
            </a:r>
          </a:p>
        </p:txBody>
      </p:sp>
      <p:sp>
        <p:nvSpPr>
          <p:cNvPr id="11" name="TextBox 10">
            <a:extLst>
              <a:ext uri="{FF2B5EF4-FFF2-40B4-BE49-F238E27FC236}">
                <a16:creationId xmlns:a16="http://schemas.microsoft.com/office/drawing/2014/main" id="{6D08439F-5B62-D5CB-857D-589085828561}"/>
              </a:ext>
            </a:extLst>
          </p:cNvPr>
          <p:cNvSpPr txBox="1"/>
          <p:nvPr/>
        </p:nvSpPr>
        <p:spPr>
          <a:xfrm>
            <a:off x="6475543" y="6417682"/>
            <a:ext cx="1689437" cy="369332"/>
          </a:xfrm>
          <a:prstGeom prst="rect">
            <a:avLst/>
          </a:prstGeom>
          <a:noFill/>
        </p:spPr>
        <p:txBody>
          <a:bodyPr wrap="none" rtlCol="0">
            <a:spAutoFit/>
          </a:bodyPr>
          <a:lstStyle/>
          <a:p>
            <a:r>
              <a:rPr lang="en-GB" dirty="0"/>
              <a:t>Local structure</a:t>
            </a:r>
          </a:p>
        </p:txBody>
      </p:sp>
    </p:spTree>
    <p:extLst>
      <p:ext uri="{BB962C8B-B14F-4D97-AF65-F5344CB8AC3E}">
        <p14:creationId xmlns:p14="http://schemas.microsoft.com/office/powerpoint/2010/main" val="1956973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10: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Global Structure Definition:</a:t>
            </a:r>
          </a:p>
          <a:p>
            <a:pPr lvl="1" algn="just"/>
            <a:r>
              <a:rPr lang="en-US" sz="2000" dirty="0">
                <a:latin typeface="Calibri" panose="020F0502020204030204" pitchFamily="34" charset="0"/>
                <a:cs typeface="Calibri" panose="020F0502020204030204" pitchFamily="34" charset="0"/>
              </a:rPr>
              <a:t>struct fraction is defined globally with two integer fields, x and y. </a:t>
            </a:r>
          </a:p>
          <a:p>
            <a:pPr lvl="1" algn="just"/>
            <a:r>
              <a:rPr lang="en-US" sz="2000" dirty="0">
                <a:latin typeface="Calibri" panose="020F0502020204030204" pitchFamily="34" charset="0"/>
                <a:cs typeface="Calibri" panose="020F0502020204030204" pitchFamily="34" charset="0"/>
              </a:rPr>
              <a:t>Global variables are declared outside of any function, usually at the top of the program, and can be accessed from any function within the same file.</a:t>
            </a:r>
          </a:p>
          <a:p>
            <a:pPr lvl="1" algn="just"/>
            <a:r>
              <a:rPr lang="en-US" sz="2000" dirty="0">
                <a:latin typeface="Calibri" panose="020F0502020204030204" pitchFamily="34" charset="0"/>
                <a:cs typeface="Calibri" panose="020F0502020204030204" pitchFamily="34" charset="0"/>
              </a:rPr>
              <a:t>The size of the global array is fixed at compile time and cannot be changed at runtime.</a:t>
            </a:r>
          </a:p>
          <a:p>
            <a:pPr lvl="1" algn="just"/>
            <a:r>
              <a:rPr lang="en-US" sz="2000" dirty="0">
                <a:latin typeface="Calibri" panose="020F0502020204030204" pitchFamily="34" charset="0"/>
                <a:cs typeface="Calibri" panose="020F0502020204030204" pitchFamily="34" charset="0"/>
              </a:rPr>
              <a:t>The memory for global is allocated statically. This means that memory is reserved for the array when the program starts and is deallocated when the program ends.</a:t>
            </a:r>
          </a:p>
          <a:p>
            <a:pPr algn="just"/>
            <a:endParaRPr lang="en-US" sz="24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Array of Structures:</a:t>
            </a:r>
          </a:p>
          <a:p>
            <a:pPr lvl="1" algn="just"/>
            <a:r>
              <a:rPr lang="en-US" sz="2000" dirty="0">
                <a:latin typeface="Calibri" panose="020F0502020204030204" pitchFamily="34" charset="0"/>
                <a:cs typeface="Calibri" panose="020F0502020204030204" pitchFamily="34" charset="0"/>
              </a:rPr>
              <a:t>Inside the main() function, an array fractions of 3 fraction structures is created. Each element in this array is initialized with specific values for x and y.</a:t>
            </a:r>
          </a:p>
          <a:p>
            <a:pPr lvl="1" algn="just"/>
            <a:endParaRPr 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3040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10: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Initialization:</a:t>
            </a:r>
          </a:p>
          <a:p>
            <a:pPr lvl="1" algn="just"/>
            <a:r>
              <a:rPr lang="en-US" sz="2000" dirty="0">
                <a:latin typeface="Calibri" panose="020F0502020204030204" pitchFamily="34" charset="0"/>
                <a:cs typeface="Calibri" panose="020F0502020204030204" pitchFamily="34" charset="0"/>
              </a:rPr>
              <a:t>The fractions array is initialized in a loop where x is set to </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+ 1 and y is set to (</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+ 1) * 2. </a:t>
            </a:r>
          </a:p>
          <a:p>
            <a:pPr lvl="1" algn="just"/>
            <a:r>
              <a:rPr lang="en-US" sz="2000" dirty="0">
                <a:latin typeface="Calibri" panose="020F0502020204030204" pitchFamily="34" charset="0"/>
                <a:cs typeface="Calibri" panose="020F0502020204030204" pitchFamily="34" charset="0"/>
              </a:rPr>
              <a:t>This initializes the array with values like:</a:t>
            </a:r>
          </a:p>
          <a:p>
            <a:pPr lvl="2" algn="just"/>
            <a:r>
              <a:rPr lang="en-US" sz="1800" dirty="0">
                <a:latin typeface="Calibri" panose="020F0502020204030204" pitchFamily="34" charset="0"/>
                <a:cs typeface="Calibri" panose="020F0502020204030204" pitchFamily="34" charset="0"/>
              </a:rPr>
              <a:t>Fraction 0: x = 1, y = 2</a:t>
            </a:r>
          </a:p>
          <a:p>
            <a:pPr lvl="2" algn="just"/>
            <a:r>
              <a:rPr lang="en-US" sz="1800" dirty="0">
                <a:latin typeface="Calibri" panose="020F0502020204030204" pitchFamily="34" charset="0"/>
                <a:cs typeface="Calibri" panose="020F0502020204030204" pitchFamily="34" charset="0"/>
              </a:rPr>
              <a:t>Fraction 1: x = 2, y = 4</a:t>
            </a:r>
          </a:p>
          <a:p>
            <a:pPr lvl="2" algn="just"/>
            <a:r>
              <a:rPr lang="en-US" sz="1800" dirty="0">
                <a:latin typeface="Calibri" panose="020F0502020204030204" pitchFamily="34" charset="0"/>
                <a:cs typeface="Calibri" panose="020F0502020204030204" pitchFamily="34" charset="0"/>
              </a:rPr>
              <a:t>Fraction 2: x = 3, y = 6</a:t>
            </a:r>
          </a:p>
          <a:p>
            <a:pPr marL="0" indent="0" algn="just">
              <a:buNone/>
            </a:pPr>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Function </a:t>
            </a:r>
            <a:r>
              <a:rPr lang="en-US" sz="2200" b="1" dirty="0" err="1">
                <a:latin typeface="Calibri" panose="020F0502020204030204" pitchFamily="34" charset="0"/>
                <a:cs typeface="Calibri" panose="020F0502020204030204" pitchFamily="34" charset="0"/>
              </a:rPr>
              <a:t>modify_and_print_fractions</a:t>
            </a:r>
            <a:r>
              <a:rPr lang="en-US" sz="2200" b="1"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This function takes an array of fraction structures and its size as parameters.</a:t>
            </a:r>
          </a:p>
          <a:p>
            <a:pPr lvl="1" algn="just"/>
            <a:r>
              <a:rPr lang="en-US" sz="2000" dirty="0">
                <a:latin typeface="Calibri" panose="020F0502020204030204" pitchFamily="34" charset="0"/>
                <a:cs typeface="Calibri" panose="020F0502020204030204" pitchFamily="34" charset="0"/>
              </a:rPr>
              <a:t>It modifies each element in the array by adding 10 to x and 20 to y.</a:t>
            </a:r>
          </a:p>
          <a:p>
            <a:pPr lvl="1" algn="just"/>
            <a:r>
              <a:rPr lang="en-US" sz="2000" dirty="0">
                <a:latin typeface="Calibri" panose="020F0502020204030204" pitchFamily="34" charset="0"/>
                <a:cs typeface="Calibri" panose="020F0502020204030204" pitchFamily="34" charset="0"/>
              </a:rPr>
              <a:t>The modified values are then printed.</a:t>
            </a:r>
          </a:p>
        </p:txBody>
      </p:sp>
    </p:spTree>
    <p:extLst>
      <p:ext uri="{BB962C8B-B14F-4D97-AF65-F5344CB8AC3E}">
        <p14:creationId xmlns:p14="http://schemas.microsoft.com/office/powerpoint/2010/main" val="353586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Nested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Structures can be nested, so that a field within a structure is itself another structure.</a:t>
            </a: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The label boss is a name for a struct person (72 bytes), while the label boss title is a name for a struct name (64 bytes).</a:t>
            </a:r>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96830855-C9F2-AB07-FC81-6CEE7884F0C4}"/>
              </a:ext>
            </a:extLst>
          </p:cNvPr>
          <p:cNvGraphicFramePr>
            <a:graphicFrameLocks noGrp="1"/>
          </p:cNvGraphicFramePr>
          <p:nvPr>
            <p:extLst>
              <p:ext uri="{D42A27DB-BD31-4B8C-83A1-F6EECF244321}">
                <p14:modId xmlns:p14="http://schemas.microsoft.com/office/powerpoint/2010/main" val="1247271893"/>
              </p:ext>
            </p:extLst>
          </p:nvPr>
        </p:nvGraphicFramePr>
        <p:xfrm>
          <a:off x="838199" y="2614921"/>
          <a:ext cx="5395334" cy="1463040"/>
        </p:xfrm>
        <a:graphic>
          <a:graphicData uri="http://schemas.openxmlformats.org/drawingml/2006/table">
            <a:tbl>
              <a:tblPr firstRow="1" bandRow="1">
                <a:tableStyleId>{5C22544A-7EE6-4342-B048-85BDC9FD1C3A}</a:tableStyleId>
              </a:tblPr>
              <a:tblGrid>
                <a:gridCol w="1514708">
                  <a:extLst>
                    <a:ext uri="{9D8B030D-6E8A-4147-A177-3AD203B41FA5}">
                      <a16:colId xmlns:a16="http://schemas.microsoft.com/office/drawing/2014/main" val="2536667656"/>
                    </a:ext>
                  </a:extLst>
                </a:gridCol>
                <a:gridCol w="3880626">
                  <a:extLst>
                    <a:ext uri="{9D8B030D-6E8A-4147-A177-3AD203B41FA5}">
                      <a16:colId xmlns:a16="http://schemas.microsoft.com/office/drawing/2014/main" val="2594463549"/>
                    </a:ext>
                  </a:extLst>
                </a:gridCol>
              </a:tblGrid>
              <a:tr h="1463040">
                <a:tc>
                  <a:txBody>
                    <a:bodyPr/>
                    <a:lstStyle/>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struct name {</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char first[32];</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char last[32];</a:t>
                      </a:r>
                    </a:p>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endPar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struct person {</a:t>
                      </a:r>
                    </a:p>
                    <a:p>
                      <a:pPr marL="0" algn="l" defTabSz="914400" rtl="0" eaLnBrk="1" latinLnBrk="0" hangingPunct="1"/>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int age;</a:t>
                      </a:r>
                    </a:p>
                    <a:p>
                      <a:pPr marL="0" algn="l" defTabSz="914400" rtl="0" eaLnBrk="1" latinLnBrk="0" hangingPunct="1"/>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float ppg;</a:t>
                      </a:r>
                    </a:p>
                    <a:p>
                      <a:pPr marL="0" algn="l" defTabSz="914400" rtl="0" eaLnBrk="1" latinLnBrk="0" hangingPunct="1"/>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struct name title; /* nested structure */</a:t>
                      </a:r>
                    </a:p>
                    <a:p>
                      <a:r>
                        <a:rPr lang="en-US" sz="1800" b="0" i="0" u="none" strike="noStrike" kern="1200" baseline="0" dirty="0">
                          <a:solidFill>
                            <a:schemeClr val="lt1"/>
                          </a:solidFill>
                          <a:latin typeface="+mn-lt"/>
                          <a:ea typeface="+mn-ea"/>
                          <a:cs typeface="+mn-cs"/>
                        </a:rPr>
                        <a:t>}; /* "name" must be defined above */</a:t>
                      </a:r>
                      <a:endParaRPr lang="en-GB" sz="150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749322"/>
                  </a:ext>
                </a:extLst>
              </a:tr>
            </a:tbl>
          </a:graphicData>
        </a:graphic>
      </p:graphicFrame>
      <p:graphicFrame>
        <p:nvGraphicFramePr>
          <p:cNvPr id="5" name="Table 4">
            <a:extLst>
              <a:ext uri="{FF2B5EF4-FFF2-40B4-BE49-F238E27FC236}">
                <a16:creationId xmlns:a16="http://schemas.microsoft.com/office/drawing/2014/main" id="{8D9D48BE-B186-CC84-D3F9-BB28DDEF1537}"/>
              </a:ext>
            </a:extLst>
          </p:cNvPr>
          <p:cNvGraphicFramePr>
            <a:graphicFrameLocks noGrp="1"/>
          </p:cNvGraphicFramePr>
          <p:nvPr>
            <p:extLst>
              <p:ext uri="{D42A27DB-BD31-4B8C-83A1-F6EECF244321}">
                <p14:modId xmlns:p14="http://schemas.microsoft.com/office/powerpoint/2010/main" val="2718394121"/>
              </p:ext>
            </p:extLst>
          </p:nvPr>
        </p:nvGraphicFramePr>
        <p:xfrm>
          <a:off x="6346472" y="2614921"/>
          <a:ext cx="4894388" cy="1457424"/>
        </p:xfrm>
        <a:graphic>
          <a:graphicData uri="http://schemas.openxmlformats.org/drawingml/2006/table">
            <a:tbl>
              <a:tblPr/>
              <a:tblGrid>
                <a:gridCol w="4894388">
                  <a:extLst>
                    <a:ext uri="{9D8B030D-6E8A-4147-A177-3AD203B41FA5}">
                      <a16:colId xmlns:a16="http://schemas.microsoft.com/office/drawing/2014/main" val="2376075675"/>
                    </a:ext>
                  </a:extLst>
                </a:gridCol>
              </a:tblGrid>
              <a:tr h="1457424">
                <a:tc>
                  <a:txBody>
                    <a:bodyPr/>
                    <a:lstStyle/>
                    <a:p>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struct person boss;</a:t>
                      </a:r>
                    </a:p>
                    <a:p>
                      <a:r>
                        <a:rPr lang="en-GB"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boss.age</a:t>
                      </a:r>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=80;</a:t>
                      </a:r>
                    </a:p>
                    <a:p>
                      <a:r>
                        <a:rPr lang="en-GB"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boss.ppg</a:t>
                      </a:r>
                      <a:r>
                        <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=0.1;</a:t>
                      </a:r>
                    </a:p>
                    <a:p>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strcpy</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boss.title.first,"Dean</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p>
                    <a:p>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strcpy</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r>
                        <a:rPr lang="en-US" sz="1500" b="0" i="0" u="none" strike="noStrike" kern="1200" baseline="0" dirty="0" err="1">
                          <a:solidFill>
                            <a:schemeClr val="tx2">
                              <a:lumMod val="75000"/>
                              <a:lumOff val="25000"/>
                            </a:schemeClr>
                          </a:solidFill>
                          <a:latin typeface="Calibri" panose="020F0502020204030204" pitchFamily="34" charset="0"/>
                          <a:ea typeface="+mn-ea"/>
                          <a:cs typeface="Calibri" panose="020F0502020204030204" pitchFamily="34" charset="0"/>
                        </a:rPr>
                        <a:t>boss.title.last,"Smith</a:t>
                      </a:r>
                      <a:r>
                        <a:rPr lang="en-US"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rPr>
                        <a:t>");</a:t>
                      </a:r>
                      <a:endParaRPr lang="en-GB" sz="1500" b="0" i="0" u="none" strike="noStrike" kern="1200" baseline="0" dirty="0">
                        <a:solidFill>
                          <a:schemeClr val="tx2">
                            <a:lumMod val="75000"/>
                            <a:lumOff val="25000"/>
                          </a:schemeClr>
                        </a:solidFill>
                        <a:latin typeface="Calibri" panose="020F0502020204030204" pitchFamily="34" charset="0"/>
                        <a:ea typeface="+mn-ea"/>
                        <a:cs typeface="Calibri" panose="020F0502020204030204" pitchFamily="3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402881459"/>
                  </a:ext>
                </a:extLst>
              </a:tr>
            </a:tbl>
          </a:graphicData>
        </a:graphic>
      </p:graphicFrame>
    </p:spTree>
    <p:extLst>
      <p:ext uri="{BB962C8B-B14F-4D97-AF65-F5344CB8AC3E}">
        <p14:creationId xmlns:p14="http://schemas.microsoft.com/office/powerpoint/2010/main" val="1472028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Pointers and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address of a structure variable can be stored in a pointer variable, just like the address of any other type of variable.</a:t>
            </a:r>
          </a:p>
          <a:p>
            <a:pPr marL="0" indent="0" algn="just">
              <a:buNone/>
            </a:pPr>
            <a:endParaRPr lang="en-US" sz="2200" b="0" i="0" u="none" strike="noStrike" baseline="0" dirty="0">
              <a:latin typeface="Calibri" panose="020F0502020204030204" pitchFamily="34" charset="0"/>
              <a:cs typeface="Calibri" panose="020F0502020204030204" pitchFamily="34" charset="0"/>
            </a:endParaRPr>
          </a:p>
          <a:p>
            <a:pPr marL="0" indent="0">
              <a:buNone/>
            </a:pPr>
            <a:endPar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p>
            <a:pPr marL="0" indent="0" algn="l">
              <a:buNone/>
            </a:pPr>
            <a:endParaRPr lang="en-US" sz="2200" dirty="0">
              <a:latin typeface="Calibri" panose="020F0502020204030204" pitchFamily="34" charset="0"/>
              <a:cs typeface="Calibri" panose="020F0502020204030204" pitchFamily="34" charset="0"/>
            </a:endParaRPr>
          </a:p>
          <a:p>
            <a:pPr algn="just"/>
            <a:r>
              <a:rPr lang="en-GB" sz="2200" b="0" i="0" u="none" strike="noStrike" baseline="0" dirty="0">
                <a:latin typeface="Calibri" panose="020F0502020204030204" pitchFamily="34" charset="0"/>
                <a:cs typeface="Calibri" panose="020F0502020204030204" pitchFamily="34" charset="0"/>
              </a:rPr>
              <a:t>g=&amp;(f[0]): </a:t>
            </a:r>
            <a:r>
              <a:rPr lang="en-US" sz="2200" b="0" i="0" u="none" strike="noStrike" baseline="0" dirty="0">
                <a:latin typeface="Calibri" panose="020F0502020204030204" pitchFamily="34" charset="0"/>
                <a:cs typeface="Calibri" panose="020F0502020204030204" pitchFamily="34" charset="0"/>
              </a:rPr>
              <a:t>This line sets the pointer g to point to the first element of the array f. The address of f[0] (the first struct fraction in the array) is assigned to g.</a:t>
            </a:r>
          </a:p>
          <a:p>
            <a:pPr algn="just"/>
            <a:r>
              <a:rPr lang="en-GB" sz="2200" b="0" i="0" u="none" strike="noStrike" kern="1200" baseline="0" dirty="0">
                <a:latin typeface="Calibri" panose="020F0502020204030204" pitchFamily="34" charset="0"/>
                <a:ea typeface="+mn-ea"/>
                <a:cs typeface="Calibri" panose="020F0502020204030204" pitchFamily="34" charset="0"/>
              </a:rPr>
              <a:t>(*g).x=5: </a:t>
            </a:r>
            <a:r>
              <a:rPr lang="en-US" sz="2200" dirty="0">
                <a:latin typeface="Calibri" panose="020F0502020204030204" pitchFamily="34" charset="0"/>
                <a:cs typeface="Calibri" panose="020F0502020204030204" pitchFamily="34" charset="0"/>
              </a:rPr>
              <a:t>This line uses the dereferencing operator * to access the structure that g points to. (*g).x refers to the x field of the structure. This sets x of f[0] to 5.</a:t>
            </a:r>
          </a:p>
          <a:p>
            <a:pPr algn="just"/>
            <a:r>
              <a:rPr lang="en-GB" sz="2200" b="0" i="0" u="none" strike="noStrike" kern="1200" baseline="0" dirty="0">
                <a:latin typeface="Calibri" panose="020F0502020204030204" pitchFamily="34" charset="0"/>
                <a:ea typeface="+mn-ea"/>
                <a:cs typeface="Calibri" panose="020F0502020204030204" pitchFamily="34" charset="0"/>
              </a:rPr>
              <a:t>g-&gt;y=11: </a:t>
            </a:r>
            <a:r>
              <a:rPr lang="en-US" sz="2200" dirty="0">
                <a:latin typeface="Calibri" panose="020F0502020204030204" pitchFamily="34" charset="0"/>
                <a:cs typeface="Calibri" panose="020F0502020204030204" pitchFamily="34" charset="0"/>
              </a:rPr>
              <a:t>This is a shorthand notation for accessing a member of a structure through a pointer. g-&gt;y is equivalent to (*g).y. This sets y of f[0] to 11.</a:t>
            </a:r>
          </a:p>
          <a:p>
            <a:pPr algn="just"/>
            <a:r>
              <a:rPr lang="en-US" sz="2200" b="0" i="0" u="none" strike="noStrike" baseline="0" dirty="0">
                <a:latin typeface="Calibri" panose="020F0502020204030204" pitchFamily="34" charset="0"/>
                <a:cs typeface="Calibri" panose="020F0502020204030204" pitchFamily="34" charset="0"/>
              </a:rPr>
              <a:t>The -&gt; syntax (hyphen followed by greater-than symbol) means in the field at the given address.</a:t>
            </a:r>
          </a:p>
        </p:txBody>
      </p:sp>
      <p:graphicFrame>
        <p:nvGraphicFramePr>
          <p:cNvPr id="6" name="Table 5">
            <a:extLst>
              <a:ext uri="{FF2B5EF4-FFF2-40B4-BE49-F238E27FC236}">
                <a16:creationId xmlns:a16="http://schemas.microsoft.com/office/drawing/2014/main" id="{157D4396-A72F-6EDC-E72D-F492244C2E96}"/>
              </a:ext>
            </a:extLst>
          </p:cNvPr>
          <p:cNvGraphicFramePr>
            <a:graphicFrameLocks noGrp="1"/>
          </p:cNvGraphicFramePr>
          <p:nvPr>
            <p:extLst>
              <p:ext uri="{D42A27DB-BD31-4B8C-83A1-F6EECF244321}">
                <p14:modId xmlns:p14="http://schemas.microsoft.com/office/powerpoint/2010/main" val="3959187731"/>
              </p:ext>
            </p:extLst>
          </p:nvPr>
        </p:nvGraphicFramePr>
        <p:xfrm>
          <a:off x="1284247" y="2619300"/>
          <a:ext cx="10289721" cy="1005840"/>
        </p:xfrm>
        <a:graphic>
          <a:graphicData uri="http://schemas.openxmlformats.org/drawingml/2006/table">
            <a:tbl>
              <a:tblPr firstRow="1" bandRow="1">
                <a:tableStyleId>{5C22544A-7EE6-4342-B048-85BDC9FD1C3A}</a:tableStyleId>
              </a:tblPr>
              <a:tblGrid>
                <a:gridCol w="5105401">
                  <a:extLst>
                    <a:ext uri="{9D8B030D-6E8A-4147-A177-3AD203B41FA5}">
                      <a16:colId xmlns:a16="http://schemas.microsoft.com/office/drawing/2014/main" val="2536667656"/>
                    </a:ext>
                  </a:extLst>
                </a:gridCol>
                <a:gridCol w="5184320">
                  <a:extLst>
                    <a:ext uri="{9D8B030D-6E8A-4147-A177-3AD203B41FA5}">
                      <a16:colId xmlns:a16="http://schemas.microsoft.com/office/drawing/2014/main" val="2594463549"/>
                    </a:ext>
                  </a:extLst>
                </a:gridCol>
              </a:tblGrid>
              <a:tr h="370840">
                <a:tc>
                  <a:txBody>
                    <a:bodyPr/>
                    <a:lstStyle/>
                    <a:p>
                      <a:pPr marL="0" indent="0">
                        <a:buNone/>
                      </a:pPr>
                      <a:r>
                        <a:rPr lang="en-GB" sz="1500" dirty="0">
                          <a:solidFill>
                            <a:schemeClr val="tx2">
                              <a:lumMod val="75000"/>
                              <a:lumOff val="25000"/>
                            </a:schemeClr>
                          </a:solidFill>
                          <a:latin typeface="Calibri" panose="020F0502020204030204" pitchFamily="34" charset="0"/>
                          <a:cs typeface="Calibri" panose="020F0502020204030204" pitchFamily="34" charset="0"/>
                        </a:rPr>
                        <a:t>struct fraction {</a:t>
                      </a:r>
                    </a:p>
                    <a:p>
                      <a:pPr marL="0" indent="0" algn="l">
                        <a:buNone/>
                      </a:pP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int x;</a:t>
                      </a:r>
                    </a:p>
                    <a:p>
                      <a:pPr marL="0" indent="0" algn="l">
                        <a:buNone/>
                      </a:pP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int y;</a:t>
                      </a:r>
                    </a:p>
                    <a:p>
                      <a:pPr marL="0" indent="0" algn="l">
                        <a:buNone/>
                      </a:pP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a:t>
                      </a:r>
                      <a:endPar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struct fraction f[3],*g;</a:t>
                      </a:r>
                    </a:p>
                    <a:p>
                      <a:pPr marL="0" indent="0" algn="l">
                        <a:buNone/>
                      </a:pPr>
                      <a:r>
                        <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g=&amp;(f[0]);</a:t>
                      </a:r>
                    </a:p>
                    <a:p>
                      <a:pPr marL="0" indent="0" algn="l">
                        <a:buNone/>
                      </a:pPr>
                      <a:r>
                        <a:rPr lang="es-E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(*g).x = 5; </a:t>
                      </a:r>
                    </a:p>
                    <a:p>
                      <a:pPr marL="0" indent="0" algn="l">
                        <a:buNone/>
                      </a:pPr>
                      <a:r>
                        <a:rPr lang="es-ES"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g-&gt;y = 11;</a:t>
                      </a:r>
                      <a:endParaRPr lang="en-GB" sz="15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749322"/>
                  </a:ext>
                </a:extLst>
              </a:tr>
            </a:tbl>
          </a:graphicData>
        </a:graphic>
      </p:graphicFrame>
    </p:spTree>
    <p:extLst>
      <p:ext uri="{BB962C8B-B14F-4D97-AF65-F5344CB8AC3E}">
        <p14:creationId xmlns:p14="http://schemas.microsoft.com/office/powerpoint/2010/main" val="2365749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11: Pointers and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demonstrates how to use pointers to structures and pointer arithmetic. </a:t>
            </a:r>
          </a:p>
          <a:p>
            <a:pPr algn="just"/>
            <a:r>
              <a:rPr lang="en-US" sz="2200" b="0" i="0" u="none" strike="noStrike" baseline="0" dirty="0">
                <a:latin typeface="Calibri" panose="020F0502020204030204" pitchFamily="34" charset="0"/>
                <a:cs typeface="Calibri" panose="020F0502020204030204" pitchFamily="34" charset="0"/>
              </a:rPr>
              <a:t>The program should:</a:t>
            </a:r>
          </a:p>
          <a:p>
            <a:pPr lvl="1" algn="just"/>
            <a:r>
              <a:rPr lang="en-US" sz="2000" b="0" i="0" u="none" strike="noStrike" baseline="0" dirty="0">
                <a:latin typeface="Calibri" panose="020F0502020204030204" pitchFamily="34" charset="0"/>
                <a:cs typeface="Calibri" panose="020F0502020204030204" pitchFamily="34" charset="0"/>
              </a:rPr>
              <a:t>Define a structure named fraction with two integer members x and y.</a:t>
            </a:r>
          </a:p>
          <a:p>
            <a:pPr lvl="1" algn="just"/>
            <a:r>
              <a:rPr lang="en-US" sz="2000" b="0" i="0" u="none" strike="noStrike" baseline="0" dirty="0">
                <a:latin typeface="Calibri" panose="020F0502020204030204" pitchFamily="34" charset="0"/>
                <a:cs typeface="Calibri" panose="020F0502020204030204" pitchFamily="34" charset="0"/>
              </a:rPr>
              <a:t>Create an array of three fraction structures.</a:t>
            </a:r>
          </a:p>
          <a:p>
            <a:pPr lvl="1" algn="just"/>
            <a:r>
              <a:rPr lang="en-US" sz="2000" b="0" i="0" u="none" strike="noStrike" baseline="0" dirty="0">
                <a:latin typeface="Calibri" panose="020F0502020204030204" pitchFamily="34" charset="0"/>
                <a:cs typeface="Calibri" panose="020F0502020204030204" pitchFamily="34" charset="0"/>
              </a:rPr>
              <a:t>Use a pointer to traverse and modify the elements of this array.</a:t>
            </a:r>
          </a:p>
          <a:p>
            <a:pPr lvl="1" algn="just"/>
            <a:r>
              <a:rPr lang="en-US" sz="2000" b="0" i="0" u="none" strike="noStrike" baseline="0" dirty="0">
                <a:latin typeface="Calibri" panose="020F0502020204030204" pitchFamily="34" charset="0"/>
                <a:cs typeface="Calibri" panose="020F0502020204030204" pitchFamily="34" charset="0"/>
              </a:rPr>
              <a:t>Print out the values of the array elements at each step using both direct structure access and pointer dereferencing.</a:t>
            </a:r>
          </a:p>
          <a:p>
            <a:pPr algn="just"/>
            <a:r>
              <a:rPr lang="en-US" sz="2200" b="0" i="0" u="none" strike="noStrike" baseline="0" dirty="0">
                <a:latin typeface="Calibri" panose="020F0502020204030204" pitchFamily="34" charset="0"/>
                <a:cs typeface="Calibri" panose="020F0502020204030204" pitchFamily="34" charset="0"/>
              </a:rPr>
              <a:t>Tasks:</a:t>
            </a:r>
          </a:p>
          <a:p>
            <a:pPr lvl="1" algn="just"/>
            <a:r>
              <a:rPr lang="en-US" sz="2000" b="0" i="0" u="none" strike="noStrike" baseline="0" dirty="0">
                <a:latin typeface="Calibri" panose="020F0502020204030204" pitchFamily="34" charset="0"/>
                <a:cs typeface="Calibri" panose="020F0502020204030204" pitchFamily="34" charset="0"/>
              </a:rPr>
              <a:t>Initialize the first element of the array with x = 3 and y = 7.</a:t>
            </a:r>
          </a:p>
          <a:p>
            <a:pPr lvl="1" algn="just"/>
            <a:r>
              <a:rPr lang="en-US" sz="2000" b="0" i="0" u="none" strike="noStrike" baseline="0" dirty="0">
                <a:latin typeface="Calibri" panose="020F0502020204030204" pitchFamily="34" charset="0"/>
                <a:cs typeface="Calibri" panose="020F0502020204030204" pitchFamily="34" charset="0"/>
              </a:rPr>
              <a:t>Print the values of the first element using the pointer.</a:t>
            </a:r>
          </a:p>
          <a:p>
            <a:pPr lvl="1" algn="just"/>
            <a:r>
              <a:rPr lang="en-US" sz="2000" b="0" i="0" u="none" strike="noStrike" baseline="0" dirty="0">
                <a:latin typeface="Calibri" panose="020F0502020204030204" pitchFamily="34" charset="0"/>
                <a:cs typeface="Calibri" panose="020F0502020204030204" pitchFamily="34" charset="0"/>
              </a:rPr>
              <a:t>Move the pointer to the second element and set x = 13 and y = 17, then print the values.</a:t>
            </a:r>
          </a:p>
          <a:p>
            <a:pPr lvl="1" algn="just"/>
            <a:r>
              <a:rPr lang="en-US" sz="2000" b="0" i="0" u="none" strike="noStrike" baseline="0" dirty="0">
                <a:latin typeface="Calibri" panose="020F0502020204030204" pitchFamily="34" charset="0"/>
                <a:cs typeface="Calibri" panose="020F0502020204030204" pitchFamily="34" charset="0"/>
              </a:rPr>
              <a:t>Move the pointer to the third element, modify its values to x = 23 and y = 27, and then print the values.</a:t>
            </a:r>
            <a:endParaRPr lang="en-GB" sz="2000" b="0" i="0" u="none" strike="noStrike" baseline="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92523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11: Pointers and Structures</a:t>
            </a:r>
          </a:p>
        </p:txBody>
      </p:sp>
      <p:pic>
        <p:nvPicPr>
          <p:cNvPr id="5" name="Picture 4" descr="A screenshot of a computer&#10;&#10;Description automatically generated">
            <a:extLst>
              <a:ext uri="{FF2B5EF4-FFF2-40B4-BE49-F238E27FC236}">
                <a16:creationId xmlns:a16="http://schemas.microsoft.com/office/drawing/2014/main" id="{F86592AB-405D-F64D-715C-A5872BAFF147}"/>
              </a:ext>
            </a:extLst>
          </p:cNvPr>
          <p:cNvPicPr>
            <a:picLocks noChangeAspect="1"/>
          </p:cNvPicPr>
          <p:nvPr/>
        </p:nvPicPr>
        <p:blipFill rotWithShape="1">
          <a:blip r:embed="rId2">
            <a:extLst>
              <a:ext uri="{28A0092B-C50C-407E-A947-70E740481C1C}">
                <a14:useLocalDpi xmlns:a14="http://schemas.microsoft.com/office/drawing/2010/main" val="0"/>
              </a:ext>
            </a:extLst>
          </a:blip>
          <a:srcRect l="2702" t="3333" r="28170" b="59333"/>
          <a:stretch/>
        </p:blipFill>
        <p:spPr>
          <a:xfrm>
            <a:off x="393895" y="4256112"/>
            <a:ext cx="5702105" cy="2236763"/>
          </a:xfrm>
          <a:prstGeom prst="rect">
            <a:avLst/>
          </a:prstGeom>
        </p:spPr>
      </p:pic>
      <p:pic>
        <p:nvPicPr>
          <p:cNvPr id="8" name="Picture 7" descr="A screenshot of a computer screen&#10;&#10;Description automatically generated">
            <a:extLst>
              <a:ext uri="{FF2B5EF4-FFF2-40B4-BE49-F238E27FC236}">
                <a16:creationId xmlns:a16="http://schemas.microsoft.com/office/drawing/2014/main" id="{84565588-5C22-6BC3-A453-2DEF44590864}"/>
              </a:ext>
            </a:extLst>
          </p:cNvPr>
          <p:cNvPicPr>
            <a:picLocks noChangeAspect="1"/>
          </p:cNvPicPr>
          <p:nvPr/>
        </p:nvPicPr>
        <p:blipFill rotWithShape="1">
          <a:blip r:embed="rId3">
            <a:extLst>
              <a:ext uri="{28A0092B-C50C-407E-A947-70E740481C1C}">
                <a14:useLocalDpi xmlns:a14="http://schemas.microsoft.com/office/drawing/2010/main" val="0"/>
              </a:ext>
            </a:extLst>
          </a:blip>
          <a:srcRect l="5462" t="9435" r="30535" b="30667"/>
          <a:stretch/>
        </p:blipFill>
        <p:spPr>
          <a:xfrm>
            <a:off x="6221350" y="1392702"/>
            <a:ext cx="5970650" cy="5465298"/>
          </a:xfrm>
          <a:prstGeom prst="rect">
            <a:avLst/>
          </a:prstGeom>
        </p:spPr>
      </p:pic>
    </p:spTree>
    <p:extLst>
      <p:ext uri="{BB962C8B-B14F-4D97-AF65-F5344CB8AC3E}">
        <p14:creationId xmlns:p14="http://schemas.microsoft.com/office/powerpoint/2010/main" val="956714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Structure Definition:</a:t>
            </a:r>
          </a:p>
          <a:p>
            <a:pPr lvl="1" algn="just"/>
            <a:r>
              <a:rPr lang="en-US" sz="2000" dirty="0">
                <a:latin typeface="Calibri" panose="020F0502020204030204" pitchFamily="34" charset="0"/>
                <a:cs typeface="Calibri" panose="020F0502020204030204" pitchFamily="34" charset="0"/>
              </a:rPr>
              <a:t>The program defines a struct fraction with two integer fields, x and y, representing a fraction.</a:t>
            </a:r>
          </a:p>
          <a:p>
            <a:pPr lvl="1" algn="just"/>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Array of Structures:</a:t>
            </a:r>
          </a:p>
          <a:p>
            <a:pPr lvl="1" algn="just"/>
            <a:r>
              <a:rPr lang="en-US" sz="2000" dirty="0">
                <a:latin typeface="Calibri" panose="020F0502020204030204" pitchFamily="34" charset="0"/>
                <a:cs typeface="Calibri" panose="020F0502020204030204" pitchFamily="34" charset="0"/>
              </a:rPr>
              <a:t>An array f of three fraction structures is created, allowing the storage of three different x, y pairs.</a:t>
            </a:r>
          </a:p>
          <a:p>
            <a:pPr marL="457200" lvl="1" indent="0" algn="just">
              <a:buNone/>
            </a:pPr>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Pointer to Structure:</a:t>
            </a:r>
          </a:p>
          <a:p>
            <a:pPr lvl="1" algn="just"/>
            <a:r>
              <a:rPr lang="en-US" sz="2000" dirty="0">
                <a:latin typeface="Calibri" panose="020F0502020204030204" pitchFamily="34" charset="0"/>
                <a:cs typeface="Calibri" panose="020F0502020204030204" pitchFamily="34" charset="0"/>
              </a:rPr>
              <a:t>A pointer g of type struct fraction* is used to traverse the array. Initially, it is set to point to the first element of the array, f[0].</a:t>
            </a:r>
          </a:p>
          <a:p>
            <a:pPr lvl="1" algn="just"/>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00092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Pointer Arithmetic:</a:t>
            </a:r>
          </a:p>
          <a:p>
            <a:pPr lvl="1" algn="just"/>
            <a:r>
              <a:rPr lang="en-US" sz="2000" dirty="0">
                <a:latin typeface="Calibri" panose="020F0502020204030204" pitchFamily="34" charset="0"/>
                <a:cs typeface="Calibri" panose="020F0502020204030204" pitchFamily="34" charset="0"/>
              </a:rPr>
              <a:t>The pointer g is incremented (g++) to move to the next element in the array. Each increment moves the pointer to the next struct fraction in memory.</a:t>
            </a:r>
          </a:p>
          <a:p>
            <a:pPr lvl="1" algn="just"/>
            <a:endParaRPr lang="en-US" sz="20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Accessing Structure Members:</a:t>
            </a:r>
          </a:p>
          <a:p>
            <a:pPr lvl="1" algn="just"/>
            <a:r>
              <a:rPr lang="en-US" sz="2000" dirty="0">
                <a:latin typeface="Calibri" panose="020F0502020204030204" pitchFamily="34" charset="0"/>
                <a:cs typeface="Calibri" panose="020F0502020204030204" pitchFamily="34" charset="0"/>
              </a:rPr>
              <a:t>g-&gt;x and g-&gt;y are used to access the x and y members of the structure that g currently points to.</a:t>
            </a:r>
          </a:p>
          <a:p>
            <a:pPr lvl="1" algn="just"/>
            <a:r>
              <a:rPr lang="en-US" sz="2000" dirty="0">
                <a:latin typeface="Calibri" panose="020F0502020204030204" pitchFamily="34" charset="0"/>
                <a:cs typeface="Calibri" panose="020F0502020204030204" pitchFamily="34" charset="0"/>
              </a:rPr>
              <a:t>(*g).x and (*g).y are alternative ways to access the same members, where (*g) dereferences the pointer to access the structure itself.</a:t>
            </a:r>
          </a:p>
          <a:p>
            <a:pPr algn="just"/>
            <a:r>
              <a:rPr lang="en-US" sz="2200" b="1" dirty="0">
                <a:latin typeface="Calibri" panose="020F0502020204030204" pitchFamily="34" charset="0"/>
                <a:cs typeface="Calibri" panose="020F0502020204030204" pitchFamily="34" charset="0"/>
              </a:rPr>
              <a:t>Output:</a:t>
            </a:r>
          </a:p>
          <a:p>
            <a:pPr lvl="1" algn="just"/>
            <a:r>
              <a:rPr lang="en-US" sz="2000" dirty="0">
                <a:latin typeface="Calibri" panose="020F0502020204030204" pitchFamily="34" charset="0"/>
                <a:cs typeface="Calibri" panose="020F0502020204030204" pitchFamily="34" charset="0"/>
              </a:rPr>
              <a:t>The program prints the values of the x and y members for each element of the array after each modification.</a:t>
            </a:r>
            <a:endParaRPr 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68753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12: Structures</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to model a rectangle in a 2D plane using structures. The rectangle's sides are parallel to the x and y axes, and its corners are defined by their compass directions (northeast, southeast, southwest, and northwest). </a:t>
            </a:r>
          </a:p>
          <a:p>
            <a:pPr algn="just"/>
            <a:r>
              <a:rPr lang="en-US" sz="2200" b="0" i="0" u="none" strike="noStrike" baseline="0" dirty="0">
                <a:latin typeface="Calibri" panose="020F0502020204030204" pitchFamily="34" charset="0"/>
                <a:cs typeface="Calibri" panose="020F0502020204030204" pitchFamily="34" charset="0"/>
              </a:rPr>
              <a:t>Implement two functions:</a:t>
            </a:r>
          </a:p>
          <a:p>
            <a:pPr lvl="1" algn="just"/>
            <a:r>
              <a:rPr lang="en-US" sz="2000" b="1" i="0" u="none" strike="noStrike" baseline="0" dirty="0" err="1">
                <a:latin typeface="Calibri" panose="020F0502020204030204" pitchFamily="34" charset="0"/>
                <a:cs typeface="Calibri" panose="020F0502020204030204" pitchFamily="34" charset="0"/>
              </a:rPr>
              <a:t>RectArea</a:t>
            </a:r>
            <a:r>
              <a:rPr lang="en-US" sz="2000" b="1" i="0" u="none" strike="noStrike" baseline="0" dirty="0">
                <a:latin typeface="Calibri" panose="020F0502020204030204" pitchFamily="34" charset="0"/>
                <a:cs typeface="Calibri" panose="020F0502020204030204" pitchFamily="34" charset="0"/>
              </a:rPr>
              <a:t>(): </a:t>
            </a:r>
            <a:r>
              <a:rPr lang="en-US" sz="2000" b="0" i="0" u="none" strike="noStrike" baseline="0" dirty="0">
                <a:latin typeface="Calibri" panose="020F0502020204030204" pitchFamily="34" charset="0"/>
                <a:cs typeface="Calibri" panose="020F0502020204030204" pitchFamily="34" charset="0"/>
              </a:rPr>
              <a:t>This function calculates the area of the rectangle.</a:t>
            </a:r>
          </a:p>
          <a:p>
            <a:pPr lvl="1" algn="just"/>
            <a:r>
              <a:rPr lang="en-US" sz="2000" b="1" i="0" u="none" strike="noStrike" baseline="0" dirty="0" err="1">
                <a:latin typeface="Calibri" panose="020F0502020204030204" pitchFamily="34" charset="0"/>
                <a:cs typeface="Calibri" panose="020F0502020204030204" pitchFamily="34" charset="0"/>
              </a:rPr>
              <a:t>RotateRect</a:t>
            </a:r>
            <a:r>
              <a:rPr lang="en-US" sz="2000" b="1" i="0" u="none" strike="noStrike" baseline="0" dirty="0">
                <a:latin typeface="Calibri" panose="020F0502020204030204" pitchFamily="34" charset="0"/>
                <a:cs typeface="Calibri" panose="020F0502020204030204" pitchFamily="34" charset="0"/>
              </a:rPr>
              <a:t>(): </a:t>
            </a:r>
            <a:r>
              <a:rPr lang="en-US" sz="2000" b="0" i="0" u="none" strike="noStrike" baseline="0" dirty="0">
                <a:latin typeface="Calibri" panose="020F0502020204030204" pitchFamily="34" charset="0"/>
                <a:cs typeface="Calibri" panose="020F0502020204030204" pitchFamily="34" charset="0"/>
              </a:rPr>
              <a:t>This function rotates the rectangle 90 degrees clockwise. The function should have one parameter that passes the rectangle in and out. The function should have no return value.</a:t>
            </a:r>
          </a:p>
          <a:p>
            <a:pPr algn="just"/>
            <a:r>
              <a:rPr lang="en-US" sz="2200" b="0" i="0" u="none" strike="noStrike" baseline="0" dirty="0">
                <a:latin typeface="Calibri" panose="020F0502020204030204" pitchFamily="34" charset="0"/>
                <a:cs typeface="Calibri" panose="020F0502020204030204" pitchFamily="34" charset="0"/>
              </a:rPr>
              <a:t>Your program should:</a:t>
            </a:r>
          </a:p>
          <a:p>
            <a:pPr lvl="1" algn="just"/>
            <a:r>
              <a:rPr lang="en-US" sz="2000" dirty="0">
                <a:latin typeface="Calibri" panose="020F0502020204030204" pitchFamily="34" charset="0"/>
                <a:cs typeface="Calibri" panose="020F0502020204030204" pitchFamily="34" charset="0"/>
              </a:rPr>
              <a:t>Define the rectangle with initial coordinates </a:t>
            </a:r>
            <a:r>
              <a:rPr lang="en-US" sz="2000" b="0" i="0" u="none" strike="noStrike" baseline="0" dirty="0">
                <a:latin typeface="Calibri" panose="020F0502020204030204" pitchFamily="34" charset="0"/>
                <a:cs typeface="Calibri" panose="020F0502020204030204" pitchFamily="34" charset="0"/>
              </a:rPr>
              <a:t>{{6, 5}, {6, 2}, {2, 2}, {2, 5}}</a:t>
            </a:r>
            <a:r>
              <a:rPr lang="en-US" sz="2000"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Calculate and print the area of the rectangle.</a:t>
            </a:r>
          </a:p>
          <a:p>
            <a:pPr lvl="1" algn="just"/>
            <a:r>
              <a:rPr lang="en-US" sz="2000" dirty="0">
                <a:latin typeface="Calibri" panose="020F0502020204030204" pitchFamily="34" charset="0"/>
                <a:cs typeface="Calibri" panose="020F0502020204030204" pitchFamily="34" charset="0"/>
              </a:rPr>
              <a:t>Rotate the rectangle 90 degrees clockwise and then print the new coordinates of the rectangle's corners. </a:t>
            </a: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1509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12: Structures</a:t>
            </a:r>
          </a:p>
        </p:txBody>
      </p:sp>
      <p:pic>
        <p:nvPicPr>
          <p:cNvPr id="7" name="Picture 6" descr="A screenshot of a computer&#10;&#10;Description automatically generated">
            <a:extLst>
              <a:ext uri="{FF2B5EF4-FFF2-40B4-BE49-F238E27FC236}">
                <a16:creationId xmlns:a16="http://schemas.microsoft.com/office/drawing/2014/main" id="{8DA1B881-BA13-2756-5ABC-0F4FCA3B3222}"/>
              </a:ext>
            </a:extLst>
          </p:cNvPr>
          <p:cNvPicPr>
            <a:picLocks noChangeAspect="1"/>
          </p:cNvPicPr>
          <p:nvPr/>
        </p:nvPicPr>
        <p:blipFill rotWithShape="1">
          <a:blip r:embed="rId2">
            <a:extLst>
              <a:ext uri="{28A0092B-C50C-407E-A947-70E740481C1C}">
                <a14:useLocalDpi xmlns:a14="http://schemas.microsoft.com/office/drawing/2010/main" val="0"/>
              </a:ext>
            </a:extLst>
          </a:blip>
          <a:srcRect l="4828" t="43077" r="39643" b="21846"/>
          <a:stretch/>
        </p:blipFill>
        <p:spPr>
          <a:xfrm>
            <a:off x="6875060" y="1305479"/>
            <a:ext cx="4644150" cy="2866968"/>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9EE91FF4-063D-4A6D-45B8-C2670B16FA93}"/>
              </a:ext>
            </a:extLst>
          </p:cNvPr>
          <p:cNvPicPr>
            <a:picLocks noChangeAspect="1"/>
          </p:cNvPicPr>
          <p:nvPr/>
        </p:nvPicPr>
        <p:blipFill rotWithShape="1">
          <a:blip r:embed="rId3">
            <a:extLst>
              <a:ext uri="{28A0092B-C50C-407E-A947-70E740481C1C}">
                <a14:useLocalDpi xmlns:a14="http://schemas.microsoft.com/office/drawing/2010/main" val="0"/>
              </a:ext>
            </a:extLst>
          </a:blip>
          <a:srcRect l="4344" t="12639" r="8571" b="14422"/>
          <a:stretch/>
        </p:blipFill>
        <p:spPr>
          <a:xfrm>
            <a:off x="91440" y="1305479"/>
            <a:ext cx="6783620" cy="5552521"/>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A024B3EA-3743-2C3C-8917-B5602B139D01}"/>
              </a:ext>
            </a:extLst>
          </p:cNvPr>
          <p:cNvPicPr>
            <a:picLocks noChangeAspect="1"/>
          </p:cNvPicPr>
          <p:nvPr/>
        </p:nvPicPr>
        <p:blipFill rotWithShape="1">
          <a:blip r:embed="rId4">
            <a:extLst>
              <a:ext uri="{28A0092B-C50C-407E-A947-70E740481C1C}">
                <a14:useLocalDpi xmlns:a14="http://schemas.microsoft.com/office/drawing/2010/main" val="0"/>
              </a:ext>
            </a:extLst>
          </a:blip>
          <a:srcRect l="2121" t="8733" r="39242" b="50000"/>
          <a:stretch/>
        </p:blipFill>
        <p:spPr>
          <a:xfrm>
            <a:off x="6096000" y="4279025"/>
            <a:ext cx="5897880" cy="2472397"/>
          </a:xfrm>
          <a:prstGeom prst="rect">
            <a:avLst/>
          </a:prstGeom>
        </p:spPr>
      </p:pic>
    </p:spTree>
    <p:extLst>
      <p:ext uri="{BB962C8B-B14F-4D97-AF65-F5344CB8AC3E}">
        <p14:creationId xmlns:p14="http://schemas.microsoft.com/office/powerpoint/2010/main" val="12798519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Structures:</a:t>
            </a:r>
          </a:p>
          <a:p>
            <a:pPr lvl="1" algn="just"/>
            <a:r>
              <a:rPr lang="en-US" sz="2000" dirty="0">
                <a:latin typeface="Calibri" panose="020F0502020204030204" pitchFamily="34" charset="0"/>
                <a:cs typeface="Calibri" panose="020F0502020204030204" pitchFamily="34" charset="0"/>
              </a:rPr>
              <a:t>struct point: Represents a point in 2D space using x and y coordinates.</a:t>
            </a:r>
          </a:p>
          <a:p>
            <a:pPr lvl="1" algn="just"/>
            <a:r>
              <a:rPr lang="en-US" sz="2000" dirty="0">
                <a:latin typeface="Calibri" panose="020F0502020204030204" pitchFamily="34" charset="0"/>
                <a:cs typeface="Calibri" panose="020F0502020204030204" pitchFamily="34" charset="0"/>
              </a:rPr>
              <a:t>struct </a:t>
            </a:r>
            <a:r>
              <a:rPr lang="en-US" sz="2000" dirty="0" err="1">
                <a:latin typeface="Calibri" panose="020F0502020204030204" pitchFamily="34" charset="0"/>
                <a:cs typeface="Calibri" panose="020F0502020204030204" pitchFamily="34" charset="0"/>
              </a:rPr>
              <a:t>rect</a:t>
            </a:r>
            <a:r>
              <a:rPr lang="en-US" sz="2000" dirty="0">
                <a:latin typeface="Calibri" panose="020F0502020204030204" pitchFamily="34" charset="0"/>
                <a:cs typeface="Calibri" panose="020F0502020204030204" pitchFamily="34" charset="0"/>
              </a:rPr>
              <a:t>: Represents a rectangle defined by four points (ne, se, </a:t>
            </a:r>
            <a:r>
              <a:rPr lang="en-US" sz="2000" dirty="0" err="1">
                <a:latin typeface="Calibri" panose="020F0502020204030204" pitchFamily="34" charset="0"/>
                <a:cs typeface="Calibri" panose="020F0502020204030204" pitchFamily="34" charset="0"/>
              </a:rPr>
              <a:t>sw</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nw</a:t>
            </a:r>
            <a:r>
              <a:rPr lang="en-US" sz="2000" dirty="0">
                <a:latin typeface="Calibri" panose="020F0502020204030204" pitchFamily="34" charset="0"/>
                <a:cs typeface="Calibri" panose="020F0502020204030204" pitchFamily="34" charset="0"/>
              </a:rPr>
              <a:t>), which correspond to the rectangle's corners.</a:t>
            </a:r>
          </a:p>
          <a:p>
            <a:pPr algn="just"/>
            <a:endParaRPr lang="en-US" sz="2200" b="1" dirty="0">
              <a:latin typeface="Calibri" panose="020F0502020204030204" pitchFamily="34" charset="0"/>
              <a:cs typeface="Calibri" panose="020F0502020204030204" pitchFamily="34" charset="0"/>
            </a:endParaRPr>
          </a:p>
          <a:p>
            <a:pPr algn="just"/>
            <a:r>
              <a:rPr lang="en-US" sz="2200" b="1" dirty="0" err="1">
                <a:latin typeface="Calibri" panose="020F0502020204030204" pitchFamily="34" charset="0"/>
                <a:cs typeface="Calibri" panose="020F0502020204030204" pitchFamily="34" charset="0"/>
              </a:rPr>
              <a:t>RectArea</a:t>
            </a:r>
            <a:r>
              <a:rPr lang="en-US" sz="2200" b="1" dirty="0">
                <a:latin typeface="Calibri" panose="020F0502020204030204" pitchFamily="34" charset="0"/>
                <a:cs typeface="Calibri" panose="020F0502020204030204" pitchFamily="34" charset="0"/>
              </a:rPr>
              <a:t>() Function:</a:t>
            </a:r>
          </a:p>
          <a:p>
            <a:pPr lvl="1" algn="just"/>
            <a:r>
              <a:rPr lang="en-US" sz="2000" dirty="0">
                <a:latin typeface="Calibri" panose="020F0502020204030204" pitchFamily="34" charset="0"/>
                <a:cs typeface="Calibri" panose="020F0502020204030204" pitchFamily="34" charset="0"/>
              </a:rPr>
              <a:t>Computes the area of the rectangle by calculating the width and height.</a:t>
            </a:r>
          </a:p>
          <a:p>
            <a:pPr lvl="1" algn="just"/>
            <a:r>
              <a:rPr lang="en-US" sz="2000" dirty="0">
                <a:latin typeface="Calibri" panose="020F0502020204030204" pitchFamily="34" charset="0"/>
                <a:cs typeface="Calibri" panose="020F0502020204030204" pitchFamily="34" charset="0"/>
              </a:rPr>
              <a:t>Width is computed as the difference between the x coordinates of the northeast (ne) and northwest (</a:t>
            </a:r>
            <a:r>
              <a:rPr lang="en-US" sz="2000" dirty="0" err="1">
                <a:latin typeface="Calibri" panose="020F0502020204030204" pitchFamily="34" charset="0"/>
                <a:cs typeface="Calibri" panose="020F0502020204030204" pitchFamily="34" charset="0"/>
              </a:rPr>
              <a:t>nw</a:t>
            </a:r>
            <a:r>
              <a:rPr lang="en-US" sz="2000" dirty="0">
                <a:latin typeface="Calibri" panose="020F0502020204030204" pitchFamily="34" charset="0"/>
                <a:cs typeface="Calibri" panose="020F0502020204030204" pitchFamily="34" charset="0"/>
              </a:rPr>
              <a:t>) points.</a:t>
            </a:r>
          </a:p>
          <a:p>
            <a:pPr lvl="1" algn="just"/>
            <a:r>
              <a:rPr lang="en-US" sz="2000" dirty="0">
                <a:latin typeface="Calibri" panose="020F0502020204030204" pitchFamily="34" charset="0"/>
                <a:cs typeface="Calibri" panose="020F0502020204030204" pitchFamily="34" charset="0"/>
              </a:rPr>
              <a:t>Height is computed as the difference between the y coordinates of the northwest (</a:t>
            </a:r>
            <a:r>
              <a:rPr lang="en-US" sz="2000" dirty="0" err="1">
                <a:latin typeface="Calibri" panose="020F0502020204030204" pitchFamily="34" charset="0"/>
                <a:cs typeface="Calibri" panose="020F0502020204030204" pitchFamily="34" charset="0"/>
              </a:rPr>
              <a:t>nw</a:t>
            </a:r>
            <a:r>
              <a:rPr lang="en-US" sz="2000" dirty="0">
                <a:latin typeface="Calibri" panose="020F0502020204030204" pitchFamily="34" charset="0"/>
                <a:cs typeface="Calibri" panose="020F0502020204030204" pitchFamily="34" charset="0"/>
              </a:rPr>
              <a:t>) and southwest (</a:t>
            </a:r>
            <a:r>
              <a:rPr lang="en-US" sz="2000" dirty="0" err="1">
                <a:latin typeface="Calibri" panose="020F0502020204030204" pitchFamily="34" charset="0"/>
                <a:cs typeface="Calibri" panose="020F0502020204030204" pitchFamily="34" charset="0"/>
              </a:rPr>
              <a:t>sw</a:t>
            </a:r>
            <a:r>
              <a:rPr lang="en-US" sz="2000" dirty="0">
                <a:latin typeface="Calibri" panose="020F0502020204030204" pitchFamily="34" charset="0"/>
                <a:cs typeface="Calibri" panose="020F0502020204030204" pitchFamily="34" charset="0"/>
              </a:rPr>
              <a:t>) points.</a:t>
            </a:r>
          </a:p>
          <a:p>
            <a:pPr lvl="1" algn="just"/>
            <a:r>
              <a:rPr lang="en-US" sz="2000" dirty="0">
                <a:latin typeface="Calibri" panose="020F0502020204030204" pitchFamily="34" charset="0"/>
                <a:cs typeface="Calibri" panose="020F0502020204030204" pitchFamily="34" charset="0"/>
              </a:rPr>
              <a:t>The area is the product of the width and height.</a:t>
            </a:r>
          </a:p>
        </p:txBody>
      </p:sp>
    </p:spTree>
    <p:extLst>
      <p:ext uri="{BB962C8B-B14F-4D97-AF65-F5344CB8AC3E}">
        <p14:creationId xmlns:p14="http://schemas.microsoft.com/office/powerpoint/2010/main" val="31481629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err="1">
                <a:latin typeface="Calibri" panose="020F0502020204030204" pitchFamily="34" charset="0"/>
                <a:cs typeface="Calibri" panose="020F0502020204030204" pitchFamily="34" charset="0"/>
              </a:rPr>
              <a:t>RotateRect</a:t>
            </a:r>
            <a:r>
              <a:rPr lang="en-US" sz="2200" b="1" dirty="0">
                <a:latin typeface="Calibri" panose="020F0502020204030204" pitchFamily="34" charset="0"/>
                <a:cs typeface="Calibri" panose="020F0502020204030204" pitchFamily="34" charset="0"/>
              </a:rPr>
              <a:t>() Function:</a:t>
            </a:r>
          </a:p>
          <a:p>
            <a:pPr lvl="1" algn="just"/>
            <a:r>
              <a:rPr lang="en-US" sz="2000" dirty="0">
                <a:latin typeface="Calibri" panose="020F0502020204030204" pitchFamily="34" charset="0"/>
                <a:cs typeface="Calibri" panose="020F0502020204030204" pitchFamily="34" charset="0"/>
              </a:rPr>
              <a:t>Rotates the rectangle 90 degrees clockwise by updating the coordinates of each corner.</a:t>
            </a:r>
          </a:p>
          <a:p>
            <a:pPr lvl="1" algn="just"/>
            <a:r>
              <a:rPr lang="en-US" sz="2000" dirty="0">
                <a:latin typeface="Calibri" panose="020F0502020204030204" pitchFamily="34" charset="0"/>
                <a:cs typeface="Calibri" panose="020F0502020204030204" pitchFamily="34" charset="0"/>
              </a:rPr>
              <a:t>It uses temporary variables to hold the original coordinates while updating the rectangle's corners based on the clockwise rotation.</a:t>
            </a:r>
          </a:p>
          <a:p>
            <a:pPr algn="just"/>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main() Function:</a:t>
            </a:r>
          </a:p>
          <a:p>
            <a:pPr lvl="1" algn="just"/>
            <a:r>
              <a:rPr lang="en-US" sz="2000" dirty="0">
                <a:latin typeface="Calibri" panose="020F0502020204030204" pitchFamily="34" charset="0"/>
                <a:cs typeface="Calibri" panose="020F0502020204030204" pitchFamily="34" charset="0"/>
              </a:rPr>
              <a:t>Initializes a rectangle </a:t>
            </a:r>
            <a:r>
              <a:rPr lang="en-US" sz="2000" dirty="0" err="1">
                <a:latin typeface="Calibri" panose="020F0502020204030204" pitchFamily="34" charset="0"/>
                <a:cs typeface="Calibri" panose="020F0502020204030204" pitchFamily="34" charset="0"/>
              </a:rPr>
              <a:t>myRect</a:t>
            </a:r>
            <a:r>
              <a:rPr lang="en-US" sz="2000" dirty="0">
                <a:latin typeface="Calibri" panose="020F0502020204030204" pitchFamily="34" charset="0"/>
                <a:cs typeface="Calibri" panose="020F0502020204030204" pitchFamily="34" charset="0"/>
              </a:rPr>
              <a:t> with specific corner coordinates.</a:t>
            </a:r>
          </a:p>
          <a:p>
            <a:pPr lvl="1" algn="just"/>
            <a:r>
              <a:rPr lang="en-US" sz="2000" dirty="0">
                <a:latin typeface="Calibri" panose="020F0502020204030204" pitchFamily="34" charset="0"/>
                <a:cs typeface="Calibri" panose="020F0502020204030204" pitchFamily="34" charset="0"/>
              </a:rPr>
              <a:t>Prints the area of the rectangle using </a:t>
            </a:r>
            <a:r>
              <a:rPr lang="en-US" sz="2000" dirty="0" err="1">
                <a:latin typeface="Calibri" panose="020F0502020204030204" pitchFamily="34" charset="0"/>
                <a:cs typeface="Calibri" panose="020F0502020204030204" pitchFamily="34" charset="0"/>
              </a:rPr>
              <a:t>RectArea</a:t>
            </a:r>
            <a:r>
              <a:rPr lang="en-US" sz="2000"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Rotates the rectangle 90 degrees clockwise using </a:t>
            </a:r>
            <a:r>
              <a:rPr lang="en-US" sz="2000" dirty="0" err="1">
                <a:latin typeface="Calibri" panose="020F0502020204030204" pitchFamily="34" charset="0"/>
                <a:cs typeface="Calibri" panose="020F0502020204030204" pitchFamily="34" charset="0"/>
              </a:rPr>
              <a:t>RotateRect</a:t>
            </a:r>
            <a:r>
              <a:rPr lang="en-US" sz="2000"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Prints the updated corner coordinates after the rotation.</a:t>
            </a:r>
          </a:p>
        </p:txBody>
      </p:sp>
    </p:spTree>
    <p:extLst>
      <p:ext uri="{BB962C8B-B14F-4D97-AF65-F5344CB8AC3E}">
        <p14:creationId xmlns:p14="http://schemas.microsoft.com/office/powerpoint/2010/main" val="455315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6C14-235C-CB31-F749-488E6B6D9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62095-F8D0-443B-284D-E0EBB80DC85A}"/>
              </a:ext>
            </a:extLst>
          </p:cNvPr>
          <p:cNvSpPr>
            <a:spLocks noGrp="1"/>
          </p:cNvSpPr>
          <p:nvPr>
            <p:ph type="title"/>
          </p:nvPr>
        </p:nvSpPr>
        <p:spPr>
          <a:xfrm>
            <a:off x="838200" y="2766218"/>
            <a:ext cx="10515600" cy="1325563"/>
          </a:xfrm>
        </p:spPr>
        <p:txBody>
          <a:bodyPr>
            <a:normAutofit/>
          </a:bodyPr>
          <a:lstStyle/>
          <a:p>
            <a:pPr algn="ctr"/>
            <a:r>
              <a:rPr lang="en-US" b="1" dirty="0"/>
              <a:t>Thank you for listening </a:t>
            </a:r>
          </a:p>
        </p:txBody>
      </p:sp>
    </p:spTree>
    <p:extLst>
      <p:ext uri="{BB962C8B-B14F-4D97-AF65-F5344CB8AC3E}">
        <p14:creationId xmlns:p14="http://schemas.microsoft.com/office/powerpoint/2010/main" val="244848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4933</TotalTime>
  <Words>5743</Words>
  <Application>Microsoft Office PowerPoint</Application>
  <PresentationFormat>Widescreen</PresentationFormat>
  <Paragraphs>517</Paragraphs>
  <Slides>58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Aptos</vt:lpstr>
      <vt:lpstr>Aptos Display</vt:lpstr>
      <vt:lpstr>Arial</vt:lpstr>
      <vt:lpstr>Calibri</vt:lpstr>
      <vt:lpstr>Cambria Math</vt:lpstr>
      <vt:lpstr>Minion-Regular</vt:lpstr>
      <vt:lpstr>Times New Roman</vt:lpstr>
      <vt:lpstr>ZztexMono-Regular</vt:lpstr>
      <vt:lpstr>Office Theme</vt:lpstr>
      <vt:lpstr>Lecture 3: Strings, Pointers, Memory Allocations, Structures</vt:lpstr>
      <vt:lpstr>Outline:</vt:lpstr>
      <vt:lpstr>String</vt:lpstr>
      <vt:lpstr>String: printf and scanf</vt:lpstr>
      <vt:lpstr>Example 1: String</vt:lpstr>
      <vt:lpstr>Example 1: String</vt:lpstr>
      <vt:lpstr>Example 1: Explanation</vt:lpstr>
      <vt:lpstr>Example 1: Explanation</vt:lpstr>
      <vt:lpstr>Multidimensional String</vt:lpstr>
      <vt:lpstr>Example 2: Multidimensional String</vt:lpstr>
      <vt:lpstr>Example 2: Multidimensional String</vt:lpstr>
      <vt:lpstr>Example 2: Explanation</vt:lpstr>
      <vt:lpstr>Example 2: Explanation</vt:lpstr>
      <vt:lpstr>Pointers</vt:lpstr>
      <vt:lpstr>Pointers</vt:lpstr>
      <vt:lpstr>Example 3: Pointer</vt:lpstr>
      <vt:lpstr>Example 3: Pointer</vt:lpstr>
      <vt:lpstr>Example 3: Explanation</vt:lpstr>
      <vt:lpstr>Example 3: Explanation</vt:lpstr>
      <vt:lpstr>Using Pointers: Passing Values Back from a Function</vt:lpstr>
      <vt:lpstr>Example 5: Passing Values Back from a Function</vt:lpstr>
      <vt:lpstr>Example 5: Passing Values Back from a Function</vt:lpstr>
      <vt:lpstr>Using Pointers: Pointers and Arrays</vt:lpstr>
      <vt:lpstr>Example 6: Pointers and Arrays</vt:lpstr>
      <vt:lpstr>Dynamic Memory Allocation</vt:lpstr>
      <vt:lpstr>Dynamic Memory Allocation</vt:lpstr>
      <vt:lpstr>Dynamic Memory Allocation</vt:lpstr>
      <vt:lpstr>Dynamic Memory Allocation</vt:lpstr>
      <vt:lpstr>Example 7: Dynamic Memory Allocation</vt:lpstr>
      <vt:lpstr>Example 7: Dynamic Memory Allocation</vt:lpstr>
      <vt:lpstr>Example 7: Explanation</vt:lpstr>
      <vt:lpstr>Memory Leak Problem</vt:lpstr>
      <vt:lpstr>Memory Leak Problem</vt:lpstr>
      <vt:lpstr>Double Pointers</vt:lpstr>
      <vt:lpstr>Example 8: Double Pointers</vt:lpstr>
      <vt:lpstr>Example 8: Explanation</vt:lpstr>
      <vt:lpstr>Structures</vt:lpstr>
      <vt:lpstr>Structures</vt:lpstr>
      <vt:lpstr>Structures</vt:lpstr>
      <vt:lpstr>Example 9: Structures</vt:lpstr>
      <vt:lpstr>Example 9: Structures</vt:lpstr>
      <vt:lpstr>Example 9: Explanation</vt:lpstr>
      <vt:lpstr>Arrays and Structures</vt:lpstr>
      <vt:lpstr>Example 10: Arrays and Structures</vt:lpstr>
      <vt:lpstr>Example 10: Arrays and Structures</vt:lpstr>
      <vt:lpstr>Example 10: Explanation</vt:lpstr>
      <vt:lpstr>Example 10: Explanation</vt:lpstr>
      <vt:lpstr>Nested Structures</vt:lpstr>
      <vt:lpstr>Pointers and Structures</vt:lpstr>
      <vt:lpstr>Example 11: Pointers and Structures</vt:lpstr>
      <vt:lpstr>Example 11: Pointers and Structures</vt:lpstr>
      <vt:lpstr>Example 11: Explanation</vt:lpstr>
      <vt:lpstr>Example 11: Explanation</vt:lpstr>
      <vt:lpstr>Example 12: Structures</vt:lpstr>
      <vt:lpstr>Example 12: Structures</vt:lpstr>
      <vt:lpstr>Example 12: Explanation</vt:lpstr>
      <vt:lpstr>Example 12: Explanation</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Programming with C  </dc:title>
  <dc:creator>Amir  Yavariabdi</dc:creator>
  <cp:lastModifiedBy>Amir  Yavariabdi</cp:lastModifiedBy>
  <cp:revision>91</cp:revision>
  <dcterms:created xsi:type="dcterms:W3CDTF">2024-07-12T15:28:22Z</dcterms:created>
  <dcterms:modified xsi:type="dcterms:W3CDTF">2024-08-31T12:50:05Z</dcterms:modified>
</cp:coreProperties>
</file>