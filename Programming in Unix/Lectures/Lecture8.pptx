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7" r:id="rId2"/>
    <p:sldId id="429" r:id="rId3"/>
    <p:sldId id="475" r:id="rId4"/>
    <p:sldId id="483" r:id="rId5"/>
    <p:sldId id="484" r:id="rId6"/>
    <p:sldId id="485" r:id="rId7"/>
    <p:sldId id="486" r:id="rId8"/>
    <p:sldId id="487" r:id="rId9"/>
    <p:sldId id="488" r:id="rId10"/>
    <p:sldId id="481" r:id="rId11"/>
    <p:sldId id="476" r:id="rId12"/>
    <p:sldId id="482" r:id="rId13"/>
    <p:sldId id="489" r:id="rId14"/>
    <p:sldId id="498" r:id="rId15"/>
    <p:sldId id="490" r:id="rId16"/>
    <p:sldId id="491" r:id="rId17"/>
    <p:sldId id="492" r:id="rId18"/>
    <p:sldId id="493" r:id="rId19"/>
    <p:sldId id="494" r:id="rId20"/>
    <p:sldId id="495" r:id="rId21"/>
    <p:sldId id="496" r:id="rId22"/>
    <p:sldId id="499" r:id="rId23"/>
    <p:sldId id="497" r:id="rId24"/>
    <p:sldId id="500" r:id="rId25"/>
    <p:sldId id="501" r:id="rId26"/>
    <p:sldId id="502" r:id="rId27"/>
    <p:sldId id="504" r:id="rId28"/>
    <p:sldId id="503" r:id="rId29"/>
    <p:sldId id="505" r:id="rId30"/>
    <p:sldId id="506" r:id="rId31"/>
    <p:sldId id="507" r:id="rId32"/>
    <p:sldId id="508" r:id="rId33"/>
    <p:sldId id="509" r:id="rId34"/>
    <p:sldId id="510" r:id="rId35"/>
    <p:sldId id="511" r:id="rId36"/>
    <p:sldId id="512" r:id="rId37"/>
    <p:sldId id="513" r:id="rId38"/>
    <p:sldId id="514" r:id="rId39"/>
    <p:sldId id="515" r:id="rId40"/>
    <p:sldId id="516" r:id="rId41"/>
    <p:sldId id="517" r:id="rId42"/>
    <p:sldId id="518" r:id="rId43"/>
    <p:sldId id="519" r:id="rId44"/>
    <p:sldId id="520" r:id="rId45"/>
    <p:sldId id="521" r:id="rId46"/>
    <p:sldId id="522" r:id="rId47"/>
    <p:sldId id="524" r:id="rId48"/>
    <p:sldId id="525" r:id="rId49"/>
    <p:sldId id="526" r:id="rId50"/>
    <p:sldId id="527" r:id="rId51"/>
    <p:sldId id="420" r:id="rId52"/>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45" autoAdjust="0"/>
    <p:restoredTop sz="94978" autoAdjust="0"/>
  </p:normalViewPr>
  <p:slideViewPr>
    <p:cSldViewPr snapToGrid="0">
      <p:cViewPr varScale="1">
        <p:scale>
          <a:sx n="154" d="100"/>
          <a:sy n="154" d="100"/>
        </p:scale>
        <p:origin x="271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F4E199-04CC-48E8-99A0-31C124D1AF1B}" type="datetimeFigureOut">
              <a:rPr lang="en-GB" smtClean="0"/>
              <a:t>31/08/2024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291CC-A73C-4AD1-B614-7C2250A1126E}" type="slidenum">
              <a:rPr lang="en-GB" smtClean="0"/>
              <a:t>‹#›</a:t>
            </a:fld>
            <a:endParaRPr lang="en-GB"/>
          </a:p>
        </p:txBody>
      </p:sp>
    </p:spTree>
    <p:extLst>
      <p:ext uri="{BB962C8B-B14F-4D97-AF65-F5344CB8AC3E}">
        <p14:creationId xmlns:p14="http://schemas.microsoft.com/office/powerpoint/2010/main" val="3835734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baseline="0" dirty="0">
                <a:latin typeface="Minion-Regular"/>
              </a:rPr>
              <a:t>When </a:t>
            </a:r>
            <a:r>
              <a:rPr lang="en-GB" sz="1100" b="0" i="0" u="none" strike="noStrike" baseline="0" dirty="0" err="1">
                <a:latin typeface="ZztexMono-Regular"/>
              </a:rPr>
              <a:t>fopen</a:t>
            </a:r>
            <a:r>
              <a:rPr lang="en-GB" sz="1100" b="0" i="0" u="none" strike="noStrike" baseline="0" dirty="0">
                <a:latin typeface="ZztexMono-Regular"/>
              </a:rPr>
              <a:t>() </a:t>
            </a:r>
            <a:r>
              <a:rPr lang="en-GB" sz="1200" b="0" i="0" u="none" strike="noStrike" baseline="0" dirty="0">
                <a:latin typeface="Minion-Regular"/>
              </a:rPr>
              <a:t>is called, </a:t>
            </a:r>
            <a:r>
              <a:rPr lang="en-US" sz="1200" b="0" i="0" u="none" strike="noStrike" baseline="0" dirty="0">
                <a:latin typeface="Minion-Regular"/>
              </a:rPr>
              <a:t>a stream connection is established between the program and the file.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Minion-Regular"/>
              </a:rPr>
              <a:t>When</a:t>
            </a:r>
            <a:r>
              <a:rPr lang="en-US" dirty="0">
                <a:latin typeface="Minion-Regular"/>
              </a:rPr>
              <a:t> </a:t>
            </a:r>
            <a:r>
              <a:rPr lang="en-US" sz="1100" b="0" i="0" u="none" strike="noStrike" baseline="0" dirty="0" err="1">
                <a:latin typeface="ZztexMono-Regular"/>
              </a:rPr>
              <a:t>fprintf</a:t>
            </a:r>
            <a:r>
              <a:rPr lang="en-US" sz="1100" b="0" i="0" u="none" strike="noStrike" baseline="0" dirty="0">
                <a:latin typeface="ZztexMono-Regular"/>
              </a:rPr>
              <a:t>() </a:t>
            </a:r>
            <a:r>
              <a:rPr lang="en-US" sz="1200" b="0" i="0" u="none" strike="noStrike" baseline="0" dirty="0">
                <a:latin typeface="Minion-Regular"/>
              </a:rPr>
              <a:t>is called, bytes are passed along the stream from the program to the file. </a:t>
            </a:r>
            <a:br>
              <a:rPr lang="en-US" sz="1200" b="0" i="0" u="none" strike="noStrike" baseline="0" dirty="0">
                <a:latin typeface="Minion-Regular"/>
              </a:rPr>
            </a:br>
            <a:r>
              <a:rPr lang="en-US" sz="1200" b="0" i="0" u="none" strike="noStrike" baseline="0" dirty="0">
                <a:latin typeface="Minion-Regular"/>
              </a:rPr>
              <a:t>When </a:t>
            </a:r>
            <a:r>
              <a:rPr lang="en-US" sz="1100" b="0" i="0" u="none" strike="noStrike" baseline="0" dirty="0" err="1">
                <a:latin typeface="ZztexMono-Regular"/>
              </a:rPr>
              <a:t>fclose</a:t>
            </a:r>
            <a:r>
              <a:rPr lang="en-US" sz="1100" b="0" i="0" u="none" strike="noStrike" baseline="0" dirty="0">
                <a:latin typeface="ZztexMono-Regular"/>
              </a:rPr>
              <a:t>() </a:t>
            </a:r>
            <a:r>
              <a:rPr lang="en-US" sz="1200" b="0" i="0" u="none" strike="noStrike" baseline="0" dirty="0">
                <a:latin typeface="Minion-Regular"/>
              </a:rPr>
              <a:t>is called, the stream connection is broken</a:t>
            </a: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5</a:t>
            </a:fld>
            <a:endParaRPr lang="en-GB"/>
          </a:p>
        </p:txBody>
      </p:sp>
    </p:spTree>
    <p:extLst>
      <p:ext uri="{BB962C8B-B14F-4D97-AF65-F5344CB8AC3E}">
        <p14:creationId xmlns:p14="http://schemas.microsoft.com/office/powerpoint/2010/main" val="1676726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6</a:t>
            </a:fld>
            <a:endParaRPr lang="en-GB"/>
          </a:p>
        </p:txBody>
      </p:sp>
    </p:spTree>
    <p:extLst>
      <p:ext uri="{BB962C8B-B14F-4D97-AF65-F5344CB8AC3E}">
        <p14:creationId xmlns:p14="http://schemas.microsoft.com/office/powerpoint/2010/main" val="3055339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7</a:t>
            </a:fld>
            <a:endParaRPr lang="en-GB"/>
          </a:p>
        </p:txBody>
      </p:sp>
    </p:spTree>
    <p:extLst>
      <p:ext uri="{BB962C8B-B14F-4D97-AF65-F5344CB8AC3E}">
        <p14:creationId xmlns:p14="http://schemas.microsoft.com/office/powerpoint/2010/main" val="187502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8</a:t>
            </a:fld>
            <a:endParaRPr lang="en-GB"/>
          </a:p>
        </p:txBody>
      </p:sp>
    </p:spTree>
    <p:extLst>
      <p:ext uri="{BB962C8B-B14F-4D97-AF65-F5344CB8AC3E}">
        <p14:creationId xmlns:p14="http://schemas.microsoft.com/office/powerpoint/2010/main" val="3607933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9</a:t>
            </a:fld>
            <a:endParaRPr lang="en-GB"/>
          </a:p>
        </p:txBody>
      </p:sp>
    </p:spTree>
    <p:extLst>
      <p:ext uri="{BB962C8B-B14F-4D97-AF65-F5344CB8AC3E}">
        <p14:creationId xmlns:p14="http://schemas.microsoft.com/office/powerpoint/2010/main" val="872149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15</a:t>
            </a:fld>
            <a:endParaRPr lang="en-GB"/>
          </a:p>
        </p:txBody>
      </p:sp>
    </p:spTree>
    <p:extLst>
      <p:ext uri="{BB962C8B-B14F-4D97-AF65-F5344CB8AC3E}">
        <p14:creationId xmlns:p14="http://schemas.microsoft.com/office/powerpoint/2010/main" val="289231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16</a:t>
            </a:fld>
            <a:endParaRPr lang="en-GB"/>
          </a:p>
        </p:txBody>
      </p:sp>
    </p:spTree>
    <p:extLst>
      <p:ext uri="{BB962C8B-B14F-4D97-AF65-F5344CB8AC3E}">
        <p14:creationId xmlns:p14="http://schemas.microsoft.com/office/powerpoint/2010/main" val="851142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21</a:t>
            </a:fld>
            <a:endParaRPr lang="en-GB"/>
          </a:p>
        </p:txBody>
      </p:sp>
    </p:spTree>
    <p:extLst>
      <p:ext uri="{BB962C8B-B14F-4D97-AF65-F5344CB8AC3E}">
        <p14:creationId xmlns:p14="http://schemas.microsoft.com/office/powerpoint/2010/main" val="4097893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22</a:t>
            </a:fld>
            <a:endParaRPr lang="en-GB"/>
          </a:p>
        </p:txBody>
      </p:sp>
    </p:spTree>
    <p:extLst>
      <p:ext uri="{BB962C8B-B14F-4D97-AF65-F5344CB8AC3E}">
        <p14:creationId xmlns:p14="http://schemas.microsoft.com/office/powerpoint/2010/main" val="885863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23</a:t>
            </a:fld>
            <a:endParaRPr lang="en-GB"/>
          </a:p>
        </p:txBody>
      </p:sp>
    </p:spTree>
    <p:extLst>
      <p:ext uri="{BB962C8B-B14F-4D97-AF65-F5344CB8AC3E}">
        <p14:creationId xmlns:p14="http://schemas.microsoft.com/office/powerpoint/2010/main" val="656998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24</a:t>
            </a:fld>
            <a:endParaRPr lang="en-GB"/>
          </a:p>
        </p:txBody>
      </p:sp>
    </p:spTree>
    <p:extLst>
      <p:ext uri="{BB962C8B-B14F-4D97-AF65-F5344CB8AC3E}">
        <p14:creationId xmlns:p14="http://schemas.microsoft.com/office/powerpoint/2010/main" val="3715734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37</a:t>
            </a:fld>
            <a:endParaRPr lang="en-GB"/>
          </a:p>
        </p:txBody>
      </p:sp>
    </p:spTree>
    <p:extLst>
      <p:ext uri="{BB962C8B-B14F-4D97-AF65-F5344CB8AC3E}">
        <p14:creationId xmlns:p14="http://schemas.microsoft.com/office/powerpoint/2010/main" val="1799297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C8368-B31E-CCF3-6EBE-F69CDA6C4F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0A17EC8-D3DB-97B1-CBDF-5D5E9BFD6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5CA4377-ABF3-8399-43F4-CBF11E531510}"/>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A28AF15B-637A-37B4-7688-7590FE856E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F65C4E-A1D6-8726-B8F2-F63E4589D913}"/>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2513020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C3D3B-CC06-6D6F-995C-28DC5FEF915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CA1CB01-ED7C-448D-3524-8AACEB03A2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576B95-E971-36DD-ABDF-1D64263B9C8A}"/>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DDA8A084-7BF4-1CFF-CF83-BAE171C773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A9FBD-D43C-3203-42C4-634D4E0D5B25}"/>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2159020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36C4-1EB4-E62D-0239-A35CD7BDD9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E28393F-F949-C102-2EC7-75880E7231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30F856-BCE1-9F32-4FE7-9C68A21BF3B9}"/>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02CA59D0-267F-5F00-4109-7D7718C965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8D5907-7B55-4612-CD1E-D4E6EDD95672}"/>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75990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19929-7FE8-07AA-6363-1C70BD823D3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45923A-085E-D2BC-1316-D49BAFF520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140070B-2864-1704-4A98-C137180ACF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5D2E3C3-B254-3E63-EA1D-28432CEC3E48}"/>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6" name="Footer Placeholder 5">
            <a:extLst>
              <a:ext uri="{FF2B5EF4-FFF2-40B4-BE49-F238E27FC236}">
                <a16:creationId xmlns:a16="http://schemas.microsoft.com/office/drawing/2014/main" id="{A3697CBB-42F7-837E-9590-7991F894014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B42BF4-49B2-62D8-9EC5-579305D4532B}"/>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640078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43B3-2BB3-10ED-1420-1061EADCFAD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C7E0B60-893B-36F9-86B2-1D4B62FC07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444519-4CDA-9D1F-4824-A8AC9611C6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4173B01-9BD9-DDBA-197E-52C210FC99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A9B13D-AB27-D4A6-4E1E-A70507B3E1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D1D70A0-9B4B-E991-E711-289FC87F1BC7}"/>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8" name="Footer Placeholder 7">
            <a:extLst>
              <a:ext uri="{FF2B5EF4-FFF2-40B4-BE49-F238E27FC236}">
                <a16:creationId xmlns:a16="http://schemas.microsoft.com/office/drawing/2014/main" id="{467511C9-6A84-A9F0-6CC9-D9984781943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F160A1-5409-1442-9473-3B7B4CFBBED0}"/>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116900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0A34-CE5C-4DF1-3808-F84428A481E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E1B820D-78B3-40E4-8A59-8C791CD3687C}"/>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4" name="Footer Placeholder 3">
            <a:extLst>
              <a:ext uri="{FF2B5EF4-FFF2-40B4-BE49-F238E27FC236}">
                <a16:creationId xmlns:a16="http://schemas.microsoft.com/office/drawing/2014/main" id="{E51B0147-9B88-9A7D-1906-35A93461308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8CFE370-409E-4A20-6F9C-06EB4C95E8B2}"/>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351733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29F2EC-C3AD-BCC1-0F39-B5B771413CA0}"/>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3" name="Footer Placeholder 2">
            <a:extLst>
              <a:ext uri="{FF2B5EF4-FFF2-40B4-BE49-F238E27FC236}">
                <a16:creationId xmlns:a16="http://schemas.microsoft.com/office/drawing/2014/main" id="{AFC72AA2-9A6B-6C28-B222-3B85AD17FE4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B0F743-87AD-B4C4-1788-84F660BE874F}"/>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2010111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4937D-8E66-BF14-D850-F64271EDAD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30E9AFD-7119-A492-9238-D51436F19D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52EAB28-DA13-6DC2-6862-E07EBA1BA8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BAC759-F7D6-7776-6001-BC0001884CD7}"/>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6" name="Footer Placeholder 5">
            <a:extLst>
              <a:ext uri="{FF2B5EF4-FFF2-40B4-BE49-F238E27FC236}">
                <a16:creationId xmlns:a16="http://schemas.microsoft.com/office/drawing/2014/main" id="{EB8B2BB6-EEF5-593C-4DE3-02C22FA2657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100D5D2-A28E-BA6E-BEC9-8944848F7DBC}"/>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490916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F0853-5ACD-28F1-941A-DE84D9E0E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772948A-3172-609D-3F6F-B427B1E418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4368962-DB8A-B23D-EC96-CD1DF0F0E7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999956-5B23-E583-B979-76BF9434FBCA}"/>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6" name="Footer Placeholder 5">
            <a:extLst>
              <a:ext uri="{FF2B5EF4-FFF2-40B4-BE49-F238E27FC236}">
                <a16:creationId xmlns:a16="http://schemas.microsoft.com/office/drawing/2014/main" id="{0452074F-7BF7-8C9C-2470-EEC5EA2DF9F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00B982-8317-791F-628B-112A33893C23}"/>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4033476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3E66-087B-7D5A-E5B9-98DB65BC48E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E8F9538-687F-D251-F3A4-0E26F3C42F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2F8BFD-BBC7-53D9-123D-9A267873BAD2}"/>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25D37EC0-1C4A-5718-0B00-9FB0EBB391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9DA87E-C299-2A29-2E9B-B1C1B722968A}"/>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847773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9CB12-EA03-8555-1536-5726881F3D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9E56447-2D84-9C16-93D9-4894E920FB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F91E81-E963-1258-9E2F-F43E09D5A28F}"/>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395D6C1C-4E72-29F3-B562-AF479D78D8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85CD84-E612-4FEA-F381-31FA2613E4F3}"/>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079648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2C3BED-CF1A-FD36-5F2C-22BB242859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F276FE4-91EF-2D9D-369B-22B7B0CDD2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21E41A-C3A0-CF89-7631-BF6143D805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301F07D8-9DFA-0A79-BCF1-B91A556139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23B8BB5-5DAA-1AC8-9D67-058C73D7F3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A587D8-0FD9-4FA3-8619-3C8C78E80720}" type="slidenum">
              <a:rPr lang="en-GB" smtClean="0"/>
              <a:t>‹#›</a:t>
            </a:fld>
            <a:endParaRPr lang="en-GB"/>
          </a:p>
        </p:txBody>
      </p:sp>
    </p:spTree>
    <p:extLst>
      <p:ext uri="{BB962C8B-B14F-4D97-AF65-F5344CB8AC3E}">
        <p14:creationId xmlns:p14="http://schemas.microsoft.com/office/powerpoint/2010/main" val="3992110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5012" y="2699953"/>
            <a:ext cx="6834119" cy="1458091"/>
          </a:xfrm>
          <a:prstGeom prst="rect">
            <a:avLst/>
          </a:prstGeom>
        </p:spPr>
        <p:txBody>
          <a:bodyPr vert="horz" wrap="square" lIns="0" tIns="97790" rIns="0" bIns="0" rtlCol="0" anchor="ctr">
            <a:spAutoFit/>
          </a:bodyPr>
          <a:lstStyle/>
          <a:p>
            <a:pPr marL="12700" marR="5080">
              <a:lnSpc>
                <a:spcPts val="5290"/>
              </a:lnSpc>
              <a:spcBef>
                <a:spcPts val="770"/>
              </a:spcBef>
            </a:pPr>
            <a:r>
              <a:rPr lang="en-US" sz="4900" spc="-10" dirty="0">
                <a:latin typeface="Calibri"/>
                <a:cs typeface="Calibri"/>
              </a:rPr>
              <a:t>Lecture 4: Input/Output and Program Management</a:t>
            </a:r>
            <a:endParaRPr lang="en-US" sz="4900" dirty="0">
              <a:latin typeface="Times New Roman"/>
              <a:cs typeface="Times New Roman"/>
            </a:endParaRPr>
          </a:p>
        </p:txBody>
      </p:sp>
      <p:sp>
        <p:nvSpPr>
          <p:cNvPr id="3" name="object 3"/>
          <p:cNvSpPr txBox="1"/>
          <p:nvPr/>
        </p:nvSpPr>
        <p:spPr>
          <a:xfrm>
            <a:off x="5493948" y="5264148"/>
            <a:ext cx="4125595" cy="591187"/>
          </a:xfrm>
          <a:prstGeom prst="rect">
            <a:avLst/>
          </a:prstGeom>
        </p:spPr>
        <p:txBody>
          <a:bodyPr vert="horz" wrap="square" lIns="0" tIns="97790" rIns="0" bIns="0" rtlCol="0">
            <a:spAutoFit/>
          </a:bodyPr>
          <a:lstStyle/>
          <a:p>
            <a:pPr marL="12700">
              <a:spcBef>
                <a:spcPts val="439"/>
              </a:spcBef>
            </a:pPr>
            <a:r>
              <a:rPr sz="3200" spc="-120" dirty="0">
                <a:solidFill>
                  <a:srgbClr val="888888"/>
                </a:solidFill>
                <a:latin typeface="Calibri"/>
                <a:cs typeface="Calibri"/>
              </a:rPr>
              <a:t>Dr.</a:t>
            </a:r>
            <a:r>
              <a:rPr sz="3200" spc="-80" dirty="0">
                <a:solidFill>
                  <a:srgbClr val="888888"/>
                </a:solidFill>
                <a:latin typeface="Times New Roman"/>
                <a:cs typeface="Times New Roman"/>
              </a:rPr>
              <a:t> </a:t>
            </a:r>
            <a:r>
              <a:rPr lang="en-US" sz="3200" dirty="0">
                <a:solidFill>
                  <a:srgbClr val="888888"/>
                </a:solidFill>
                <a:latin typeface="Calibri"/>
                <a:cs typeface="Calibri"/>
              </a:rPr>
              <a:t>Amir Yavariabdi</a:t>
            </a:r>
            <a:endParaRPr sz="3200" dirty="0">
              <a:latin typeface="Calibri"/>
              <a:cs typeface="Calibri"/>
            </a:endParaRPr>
          </a:p>
        </p:txBody>
      </p:sp>
      <p:pic>
        <p:nvPicPr>
          <p:cNvPr id="4" name="object 4"/>
          <p:cNvPicPr/>
          <p:nvPr/>
        </p:nvPicPr>
        <p:blipFill>
          <a:blip r:embed="rId2" cstate="print"/>
          <a:stretch>
            <a:fillRect/>
          </a:stretch>
        </p:blipFill>
        <p:spPr>
          <a:xfrm>
            <a:off x="851180" y="1905381"/>
            <a:ext cx="3054857" cy="3047237"/>
          </a:xfrm>
          <a:prstGeom prst="rect">
            <a:avLst/>
          </a:prstGeom>
        </p:spPr>
      </p:pic>
      <p:sp>
        <p:nvSpPr>
          <p:cNvPr id="5" name="object 5"/>
          <p:cNvSpPr/>
          <p:nvPr/>
        </p:nvSpPr>
        <p:spPr>
          <a:xfrm>
            <a:off x="5173351" y="1555221"/>
            <a:ext cx="843915" cy="847090"/>
          </a:xfrm>
          <a:custGeom>
            <a:avLst/>
            <a:gdLst/>
            <a:ahLst/>
            <a:cxnLst/>
            <a:rect l="l" t="t" r="r" b="b"/>
            <a:pathLst>
              <a:path w="843914" h="847090">
                <a:moveTo>
                  <a:pt x="143570" y="846582"/>
                </a:moveTo>
                <a:lnTo>
                  <a:pt x="112633" y="823366"/>
                </a:lnTo>
                <a:lnTo>
                  <a:pt x="4352" y="573100"/>
                </a:lnTo>
                <a:lnTo>
                  <a:pt x="0" y="549021"/>
                </a:lnTo>
                <a:lnTo>
                  <a:pt x="1088" y="536334"/>
                </a:lnTo>
                <a:lnTo>
                  <a:pt x="112633" y="274675"/>
                </a:lnTo>
                <a:lnTo>
                  <a:pt x="143570" y="251460"/>
                </a:lnTo>
                <a:lnTo>
                  <a:pt x="360143" y="251460"/>
                </a:lnTo>
                <a:lnTo>
                  <a:pt x="391080" y="274675"/>
                </a:lnTo>
                <a:lnTo>
                  <a:pt x="499360" y="524941"/>
                </a:lnTo>
                <a:lnTo>
                  <a:pt x="503227" y="549021"/>
                </a:lnTo>
                <a:lnTo>
                  <a:pt x="502261" y="561707"/>
                </a:lnTo>
                <a:lnTo>
                  <a:pt x="391080" y="823366"/>
                </a:lnTo>
                <a:lnTo>
                  <a:pt x="360143" y="846582"/>
                </a:lnTo>
                <a:lnTo>
                  <a:pt x="143570" y="846582"/>
                </a:lnTo>
                <a:close/>
              </a:path>
              <a:path w="843914" h="847090">
                <a:moveTo>
                  <a:pt x="549741" y="484632"/>
                </a:moveTo>
                <a:lnTo>
                  <a:pt x="436102" y="261924"/>
                </a:lnTo>
                <a:lnTo>
                  <a:pt x="432549" y="242316"/>
                </a:lnTo>
                <a:lnTo>
                  <a:pt x="433437" y="231985"/>
                </a:lnTo>
                <a:lnTo>
                  <a:pt x="524494" y="18910"/>
                </a:lnTo>
                <a:lnTo>
                  <a:pt x="549741" y="0"/>
                </a:lnTo>
                <a:lnTo>
                  <a:pt x="726513" y="0"/>
                </a:lnTo>
                <a:lnTo>
                  <a:pt x="840165" y="222707"/>
                </a:lnTo>
                <a:lnTo>
                  <a:pt x="843318" y="242316"/>
                </a:lnTo>
                <a:lnTo>
                  <a:pt x="842529" y="252646"/>
                </a:lnTo>
                <a:lnTo>
                  <a:pt x="751773" y="465721"/>
                </a:lnTo>
                <a:lnTo>
                  <a:pt x="726513" y="484632"/>
                </a:lnTo>
                <a:lnTo>
                  <a:pt x="549741" y="484632"/>
                </a:lnTo>
                <a:close/>
              </a:path>
            </a:pathLst>
          </a:custGeom>
          <a:ln w="28575">
            <a:solidFill>
              <a:srgbClr val="000000"/>
            </a:solidFill>
          </a:ln>
        </p:spPr>
        <p:txBody>
          <a:bodyPr wrap="square" lIns="0" tIns="0" rIns="0" bIns="0" rtlCol="0"/>
          <a:lstStyle/>
          <a:p>
            <a:endParaRPr/>
          </a:p>
        </p:txBody>
      </p:sp>
      <p:sp>
        <p:nvSpPr>
          <p:cNvPr id="7" name="object 7"/>
          <p:cNvSpPr txBox="1"/>
          <p:nvPr/>
        </p:nvSpPr>
        <p:spPr>
          <a:xfrm>
            <a:off x="10038245" y="6195312"/>
            <a:ext cx="102870" cy="197490"/>
          </a:xfrm>
          <a:prstGeom prst="rect">
            <a:avLst/>
          </a:prstGeom>
        </p:spPr>
        <p:txBody>
          <a:bodyPr vert="horz" wrap="square" lIns="0" tIns="12700" rIns="0" bIns="0" rtlCol="0">
            <a:spAutoFit/>
          </a:bodyPr>
          <a:lstStyle/>
          <a:p>
            <a:pPr marL="12700">
              <a:spcBef>
                <a:spcPts val="100"/>
              </a:spcBef>
            </a:pPr>
            <a:r>
              <a:rPr sz="1200" spc="-50" dirty="0">
                <a:solidFill>
                  <a:srgbClr val="FFFFFF"/>
                </a:solidFill>
                <a:latin typeface="Calibri"/>
                <a:cs typeface="Calibri"/>
              </a:rPr>
              <a:t>1</a:t>
            </a:r>
            <a:endParaRPr sz="1200">
              <a:latin typeface="Calibri"/>
              <a:cs typeface="Calibri"/>
            </a:endParaRPr>
          </a:p>
        </p:txBody>
      </p:sp>
      <p:sp>
        <p:nvSpPr>
          <p:cNvPr id="6" name="object 3">
            <a:extLst>
              <a:ext uri="{FF2B5EF4-FFF2-40B4-BE49-F238E27FC236}">
                <a16:creationId xmlns:a16="http://schemas.microsoft.com/office/drawing/2014/main" id="{9E363249-E6F3-9319-3532-431A26DB72F0}"/>
              </a:ext>
            </a:extLst>
          </p:cNvPr>
          <p:cNvSpPr txBox="1"/>
          <p:nvPr/>
        </p:nvSpPr>
        <p:spPr>
          <a:xfrm>
            <a:off x="5493948" y="6195312"/>
            <a:ext cx="4125595" cy="375744"/>
          </a:xfrm>
          <a:prstGeom prst="rect">
            <a:avLst/>
          </a:prstGeom>
        </p:spPr>
        <p:txBody>
          <a:bodyPr vert="horz" wrap="square" lIns="0" tIns="97790" rIns="0" bIns="0" rtlCol="0">
            <a:spAutoFit/>
          </a:bodyPr>
          <a:lstStyle/>
          <a:p>
            <a:pPr marL="12700">
              <a:spcBef>
                <a:spcPts val="439"/>
              </a:spcBef>
            </a:pPr>
            <a:r>
              <a:rPr lang="en-US" spc="-120" dirty="0">
                <a:solidFill>
                  <a:srgbClr val="888888"/>
                </a:solidFill>
                <a:latin typeface="Calibri"/>
                <a:cs typeface="Calibri"/>
              </a:rPr>
              <a:t>amir.yavariabdi@bth.se</a:t>
            </a:r>
            <a:endParaRPr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75C1-1794-5405-0B6E-952517360EF5}"/>
              </a:ext>
            </a:extLst>
          </p:cNvPr>
          <p:cNvSpPr>
            <a:spLocks noGrp="1"/>
          </p:cNvSpPr>
          <p:nvPr>
            <p:ph type="title"/>
          </p:nvPr>
        </p:nvSpPr>
        <p:spPr/>
        <p:txBody>
          <a:bodyPr/>
          <a:lstStyle/>
          <a:p>
            <a:r>
              <a:rPr lang="en-GB" b="1" dirty="0"/>
              <a:t>Outline:</a:t>
            </a:r>
          </a:p>
        </p:txBody>
      </p:sp>
      <p:sp>
        <p:nvSpPr>
          <p:cNvPr id="3" name="Content Placeholder 2">
            <a:extLst>
              <a:ext uri="{FF2B5EF4-FFF2-40B4-BE49-F238E27FC236}">
                <a16:creationId xmlns:a16="http://schemas.microsoft.com/office/drawing/2014/main" id="{23F826C2-6788-3302-BDA3-FBF3E2E0B500}"/>
              </a:ext>
            </a:extLst>
          </p:cNvPr>
          <p:cNvSpPr>
            <a:spLocks noGrp="1"/>
          </p:cNvSpPr>
          <p:nvPr>
            <p:ph idx="1"/>
          </p:nvPr>
        </p:nvSpPr>
        <p:spPr/>
        <p:txBody>
          <a:bodyPr>
            <a:normAutofit/>
          </a:bodyPr>
          <a:lstStyle/>
          <a:p>
            <a:pPr algn="just" fontAlgn="base"/>
            <a:r>
              <a:rPr lang="en-US" sz="2200" dirty="0">
                <a:solidFill>
                  <a:srgbClr val="000000"/>
                </a:solidFill>
                <a:highlight>
                  <a:srgbClr val="FFFFFF"/>
                </a:highlight>
                <a:latin typeface="Calibri" panose="020F0502020204030204" pitchFamily="34" charset="0"/>
                <a:cs typeface="Calibri" panose="020F0502020204030204" pitchFamily="34" charset="0"/>
              </a:rPr>
              <a:t>Transporting Bytes on Streams in Unix. </a:t>
            </a:r>
          </a:p>
          <a:p>
            <a:pPr algn="just" fontAlgn="base"/>
            <a:r>
              <a:rPr lang="en-US" sz="2200" dirty="0">
                <a:solidFill>
                  <a:srgbClr val="000000"/>
                </a:solidFill>
                <a:highlight>
                  <a:srgbClr val="FFFFFF"/>
                </a:highlight>
                <a:latin typeface="Calibri" panose="020F0502020204030204" pitchFamily="34" charset="0"/>
                <a:cs typeface="Calibri" panose="020F0502020204030204" pitchFamily="34" charset="0"/>
              </a:rPr>
              <a:t>Understanding Buffers and their significance in I/O operations</a:t>
            </a:r>
          </a:p>
          <a:p>
            <a:pPr algn="just" fontAlgn="base"/>
            <a:r>
              <a:rPr lang="en-US" sz="2200" dirty="0">
                <a:solidFill>
                  <a:srgbClr val="000000"/>
                </a:solidFill>
                <a:highlight>
                  <a:srgbClr val="FFFFFF"/>
                </a:highlight>
                <a:latin typeface="Calibri" panose="020F0502020204030204" pitchFamily="34" charset="0"/>
                <a:cs typeface="Calibri" panose="020F0502020204030204" pitchFamily="34" charset="0"/>
              </a:rPr>
              <a:t>File handling in Unix (open, read, write, close)</a:t>
            </a:r>
          </a:p>
          <a:p>
            <a:pPr algn="just" fontAlgn="base"/>
            <a:r>
              <a:rPr lang="en-US" sz="2200" dirty="0">
                <a:solidFill>
                  <a:srgbClr val="000000"/>
                </a:solidFill>
                <a:highlight>
                  <a:srgbClr val="FFFFFF"/>
                </a:highlight>
                <a:latin typeface="Calibri" panose="020F0502020204030204" pitchFamily="34" charset="0"/>
                <a:cs typeface="Calibri" panose="020F0502020204030204" pitchFamily="34" charset="0"/>
              </a:rPr>
              <a:t>Working with Directories in Unix</a:t>
            </a:r>
          </a:p>
          <a:p>
            <a:pPr algn="just" fontAlgn="base"/>
            <a:r>
              <a:rPr lang="en-US" sz="2200" dirty="0">
                <a:solidFill>
                  <a:srgbClr val="000000"/>
                </a:solidFill>
                <a:highlight>
                  <a:srgbClr val="FFFFFF"/>
                </a:highlight>
                <a:latin typeface="Calibri" panose="020F0502020204030204" pitchFamily="34" charset="0"/>
                <a:cs typeface="Calibri" panose="020F0502020204030204" pitchFamily="34" charset="0"/>
              </a:rPr>
              <a:t>Object code, linking, and compiling C programs in Unix environments</a:t>
            </a:r>
          </a:p>
          <a:p>
            <a:pPr algn="just" fontAlgn="base"/>
            <a:r>
              <a:rPr lang="en-US" sz="2200" dirty="0">
                <a:solidFill>
                  <a:srgbClr val="000000"/>
                </a:solidFill>
                <a:highlight>
                  <a:srgbClr val="FFFFFF"/>
                </a:highlight>
                <a:latin typeface="Calibri" panose="020F0502020204030204" pitchFamily="34" charset="0"/>
                <a:cs typeface="Calibri" panose="020F0502020204030204" pitchFamily="34" charset="0"/>
              </a:rPr>
              <a:t>Introduction to </a:t>
            </a:r>
            <a:r>
              <a:rPr lang="en-US" sz="2200" dirty="0" err="1">
                <a:solidFill>
                  <a:srgbClr val="000000"/>
                </a:solidFill>
                <a:highlight>
                  <a:srgbClr val="FFFFFF"/>
                </a:highlight>
                <a:latin typeface="Calibri" panose="020F0502020204030204" pitchFamily="34" charset="0"/>
                <a:cs typeface="Calibri" panose="020F0502020204030204" pitchFamily="34" charset="0"/>
              </a:rPr>
              <a:t>Makefiles</a:t>
            </a:r>
            <a:r>
              <a:rPr lang="en-US" sz="2200" dirty="0">
                <a:solidFill>
                  <a:srgbClr val="000000"/>
                </a:solidFill>
                <a:highlight>
                  <a:srgbClr val="FFFFFF"/>
                </a:highlight>
                <a:latin typeface="Calibri" panose="020F0502020204030204" pitchFamily="34" charset="0"/>
                <a:cs typeface="Calibri" panose="020F0502020204030204" pitchFamily="34" charset="0"/>
              </a:rPr>
              <a:t> and their role in building complex projects</a:t>
            </a:r>
          </a:p>
        </p:txBody>
      </p:sp>
    </p:spTree>
    <p:extLst>
      <p:ext uri="{BB962C8B-B14F-4D97-AF65-F5344CB8AC3E}">
        <p14:creationId xmlns:p14="http://schemas.microsoft.com/office/powerpoint/2010/main" val="2312570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Introduction to I/O in C Programming</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Input/Output (I/O) in Programming: </a:t>
            </a:r>
            <a:r>
              <a:rPr lang="en-US" sz="2200" dirty="0">
                <a:latin typeface="Calibri" panose="020F0502020204030204" pitchFamily="34" charset="0"/>
                <a:cs typeface="Calibri" panose="020F0502020204030204" pitchFamily="34" charset="0"/>
              </a:rPr>
              <a:t>In C programming, input/output operations are crucial for making programs interactive and functional, allowing them to receive input from users, files, or devices, and to output results accordingly.</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Types of I/O:</a:t>
            </a:r>
          </a:p>
          <a:p>
            <a:pPr lvl="1" algn="just"/>
            <a:r>
              <a:rPr lang="en-US" sz="2000" b="1" dirty="0">
                <a:latin typeface="Calibri" panose="020F0502020204030204" pitchFamily="34" charset="0"/>
                <a:cs typeface="Calibri" panose="020F0502020204030204" pitchFamily="34" charset="0"/>
              </a:rPr>
              <a:t>User I/O: </a:t>
            </a:r>
            <a:r>
              <a:rPr lang="en-US" sz="2000" dirty="0">
                <a:latin typeface="Calibri" panose="020F0502020204030204" pitchFamily="34" charset="0"/>
                <a:cs typeface="Calibri" panose="020F0502020204030204" pitchFamily="34" charset="0"/>
              </a:rPr>
              <a:t>This type involves interactions between the program and the user, typically through a keyboard for input and a display screen for output.</a:t>
            </a:r>
          </a:p>
          <a:p>
            <a:pPr lvl="1" algn="just"/>
            <a:r>
              <a:rPr lang="en-US" sz="2000" b="1" dirty="0">
                <a:latin typeface="Calibri" panose="020F0502020204030204" pitchFamily="34" charset="0"/>
                <a:cs typeface="Calibri" panose="020F0502020204030204" pitchFamily="34" charset="0"/>
              </a:rPr>
              <a:t>File I/O: </a:t>
            </a:r>
            <a:r>
              <a:rPr lang="en-US" sz="2000" dirty="0">
                <a:latin typeface="Calibri" panose="020F0502020204030204" pitchFamily="34" charset="0"/>
                <a:cs typeface="Calibri" panose="020F0502020204030204" pitchFamily="34" charset="0"/>
              </a:rPr>
              <a:t>In file I/O, the program interacts with the file system to read from or write data to files stored on disk.</a:t>
            </a:r>
          </a:p>
          <a:p>
            <a:pPr lvl="1" algn="just"/>
            <a:r>
              <a:rPr lang="en-US" sz="2000" b="1" dirty="0">
                <a:latin typeface="Calibri" panose="020F0502020204030204" pitchFamily="34" charset="0"/>
                <a:cs typeface="Calibri" panose="020F0502020204030204" pitchFamily="34" charset="0"/>
              </a:rPr>
              <a:t>Device I/O: </a:t>
            </a:r>
            <a:r>
              <a:rPr lang="en-US" sz="2000" dirty="0">
                <a:latin typeface="Calibri" panose="020F0502020204030204" pitchFamily="34" charset="0"/>
                <a:cs typeface="Calibri" panose="020F0502020204030204" pitchFamily="34" charset="0"/>
              </a:rPr>
              <a:t>Device I/O involves communication between the program and hardware devices.</a:t>
            </a:r>
          </a:p>
        </p:txBody>
      </p:sp>
    </p:spTree>
    <p:extLst>
      <p:ext uri="{BB962C8B-B14F-4D97-AF65-F5344CB8AC3E}">
        <p14:creationId xmlns:p14="http://schemas.microsoft.com/office/powerpoint/2010/main" val="2389979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Understanding Streams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fontScale="85000" lnSpcReduction="10000"/>
          </a:bodyPr>
          <a:lstStyle/>
          <a:p>
            <a:r>
              <a:rPr lang="en-US" sz="2600" b="1" dirty="0">
                <a:latin typeface="Calibri" panose="020F0502020204030204" pitchFamily="34" charset="0"/>
                <a:cs typeface="Calibri" panose="020F0502020204030204" pitchFamily="34" charset="0"/>
              </a:rPr>
              <a:t>What are Streams?</a:t>
            </a:r>
          </a:p>
          <a:p>
            <a:pPr lvl="1" algn="just"/>
            <a:r>
              <a:rPr lang="en-US" sz="2200" b="1" dirty="0">
                <a:latin typeface="Calibri" panose="020F0502020204030204" pitchFamily="34" charset="0"/>
                <a:cs typeface="Calibri" panose="020F0502020204030204" pitchFamily="34" charset="0"/>
              </a:rPr>
              <a:t>Definition</a:t>
            </a:r>
            <a:r>
              <a:rPr lang="en-US" sz="2200" dirty="0">
                <a:latin typeface="Calibri" panose="020F0502020204030204" pitchFamily="34" charset="0"/>
                <a:cs typeface="Calibri" panose="020F0502020204030204" pitchFamily="34" charset="0"/>
              </a:rPr>
              <a:t>: Streams are a way to represent the flow of data between your C program and various input/output (I/O) sources or destinations.</a:t>
            </a:r>
          </a:p>
          <a:p>
            <a:pPr lvl="1" algn="just"/>
            <a:r>
              <a:rPr lang="en-US" sz="2200" b="1" dirty="0">
                <a:latin typeface="Calibri" panose="020F0502020204030204" pitchFamily="34" charset="0"/>
                <a:cs typeface="Calibri" panose="020F0502020204030204" pitchFamily="34" charset="0"/>
              </a:rPr>
              <a:t>Purpose</a:t>
            </a:r>
            <a:r>
              <a:rPr lang="en-US" sz="2200" dirty="0">
                <a:latin typeface="Calibri" panose="020F0502020204030204" pitchFamily="34" charset="0"/>
                <a:cs typeface="Calibri" panose="020F0502020204030204" pitchFamily="34" charset="0"/>
              </a:rPr>
              <a:t>: They simplify how data is transferred by treating it as a continuous sequence of bytes.</a:t>
            </a:r>
          </a:p>
          <a:p>
            <a:pPr algn="just"/>
            <a:r>
              <a:rPr lang="en-US" sz="2600" b="1" dirty="0">
                <a:latin typeface="Calibri" panose="020F0502020204030204" pitchFamily="34" charset="0"/>
                <a:cs typeface="Calibri" panose="020F0502020204030204" pitchFamily="34" charset="0"/>
              </a:rPr>
              <a:t>Examples of I/O Sources</a:t>
            </a:r>
          </a:p>
          <a:p>
            <a:pPr lvl="1" algn="just"/>
            <a:r>
              <a:rPr lang="en-US" sz="2200" b="1" dirty="0">
                <a:latin typeface="Calibri" panose="020F0502020204030204" pitchFamily="34" charset="0"/>
                <a:cs typeface="Calibri" panose="020F0502020204030204" pitchFamily="34" charset="0"/>
              </a:rPr>
              <a:t>Keyboard</a:t>
            </a:r>
            <a:r>
              <a:rPr lang="en-US" sz="2200" dirty="0">
                <a:latin typeface="Calibri" panose="020F0502020204030204" pitchFamily="34" charset="0"/>
                <a:cs typeface="Calibri" panose="020F0502020204030204" pitchFamily="34" charset="0"/>
              </a:rPr>
              <a:t>: When you type input in the terminal, it is read as a stream of bytes.</a:t>
            </a:r>
          </a:p>
          <a:p>
            <a:pPr lvl="1" algn="just"/>
            <a:r>
              <a:rPr lang="en-US" sz="2200" b="1" dirty="0">
                <a:latin typeface="Calibri" panose="020F0502020204030204" pitchFamily="34" charset="0"/>
                <a:cs typeface="Calibri" panose="020F0502020204030204" pitchFamily="34" charset="0"/>
              </a:rPr>
              <a:t>Files</a:t>
            </a:r>
            <a:r>
              <a:rPr lang="en-US" sz="2200" dirty="0">
                <a:latin typeface="Calibri" panose="020F0502020204030204" pitchFamily="34" charset="0"/>
                <a:cs typeface="Calibri" panose="020F0502020204030204" pitchFamily="34" charset="0"/>
              </a:rPr>
              <a:t>: Data can be read from or written to files on your disk, treated as streams of bytes.</a:t>
            </a:r>
          </a:p>
          <a:p>
            <a:pPr lvl="1" algn="just"/>
            <a:r>
              <a:rPr lang="en-US" sz="2200" b="1" dirty="0">
                <a:latin typeface="Calibri" panose="020F0502020204030204" pitchFamily="34" charset="0"/>
                <a:cs typeface="Calibri" panose="020F0502020204030204" pitchFamily="34" charset="0"/>
              </a:rPr>
              <a:t>Sensors</a:t>
            </a:r>
            <a:r>
              <a:rPr lang="en-US" sz="2200" dirty="0">
                <a:latin typeface="Calibri" panose="020F0502020204030204" pitchFamily="34" charset="0"/>
                <a:cs typeface="Calibri" panose="020F0502020204030204" pitchFamily="34" charset="0"/>
              </a:rPr>
              <a:t>: External devices that provide data to your program, such as temperature sensors, also use streams.</a:t>
            </a:r>
          </a:p>
          <a:p>
            <a:r>
              <a:rPr lang="en-US" sz="2600" b="1" dirty="0">
                <a:latin typeface="Calibri" panose="020F0502020204030204" pitchFamily="34" charset="0"/>
                <a:cs typeface="Calibri" panose="020F0502020204030204" pitchFamily="34" charset="0"/>
              </a:rPr>
              <a:t>Examples of I/O Destinations</a:t>
            </a:r>
          </a:p>
          <a:p>
            <a:pPr lvl="1"/>
            <a:r>
              <a:rPr lang="en-US" sz="2200" b="1" dirty="0">
                <a:latin typeface="Calibri" panose="020F0502020204030204" pitchFamily="34" charset="0"/>
                <a:cs typeface="Calibri" panose="020F0502020204030204" pitchFamily="34" charset="0"/>
              </a:rPr>
              <a:t>Display Screens</a:t>
            </a:r>
            <a:r>
              <a:rPr lang="en-US" sz="2200" dirty="0">
                <a:latin typeface="Calibri" panose="020F0502020204030204" pitchFamily="34" charset="0"/>
                <a:cs typeface="Calibri" panose="020F0502020204030204" pitchFamily="34" charset="0"/>
              </a:rPr>
              <a:t>: Output data from your program can be shown on your terminal or monitor.</a:t>
            </a:r>
          </a:p>
          <a:p>
            <a:pPr lvl="1"/>
            <a:r>
              <a:rPr lang="en-US" sz="2200" b="1" dirty="0">
                <a:latin typeface="Calibri" panose="020F0502020204030204" pitchFamily="34" charset="0"/>
                <a:cs typeface="Calibri" panose="020F0502020204030204" pitchFamily="34" charset="0"/>
              </a:rPr>
              <a:t>Files</a:t>
            </a:r>
            <a:r>
              <a:rPr lang="en-US" sz="2200" dirty="0">
                <a:latin typeface="Calibri" panose="020F0502020204030204" pitchFamily="34" charset="0"/>
                <a:cs typeface="Calibri" panose="020F0502020204030204" pitchFamily="34" charset="0"/>
              </a:rPr>
              <a:t>: Data can be saved to files on your computer.</a:t>
            </a:r>
          </a:p>
          <a:p>
            <a:pPr lvl="1"/>
            <a:r>
              <a:rPr lang="en-US" sz="2200" b="1" dirty="0">
                <a:latin typeface="Calibri" panose="020F0502020204030204" pitchFamily="34" charset="0"/>
                <a:cs typeface="Calibri" panose="020F0502020204030204" pitchFamily="34" charset="0"/>
              </a:rPr>
              <a:t>Printers</a:t>
            </a:r>
            <a:r>
              <a:rPr lang="en-US" sz="2200" dirty="0">
                <a:latin typeface="Calibri" panose="020F0502020204030204" pitchFamily="34" charset="0"/>
                <a:cs typeface="Calibri" panose="020F0502020204030204" pitchFamily="34" charset="0"/>
              </a:rPr>
              <a:t>: Information can be sent to a printer for physical output.</a:t>
            </a:r>
          </a:p>
          <a:p>
            <a:pPr lvl="1"/>
            <a:r>
              <a:rPr lang="en-US" sz="2200" b="1" dirty="0">
                <a:latin typeface="Calibri" panose="020F0502020204030204" pitchFamily="34" charset="0"/>
                <a:cs typeface="Calibri" panose="020F0502020204030204" pitchFamily="34" charset="0"/>
              </a:rPr>
              <a:t>Other Programs</a:t>
            </a:r>
            <a:r>
              <a:rPr lang="en-US" sz="2200" dirty="0">
                <a:latin typeface="Calibri" panose="020F0502020204030204" pitchFamily="34" charset="0"/>
                <a:cs typeface="Calibri" panose="020F0502020204030204" pitchFamily="34" charset="0"/>
              </a:rPr>
              <a:t>: Data can be passed between programs, enabling communication or data sharing</a:t>
            </a:r>
          </a:p>
          <a:p>
            <a:pPr algn="just"/>
            <a:endParaRPr lang="en-US" sz="24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41710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Understanding Streams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Stream Model in Operating Systems</a:t>
            </a:r>
          </a:p>
          <a:p>
            <a:pPr lvl="1" algn="just"/>
            <a:r>
              <a:rPr lang="en-US" sz="2000" b="1" dirty="0">
                <a:latin typeface="Calibri" panose="020F0502020204030204" pitchFamily="34" charset="0"/>
                <a:cs typeface="Calibri" panose="020F0502020204030204" pitchFamily="34" charset="0"/>
              </a:rPr>
              <a:t>Consistency</a:t>
            </a:r>
            <a:r>
              <a:rPr lang="en-US" sz="2000" dirty="0">
                <a:latin typeface="Calibri" panose="020F0502020204030204" pitchFamily="34" charset="0"/>
                <a:cs typeface="Calibri" panose="020F0502020204030204" pitchFamily="34" charset="0"/>
              </a:rPr>
              <a:t>: Modern operating systems like Unix use the stream model to manage I/O operations. This provides a unified approach to handle various types of data flows.</a:t>
            </a:r>
          </a:p>
          <a:p>
            <a:pPr lvl="1" algn="just"/>
            <a:r>
              <a:rPr lang="en-US" sz="2000" b="1" dirty="0">
                <a:latin typeface="Calibri" panose="020F0502020204030204" pitchFamily="34" charset="0"/>
                <a:cs typeface="Calibri" panose="020F0502020204030204" pitchFamily="34" charset="0"/>
              </a:rPr>
              <a:t>Functionality</a:t>
            </a:r>
            <a:r>
              <a:rPr lang="en-US" sz="2000" dirty="0">
                <a:latin typeface="Calibri" panose="020F0502020204030204" pitchFamily="34" charset="0"/>
                <a:cs typeface="Calibri" panose="020F0502020204030204" pitchFamily="34" charset="0"/>
              </a:rPr>
              <a:t>: When your program performs I/O operations, it interacts with streams managed by the operating system, ensuring that data flows smoothly between sources and destinations.</a:t>
            </a:r>
          </a:p>
        </p:txBody>
      </p:sp>
      <p:pic>
        <p:nvPicPr>
          <p:cNvPr id="7" name="Picture 6">
            <a:extLst>
              <a:ext uri="{FF2B5EF4-FFF2-40B4-BE49-F238E27FC236}">
                <a16:creationId xmlns:a16="http://schemas.microsoft.com/office/drawing/2014/main" id="{1E74B19D-BFBA-206D-9561-84ABC1499D52}"/>
              </a:ext>
            </a:extLst>
          </p:cNvPr>
          <p:cNvPicPr>
            <a:picLocks noChangeAspect="1"/>
          </p:cNvPicPr>
          <p:nvPr/>
        </p:nvPicPr>
        <p:blipFill>
          <a:blip r:embed="rId3"/>
          <a:stretch>
            <a:fillRect/>
          </a:stretch>
        </p:blipFill>
        <p:spPr>
          <a:xfrm>
            <a:off x="6432863" y="3694846"/>
            <a:ext cx="5031428" cy="2995567"/>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DC018A97-8909-20DA-393D-19E2EAADA5AB}"/>
              </a:ext>
            </a:extLst>
          </p:cNvPr>
          <p:cNvPicPr>
            <a:picLocks noChangeAspect="1"/>
          </p:cNvPicPr>
          <p:nvPr/>
        </p:nvPicPr>
        <p:blipFill rotWithShape="1">
          <a:blip r:embed="rId4">
            <a:extLst>
              <a:ext uri="{28A0092B-C50C-407E-A947-70E740481C1C}">
                <a14:useLocalDpi xmlns:a14="http://schemas.microsoft.com/office/drawing/2010/main" val="0"/>
              </a:ext>
            </a:extLst>
          </a:blip>
          <a:srcRect l="4829" t="13167" r="21713" b="43500"/>
          <a:stretch/>
        </p:blipFill>
        <p:spPr>
          <a:xfrm>
            <a:off x="205740" y="3759200"/>
            <a:ext cx="5375226" cy="3098800"/>
          </a:xfrm>
          <a:prstGeom prst="rect">
            <a:avLst/>
          </a:prstGeom>
        </p:spPr>
      </p:pic>
      <p:sp>
        <p:nvSpPr>
          <p:cNvPr id="4" name="TextBox 3">
            <a:extLst>
              <a:ext uri="{FF2B5EF4-FFF2-40B4-BE49-F238E27FC236}">
                <a16:creationId xmlns:a16="http://schemas.microsoft.com/office/drawing/2014/main" id="{9EE70E0E-1C87-E6E0-979B-AFB581905059}"/>
              </a:ext>
            </a:extLst>
          </p:cNvPr>
          <p:cNvSpPr txBox="1"/>
          <p:nvPr/>
        </p:nvSpPr>
        <p:spPr>
          <a:xfrm>
            <a:off x="1015483" y="6590251"/>
            <a:ext cx="3866571" cy="323165"/>
          </a:xfrm>
          <a:prstGeom prst="rect">
            <a:avLst/>
          </a:prstGeom>
          <a:noFill/>
        </p:spPr>
        <p:txBody>
          <a:bodyPr wrap="none" rtlCol="0">
            <a:spAutoFit/>
          </a:bodyPr>
          <a:lstStyle/>
          <a:p>
            <a:r>
              <a:rPr lang="en-GB" sz="1500" dirty="0">
                <a:latin typeface="Calibri" panose="020F0502020204030204" pitchFamily="34" charset="0"/>
                <a:cs typeface="Calibri" panose="020F0502020204030204" pitchFamily="34" charset="0"/>
              </a:rPr>
              <a:t>Example1: creating, using, and closing a stream</a:t>
            </a:r>
          </a:p>
        </p:txBody>
      </p:sp>
    </p:spTree>
    <p:extLst>
      <p:ext uri="{BB962C8B-B14F-4D97-AF65-F5344CB8AC3E}">
        <p14:creationId xmlns:p14="http://schemas.microsoft.com/office/powerpoint/2010/main" val="3745631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1: Understanding Streams</a:t>
            </a:r>
          </a:p>
        </p:txBody>
      </p:sp>
      <p:pic>
        <p:nvPicPr>
          <p:cNvPr id="9" name="Picture 8" descr="A screenshot of a computer&#10;&#10;Description automatically generated">
            <a:extLst>
              <a:ext uri="{FF2B5EF4-FFF2-40B4-BE49-F238E27FC236}">
                <a16:creationId xmlns:a16="http://schemas.microsoft.com/office/drawing/2014/main" id="{DC018A97-8909-20DA-393D-19E2EAADA5AB}"/>
              </a:ext>
            </a:extLst>
          </p:cNvPr>
          <p:cNvPicPr>
            <a:picLocks noChangeAspect="1"/>
          </p:cNvPicPr>
          <p:nvPr/>
        </p:nvPicPr>
        <p:blipFill rotWithShape="1">
          <a:blip r:embed="rId3">
            <a:extLst>
              <a:ext uri="{28A0092B-C50C-407E-A947-70E740481C1C}">
                <a14:useLocalDpi xmlns:a14="http://schemas.microsoft.com/office/drawing/2010/main" val="0"/>
              </a:ext>
            </a:extLst>
          </a:blip>
          <a:srcRect l="4829" t="13167" r="21713" b="43500"/>
          <a:stretch/>
        </p:blipFill>
        <p:spPr>
          <a:xfrm>
            <a:off x="114299" y="1690688"/>
            <a:ext cx="8329947" cy="4802187"/>
          </a:xfrm>
          <a:prstGeom prst="rect">
            <a:avLst/>
          </a:prstGeom>
        </p:spPr>
      </p:pic>
      <p:cxnSp>
        <p:nvCxnSpPr>
          <p:cNvPr id="5" name="Straight Arrow Connector 4">
            <a:extLst>
              <a:ext uri="{FF2B5EF4-FFF2-40B4-BE49-F238E27FC236}">
                <a16:creationId xmlns:a16="http://schemas.microsoft.com/office/drawing/2014/main" id="{3A95F2C3-1D24-8534-6721-C0F86D259477}"/>
              </a:ext>
            </a:extLst>
          </p:cNvPr>
          <p:cNvCxnSpPr>
            <a:cxnSpLocks/>
            <a:endCxn id="6" idx="1"/>
          </p:cNvCxnSpPr>
          <p:nvPr/>
        </p:nvCxnSpPr>
        <p:spPr>
          <a:xfrm flipV="1">
            <a:off x="1246909" y="2041453"/>
            <a:ext cx="2930137" cy="4154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71334EC-EE6A-F01C-9985-A37D509859A6}"/>
              </a:ext>
            </a:extLst>
          </p:cNvPr>
          <p:cNvSpPr txBox="1"/>
          <p:nvPr/>
        </p:nvSpPr>
        <p:spPr>
          <a:xfrm>
            <a:off x="4177046" y="1856787"/>
            <a:ext cx="4627418" cy="369332"/>
          </a:xfrm>
          <a:prstGeom prst="rect">
            <a:avLst/>
          </a:prstGeom>
          <a:noFill/>
          <a:ln>
            <a:solidFill>
              <a:schemeClr val="bg1"/>
            </a:solidFill>
          </a:ln>
        </p:spPr>
        <p:txBody>
          <a:bodyPr wrap="square" rtlCol="0">
            <a:spAutoFit/>
          </a:bodyPr>
          <a:lstStyle/>
          <a:p>
            <a:r>
              <a:rPr lang="en-US" dirty="0"/>
              <a:t>This pointer will be used to manage the file.</a:t>
            </a:r>
            <a:endParaRPr lang="en-GB" dirty="0"/>
          </a:p>
        </p:txBody>
      </p:sp>
      <p:cxnSp>
        <p:nvCxnSpPr>
          <p:cNvPr id="10" name="Straight Arrow Connector 9">
            <a:extLst>
              <a:ext uri="{FF2B5EF4-FFF2-40B4-BE49-F238E27FC236}">
                <a16:creationId xmlns:a16="http://schemas.microsoft.com/office/drawing/2014/main" id="{82045984-C92E-F522-7A40-DD795227D096}"/>
              </a:ext>
            </a:extLst>
          </p:cNvPr>
          <p:cNvCxnSpPr>
            <a:cxnSpLocks/>
          </p:cNvCxnSpPr>
          <p:nvPr/>
        </p:nvCxnSpPr>
        <p:spPr>
          <a:xfrm flipV="1">
            <a:off x="3634509" y="2807638"/>
            <a:ext cx="2646218" cy="5035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9FDC144-3B13-4EB2-7779-64936ED22999}"/>
              </a:ext>
            </a:extLst>
          </p:cNvPr>
          <p:cNvSpPr txBox="1"/>
          <p:nvPr/>
        </p:nvSpPr>
        <p:spPr>
          <a:xfrm>
            <a:off x="6280727" y="2505670"/>
            <a:ext cx="5600601" cy="923330"/>
          </a:xfrm>
          <a:prstGeom prst="rect">
            <a:avLst/>
          </a:prstGeom>
          <a:solidFill>
            <a:schemeClr val="bg1"/>
          </a:solidFill>
        </p:spPr>
        <p:txBody>
          <a:bodyPr wrap="square" rtlCol="0">
            <a:spAutoFit/>
          </a:bodyPr>
          <a:lstStyle/>
          <a:p>
            <a:r>
              <a:rPr lang="en-US" dirty="0"/>
              <a:t>Opens the file output.txt in write mode. If output.txt does not exist, it will be created. If it exists, its content will be truncated.</a:t>
            </a:r>
            <a:endParaRPr lang="en-GB" dirty="0"/>
          </a:p>
        </p:txBody>
      </p:sp>
      <p:cxnSp>
        <p:nvCxnSpPr>
          <p:cNvPr id="16" name="Straight Arrow Connector 15">
            <a:extLst>
              <a:ext uri="{FF2B5EF4-FFF2-40B4-BE49-F238E27FC236}">
                <a16:creationId xmlns:a16="http://schemas.microsoft.com/office/drawing/2014/main" id="{B26F861C-39F2-51CA-3779-E177A56B1DAD}"/>
              </a:ext>
            </a:extLst>
          </p:cNvPr>
          <p:cNvCxnSpPr>
            <a:cxnSpLocks/>
          </p:cNvCxnSpPr>
          <p:nvPr/>
        </p:nvCxnSpPr>
        <p:spPr>
          <a:xfrm flipV="1">
            <a:off x="3722255" y="4886036"/>
            <a:ext cx="1551709" cy="3693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73E8E80-8160-84EB-5CE2-C7AD64AC726A}"/>
              </a:ext>
            </a:extLst>
          </p:cNvPr>
          <p:cNvSpPr txBox="1"/>
          <p:nvPr/>
        </p:nvSpPr>
        <p:spPr>
          <a:xfrm>
            <a:off x="5248514" y="4700259"/>
            <a:ext cx="4627418" cy="369332"/>
          </a:xfrm>
          <a:prstGeom prst="rect">
            <a:avLst/>
          </a:prstGeom>
          <a:noFill/>
          <a:ln>
            <a:solidFill>
              <a:schemeClr val="bg1"/>
            </a:solidFill>
          </a:ln>
        </p:spPr>
        <p:txBody>
          <a:bodyPr wrap="square" rtlCol="0">
            <a:spAutoFit/>
          </a:bodyPr>
          <a:lstStyle/>
          <a:p>
            <a:r>
              <a:rPr lang="en-US" dirty="0"/>
              <a:t> Writes the string "This is a test." to the file.</a:t>
            </a:r>
            <a:endParaRPr lang="en-GB" dirty="0"/>
          </a:p>
        </p:txBody>
      </p:sp>
      <p:cxnSp>
        <p:nvCxnSpPr>
          <p:cNvPr id="19" name="Straight Arrow Connector 18">
            <a:extLst>
              <a:ext uri="{FF2B5EF4-FFF2-40B4-BE49-F238E27FC236}">
                <a16:creationId xmlns:a16="http://schemas.microsoft.com/office/drawing/2014/main" id="{6E8A9D40-2DA1-C111-4670-9CB454D60908}"/>
              </a:ext>
            </a:extLst>
          </p:cNvPr>
          <p:cNvCxnSpPr>
            <a:cxnSpLocks/>
          </p:cNvCxnSpPr>
          <p:nvPr/>
        </p:nvCxnSpPr>
        <p:spPr>
          <a:xfrm flipV="1">
            <a:off x="1819564" y="5634479"/>
            <a:ext cx="2382932" cy="1835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8CF33A99-4ED8-43C5-2C4C-C66A632F145E}"/>
              </a:ext>
            </a:extLst>
          </p:cNvPr>
          <p:cNvSpPr txBox="1"/>
          <p:nvPr/>
        </p:nvSpPr>
        <p:spPr>
          <a:xfrm>
            <a:off x="4202495" y="5448702"/>
            <a:ext cx="6798013" cy="369332"/>
          </a:xfrm>
          <a:prstGeom prst="rect">
            <a:avLst/>
          </a:prstGeom>
          <a:noFill/>
          <a:ln>
            <a:solidFill>
              <a:schemeClr val="bg1"/>
            </a:solidFill>
          </a:ln>
        </p:spPr>
        <p:txBody>
          <a:bodyPr wrap="square" rtlCol="0">
            <a:spAutoFit/>
          </a:bodyPr>
          <a:lstStyle/>
          <a:p>
            <a:r>
              <a:rPr lang="en-US" dirty="0"/>
              <a:t>Closes the file to ensure all data is written and resources are freed.</a:t>
            </a:r>
            <a:endParaRPr lang="en-GB" dirty="0"/>
          </a:p>
        </p:txBody>
      </p:sp>
    </p:spTree>
    <p:extLst>
      <p:ext uri="{BB962C8B-B14F-4D97-AF65-F5344CB8AC3E}">
        <p14:creationId xmlns:p14="http://schemas.microsoft.com/office/powerpoint/2010/main" val="67228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a:t>Establishing I/O Connections in C</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a:latin typeface="Calibri" panose="020F0502020204030204" pitchFamily="34" charset="0"/>
                <a:cs typeface="Calibri" panose="020F0502020204030204" pitchFamily="34" charset="0"/>
              </a:rPr>
              <a:t>Using </a:t>
            </a:r>
            <a:r>
              <a:rPr lang="en-US" sz="2200" dirty="0" err="1">
                <a:latin typeface="Calibri" panose="020F0502020204030204" pitchFamily="34" charset="0"/>
                <a:cs typeface="Calibri" panose="020F0502020204030204" pitchFamily="34" charset="0"/>
              </a:rPr>
              <a:t>fopen</a:t>
            </a:r>
            <a:r>
              <a:rPr lang="en-US" sz="2200" dirty="0">
                <a:latin typeface="Calibri" panose="020F0502020204030204" pitchFamily="34" charset="0"/>
                <a:cs typeface="Calibri" panose="020F0502020204030204" pitchFamily="34" charset="0"/>
              </a:rPr>
              <a:t>() to Open Streams: The </a:t>
            </a:r>
            <a:r>
              <a:rPr lang="en-US" sz="2200" dirty="0" err="1">
                <a:latin typeface="Calibri" panose="020F0502020204030204" pitchFamily="34" charset="0"/>
                <a:cs typeface="Calibri" panose="020F0502020204030204" pitchFamily="34" charset="0"/>
              </a:rPr>
              <a:t>fopen</a:t>
            </a:r>
            <a:r>
              <a:rPr lang="en-US" sz="2200" dirty="0">
                <a:latin typeface="Calibri" panose="020F0502020204030204" pitchFamily="34" charset="0"/>
                <a:cs typeface="Calibri" panose="020F0502020204030204" pitchFamily="34" charset="0"/>
              </a:rPr>
              <a:t>() function in C is used to establish a connection between a program and a file, creating a stream that allows data to be read from or written to the file.</a:t>
            </a:r>
          </a:p>
          <a:p>
            <a:pPr marL="0" indent="0" algn="just">
              <a:buNone/>
            </a:pPr>
            <a:endParaRPr lang="en-US" sz="2200" dirty="0">
              <a:latin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Some of the possible </a:t>
            </a:r>
            <a:r>
              <a:rPr lang="en-US" sz="2200" b="1" dirty="0">
                <a:latin typeface="Calibri" panose="020F0502020204030204" pitchFamily="34" charset="0"/>
                <a:cs typeface="Calibri" panose="020F0502020204030204" pitchFamily="34" charset="0"/>
              </a:rPr>
              <a:t>mode </a:t>
            </a:r>
            <a:r>
              <a:rPr lang="en-US" sz="2200" dirty="0">
                <a:latin typeface="Calibri" panose="020F0502020204030204" pitchFamily="34" charset="0"/>
                <a:cs typeface="Calibri" panose="020F0502020204030204" pitchFamily="34" charset="0"/>
              </a:rPr>
              <a:t>keyword parameters:</a:t>
            </a:r>
          </a:p>
          <a:p>
            <a:pPr lvl="1" algn="just"/>
            <a:r>
              <a:rPr lang="en-US" sz="2000" b="1" dirty="0">
                <a:latin typeface="Calibri" panose="020F0502020204030204" pitchFamily="34" charset="0"/>
                <a:cs typeface="Calibri" panose="020F0502020204030204" pitchFamily="34" charset="0"/>
              </a:rPr>
              <a:t>r: </a:t>
            </a:r>
            <a:r>
              <a:rPr lang="en-US" sz="2000" dirty="0">
                <a:latin typeface="Calibri" panose="020F0502020204030204" pitchFamily="34" charset="0"/>
                <a:cs typeface="Calibri" panose="020F0502020204030204" pitchFamily="34" charset="0"/>
              </a:rPr>
              <a:t>Open a text file for reading. The file must exist.</a:t>
            </a:r>
          </a:p>
          <a:p>
            <a:pPr lvl="1" algn="just"/>
            <a:r>
              <a:rPr lang="en-US" sz="2000" b="1" dirty="0">
                <a:latin typeface="Calibri" panose="020F0502020204030204" pitchFamily="34" charset="0"/>
                <a:cs typeface="Calibri" panose="020F0502020204030204" pitchFamily="34" charset="0"/>
              </a:rPr>
              <a:t>w: </a:t>
            </a:r>
            <a:r>
              <a:rPr lang="en-US" sz="2000" dirty="0">
                <a:latin typeface="Calibri" panose="020F0502020204030204" pitchFamily="34" charset="0"/>
                <a:cs typeface="Calibri" panose="020F0502020204030204" pitchFamily="34" charset="0"/>
              </a:rPr>
              <a:t>Create a text file for writing. If the given file exists, its contents are destroyed.</a:t>
            </a:r>
          </a:p>
          <a:p>
            <a:pPr lvl="1" algn="just"/>
            <a:r>
              <a:rPr lang="en-US" sz="2000" b="1" dirty="0">
                <a:latin typeface="Calibri" panose="020F0502020204030204" pitchFamily="34" charset="0"/>
                <a:cs typeface="Calibri" panose="020F0502020204030204" pitchFamily="34" charset="0"/>
              </a:rPr>
              <a:t>a: </a:t>
            </a:r>
            <a:r>
              <a:rPr lang="en-US" sz="2000" dirty="0">
                <a:latin typeface="Calibri" panose="020F0502020204030204" pitchFamily="34" charset="0"/>
                <a:cs typeface="Calibri" panose="020F0502020204030204" pitchFamily="34" charset="0"/>
              </a:rPr>
              <a:t>Open a text file in append mode for writing at the end of the file. </a:t>
            </a:r>
          </a:p>
        </p:txBody>
      </p:sp>
      <p:graphicFrame>
        <p:nvGraphicFramePr>
          <p:cNvPr id="8" name="Table 7">
            <a:extLst>
              <a:ext uri="{FF2B5EF4-FFF2-40B4-BE49-F238E27FC236}">
                <a16:creationId xmlns:a16="http://schemas.microsoft.com/office/drawing/2014/main" id="{60E5CE2E-0708-6926-44D1-839E684A0278}"/>
              </a:ext>
            </a:extLst>
          </p:cNvPr>
          <p:cNvGraphicFramePr>
            <a:graphicFrameLocks noGrp="1"/>
          </p:cNvGraphicFramePr>
          <p:nvPr>
            <p:extLst>
              <p:ext uri="{D42A27DB-BD31-4B8C-83A1-F6EECF244321}">
                <p14:modId xmlns:p14="http://schemas.microsoft.com/office/powerpoint/2010/main" val="1103488031"/>
              </p:ext>
            </p:extLst>
          </p:nvPr>
        </p:nvGraphicFramePr>
        <p:xfrm>
          <a:off x="1099126" y="2988887"/>
          <a:ext cx="8128000" cy="54864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079103876"/>
                    </a:ext>
                  </a:extLst>
                </a:gridCol>
              </a:tblGrid>
              <a:tr h="370840">
                <a:tc>
                  <a:txBody>
                    <a:bodyPr/>
                    <a:lstStyle/>
                    <a:p>
                      <a:r>
                        <a:rPr lang="sv-SE" sz="1500" b="0" i="0" kern="1200" dirty="0">
                          <a:solidFill>
                            <a:schemeClr val="tx2">
                              <a:lumMod val="75000"/>
                              <a:lumOff val="25000"/>
                            </a:schemeClr>
                          </a:solidFill>
                          <a:effectLst/>
                          <a:latin typeface="+mn-lt"/>
                          <a:ea typeface="+mn-ea"/>
                          <a:cs typeface="+mn-cs"/>
                        </a:rPr>
                        <a:t>#include &lt;</a:t>
                      </a:r>
                      <a:r>
                        <a:rPr lang="sv-SE" sz="1500" b="0" i="0" kern="1200" dirty="0" err="1">
                          <a:solidFill>
                            <a:schemeClr val="tx2">
                              <a:lumMod val="75000"/>
                              <a:lumOff val="25000"/>
                            </a:schemeClr>
                          </a:solidFill>
                          <a:effectLst/>
                          <a:latin typeface="+mn-lt"/>
                          <a:ea typeface="+mn-ea"/>
                          <a:cs typeface="+mn-cs"/>
                        </a:rPr>
                        <a:t>stdio.h</a:t>
                      </a:r>
                      <a:r>
                        <a:rPr lang="sv-SE" sz="1500" b="0" i="0" kern="1200" dirty="0">
                          <a:solidFill>
                            <a:schemeClr val="tx2">
                              <a:lumMod val="75000"/>
                              <a:lumOff val="25000"/>
                            </a:schemeClr>
                          </a:solidFill>
                          <a:effectLst/>
                          <a:latin typeface="+mn-lt"/>
                          <a:ea typeface="+mn-ea"/>
                          <a:cs typeface="+mn-cs"/>
                        </a:rPr>
                        <a:t>&gt; </a:t>
                      </a:r>
                    </a:p>
                    <a:p>
                      <a:r>
                        <a:rPr lang="sv-SE" sz="1500" b="0" i="0" kern="1200" dirty="0">
                          <a:solidFill>
                            <a:schemeClr val="tx2">
                              <a:lumMod val="75000"/>
                              <a:lumOff val="25000"/>
                            </a:schemeClr>
                          </a:solidFill>
                          <a:effectLst/>
                          <a:latin typeface="+mn-lt"/>
                          <a:ea typeface="+mn-ea"/>
                          <a:cs typeface="+mn-cs"/>
                        </a:rPr>
                        <a:t>FILE *</a:t>
                      </a:r>
                      <a:r>
                        <a:rPr lang="sv-SE" sz="1500" b="0" i="0" kern="1200" dirty="0" err="1">
                          <a:solidFill>
                            <a:schemeClr val="tx2">
                              <a:lumMod val="75000"/>
                              <a:lumOff val="25000"/>
                            </a:schemeClr>
                          </a:solidFill>
                          <a:effectLst/>
                          <a:latin typeface="+mn-lt"/>
                          <a:ea typeface="+mn-ea"/>
                          <a:cs typeface="+mn-cs"/>
                        </a:rPr>
                        <a:t>fopen</a:t>
                      </a:r>
                      <a:r>
                        <a:rPr lang="sv-SE" sz="1500" b="0" i="0" kern="1200" dirty="0">
                          <a:solidFill>
                            <a:schemeClr val="tx2">
                              <a:lumMod val="75000"/>
                              <a:lumOff val="25000"/>
                            </a:schemeClr>
                          </a:solidFill>
                          <a:effectLst/>
                          <a:latin typeface="+mn-lt"/>
                          <a:ea typeface="+mn-ea"/>
                          <a:cs typeface="+mn-cs"/>
                        </a:rPr>
                        <a:t>(</a:t>
                      </a:r>
                      <a:r>
                        <a:rPr lang="sv-SE" sz="1500" b="0" i="0" kern="1200" dirty="0" err="1">
                          <a:solidFill>
                            <a:schemeClr val="tx2">
                              <a:lumMod val="75000"/>
                              <a:lumOff val="25000"/>
                            </a:schemeClr>
                          </a:solidFill>
                          <a:effectLst/>
                          <a:latin typeface="+mn-lt"/>
                          <a:ea typeface="+mn-ea"/>
                          <a:cs typeface="+mn-cs"/>
                        </a:rPr>
                        <a:t>const</a:t>
                      </a:r>
                      <a:r>
                        <a:rPr lang="sv-SE" sz="1500" b="0" i="0" kern="1200" dirty="0">
                          <a:solidFill>
                            <a:schemeClr val="tx2">
                              <a:lumMod val="75000"/>
                              <a:lumOff val="25000"/>
                            </a:schemeClr>
                          </a:solidFill>
                          <a:effectLst/>
                          <a:latin typeface="+mn-lt"/>
                          <a:ea typeface="+mn-ea"/>
                          <a:cs typeface="+mn-cs"/>
                        </a:rPr>
                        <a:t> char *</a:t>
                      </a:r>
                      <a:r>
                        <a:rPr lang="sv-SE" sz="1500" b="0" i="0" kern="1200" dirty="0" err="1">
                          <a:solidFill>
                            <a:schemeClr val="tx2">
                              <a:lumMod val="75000"/>
                              <a:lumOff val="25000"/>
                            </a:schemeClr>
                          </a:solidFill>
                          <a:effectLst/>
                          <a:latin typeface="+mn-lt"/>
                          <a:ea typeface="+mn-ea"/>
                          <a:cs typeface="+mn-cs"/>
                        </a:rPr>
                        <a:t>filename</a:t>
                      </a:r>
                      <a:r>
                        <a:rPr lang="sv-SE" sz="1500" b="0" i="0" kern="1200" dirty="0">
                          <a:solidFill>
                            <a:schemeClr val="tx2">
                              <a:lumMod val="75000"/>
                              <a:lumOff val="25000"/>
                            </a:schemeClr>
                          </a:solidFill>
                          <a:effectLst/>
                          <a:latin typeface="+mn-lt"/>
                          <a:ea typeface="+mn-ea"/>
                          <a:cs typeface="+mn-cs"/>
                        </a:rPr>
                        <a:t>, </a:t>
                      </a:r>
                      <a:r>
                        <a:rPr lang="sv-SE" sz="1500" b="0" i="0" kern="1200" dirty="0" err="1">
                          <a:solidFill>
                            <a:schemeClr val="tx2">
                              <a:lumMod val="75000"/>
                              <a:lumOff val="25000"/>
                            </a:schemeClr>
                          </a:solidFill>
                          <a:effectLst/>
                          <a:latin typeface="+mn-lt"/>
                          <a:ea typeface="+mn-ea"/>
                          <a:cs typeface="+mn-cs"/>
                        </a:rPr>
                        <a:t>const</a:t>
                      </a:r>
                      <a:r>
                        <a:rPr lang="sv-SE" sz="1500" b="0" i="0" kern="1200" dirty="0">
                          <a:solidFill>
                            <a:schemeClr val="tx2">
                              <a:lumMod val="75000"/>
                              <a:lumOff val="25000"/>
                            </a:schemeClr>
                          </a:solidFill>
                          <a:effectLst/>
                          <a:latin typeface="+mn-lt"/>
                          <a:ea typeface="+mn-ea"/>
                          <a:cs typeface="+mn-cs"/>
                        </a:rPr>
                        <a:t> char *</a:t>
                      </a:r>
                      <a:r>
                        <a:rPr lang="sv-SE" sz="1500" b="1" i="0" kern="1200" dirty="0">
                          <a:solidFill>
                            <a:schemeClr val="tx2">
                              <a:lumMod val="75000"/>
                              <a:lumOff val="25000"/>
                            </a:schemeClr>
                          </a:solidFill>
                          <a:effectLst/>
                          <a:latin typeface="+mn-lt"/>
                          <a:ea typeface="+mn-ea"/>
                          <a:cs typeface="+mn-cs"/>
                        </a:rPr>
                        <a:t>mode</a:t>
                      </a:r>
                      <a:r>
                        <a:rPr lang="sv-SE" sz="1500" b="0" i="0" kern="1200" dirty="0">
                          <a:solidFill>
                            <a:schemeClr val="tx2">
                              <a:lumMod val="75000"/>
                              <a:lumOff val="25000"/>
                            </a:schemeClr>
                          </a:solidFill>
                          <a:effectLst/>
                          <a:latin typeface="+mn-lt"/>
                          <a:ea typeface="+mn-ea"/>
                          <a:cs typeface="+mn-cs"/>
                        </a:rPr>
                        <a:t>);</a:t>
                      </a:r>
                      <a:endParaRPr lang="en-GB" sz="1500"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spTree>
    <p:extLst>
      <p:ext uri="{BB962C8B-B14F-4D97-AF65-F5344CB8AC3E}">
        <p14:creationId xmlns:p14="http://schemas.microsoft.com/office/powerpoint/2010/main" val="296413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a:t>Establishing I/O Connections in C</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a:latin typeface="Calibri" panose="020F0502020204030204" pitchFamily="34" charset="0"/>
                <a:cs typeface="Calibri" panose="020F0502020204030204" pitchFamily="34" charset="0"/>
              </a:rPr>
              <a:t>Using </a:t>
            </a:r>
            <a:r>
              <a:rPr lang="en-US" sz="2200" dirty="0" err="1">
                <a:latin typeface="Calibri" panose="020F0502020204030204" pitchFamily="34" charset="0"/>
                <a:cs typeface="Calibri" panose="020F0502020204030204" pitchFamily="34" charset="0"/>
              </a:rPr>
              <a:t>fopen</a:t>
            </a:r>
            <a:r>
              <a:rPr lang="en-US" sz="2200" dirty="0">
                <a:latin typeface="Calibri" panose="020F0502020204030204" pitchFamily="34" charset="0"/>
                <a:cs typeface="Calibri" panose="020F0502020204030204" pitchFamily="34" charset="0"/>
              </a:rPr>
              <a:t>() to Open Streams: The </a:t>
            </a:r>
            <a:r>
              <a:rPr lang="en-US" sz="2200" dirty="0" err="1">
                <a:latin typeface="Calibri" panose="020F0502020204030204" pitchFamily="34" charset="0"/>
                <a:cs typeface="Calibri" panose="020F0502020204030204" pitchFamily="34" charset="0"/>
              </a:rPr>
              <a:t>fopen</a:t>
            </a:r>
            <a:r>
              <a:rPr lang="en-US" sz="2200" dirty="0">
                <a:latin typeface="Calibri" panose="020F0502020204030204" pitchFamily="34" charset="0"/>
                <a:cs typeface="Calibri" panose="020F0502020204030204" pitchFamily="34" charset="0"/>
              </a:rPr>
              <a:t>() function in C is used to establish a connection between a program and a file, creating a stream that allows data to be read from or written to the file.</a:t>
            </a:r>
          </a:p>
          <a:p>
            <a:pPr marL="0" indent="0" algn="just">
              <a:buNone/>
            </a:pPr>
            <a:endParaRPr lang="en-US" sz="2200" dirty="0">
              <a:latin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Some of the possible </a:t>
            </a:r>
            <a:r>
              <a:rPr lang="en-US" sz="2200" b="1" dirty="0">
                <a:latin typeface="Calibri" panose="020F0502020204030204" pitchFamily="34" charset="0"/>
                <a:cs typeface="Calibri" panose="020F0502020204030204" pitchFamily="34" charset="0"/>
              </a:rPr>
              <a:t>mode </a:t>
            </a:r>
            <a:r>
              <a:rPr lang="en-US" sz="2200" dirty="0">
                <a:latin typeface="Calibri" panose="020F0502020204030204" pitchFamily="34" charset="0"/>
                <a:cs typeface="Calibri" panose="020F0502020204030204" pitchFamily="34" charset="0"/>
              </a:rPr>
              <a:t>keyword parameters:</a:t>
            </a:r>
          </a:p>
          <a:p>
            <a:pPr lvl="1" algn="just"/>
            <a:r>
              <a:rPr lang="en-US" sz="2000" b="1" dirty="0">
                <a:latin typeface="Calibri" panose="020F0502020204030204" pitchFamily="34" charset="0"/>
                <a:cs typeface="Calibri" panose="020F0502020204030204" pitchFamily="34" charset="0"/>
              </a:rPr>
              <a:t>r: </a:t>
            </a:r>
            <a:r>
              <a:rPr lang="en-US" sz="2000" dirty="0">
                <a:latin typeface="Calibri" panose="020F0502020204030204" pitchFamily="34" charset="0"/>
                <a:cs typeface="Calibri" panose="020F0502020204030204" pitchFamily="34" charset="0"/>
              </a:rPr>
              <a:t>Open a text file for reading. The file must exist.</a:t>
            </a:r>
          </a:p>
          <a:p>
            <a:pPr lvl="1" algn="just"/>
            <a:r>
              <a:rPr lang="en-US" sz="2000" b="1" dirty="0">
                <a:latin typeface="Calibri" panose="020F0502020204030204" pitchFamily="34" charset="0"/>
                <a:cs typeface="Calibri" panose="020F0502020204030204" pitchFamily="34" charset="0"/>
              </a:rPr>
              <a:t>w: </a:t>
            </a:r>
            <a:r>
              <a:rPr lang="en-US" sz="2000" dirty="0">
                <a:latin typeface="Calibri" panose="020F0502020204030204" pitchFamily="34" charset="0"/>
                <a:cs typeface="Calibri" panose="020F0502020204030204" pitchFamily="34" charset="0"/>
              </a:rPr>
              <a:t>Create a text file for writing. If the given file exists, its contents are destroyed.</a:t>
            </a:r>
          </a:p>
          <a:p>
            <a:pPr lvl="1" algn="just"/>
            <a:r>
              <a:rPr lang="en-US" sz="2000" b="1" dirty="0">
                <a:latin typeface="Calibri" panose="020F0502020204030204" pitchFamily="34" charset="0"/>
                <a:cs typeface="Calibri" panose="020F0502020204030204" pitchFamily="34" charset="0"/>
              </a:rPr>
              <a:t>a: </a:t>
            </a:r>
            <a:r>
              <a:rPr lang="en-US" sz="2000" dirty="0">
                <a:latin typeface="Calibri" panose="020F0502020204030204" pitchFamily="34" charset="0"/>
                <a:cs typeface="Calibri" panose="020F0502020204030204" pitchFamily="34" charset="0"/>
              </a:rPr>
              <a:t>Open a text file in append mode for writing at the end of the file. </a:t>
            </a:r>
          </a:p>
        </p:txBody>
      </p:sp>
      <p:graphicFrame>
        <p:nvGraphicFramePr>
          <p:cNvPr id="8" name="Table 7">
            <a:extLst>
              <a:ext uri="{FF2B5EF4-FFF2-40B4-BE49-F238E27FC236}">
                <a16:creationId xmlns:a16="http://schemas.microsoft.com/office/drawing/2014/main" id="{60E5CE2E-0708-6926-44D1-839E684A0278}"/>
              </a:ext>
            </a:extLst>
          </p:cNvPr>
          <p:cNvGraphicFramePr>
            <a:graphicFrameLocks noGrp="1"/>
          </p:cNvGraphicFramePr>
          <p:nvPr>
            <p:extLst>
              <p:ext uri="{D42A27DB-BD31-4B8C-83A1-F6EECF244321}">
                <p14:modId xmlns:p14="http://schemas.microsoft.com/office/powerpoint/2010/main" val="3706761046"/>
              </p:ext>
            </p:extLst>
          </p:nvPr>
        </p:nvGraphicFramePr>
        <p:xfrm>
          <a:off x="1099125" y="2988887"/>
          <a:ext cx="4867565" cy="548640"/>
        </p:xfrm>
        <a:graphic>
          <a:graphicData uri="http://schemas.openxmlformats.org/drawingml/2006/table">
            <a:tbl>
              <a:tblPr firstRow="1" bandRow="1">
                <a:tableStyleId>{5C22544A-7EE6-4342-B048-85BDC9FD1C3A}</a:tableStyleId>
              </a:tblPr>
              <a:tblGrid>
                <a:gridCol w="4867565">
                  <a:extLst>
                    <a:ext uri="{9D8B030D-6E8A-4147-A177-3AD203B41FA5}">
                      <a16:colId xmlns:a16="http://schemas.microsoft.com/office/drawing/2014/main" val="3079103876"/>
                    </a:ext>
                  </a:extLst>
                </a:gridCol>
              </a:tblGrid>
              <a:tr h="370840">
                <a:tc>
                  <a:txBody>
                    <a:bodyPr/>
                    <a:lstStyle/>
                    <a:p>
                      <a:r>
                        <a:rPr lang="sv-SE"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#include &lt;</a:t>
                      </a:r>
                      <a:r>
                        <a:rPr lang="sv-SE" sz="1500" b="0" i="0" kern="1200" dirty="0" err="1">
                          <a:solidFill>
                            <a:schemeClr val="tx2">
                              <a:lumMod val="75000"/>
                              <a:lumOff val="25000"/>
                            </a:schemeClr>
                          </a:solidFill>
                          <a:effectLst/>
                          <a:latin typeface="Calibri" panose="020F0502020204030204" pitchFamily="34" charset="0"/>
                          <a:ea typeface="+mn-ea"/>
                          <a:cs typeface="Calibri" panose="020F0502020204030204" pitchFamily="34" charset="0"/>
                        </a:rPr>
                        <a:t>stdio.h</a:t>
                      </a:r>
                      <a:r>
                        <a:rPr lang="sv-SE"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&gt; </a:t>
                      </a:r>
                    </a:p>
                    <a:p>
                      <a:r>
                        <a:rPr lang="sv-SE"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FILE *</a:t>
                      </a:r>
                      <a:r>
                        <a:rPr lang="sv-SE" sz="1500" b="0" i="0" kern="1200" dirty="0" err="1">
                          <a:solidFill>
                            <a:schemeClr val="tx2">
                              <a:lumMod val="75000"/>
                              <a:lumOff val="25000"/>
                            </a:schemeClr>
                          </a:solidFill>
                          <a:effectLst/>
                          <a:latin typeface="Calibri" panose="020F0502020204030204" pitchFamily="34" charset="0"/>
                          <a:ea typeface="+mn-ea"/>
                          <a:cs typeface="Calibri" panose="020F0502020204030204" pitchFamily="34" charset="0"/>
                        </a:rPr>
                        <a:t>fopen</a:t>
                      </a:r>
                      <a:r>
                        <a:rPr lang="sv-SE"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a:t>
                      </a:r>
                      <a:r>
                        <a:rPr lang="sv-SE" sz="1500" b="0" i="0" kern="1200" dirty="0" err="1">
                          <a:solidFill>
                            <a:schemeClr val="tx2">
                              <a:lumMod val="75000"/>
                              <a:lumOff val="25000"/>
                            </a:schemeClr>
                          </a:solidFill>
                          <a:effectLst/>
                          <a:latin typeface="Calibri" panose="020F0502020204030204" pitchFamily="34" charset="0"/>
                          <a:ea typeface="+mn-ea"/>
                          <a:cs typeface="Calibri" panose="020F0502020204030204" pitchFamily="34" charset="0"/>
                        </a:rPr>
                        <a:t>const</a:t>
                      </a:r>
                      <a:r>
                        <a:rPr lang="sv-SE"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 char *</a:t>
                      </a:r>
                      <a:r>
                        <a:rPr lang="sv-SE" sz="1500" b="0" i="0" kern="1200" dirty="0" err="1">
                          <a:solidFill>
                            <a:schemeClr val="tx2">
                              <a:lumMod val="75000"/>
                              <a:lumOff val="25000"/>
                            </a:schemeClr>
                          </a:solidFill>
                          <a:effectLst/>
                          <a:latin typeface="Calibri" panose="020F0502020204030204" pitchFamily="34" charset="0"/>
                          <a:ea typeface="+mn-ea"/>
                          <a:cs typeface="Calibri" panose="020F0502020204030204" pitchFamily="34" charset="0"/>
                        </a:rPr>
                        <a:t>filename</a:t>
                      </a:r>
                      <a:r>
                        <a:rPr lang="sv-SE"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 </a:t>
                      </a:r>
                      <a:r>
                        <a:rPr lang="sv-SE" sz="1500" b="0" i="0" kern="1200" dirty="0" err="1">
                          <a:solidFill>
                            <a:schemeClr val="tx2">
                              <a:lumMod val="75000"/>
                              <a:lumOff val="25000"/>
                            </a:schemeClr>
                          </a:solidFill>
                          <a:effectLst/>
                          <a:latin typeface="Calibri" panose="020F0502020204030204" pitchFamily="34" charset="0"/>
                          <a:ea typeface="+mn-ea"/>
                          <a:cs typeface="Calibri" panose="020F0502020204030204" pitchFamily="34" charset="0"/>
                        </a:rPr>
                        <a:t>const</a:t>
                      </a:r>
                      <a:r>
                        <a:rPr lang="sv-SE"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 char *</a:t>
                      </a:r>
                      <a:r>
                        <a:rPr lang="sv-SE" sz="1500" b="1"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mode</a:t>
                      </a:r>
                      <a:r>
                        <a:rPr lang="sv-SE"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a:t>
                      </a:r>
                      <a:endParaRPr lang="en-GB" sz="150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graphicFrame>
        <p:nvGraphicFramePr>
          <p:cNvPr id="5" name="Table 4">
            <a:extLst>
              <a:ext uri="{FF2B5EF4-FFF2-40B4-BE49-F238E27FC236}">
                <a16:creationId xmlns:a16="http://schemas.microsoft.com/office/drawing/2014/main" id="{06D59652-04AA-3962-F7B4-4A9FD29B8E50}"/>
              </a:ext>
            </a:extLst>
          </p:cNvPr>
          <p:cNvGraphicFramePr>
            <a:graphicFrameLocks noGrp="1"/>
          </p:cNvGraphicFramePr>
          <p:nvPr>
            <p:extLst>
              <p:ext uri="{D42A27DB-BD31-4B8C-83A1-F6EECF244321}">
                <p14:modId xmlns:p14="http://schemas.microsoft.com/office/powerpoint/2010/main" val="1516226347"/>
              </p:ext>
            </p:extLst>
          </p:nvPr>
        </p:nvGraphicFramePr>
        <p:xfrm>
          <a:off x="6410032" y="2988890"/>
          <a:ext cx="4867565" cy="548640"/>
        </p:xfrm>
        <a:graphic>
          <a:graphicData uri="http://schemas.openxmlformats.org/drawingml/2006/table">
            <a:tbl>
              <a:tblPr firstRow="1" bandRow="1">
                <a:tableStyleId>{5C22544A-7EE6-4342-B048-85BDC9FD1C3A}</a:tableStyleId>
              </a:tblPr>
              <a:tblGrid>
                <a:gridCol w="4867565">
                  <a:extLst>
                    <a:ext uri="{9D8B030D-6E8A-4147-A177-3AD203B41FA5}">
                      <a16:colId xmlns:a16="http://schemas.microsoft.com/office/drawing/2014/main" val="3079103876"/>
                    </a:ext>
                  </a:extLst>
                </a:gridCol>
              </a:tblGrid>
              <a:tr h="370840">
                <a:tc>
                  <a:txBody>
                    <a:bodyPr/>
                    <a:lstStyle/>
                    <a:p>
                      <a:r>
                        <a:rPr lang="en-US" sz="1500" b="0" dirty="0">
                          <a:solidFill>
                            <a:schemeClr val="tx2">
                              <a:lumMod val="75000"/>
                              <a:lumOff val="25000"/>
                            </a:schemeClr>
                          </a:solidFill>
                          <a:latin typeface="Calibri" panose="020F0502020204030204" pitchFamily="34" charset="0"/>
                          <a:cs typeface="Calibri" panose="020F0502020204030204" pitchFamily="34" charset="0"/>
                        </a:rPr>
                        <a:t>FILE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a:t>
                      </a:r>
                    </a:p>
                    <a:p>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fopen</a:t>
                      </a:r>
                      <a:r>
                        <a:rPr lang="en-US" sz="1500" b="0" dirty="0">
                          <a:solidFill>
                            <a:schemeClr val="tx2">
                              <a:lumMod val="75000"/>
                              <a:lumOff val="25000"/>
                            </a:schemeClr>
                          </a:solidFill>
                          <a:latin typeface="Calibri" panose="020F0502020204030204" pitchFamily="34" charset="0"/>
                          <a:cs typeface="Calibri" panose="020F0502020204030204" pitchFamily="34" charset="0"/>
                        </a:rPr>
                        <a:t>("output.txt", "w");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spTree>
    <p:extLst>
      <p:ext uri="{BB962C8B-B14F-4D97-AF65-F5344CB8AC3E}">
        <p14:creationId xmlns:p14="http://schemas.microsoft.com/office/powerpoint/2010/main" val="3305964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a:t>Establishing I/O Connections in C</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err="1">
                <a:latin typeface="Calibri" panose="020F0502020204030204" pitchFamily="34" charset="0"/>
                <a:cs typeface="Calibri" panose="020F0502020204030204" pitchFamily="34" charset="0"/>
              </a:rPr>
              <a:t>fprintf</a:t>
            </a:r>
            <a:r>
              <a:rPr lang="en-US" sz="2200" dirty="0">
                <a:latin typeface="Calibri" panose="020F0502020204030204" pitchFamily="34" charset="0"/>
                <a:cs typeface="Calibri" panose="020F0502020204030204" pitchFamily="34" charset="0"/>
              </a:rPr>
              <a:t>() Function: Writes formatted data to the file via the established stream, sending a text to the txt file.</a:t>
            </a:r>
          </a:p>
          <a:p>
            <a:pPr algn="just"/>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algn="just"/>
            <a:r>
              <a:rPr lang="en-US" sz="2200" dirty="0" err="1">
                <a:latin typeface="Calibri" panose="020F0502020204030204" pitchFamily="34" charset="0"/>
                <a:cs typeface="Calibri" panose="020F0502020204030204" pitchFamily="34" charset="0"/>
              </a:rPr>
              <a:t>fclose</a:t>
            </a:r>
            <a:r>
              <a:rPr lang="en-US" sz="2200" dirty="0">
                <a:latin typeface="Calibri" panose="020F0502020204030204" pitchFamily="34" charset="0"/>
                <a:cs typeface="Calibri" panose="020F0502020204030204" pitchFamily="34" charset="0"/>
              </a:rPr>
              <a:t>() Function: Closes the stream and releases any resources associated with the file, ensuring that all data is properly saved.</a:t>
            </a:r>
          </a:p>
          <a:p>
            <a:pPr algn="just"/>
            <a:endParaRPr lang="en-US" sz="2200" dirty="0">
              <a:latin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06D59652-04AA-3962-F7B4-4A9FD29B8E50}"/>
              </a:ext>
            </a:extLst>
          </p:cNvPr>
          <p:cNvGraphicFramePr>
            <a:graphicFrameLocks noGrp="1"/>
          </p:cNvGraphicFramePr>
          <p:nvPr>
            <p:extLst>
              <p:ext uri="{D42A27DB-BD31-4B8C-83A1-F6EECF244321}">
                <p14:modId xmlns:p14="http://schemas.microsoft.com/office/powerpoint/2010/main" val="3208568998"/>
              </p:ext>
            </p:extLst>
          </p:nvPr>
        </p:nvGraphicFramePr>
        <p:xfrm>
          <a:off x="1055252" y="2757981"/>
          <a:ext cx="5532583" cy="548640"/>
        </p:xfrm>
        <a:graphic>
          <a:graphicData uri="http://schemas.openxmlformats.org/drawingml/2006/table">
            <a:tbl>
              <a:tblPr firstRow="1" bandRow="1">
                <a:tableStyleId>{5C22544A-7EE6-4342-B048-85BDC9FD1C3A}</a:tableStyleId>
              </a:tblPr>
              <a:tblGrid>
                <a:gridCol w="5532583">
                  <a:extLst>
                    <a:ext uri="{9D8B030D-6E8A-4147-A177-3AD203B41FA5}">
                      <a16:colId xmlns:a16="http://schemas.microsoft.com/office/drawing/2014/main" val="3079103876"/>
                    </a:ext>
                  </a:extLst>
                </a:gridCol>
              </a:tblGrid>
              <a:tr h="370840">
                <a:tc>
                  <a:txBody>
                    <a:bodyPr/>
                    <a:lstStyle/>
                    <a:p>
                      <a:r>
                        <a:rPr lang="en-US"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#include &lt;</a:t>
                      </a:r>
                      <a:r>
                        <a:rPr lang="en-US" sz="1500" b="0" i="0" kern="1200" dirty="0" err="1">
                          <a:solidFill>
                            <a:schemeClr val="tx2">
                              <a:lumMod val="75000"/>
                              <a:lumOff val="25000"/>
                            </a:schemeClr>
                          </a:solidFill>
                          <a:effectLst/>
                          <a:latin typeface="Calibri" panose="020F0502020204030204" pitchFamily="34" charset="0"/>
                          <a:ea typeface="+mn-ea"/>
                          <a:cs typeface="Calibri" panose="020F0502020204030204" pitchFamily="34" charset="0"/>
                        </a:rPr>
                        <a:t>stdio.h</a:t>
                      </a:r>
                      <a:r>
                        <a:rPr lang="en-US"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&gt; </a:t>
                      </a:r>
                    </a:p>
                    <a:p>
                      <a:r>
                        <a:rPr lang="en-US"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int </a:t>
                      </a:r>
                      <a:r>
                        <a:rPr lang="en-US" sz="1500" b="0" i="0" kern="1200" dirty="0" err="1">
                          <a:solidFill>
                            <a:schemeClr val="tx2">
                              <a:lumMod val="75000"/>
                              <a:lumOff val="25000"/>
                            </a:schemeClr>
                          </a:solidFill>
                          <a:effectLst/>
                          <a:latin typeface="Calibri" panose="020F0502020204030204" pitchFamily="34" charset="0"/>
                          <a:ea typeface="+mn-ea"/>
                          <a:cs typeface="Calibri" panose="020F0502020204030204" pitchFamily="34" charset="0"/>
                        </a:rPr>
                        <a:t>fprintf</a:t>
                      </a:r>
                      <a:r>
                        <a:rPr lang="en-US"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(FILE *stream, const char *format-string, argument-list);</a:t>
                      </a:r>
                      <a:endParaRPr lang="en-US" sz="1500" b="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graphicFrame>
        <p:nvGraphicFramePr>
          <p:cNvPr id="4" name="Table 3">
            <a:extLst>
              <a:ext uri="{FF2B5EF4-FFF2-40B4-BE49-F238E27FC236}">
                <a16:creationId xmlns:a16="http://schemas.microsoft.com/office/drawing/2014/main" id="{11C52D1D-217F-87FC-3852-771D16C7C30E}"/>
              </a:ext>
            </a:extLst>
          </p:cNvPr>
          <p:cNvGraphicFramePr>
            <a:graphicFrameLocks noGrp="1"/>
          </p:cNvGraphicFramePr>
          <p:nvPr>
            <p:extLst>
              <p:ext uri="{D42A27DB-BD31-4B8C-83A1-F6EECF244321}">
                <p14:modId xmlns:p14="http://schemas.microsoft.com/office/powerpoint/2010/main" val="1465667689"/>
              </p:ext>
            </p:extLst>
          </p:nvPr>
        </p:nvGraphicFramePr>
        <p:xfrm>
          <a:off x="6973450" y="2643681"/>
          <a:ext cx="4867565" cy="777240"/>
        </p:xfrm>
        <a:graphic>
          <a:graphicData uri="http://schemas.openxmlformats.org/drawingml/2006/table">
            <a:tbl>
              <a:tblPr firstRow="1" bandRow="1">
                <a:tableStyleId>{5C22544A-7EE6-4342-B048-85BDC9FD1C3A}</a:tableStyleId>
              </a:tblPr>
              <a:tblGrid>
                <a:gridCol w="4867565">
                  <a:extLst>
                    <a:ext uri="{9D8B030D-6E8A-4147-A177-3AD203B41FA5}">
                      <a16:colId xmlns:a16="http://schemas.microsoft.com/office/drawing/2014/main" val="3079103876"/>
                    </a:ext>
                  </a:extLst>
                </a:gridCol>
              </a:tblGrid>
              <a:tr h="370840">
                <a:tc>
                  <a:txBody>
                    <a:bodyPr/>
                    <a:lstStyle/>
                    <a:p>
                      <a:r>
                        <a:rPr lang="en-US" sz="1500" b="0" dirty="0">
                          <a:solidFill>
                            <a:schemeClr val="tx2">
                              <a:lumMod val="75000"/>
                              <a:lumOff val="25000"/>
                            </a:schemeClr>
                          </a:solidFill>
                          <a:latin typeface="Calibri" panose="020F0502020204030204" pitchFamily="34" charset="0"/>
                          <a:cs typeface="Calibri" panose="020F0502020204030204" pitchFamily="34" charset="0"/>
                        </a:rPr>
                        <a:t>FILE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a:t>
                      </a:r>
                    </a:p>
                    <a:p>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fopen</a:t>
                      </a:r>
                      <a:r>
                        <a:rPr lang="en-US" sz="1500" b="0" dirty="0">
                          <a:solidFill>
                            <a:schemeClr val="tx2">
                              <a:lumMod val="75000"/>
                              <a:lumOff val="25000"/>
                            </a:schemeClr>
                          </a:solidFill>
                          <a:latin typeface="Calibri" panose="020F0502020204030204" pitchFamily="34" charset="0"/>
                          <a:cs typeface="Calibri" panose="020F0502020204030204" pitchFamily="34" charset="0"/>
                        </a:rPr>
                        <a:t>("output.txt", "w"); </a:t>
                      </a:r>
                    </a:p>
                    <a:p>
                      <a:r>
                        <a:rPr lang="en-US" sz="1500" b="0" dirty="0" err="1">
                          <a:solidFill>
                            <a:schemeClr val="tx2">
                              <a:lumMod val="75000"/>
                              <a:lumOff val="25000"/>
                            </a:schemeClr>
                          </a:solidFill>
                          <a:latin typeface="Calibri" panose="020F0502020204030204" pitchFamily="34" charset="0"/>
                          <a:cs typeface="Calibri" panose="020F0502020204030204" pitchFamily="34" charset="0"/>
                        </a:rPr>
                        <a:t>fprintf</a:t>
                      </a:r>
                      <a:r>
                        <a:rPr lang="en-US" sz="1500" b="0" dirty="0">
                          <a:solidFill>
                            <a:schemeClr val="tx2">
                              <a:lumMod val="75000"/>
                              <a:lumOff val="25000"/>
                            </a:schemeClr>
                          </a:solidFill>
                          <a:latin typeface="Calibri" panose="020F0502020204030204" pitchFamily="34" charset="0"/>
                          <a:cs typeface="Calibri" panose="020F0502020204030204" pitchFamily="34" charset="0"/>
                        </a:rPr>
                        <a:t>(</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"This is a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graphicFrame>
        <p:nvGraphicFramePr>
          <p:cNvPr id="7" name="Table 6">
            <a:extLst>
              <a:ext uri="{FF2B5EF4-FFF2-40B4-BE49-F238E27FC236}">
                <a16:creationId xmlns:a16="http://schemas.microsoft.com/office/drawing/2014/main" id="{D4DA8B55-9515-1D86-836A-2241ACD463B0}"/>
              </a:ext>
            </a:extLst>
          </p:cNvPr>
          <p:cNvGraphicFramePr>
            <a:graphicFrameLocks noGrp="1"/>
          </p:cNvGraphicFramePr>
          <p:nvPr>
            <p:extLst>
              <p:ext uri="{D42A27DB-BD31-4B8C-83A1-F6EECF244321}">
                <p14:modId xmlns:p14="http://schemas.microsoft.com/office/powerpoint/2010/main" val="1583548829"/>
              </p:ext>
            </p:extLst>
          </p:nvPr>
        </p:nvGraphicFramePr>
        <p:xfrm>
          <a:off x="1055252" y="4803836"/>
          <a:ext cx="5532583" cy="548640"/>
        </p:xfrm>
        <a:graphic>
          <a:graphicData uri="http://schemas.openxmlformats.org/drawingml/2006/table">
            <a:tbl>
              <a:tblPr firstRow="1" bandRow="1">
                <a:tableStyleId>{5C22544A-7EE6-4342-B048-85BDC9FD1C3A}</a:tableStyleId>
              </a:tblPr>
              <a:tblGrid>
                <a:gridCol w="5532583">
                  <a:extLst>
                    <a:ext uri="{9D8B030D-6E8A-4147-A177-3AD203B41FA5}">
                      <a16:colId xmlns:a16="http://schemas.microsoft.com/office/drawing/2014/main" val="3079103876"/>
                    </a:ext>
                  </a:extLst>
                </a:gridCol>
              </a:tblGrid>
              <a:tr h="370840">
                <a:tc>
                  <a:txBody>
                    <a:bodyPr/>
                    <a:lstStyle/>
                    <a:p>
                      <a:r>
                        <a:rPr lang="en-US"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#include &lt;</a:t>
                      </a:r>
                      <a:r>
                        <a:rPr lang="en-US" sz="1500" b="0" i="0" kern="1200" dirty="0" err="1">
                          <a:solidFill>
                            <a:schemeClr val="tx2">
                              <a:lumMod val="75000"/>
                              <a:lumOff val="25000"/>
                            </a:schemeClr>
                          </a:solidFill>
                          <a:effectLst/>
                          <a:latin typeface="Calibri" panose="020F0502020204030204" pitchFamily="34" charset="0"/>
                          <a:ea typeface="+mn-ea"/>
                          <a:cs typeface="Calibri" panose="020F0502020204030204" pitchFamily="34" charset="0"/>
                        </a:rPr>
                        <a:t>stdio.h</a:t>
                      </a:r>
                      <a:r>
                        <a:rPr lang="en-US"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&gt; </a:t>
                      </a:r>
                    </a:p>
                    <a:p>
                      <a:r>
                        <a:rPr lang="en-US"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int </a:t>
                      </a:r>
                      <a:r>
                        <a:rPr lang="en-US" sz="1500" b="0" i="0" kern="1200" dirty="0" err="1">
                          <a:solidFill>
                            <a:schemeClr val="tx2">
                              <a:lumMod val="75000"/>
                              <a:lumOff val="25000"/>
                            </a:schemeClr>
                          </a:solidFill>
                          <a:effectLst/>
                          <a:latin typeface="Calibri" panose="020F0502020204030204" pitchFamily="34" charset="0"/>
                          <a:ea typeface="+mn-ea"/>
                          <a:cs typeface="Calibri" panose="020F0502020204030204" pitchFamily="34" charset="0"/>
                        </a:rPr>
                        <a:t>fclose</a:t>
                      </a:r>
                      <a:r>
                        <a:rPr lang="en-US" sz="1500" b="0" i="0" kern="1200" dirty="0">
                          <a:solidFill>
                            <a:schemeClr val="tx2">
                              <a:lumMod val="75000"/>
                              <a:lumOff val="25000"/>
                            </a:schemeClr>
                          </a:solidFill>
                          <a:effectLst/>
                          <a:latin typeface="Calibri" panose="020F0502020204030204" pitchFamily="34" charset="0"/>
                          <a:ea typeface="+mn-ea"/>
                          <a:cs typeface="Calibri" panose="020F0502020204030204" pitchFamily="34" charset="0"/>
                        </a:rPr>
                        <a:t>(FILE *stream);</a:t>
                      </a:r>
                      <a:endParaRPr lang="en-US" sz="1500" b="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graphicFrame>
        <p:nvGraphicFramePr>
          <p:cNvPr id="9" name="Table 8">
            <a:extLst>
              <a:ext uri="{FF2B5EF4-FFF2-40B4-BE49-F238E27FC236}">
                <a16:creationId xmlns:a16="http://schemas.microsoft.com/office/drawing/2014/main" id="{E3A800E7-D8C8-0A15-07A4-ADACBDB32D04}"/>
              </a:ext>
            </a:extLst>
          </p:cNvPr>
          <p:cNvGraphicFramePr>
            <a:graphicFrameLocks noGrp="1"/>
          </p:cNvGraphicFramePr>
          <p:nvPr>
            <p:extLst>
              <p:ext uri="{D42A27DB-BD31-4B8C-83A1-F6EECF244321}">
                <p14:modId xmlns:p14="http://schemas.microsoft.com/office/powerpoint/2010/main" val="2625692631"/>
              </p:ext>
            </p:extLst>
          </p:nvPr>
        </p:nvGraphicFramePr>
        <p:xfrm>
          <a:off x="6973450" y="4578700"/>
          <a:ext cx="4867565" cy="1005840"/>
        </p:xfrm>
        <a:graphic>
          <a:graphicData uri="http://schemas.openxmlformats.org/drawingml/2006/table">
            <a:tbl>
              <a:tblPr firstRow="1" bandRow="1">
                <a:tableStyleId>{5C22544A-7EE6-4342-B048-85BDC9FD1C3A}</a:tableStyleId>
              </a:tblPr>
              <a:tblGrid>
                <a:gridCol w="4867565">
                  <a:extLst>
                    <a:ext uri="{9D8B030D-6E8A-4147-A177-3AD203B41FA5}">
                      <a16:colId xmlns:a16="http://schemas.microsoft.com/office/drawing/2014/main" val="3079103876"/>
                    </a:ext>
                  </a:extLst>
                </a:gridCol>
              </a:tblGrid>
              <a:tr h="370840">
                <a:tc>
                  <a:txBody>
                    <a:bodyPr/>
                    <a:lstStyle/>
                    <a:p>
                      <a:r>
                        <a:rPr lang="en-US" sz="1500" b="0" dirty="0">
                          <a:solidFill>
                            <a:schemeClr val="tx2">
                              <a:lumMod val="75000"/>
                              <a:lumOff val="25000"/>
                            </a:schemeClr>
                          </a:solidFill>
                          <a:latin typeface="Calibri" panose="020F0502020204030204" pitchFamily="34" charset="0"/>
                          <a:cs typeface="Calibri" panose="020F0502020204030204" pitchFamily="34" charset="0"/>
                        </a:rPr>
                        <a:t>FILE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a:t>
                      </a:r>
                    </a:p>
                    <a:p>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fopen</a:t>
                      </a:r>
                      <a:r>
                        <a:rPr lang="en-US" sz="1500" b="0" dirty="0">
                          <a:solidFill>
                            <a:schemeClr val="tx2">
                              <a:lumMod val="75000"/>
                              <a:lumOff val="25000"/>
                            </a:schemeClr>
                          </a:solidFill>
                          <a:latin typeface="Calibri" panose="020F0502020204030204" pitchFamily="34" charset="0"/>
                          <a:cs typeface="Calibri" panose="020F0502020204030204" pitchFamily="34" charset="0"/>
                        </a:rPr>
                        <a:t>("output.txt", "w"); </a:t>
                      </a:r>
                    </a:p>
                    <a:p>
                      <a:r>
                        <a:rPr lang="en-US" sz="1500" b="0" dirty="0" err="1">
                          <a:solidFill>
                            <a:schemeClr val="tx2">
                              <a:lumMod val="75000"/>
                              <a:lumOff val="25000"/>
                            </a:schemeClr>
                          </a:solidFill>
                          <a:latin typeface="Calibri" panose="020F0502020204030204" pitchFamily="34" charset="0"/>
                          <a:cs typeface="Calibri" panose="020F0502020204030204" pitchFamily="34" charset="0"/>
                        </a:rPr>
                        <a:t>fprintf</a:t>
                      </a:r>
                      <a:r>
                        <a:rPr lang="en-US" sz="1500" b="0" dirty="0">
                          <a:solidFill>
                            <a:schemeClr val="tx2">
                              <a:lumMod val="75000"/>
                              <a:lumOff val="25000"/>
                            </a:schemeClr>
                          </a:solidFill>
                          <a:latin typeface="Calibri" panose="020F0502020204030204" pitchFamily="34" charset="0"/>
                          <a:cs typeface="Calibri" panose="020F0502020204030204" pitchFamily="34" charset="0"/>
                        </a:rPr>
                        <a:t>(</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"This is a test.");</a:t>
                      </a:r>
                    </a:p>
                    <a:p>
                      <a:r>
                        <a:rPr lang="sv-SE" sz="1500" b="0" dirty="0" err="1">
                          <a:solidFill>
                            <a:schemeClr val="tx2">
                              <a:lumMod val="75000"/>
                              <a:lumOff val="25000"/>
                            </a:schemeClr>
                          </a:solidFill>
                          <a:latin typeface="Calibri" panose="020F0502020204030204" pitchFamily="34" charset="0"/>
                          <a:cs typeface="Calibri" panose="020F0502020204030204" pitchFamily="34" charset="0"/>
                        </a:rPr>
                        <a:t>fclose</a:t>
                      </a:r>
                      <a:r>
                        <a:rPr lang="sv-SE" sz="1500" b="0" dirty="0">
                          <a:solidFill>
                            <a:schemeClr val="tx2">
                              <a:lumMod val="75000"/>
                              <a:lumOff val="25000"/>
                            </a:schemeClr>
                          </a:solidFill>
                          <a:latin typeface="Calibri" panose="020F0502020204030204" pitchFamily="34" charset="0"/>
                          <a:cs typeface="Calibri" panose="020F0502020204030204" pitchFamily="34" charset="0"/>
                        </a:rPr>
                        <a:t>(</a:t>
                      </a:r>
                      <a:r>
                        <a:rPr lang="sv-SE" sz="1500" b="0" dirty="0" err="1">
                          <a:solidFill>
                            <a:schemeClr val="tx2">
                              <a:lumMod val="75000"/>
                              <a:lumOff val="25000"/>
                            </a:schemeClr>
                          </a:solidFill>
                          <a:latin typeface="Calibri" panose="020F0502020204030204" pitchFamily="34" charset="0"/>
                          <a:cs typeface="Calibri" panose="020F0502020204030204" pitchFamily="34" charset="0"/>
                        </a:rPr>
                        <a:t>fpt</a:t>
                      </a:r>
                      <a:r>
                        <a:rPr lang="sv-SE" sz="1500" b="0" dirty="0">
                          <a:solidFill>
                            <a:schemeClr val="tx2">
                              <a:lumMod val="75000"/>
                              <a:lumOff val="25000"/>
                            </a:schemeClr>
                          </a:solidFill>
                          <a:latin typeface="Calibri" panose="020F0502020204030204" pitchFamily="34" charset="0"/>
                          <a:cs typeface="Calibri" panose="020F0502020204030204" pitchFamily="34" charset="0"/>
                        </a:rPr>
                        <a:t>);</a:t>
                      </a:r>
                      <a:endParaRPr lang="en-US" sz="1500" b="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spTree>
    <p:extLst>
      <p:ext uri="{BB962C8B-B14F-4D97-AF65-F5344CB8AC3E}">
        <p14:creationId xmlns:p14="http://schemas.microsoft.com/office/powerpoint/2010/main" val="433176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2: </a:t>
            </a:r>
            <a:r>
              <a:rPr lang="en-US" b="1" dirty="0"/>
              <a:t>I/O Connections</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l"/>
            <a:r>
              <a:rPr lang="en-US" sz="2200" b="0" i="0" u="none" strike="noStrike" baseline="0" dirty="0">
                <a:latin typeface="Calibri" panose="020F0502020204030204" pitchFamily="34" charset="0"/>
                <a:cs typeface="Calibri" panose="020F0502020204030204" pitchFamily="34" charset="0"/>
              </a:rPr>
              <a:t>Write a C program to perform the following operations on a text file:</a:t>
            </a:r>
          </a:p>
          <a:p>
            <a:pPr lvl="1"/>
            <a:r>
              <a:rPr lang="en-US" sz="1800" b="0" i="0" u="none" strike="noStrike" baseline="0" dirty="0">
                <a:latin typeface="Calibri" panose="020F0502020204030204" pitchFamily="34" charset="0"/>
                <a:cs typeface="Calibri" panose="020F0502020204030204" pitchFamily="34" charset="0"/>
              </a:rPr>
              <a:t>Read the content of a text file named example2.txt.</a:t>
            </a:r>
          </a:p>
          <a:p>
            <a:pPr lvl="1"/>
            <a:r>
              <a:rPr lang="en-US" sz="1800" b="0" i="0" u="none" strike="noStrike" baseline="0" dirty="0">
                <a:latin typeface="Calibri" panose="020F0502020204030204" pitchFamily="34" charset="0"/>
                <a:cs typeface="Calibri" panose="020F0502020204030204" pitchFamily="34" charset="0"/>
              </a:rPr>
              <a:t>Update the content by appending a new line of text to the existing content.</a:t>
            </a:r>
          </a:p>
          <a:p>
            <a:pPr lvl="1"/>
            <a:r>
              <a:rPr lang="en-US" sz="1800" b="0" i="0" u="none" strike="noStrike" baseline="0" dirty="0">
                <a:latin typeface="Calibri" panose="020F0502020204030204" pitchFamily="34" charset="0"/>
                <a:cs typeface="Calibri" panose="020F0502020204030204" pitchFamily="34" charset="0"/>
              </a:rPr>
              <a:t>Rewrite the updated content back to the same text file (example2.txt).</a:t>
            </a:r>
          </a:p>
          <a:p>
            <a:pPr lvl="1"/>
            <a:r>
              <a:rPr lang="en-US" sz="1800" b="0" i="0" u="none" strike="noStrike" baseline="0" dirty="0">
                <a:latin typeface="Calibri" panose="020F0502020204030204" pitchFamily="34" charset="0"/>
                <a:cs typeface="Calibri" panose="020F0502020204030204" pitchFamily="34" charset="0"/>
              </a:rPr>
              <a:t>Close the file after the operations are completed.</a:t>
            </a:r>
            <a:endParaRPr lang="en-US" sz="2000" dirty="0">
              <a:latin typeface="Calibri" panose="020F0502020204030204" pitchFamily="34" charset="0"/>
              <a:cs typeface="Calibri" panose="020F0502020204030204" pitchFamily="34" charset="0"/>
            </a:endParaRPr>
          </a:p>
          <a:p>
            <a:pPr marL="0" indent="0" algn="l">
              <a:buNone/>
            </a:pPr>
            <a:endParaRPr lang="en-US" sz="2400" b="0" i="0" u="none" strike="noStrike" baseline="0" dirty="0">
              <a:latin typeface="Calibri" panose="020F0502020204030204" pitchFamily="34" charset="0"/>
              <a:cs typeface="Calibri" panose="020F0502020204030204" pitchFamily="34" charset="0"/>
            </a:endParaRPr>
          </a:p>
          <a:p>
            <a:pPr algn="l"/>
            <a:endParaRPr lang="en-US" sz="1800" b="0" i="0" u="none" strike="noStrike" baseline="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D95A2CA9-053E-C1D5-FE1B-9886F84142CC}"/>
              </a:ext>
            </a:extLst>
          </p:cNvPr>
          <p:cNvPicPr>
            <a:picLocks noChangeAspect="1"/>
          </p:cNvPicPr>
          <p:nvPr/>
        </p:nvPicPr>
        <p:blipFill rotWithShape="1">
          <a:blip r:embed="rId2">
            <a:extLst>
              <a:ext uri="{28A0092B-C50C-407E-A947-70E740481C1C}">
                <a14:useLocalDpi xmlns:a14="http://schemas.microsoft.com/office/drawing/2010/main" val="0"/>
              </a:ext>
            </a:extLst>
          </a:blip>
          <a:srcRect l="5249" t="5324" r="5645" b="67273"/>
          <a:stretch/>
        </p:blipFill>
        <p:spPr>
          <a:xfrm>
            <a:off x="1588655" y="4136231"/>
            <a:ext cx="6253019" cy="1879311"/>
          </a:xfrm>
          <a:prstGeom prst="rect">
            <a:avLst/>
          </a:prstGeom>
        </p:spPr>
      </p:pic>
      <p:sp>
        <p:nvSpPr>
          <p:cNvPr id="6" name="TextBox 5">
            <a:extLst>
              <a:ext uri="{FF2B5EF4-FFF2-40B4-BE49-F238E27FC236}">
                <a16:creationId xmlns:a16="http://schemas.microsoft.com/office/drawing/2014/main" id="{C9194991-CE57-D8BD-A99D-F0494DC08183}"/>
              </a:ext>
            </a:extLst>
          </p:cNvPr>
          <p:cNvSpPr txBox="1"/>
          <p:nvPr/>
        </p:nvSpPr>
        <p:spPr>
          <a:xfrm>
            <a:off x="3787570" y="5646210"/>
            <a:ext cx="1855188" cy="369332"/>
          </a:xfrm>
          <a:prstGeom prst="rect">
            <a:avLst/>
          </a:prstGeom>
          <a:noFill/>
        </p:spPr>
        <p:txBody>
          <a:bodyPr wrap="none" rtlCol="0">
            <a:spAutoFit/>
          </a:bodyPr>
          <a:lstStyle/>
          <a:p>
            <a:r>
              <a:rPr lang="en-GB" dirty="0">
                <a:latin typeface="Calibri" panose="020F0502020204030204" pitchFamily="34" charset="0"/>
                <a:cs typeface="Calibri" panose="020F0502020204030204" pitchFamily="34" charset="0"/>
              </a:rPr>
              <a:t>Example2 text file</a:t>
            </a:r>
          </a:p>
        </p:txBody>
      </p:sp>
    </p:spTree>
    <p:extLst>
      <p:ext uri="{BB962C8B-B14F-4D97-AF65-F5344CB8AC3E}">
        <p14:creationId xmlns:p14="http://schemas.microsoft.com/office/powerpoint/2010/main" val="2311823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2: </a:t>
            </a:r>
            <a:r>
              <a:rPr lang="en-US" b="1" dirty="0"/>
              <a:t>I/O Connections</a:t>
            </a:r>
            <a:endParaRPr lang="en-GB" b="1" dirty="0"/>
          </a:p>
        </p:txBody>
      </p:sp>
      <p:pic>
        <p:nvPicPr>
          <p:cNvPr id="4" name="Picture 3" descr="A screenshot of a computer&#10;&#10;Description automatically generated">
            <a:extLst>
              <a:ext uri="{FF2B5EF4-FFF2-40B4-BE49-F238E27FC236}">
                <a16:creationId xmlns:a16="http://schemas.microsoft.com/office/drawing/2014/main" id="{CAA725B2-0DC5-9653-E45C-8C076AE28A15}"/>
              </a:ext>
            </a:extLst>
          </p:cNvPr>
          <p:cNvPicPr>
            <a:picLocks noChangeAspect="1"/>
          </p:cNvPicPr>
          <p:nvPr/>
        </p:nvPicPr>
        <p:blipFill rotWithShape="1">
          <a:blip r:embed="rId2">
            <a:extLst>
              <a:ext uri="{28A0092B-C50C-407E-A947-70E740481C1C}">
                <a14:useLocalDpi xmlns:a14="http://schemas.microsoft.com/office/drawing/2010/main" val="0"/>
              </a:ext>
            </a:extLst>
          </a:blip>
          <a:srcRect l="4957" t="12675" r="34235" b="18519"/>
          <a:stretch/>
        </p:blipFill>
        <p:spPr>
          <a:xfrm>
            <a:off x="6795911" y="1302326"/>
            <a:ext cx="5001173" cy="5530399"/>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F11CECBF-52A2-583A-0C23-370C08FA1EDE}"/>
              </a:ext>
            </a:extLst>
          </p:cNvPr>
          <p:cNvPicPr>
            <a:picLocks noChangeAspect="1"/>
          </p:cNvPicPr>
          <p:nvPr/>
        </p:nvPicPr>
        <p:blipFill rotWithShape="1">
          <a:blip r:embed="rId3">
            <a:extLst>
              <a:ext uri="{28A0092B-C50C-407E-A947-70E740481C1C}">
                <a14:useLocalDpi xmlns:a14="http://schemas.microsoft.com/office/drawing/2010/main" val="0"/>
              </a:ext>
            </a:extLst>
          </a:blip>
          <a:srcRect l="2874" t="2941" r="23587" b="45619"/>
          <a:stretch/>
        </p:blipFill>
        <p:spPr>
          <a:xfrm>
            <a:off x="346076" y="3429000"/>
            <a:ext cx="6066014" cy="3081867"/>
          </a:xfrm>
          <a:prstGeom prst="rect">
            <a:avLst/>
          </a:prstGeom>
        </p:spPr>
      </p:pic>
    </p:spTree>
    <p:extLst>
      <p:ext uri="{BB962C8B-B14F-4D97-AF65-F5344CB8AC3E}">
        <p14:creationId xmlns:p14="http://schemas.microsoft.com/office/powerpoint/2010/main" val="3332203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2: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1" dirty="0">
                <a:latin typeface="Calibri" panose="020F0502020204030204" pitchFamily="34" charset="0"/>
                <a:cs typeface="Calibri" panose="020F0502020204030204" pitchFamily="34" charset="0"/>
              </a:rPr>
              <a:t>File Opening (</a:t>
            </a:r>
            <a:r>
              <a:rPr lang="en-US" sz="2200" b="1" dirty="0" err="1">
                <a:latin typeface="Calibri" panose="020F0502020204030204" pitchFamily="34" charset="0"/>
                <a:cs typeface="Calibri" panose="020F0502020204030204" pitchFamily="34" charset="0"/>
              </a:rPr>
              <a:t>fopen</a:t>
            </a:r>
            <a:r>
              <a:rPr lang="en-US" sz="2200" b="1"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The program begins by opening the file example.txt in read mode ("r"). This allows the program to read the existing content of the file.</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Reading the File Content (</a:t>
            </a:r>
            <a:r>
              <a:rPr lang="en-US" sz="2200" b="1" dirty="0" err="1">
                <a:latin typeface="Calibri" panose="020F0502020204030204" pitchFamily="34" charset="0"/>
                <a:cs typeface="Calibri" panose="020F0502020204030204" pitchFamily="34" charset="0"/>
              </a:rPr>
              <a:t>fgetc</a:t>
            </a:r>
            <a:r>
              <a:rPr lang="en-US" sz="2200" b="1"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The file's content is read character by character using </a:t>
            </a:r>
            <a:r>
              <a:rPr lang="en-US" sz="2000" dirty="0" err="1">
                <a:latin typeface="Calibri" panose="020F0502020204030204" pitchFamily="34" charset="0"/>
                <a:cs typeface="Calibri" panose="020F0502020204030204" pitchFamily="34" charset="0"/>
              </a:rPr>
              <a:t>fgetc</a:t>
            </a:r>
            <a:r>
              <a:rPr lang="en-US" sz="2000" dirty="0">
                <a:latin typeface="Calibri" panose="020F0502020204030204" pitchFamily="34" charset="0"/>
                <a:cs typeface="Calibri" panose="020F0502020204030204" pitchFamily="34" charset="0"/>
              </a:rPr>
              <a:t>(file) in a while loop until the end of the file (EOF) is reached.</a:t>
            </a:r>
          </a:p>
          <a:p>
            <a:pPr lvl="1" algn="just"/>
            <a:r>
              <a:rPr lang="en-US" sz="2000" dirty="0">
                <a:latin typeface="Calibri" panose="020F0502020204030204" pitchFamily="34" charset="0"/>
                <a:cs typeface="Calibri" panose="020F0502020204030204" pitchFamily="34" charset="0"/>
              </a:rPr>
              <a:t>The </a:t>
            </a:r>
            <a:r>
              <a:rPr lang="en-US" sz="2000" dirty="0" err="1">
                <a:latin typeface="Calibri" panose="020F0502020204030204" pitchFamily="34" charset="0"/>
                <a:cs typeface="Calibri" panose="020F0502020204030204" pitchFamily="34" charset="0"/>
              </a:rPr>
              <a:t>putchar</a:t>
            </a:r>
            <a:r>
              <a:rPr lang="en-US" sz="2000" dirty="0">
                <a:latin typeface="Calibri" panose="020F0502020204030204" pitchFamily="34" charset="0"/>
                <a:cs typeface="Calibri" panose="020F0502020204030204" pitchFamily="34" charset="0"/>
              </a:rPr>
              <a:t>(</a:t>
            </a:r>
            <a:r>
              <a:rPr lang="en-US" sz="2000" dirty="0" err="1">
                <a:latin typeface="Calibri" panose="020F0502020204030204" pitchFamily="34" charset="0"/>
                <a:cs typeface="Calibri" panose="020F0502020204030204" pitchFamily="34" charset="0"/>
              </a:rPr>
              <a:t>ch</a:t>
            </a:r>
            <a:r>
              <a:rPr lang="en-US" sz="2000" dirty="0">
                <a:latin typeface="Calibri" panose="020F0502020204030204" pitchFamily="34" charset="0"/>
                <a:cs typeface="Calibri" panose="020F0502020204030204" pitchFamily="34" charset="0"/>
              </a:rPr>
              <a:t>) function is used to print each character to the console.</a:t>
            </a:r>
          </a:p>
        </p:txBody>
      </p:sp>
    </p:spTree>
    <p:extLst>
      <p:ext uri="{BB962C8B-B14F-4D97-AF65-F5344CB8AC3E}">
        <p14:creationId xmlns:p14="http://schemas.microsoft.com/office/powerpoint/2010/main" val="727000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2: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1" dirty="0">
                <a:latin typeface="Calibri" panose="020F0502020204030204" pitchFamily="34" charset="0"/>
                <a:cs typeface="Calibri" panose="020F0502020204030204" pitchFamily="34" charset="0"/>
              </a:rPr>
              <a:t>Appending New Content (</a:t>
            </a:r>
            <a:r>
              <a:rPr lang="en-US" sz="2200" b="1" dirty="0" err="1">
                <a:latin typeface="Calibri" panose="020F0502020204030204" pitchFamily="34" charset="0"/>
                <a:cs typeface="Calibri" panose="020F0502020204030204" pitchFamily="34" charset="0"/>
              </a:rPr>
              <a:t>fopen</a:t>
            </a:r>
            <a:r>
              <a:rPr lang="en-US" sz="2200" b="1" dirty="0">
                <a:latin typeface="Calibri" panose="020F0502020204030204" pitchFamily="34" charset="0"/>
                <a:cs typeface="Calibri" panose="020F0502020204030204" pitchFamily="34" charset="0"/>
              </a:rPr>
              <a:t> in append mode and </a:t>
            </a:r>
            <a:r>
              <a:rPr lang="en-US" sz="2200" b="1" dirty="0" err="1">
                <a:latin typeface="Calibri" panose="020F0502020204030204" pitchFamily="34" charset="0"/>
                <a:cs typeface="Calibri" panose="020F0502020204030204" pitchFamily="34" charset="0"/>
              </a:rPr>
              <a:t>fprintf</a:t>
            </a:r>
            <a:r>
              <a:rPr lang="en-US" sz="2200" b="1"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After reading, the file is reopened in append mode ("a"). This allows the program to add new content to the end of the file without deleting the existing content.</a:t>
            </a:r>
          </a:p>
          <a:p>
            <a:pPr lvl="1" algn="just"/>
            <a:r>
              <a:rPr lang="en-US" sz="2000" dirty="0">
                <a:latin typeface="Calibri" panose="020F0502020204030204" pitchFamily="34" charset="0"/>
                <a:cs typeface="Calibri" panose="020F0502020204030204" pitchFamily="34" charset="0"/>
              </a:rPr>
              <a:t>The </a:t>
            </a:r>
            <a:r>
              <a:rPr lang="en-US" sz="2000" dirty="0" err="1">
                <a:latin typeface="Calibri" panose="020F0502020204030204" pitchFamily="34" charset="0"/>
                <a:cs typeface="Calibri" panose="020F0502020204030204" pitchFamily="34" charset="0"/>
              </a:rPr>
              <a:t>fprintf</a:t>
            </a:r>
            <a:r>
              <a:rPr lang="en-US" sz="2000" dirty="0">
                <a:latin typeface="Calibri" panose="020F0502020204030204" pitchFamily="34" charset="0"/>
                <a:cs typeface="Calibri" panose="020F0502020204030204" pitchFamily="34" charset="0"/>
              </a:rPr>
              <a:t>(file, "This is an added line.\n"); is used to add a new line of text to the file.</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Re-reading the Updated Content and Closing the File (</a:t>
            </a:r>
            <a:r>
              <a:rPr lang="en-US" sz="2200" b="1" dirty="0" err="1">
                <a:latin typeface="Calibri" panose="020F0502020204030204" pitchFamily="34" charset="0"/>
                <a:cs typeface="Calibri" panose="020F0502020204030204" pitchFamily="34" charset="0"/>
              </a:rPr>
              <a:t>fclose</a:t>
            </a:r>
            <a:r>
              <a:rPr lang="en-US" sz="2200" b="1"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To verify that the new content was successfully added, the file is reopened in read mode.</a:t>
            </a:r>
          </a:p>
          <a:p>
            <a:pPr lvl="1" algn="just"/>
            <a:r>
              <a:rPr lang="en-US" sz="2000" dirty="0">
                <a:latin typeface="Calibri" panose="020F0502020204030204" pitchFamily="34" charset="0"/>
                <a:cs typeface="Calibri" panose="020F0502020204030204" pitchFamily="34" charset="0"/>
              </a:rPr>
              <a:t>After each operation (reading or writing), the file is closed using </a:t>
            </a:r>
            <a:r>
              <a:rPr lang="en-US" sz="2000" dirty="0" err="1">
                <a:latin typeface="Calibri" panose="020F0502020204030204" pitchFamily="34" charset="0"/>
                <a:cs typeface="Calibri" panose="020F0502020204030204" pitchFamily="34" charset="0"/>
              </a:rPr>
              <a:t>fclose</a:t>
            </a:r>
            <a:r>
              <a:rPr lang="en-US" sz="2000" dirty="0">
                <a:latin typeface="Calibri" panose="020F0502020204030204" pitchFamily="34" charset="0"/>
                <a:cs typeface="Calibri" panose="020F0502020204030204" pitchFamily="34" charset="0"/>
              </a:rPr>
              <a:t>(file). This ensures that all changes are saved, and resources are freed.</a:t>
            </a:r>
          </a:p>
        </p:txBody>
      </p:sp>
    </p:spTree>
    <p:extLst>
      <p:ext uri="{BB962C8B-B14F-4D97-AF65-F5344CB8AC3E}">
        <p14:creationId xmlns:p14="http://schemas.microsoft.com/office/powerpoint/2010/main" val="1464725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3: </a:t>
            </a:r>
            <a:r>
              <a:rPr lang="en-US" b="1" dirty="0"/>
              <a:t>I/O Connections</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a:xfrm>
            <a:off x="838200" y="1825625"/>
            <a:ext cx="4371109" cy="4351338"/>
          </a:xfrm>
        </p:spPr>
        <p:txBody>
          <a:bodyPr>
            <a:normAutofit/>
          </a:bodyPr>
          <a:lstStyle/>
          <a:p>
            <a:pPr algn="just"/>
            <a:r>
              <a:rPr lang="en-US" sz="2200" b="0" i="0" u="none" strike="noStrike" baseline="0" dirty="0">
                <a:latin typeface="Calibri" panose="020F0502020204030204" pitchFamily="34" charset="0"/>
                <a:cs typeface="Calibri" panose="020F0502020204030204" pitchFamily="34" charset="0"/>
              </a:rPr>
              <a:t>Write a C program that produces a beep sound on the terminal. </a:t>
            </a:r>
          </a:p>
          <a:p>
            <a:pPr algn="just"/>
            <a:r>
              <a:rPr lang="en-US" sz="2200" b="0" i="0" u="none" strike="noStrike" baseline="0" dirty="0">
                <a:latin typeface="Calibri" panose="020F0502020204030204" pitchFamily="34" charset="0"/>
                <a:cs typeface="Calibri" panose="020F0502020204030204" pitchFamily="34" charset="0"/>
              </a:rPr>
              <a:t>The program should open a special file associated with the terminal device and use it to output the bell (</a:t>
            </a:r>
            <a:r>
              <a:rPr lang="sv-SE" sz="2200" dirty="0">
                <a:latin typeface="Calibri" panose="020F0502020204030204" pitchFamily="34" charset="0"/>
                <a:cs typeface="Calibri" panose="020F0502020204030204" pitchFamily="34" charset="0"/>
              </a:rPr>
              <a:t>alert)</a:t>
            </a:r>
            <a:r>
              <a:rPr lang="en-US" sz="2200" b="0" i="0" u="none" strike="noStrike" baseline="0" dirty="0">
                <a:latin typeface="Calibri" panose="020F0502020204030204" pitchFamily="34" charset="0"/>
                <a:cs typeface="Calibri" panose="020F0502020204030204" pitchFamily="34" charset="0"/>
              </a:rPr>
              <a:t> character (“\a”: </a:t>
            </a:r>
            <a:r>
              <a:rPr lang="sv-SE" sz="2200" dirty="0">
                <a:latin typeface="Calibri" panose="020F0502020204030204" pitchFamily="34" charset="0"/>
                <a:cs typeface="Calibri" panose="020F0502020204030204" pitchFamily="34" charset="0"/>
              </a:rPr>
              <a:t>ASCII </a:t>
            </a:r>
            <a:r>
              <a:rPr lang="sv-SE" sz="2200" dirty="0" err="1">
                <a:latin typeface="Calibri" panose="020F0502020204030204" pitchFamily="34" charset="0"/>
                <a:cs typeface="Calibri" panose="020F0502020204030204" pitchFamily="34" charset="0"/>
              </a:rPr>
              <a:t>bell</a:t>
            </a:r>
            <a:r>
              <a:rPr lang="sv-SE" sz="2200" dirty="0">
                <a:latin typeface="Calibri" panose="020F0502020204030204" pitchFamily="34" charset="0"/>
                <a:cs typeface="Calibri" panose="020F0502020204030204" pitchFamily="34" charset="0"/>
              </a:rPr>
              <a:t> </a:t>
            </a:r>
            <a:r>
              <a:rPr lang="sv-SE" sz="2200" dirty="0" err="1">
                <a:latin typeface="Calibri" panose="020F0502020204030204" pitchFamily="34" charset="0"/>
                <a:cs typeface="Calibri" panose="020F0502020204030204" pitchFamily="34" charset="0"/>
              </a:rPr>
              <a:t>character</a:t>
            </a:r>
            <a:r>
              <a:rPr lang="sv-SE" sz="2200" dirty="0">
                <a:latin typeface="Calibri" panose="020F0502020204030204" pitchFamily="34" charset="0"/>
                <a:cs typeface="Calibri" panose="020F0502020204030204" pitchFamily="34" charset="0"/>
              </a:rPr>
              <a:t>).</a:t>
            </a:r>
            <a:endParaRPr lang="en-US" sz="2200" b="0" i="0" u="none" strike="noStrike" baseline="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Ensure that the program properly handles the file stream by opening it before use and closing it afterward.</a:t>
            </a:r>
          </a:p>
        </p:txBody>
      </p:sp>
      <p:pic>
        <p:nvPicPr>
          <p:cNvPr id="7" name="Picture 6">
            <a:extLst>
              <a:ext uri="{FF2B5EF4-FFF2-40B4-BE49-F238E27FC236}">
                <a16:creationId xmlns:a16="http://schemas.microsoft.com/office/drawing/2014/main" id="{136DAF20-A41E-1403-A0A0-60E7CDB1B512}"/>
              </a:ext>
            </a:extLst>
          </p:cNvPr>
          <p:cNvPicPr>
            <a:picLocks noChangeAspect="1"/>
          </p:cNvPicPr>
          <p:nvPr/>
        </p:nvPicPr>
        <p:blipFill rotWithShape="1">
          <a:blip r:embed="rId2">
            <a:extLst>
              <a:ext uri="{28A0092B-C50C-407E-A947-70E740481C1C}">
                <a14:useLocalDpi xmlns:a14="http://schemas.microsoft.com/office/drawing/2010/main" val="0"/>
              </a:ext>
            </a:extLst>
          </a:blip>
          <a:srcRect l="2186" t="4134" r="25367" b="63605"/>
          <a:stretch/>
        </p:blipFill>
        <p:spPr>
          <a:xfrm>
            <a:off x="5541819" y="4349245"/>
            <a:ext cx="5975927" cy="1932854"/>
          </a:xfrm>
          <a:prstGeom prst="rect">
            <a:avLst/>
          </a:prstGeom>
        </p:spPr>
      </p:pic>
      <p:pic>
        <p:nvPicPr>
          <p:cNvPr id="9" name="Picture 8">
            <a:extLst>
              <a:ext uri="{FF2B5EF4-FFF2-40B4-BE49-F238E27FC236}">
                <a16:creationId xmlns:a16="http://schemas.microsoft.com/office/drawing/2014/main" id="{88088D5A-A3F9-7826-3251-4A69C901986B}"/>
              </a:ext>
            </a:extLst>
          </p:cNvPr>
          <p:cNvPicPr>
            <a:picLocks noChangeAspect="1"/>
          </p:cNvPicPr>
          <p:nvPr/>
        </p:nvPicPr>
        <p:blipFill rotWithShape="1">
          <a:blip r:embed="rId3">
            <a:extLst>
              <a:ext uri="{28A0092B-C50C-407E-A947-70E740481C1C}">
                <a14:useLocalDpi xmlns:a14="http://schemas.microsoft.com/office/drawing/2010/main" val="0"/>
              </a:ext>
            </a:extLst>
          </a:blip>
          <a:srcRect l="5610" t="8754" r="32100" b="65252"/>
          <a:stretch/>
        </p:blipFill>
        <p:spPr>
          <a:xfrm>
            <a:off x="5715459" y="1690688"/>
            <a:ext cx="5638344" cy="2299421"/>
          </a:xfrm>
          <a:prstGeom prst="rect">
            <a:avLst/>
          </a:prstGeom>
        </p:spPr>
      </p:pic>
      <p:sp>
        <p:nvSpPr>
          <p:cNvPr id="12" name="TextBox 11">
            <a:extLst>
              <a:ext uri="{FF2B5EF4-FFF2-40B4-BE49-F238E27FC236}">
                <a16:creationId xmlns:a16="http://schemas.microsoft.com/office/drawing/2014/main" id="{1CD621B1-7210-A078-A197-8EEA64BDCD84}"/>
              </a:ext>
            </a:extLst>
          </p:cNvPr>
          <p:cNvSpPr txBox="1"/>
          <p:nvPr/>
        </p:nvSpPr>
        <p:spPr>
          <a:xfrm>
            <a:off x="5403273" y="6456569"/>
            <a:ext cx="6650181" cy="369332"/>
          </a:xfrm>
          <a:prstGeom prst="rect">
            <a:avLst/>
          </a:prstGeom>
          <a:noFill/>
        </p:spPr>
        <p:txBody>
          <a:bodyPr wrap="square">
            <a:spAutoFit/>
          </a:bodyPr>
          <a:lstStyle/>
          <a:p>
            <a:r>
              <a:rPr lang="en-GB" dirty="0"/>
              <a:t>Run the executable with </a:t>
            </a:r>
            <a:r>
              <a:rPr lang="en-GB" dirty="0" err="1"/>
              <a:t>sudo</a:t>
            </a:r>
            <a:r>
              <a:rPr lang="en-GB" dirty="0"/>
              <a:t> to grant the necessary permissions</a:t>
            </a:r>
          </a:p>
        </p:txBody>
      </p:sp>
      <p:sp>
        <p:nvSpPr>
          <p:cNvPr id="13" name="Rectangle 12">
            <a:extLst>
              <a:ext uri="{FF2B5EF4-FFF2-40B4-BE49-F238E27FC236}">
                <a16:creationId xmlns:a16="http://schemas.microsoft.com/office/drawing/2014/main" id="{E987612A-B022-7CC5-A63A-AC58A54BAB49}"/>
              </a:ext>
            </a:extLst>
          </p:cNvPr>
          <p:cNvSpPr/>
          <p:nvPr/>
        </p:nvSpPr>
        <p:spPr>
          <a:xfrm>
            <a:off x="8451274" y="5176548"/>
            <a:ext cx="434109" cy="28214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5" name="Straight Arrow Connector 14">
            <a:extLst>
              <a:ext uri="{FF2B5EF4-FFF2-40B4-BE49-F238E27FC236}">
                <a16:creationId xmlns:a16="http://schemas.microsoft.com/office/drawing/2014/main" id="{1D4D6444-F806-4AA7-02FF-66980510BD8C}"/>
              </a:ext>
            </a:extLst>
          </p:cNvPr>
          <p:cNvCxnSpPr>
            <a:stCxn id="13" idx="2"/>
            <a:endCxn id="12" idx="0"/>
          </p:cNvCxnSpPr>
          <p:nvPr/>
        </p:nvCxnSpPr>
        <p:spPr>
          <a:xfrm>
            <a:off x="8668329" y="5458691"/>
            <a:ext cx="60035" cy="997878"/>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7" name="TextBox 16">
            <a:extLst>
              <a:ext uri="{FF2B5EF4-FFF2-40B4-BE49-F238E27FC236}">
                <a16:creationId xmlns:a16="http://schemas.microsoft.com/office/drawing/2014/main" id="{A1CBE0CB-9CED-3B0D-E37C-D189DDE9129F}"/>
              </a:ext>
            </a:extLst>
          </p:cNvPr>
          <p:cNvSpPr txBox="1"/>
          <p:nvPr/>
        </p:nvSpPr>
        <p:spPr>
          <a:xfrm>
            <a:off x="7682345" y="2794924"/>
            <a:ext cx="4371109" cy="1477328"/>
          </a:xfrm>
          <a:prstGeom prst="rect">
            <a:avLst/>
          </a:prstGeom>
          <a:noFill/>
        </p:spPr>
        <p:txBody>
          <a:bodyPr wrap="square">
            <a:spAutoFit/>
          </a:bodyPr>
          <a:lstStyle/>
          <a:p>
            <a:r>
              <a:rPr lang="en-GB" dirty="0"/>
              <a:t>opens the terminal device file /dev/</a:t>
            </a:r>
            <a:r>
              <a:rPr lang="en-GB" dirty="0" err="1"/>
              <a:t>tty</a:t>
            </a:r>
            <a:r>
              <a:rPr lang="en-GB" dirty="0"/>
              <a:t>. This file shows the terminal associated with the current process. Opening it in write mode allows the program to send output directly to the terminal.</a:t>
            </a:r>
          </a:p>
        </p:txBody>
      </p:sp>
      <p:cxnSp>
        <p:nvCxnSpPr>
          <p:cNvPr id="19" name="Straight Arrow Connector 18">
            <a:extLst>
              <a:ext uri="{FF2B5EF4-FFF2-40B4-BE49-F238E27FC236}">
                <a16:creationId xmlns:a16="http://schemas.microsoft.com/office/drawing/2014/main" id="{E02DFE1F-37E7-9B35-BA74-093565072A2E}"/>
              </a:ext>
            </a:extLst>
          </p:cNvPr>
          <p:cNvCxnSpPr/>
          <p:nvPr/>
        </p:nvCxnSpPr>
        <p:spPr>
          <a:xfrm>
            <a:off x="8285018" y="2517991"/>
            <a:ext cx="1570182" cy="252918"/>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8828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a:t>Transporting Bytes Using </a:t>
            </a:r>
            <a:r>
              <a:rPr lang="en-US" b="1" dirty="0" err="1"/>
              <a:t>fscanf</a:t>
            </a:r>
            <a:r>
              <a:rPr lang="en-US" b="1" dirty="0"/>
              <a:t>() and </a:t>
            </a:r>
            <a:r>
              <a:rPr lang="en-US" b="1" dirty="0" err="1"/>
              <a:t>fprintf</a:t>
            </a:r>
            <a:r>
              <a:rPr lang="en-US" b="1" dirty="0"/>
              <a:t>()</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err="1">
                <a:latin typeface="Calibri" panose="020F0502020204030204" pitchFamily="34" charset="0"/>
                <a:cs typeface="Calibri" panose="020F0502020204030204" pitchFamily="34" charset="0"/>
              </a:rPr>
              <a:t>fscanf</a:t>
            </a:r>
            <a:r>
              <a:rPr lang="en-US" sz="2200" dirty="0">
                <a:latin typeface="Calibri" panose="020F0502020204030204" pitchFamily="34" charset="0"/>
                <a:cs typeface="Calibri" panose="020F0502020204030204" pitchFamily="34" charset="0"/>
              </a:rPr>
              <a:t>() and </a:t>
            </a:r>
            <a:r>
              <a:rPr lang="en-US" sz="2200" dirty="0" err="1">
                <a:latin typeface="Calibri" panose="020F0502020204030204" pitchFamily="34" charset="0"/>
                <a:cs typeface="Calibri" panose="020F0502020204030204" pitchFamily="34" charset="0"/>
              </a:rPr>
              <a:t>fprintf</a:t>
            </a:r>
            <a:r>
              <a:rPr lang="en-US" sz="2200" dirty="0">
                <a:latin typeface="Calibri" panose="020F0502020204030204" pitchFamily="34" charset="0"/>
                <a:cs typeface="Calibri" panose="020F0502020204030204" pitchFamily="34" charset="0"/>
              </a:rPr>
              <a:t>() functions are specialized for handling formatted text data, allowing the program to read from or write to streams with specific formatting rules.</a:t>
            </a:r>
          </a:p>
          <a:p>
            <a:pPr lvl="1" algn="just"/>
            <a:r>
              <a:rPr lang="en-US" sz="2000" dirty="0" err="1">
                <a:latin typeface="Calibri" panose="020F0502020204030204" pitchFamily="34" charset="0"/>
                <a:cs typeface="Calibri" panose="020F0502020204030204" pitchFamily="34" charset="0"/>
              </a:rPr>
              <a:t>fscanf</a:t>
            </a:r>
            <a:r>
              <a:rPr lang="en-US" sz="2000" dirty="0">
                <a:latin typeface="Calibri" panose="020F0502020204030204" pitchFamily="34" charset="0"/>
                <a:cs typeface="Calibri" panose="020F0502020204030204" pitchFamily="34" charset="0"/>
              </a:rPr>
              <a:t>() Function: Reads formatted data from a stream and stores it in variables according to format specifiers, such as %s for strings or %d for integers.</a:t>
            </a:r>
          </a:p>
          <a:p>
            <a:pPr lvl="1" algn="just"/>
            <a:r>
              <a:rPr lang="en-US" sz="2000" dirty="0" err="1">
                <a:latin typeface="Calibri" panose="020F0502020204030204" pitchFamily="34" charset="0"/>
                <a:cs typeface="Calibri" panose="020F0502020204030204" pitchFamily="34" charset="0"/>
              </a:rPr>
              <a:t>fprintf</a:t>
            </a:r>
            <a:r>
              <a:rPr lang="en-US" sz="2000" dirty="0">
                <a:latin typeface="Calibri" panose="020F0502020204030204" pitchFamily="34" charset="0"/>
                <a:cs typeface="Calibri" panose="020F0502020204030204" pitchFamily="34" charset="0"/>
              </a:rPr>
              <a:t>() Function: Writes formatted data to a stream, converting variables to text according to the format specifiers before sending them to the output destination.</a:t>
            </a:r>
          </a:p>
          <a:p>
            <a:pPr algn="just"/>
            <a:endParaRPr lang="en-US" sz="2200" dirty="0">
              <a:latin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D4DA8B55-9515-1D86-836A-2241ACD463B0}"/>
              </a:ext>
            </a:extLst>
          </p:cNvPr>
          <p:cNvGraphicFramePr>
            <a:graphicFrameLocks noGrp="1"/>
          </p:cNvGraphicFramePr>
          <p:nvPr>
            <p:extLst>
              <p:ext uri="{D42A27DB-BD31-4B8C-83A1-F6EECF244321}">
                <p14:modId xmlns:p14="http://schemas.microsoft.com/office/powerpoint/2010/main" val="498953201"/>
              </p:ext>
            </p:extLst>
          </p:nvPr>
        </p:nvGraphicFramePr>
        <p:xfrm>
          <a:off x="1110671" y="4223785"/>
          <a:ext cx="3128820" cy="1463040"/>
        </p:xfrm>
        <a:graphic>
          <a:graphicData uri="http://schemas.openxmlformats.org/drawingml/2006/table">
            <a:tbl>
              <a:tblPr firstRow="1" bandRow="1">
                <a:tableStyleId>{5C22544A-7EE6-4342-B048-85BDC9FD1C3A}</a:tableStyleId>
              </a:tblPr>
              <a:tblGrid>
                <a:gridCol w="3128820">
                  <a:extLst>
                    <a:ext uri="{9D8B030D-6E8A-4147-A177-3AD203B41FA5}">
                      <a16:colId xmlns:a16="http://schemas.microsoft.com/office/drawing/2014/main" val="3079103876"/>
                    </a:ext>
                  </a:extLst>
                </a:gridCol>
              </a:tblGrid>
              <a:tr h="538021">
                <a:tc>
                  <a:txBody>
                    <a:bodyPr/>
                    <a:lstStyle/>
                    <a:p>
                      <a:r>
                        <a:rPr lang="sv-SE" sz="1500" b="0" dirty="0">
                          <a:solidFill>
                            <a:schemeClr val="tx2">
                              <a:lumMod val="75000"/>
                              <a:lumOff val="25000"/>
                            </a:schemeClr>
                          </a:solidFill>
                          <a:latin typeface="Calibri" panose="020F0502020204030204" pitchFamily="34" charset="0"/>
                          <a:cs typeface="Calibri" panose="020F0502020204030204" pitchFamily="34" charset="0"/>
                        </a:rPr>
                        <a:t>FILE *</a:t>
                      </a:r>
                      <a:r>
                        <a:rPr lang="sv-SE" sz="1500" b="0" dirty="0" err="1">
                          <a:solidFill>
                            <a:schemeClr val="tx2">
                              <a:lumMod val="75000"/>
                              <a:lumOff val="25000"/>
                            </a:schemeClr>
                          </a:solidFill>
                          <a:latin typeface="Calibri" panose="020F0502020204030204" pitchFamily="34" charset="0"/>
                          <a:cs typeface="Calibri" panose="020F0502020204030204" pitchFamily="34" charset="0"/>
                        </a:rPr>
                        <a:t>fpt</a:t>
                      </a:r>
                      <a:r>
                        <a:rPr lang="sv-SE" sz="1500" b="0" dirty="0">
                          <a:solidFill>
                            <a:schemeClr val="tx2">
                              <a:lumMod val="75000"/>
                              <a:lumOff val="25000"/>
                            </a:schemeClr>
                          </a:solidFill>
                          <a:latin typeface="Calibri" panose="020F0502020204030204" pitchFamily="34" charset="0"/>
                          <a:cs typeface="Calibri" panose="020F0502020204030204" pitchFamily="34" charset="0"/>
                        </a:rPr>
                        <a:t>; </a:t>
                      </a:r>
                    </a:p>
                    <a:p>
                      <a:r>
                        <a:rPr lang="sv-SE" sz="1500" b="0" dirty="0">
                          <a:solidFill>
                            <a:schemeClr val="tx2">
                              <a:lumMod val="75000"/>
                              <a:lumOff val="25000"/>
                            </a:schemeClr>
                          </a:solidFill>
                          <a:latin typeface="Calibri" panose="020F0502020204030204" pitchFamily="34" charset="0"/>
                          <a:cs typeface="Calibri" panose="020F0502020204030204" pitchFamily="34" charset="0"/>
                        </a:rPr>
                        <a:t>char text[80]; </a:t>
                      </a:r>
                    </a:p>
                    <a:p>
                      <a:r>
                        <a:rPr lang="sv-SE" sz="1500" b="0" dirty="0" err="1">
                          <a:solidFill>
                            <a:schemeClr val="tx2">
                              <a:lumMod val="75000"/>
                              <a:lumOff val="25000"/>
                            </a:schemeClr>
                          </a:solidFill>
                          <a:latin typeface="Calibri" panose="020F0502020204030204" pitchFamily="34" charset="0"/>
                          <a:cs typeface="Calibri" panose="020F0502020204030204" pitchFamily="34" charset="0"/>
                        </a:rPr>
                        <a:t>fpt</a:t>
                      </a:r>
                      <a:r>
                        <a:rPr lang="sv-SE" sz="1500" b="0" dirty="0">
                          <a:solidFill>
                            <a:schemeClr val="tx2">
                              <a:lumMod val="75000"/>
                              <a:lumOff val="25000"/>
                            </a:schemeClr>
                          </a:solidFill>
                          <a:latin typeface="Calibri" panose="020F0502020204030204" pitchFamily="34" charset="0"/>
                          <a:cs typeface="Calibri" panose="020F0502020204030204" pitchFamily="34" charset="0"/>
                        </a:rPr>
                        <a:t> = </a:t>
                      </a:r>
                      <a:r>
                        <a:rPr lang="sv-SE" sz="1500" b="0" dirty="0" err="1">
                          <a:solidFill>
                            <a:schemeClr val="tx2">
                              <a:lumMod val="75000"/>
                              <a:lumOff val="25000"/>
                            </a:schemeClr>
                          </a:solidFill>
                          <a:latin typeface="Calibri" panose="020F0502020204030204" pitchFamily="34" charset="0"/>
                          <a:cs typeface="Calibri" panose="020F0502020204030204" pitchFamily="34" charset="0"/>
                        </a:rPr>
                        <a:t>fopen</a:t>
                      </a:r>
                      <a:r>
                        <a:rPr lang="sv-SE" sz="1500" b="0" dirty="0">
                          <a:solidFill>
                            <a:schemeClr val="tx2">
                              <a:lumMod val="75000"/>
                              <a:lumOff val="25000"/>
                            </a:schemeClr>
                          </a:solidFill>
                          <a:latin typeface="Calibri" panose="020F0502020204030204" pitchFamily="34" charset="0"/>
                          <a:cs typeface="Calibri" panose="020F0502020204030204" pitchFamily="34" charset="0"/>
                        </a:rPr>
                        <a:t>("example2.txt", "r"); </a:t>
                      </a:r>
                    </a:p>
                    <a:p>
                      <a:r>
                        <a:rPr lang="sv-SE" sz="1500" b="0" dirty="0" err="1">
                          <a:solidFill>
                            <a:schemeClr val="tx2">
                              <a:lumMod val="75000"/>
                              <a:lumOff val="25000"/>
                            </a:schemeClr>
                          </a:solidFill>
                          <a:latin typeface="Calibri" panose="020F0502020204030204" pitchFamily="34" charset="0"/>
                          <a:cs typeface="Calibri" panose="020F0502020204030204" pitchFamily="34" charset="0"/>
                        </a:rPr>
                        <a:t>fscanf</a:t>
                      </a:r>
                      <a:r>
                        <a:rPr lang="sv-SE" sz="1500" b="0" dirty="0">
                          <a:solidFill>
                            <a:schemeClr val="tx2">
                              <a:lumMod val="75000"/>
                              <a:lumOff val="25000"/>
                            </a:schemeClr>
                          </a:solidFill>
                          <a:latin typeface="Calibri" panose="020F0502020204030204" pitchFamily="34" charset="0"/>
                          <a:cs typeface="Calibri" panose="020F0502020204030204" pitchFamily="34" charset="0"/>
                        </a:rPr>
                        <a:t>(</a:t>
                      </a:r>
                      <a:r>
                        <a:rPr lang="sv-SE" sz="1500" b="0" dirty="0" err="1">
                          <a:solidFill>
                            <a:schemeClr val="tx2">
                              <a:lumMod val="75000"/>
                              <a:lumOff val="25000"/>
                            </a:schemeClr>
                          </a:solidFill>
                          <a:latin typeface="Calibri" panose="020F0502020204030204" pitchFamily="34" charset="0"/>
                          <a:cs typeface="Calibri" panose="020F0502020204030204" pitchFamily="34" charset="0"/>
                        </a:rPr>
                        <a:t>fpt</a:t>
                      </a:r>
                      <a:r>
                        <a:rPr lang="sv-SE" sz="1500" b="0" dirty="0">
                          <a:solidFill>
                            <a:schemeClr val="tx2">
                              <a:lumMod val="75000"/>
                              <a:lumOff val="25000"/>
                            </a:schemeClr>
                          </a:solidFill>
                          <a:latin typeface="Calibri" panose="020F0502020204030204" pitchFamily="34" charset="0"/>
                          <a:cs typeface="Calibri" panose="020F0502020204030204" pitchFamily="34" charset="0"/>
                        </a:rPr>
                        <a:t>, "%s", text); </a:t>
                      </a:r>
                    </a:p>
                    <a:p>
                      <a:r>
                        <a:rPr lang="sv-SE" sz="1500" b="0" dirty="0" err="1">
                          <a:solidFill>
                            <a:schemeClr val="tx2">
                              <a:lumMod val="75000"/>
                              <a:lumOff val="25000"/>
                            </a:schemeClr>
                          </a:solidFill>
                          <a:latin typeface="Calibri" panose="020F0502020204030204" pitchFamily="34" charset="0"/>
                          <a:cs typeface="Calibri" panose="020F0502020204030204" pitchFamily="34" charset="0"/>
                        </a:rPr>
                        <a:t>printf</a:t>
                      </a:r>
                      <a:r>
                        <a:rPr lang="sv-SE" sz="1500" b="0" dirty="0">
                          <a:solidFill>
                            <a:schemeClr val="tx2">
                              <a:lumMod val="75000"/>
                              <a:lumOff val="25000"/>
                            </a:schemeClr>
                          </a:solidFill>
                          <a:latin typeface="Calibri" panose="020F0502020204030204" pitchFamily="34" charset="0"/>
                          <a:cs typeface="Calibri" panose="020F0502020204030204" pitchFamily="34" charset="0"/>
                        </a:rPr>
                        <a:t>("%s\n", text);</a:t>
                      </a:r>
                    </a:p>
                    <a:p>
                      <a:r>
                        <a:rPr lang="sv-SE" sz="1500" b="0" dirty="0">
                          <a:solidFill>
                            <a:schemeClr val="tx2">
                              <a:lumMod val="75000"/>
                              <a:lumOff val="25000"/>
                            </a:schemeClr>
                          </a:solidFill>
                          <a:latin typeface="Calibri" panose="020F0502020204030204" pitchFamily="34" charset="0"/>
                          <a:cs typeface="Calibri" panose="020F0502020204030204" pitchFamily="34" charset="0"/>
                        </a:rPr>
                        <a:t> </a:t>
                      </a:r>
                      <a:r>
                        <a:rPr lang="sv-SE" sz="1500" b="0" dirty="0" err="1">
                          <a:solidFill>
                            <a:schemeClr val="tx2">
                              <a:lumMod val="75000"/>
                              <a:lumOff val="25000"/>
                            </a:schemeClr>
                          </a:solidFill>
                          <a:latin typeface="Calibri" panose="020F0502020204030204" pitchFamily="34" charset="0"/>
                          <a:cs typeface="Calibri" panose="020F0502020204030204" pitchFamily="34" charset="0"/>
                        </a:rPr>
                        <a:t>fclose</a:t>
                      </a:r>
                      <a:r>
                        <a:rPr lang="sv-SE" sz="1500" b="0" dirty="0">
                          <a:solidFill>
                            <a:schemeClr val="tx2">
                              <a:lumMod val="75000"/>
                              <a:lumOff val="25000"/>
                            </a:schemeClr>
                          </a:solidFill>
                          <a:latin typeface="Calibri" panose="020F0502020204030204" pitchFamily="34" charset="0"/>
                          <a:cs typeface="Calibri" panose="020F0502020204030204" pitchFamily="34" charset="0"/>
                        </a:rPr>
                        <a:t>(</a:t>
                      </a:r>
                      <a:r>
                        <a:rPr lang="sv-SE" sz="1500" b="0" dirty="0" err="1">
                          <a:solidFill>
                            <a:schemeClr val="tx2">
                              <a:lumMod val="75000"/>
                              <a:lumOff val="25000"/>
                            </a:schemeClr>
                          </a:solidFill>
                          <a:latin typeface="Calibri" panose="020F0502020204030204" pitchFamily="34" charset="0"/>
                          <a:cs typeface="Calibri" panose="020F0502020204030204" pitchFamily="34" charset="0"/>
                        </a:rPr>
                        <a:t>fpt</a:t>
                      </a:r>
                      <a:r>
                        <a:rPr lang="sv-SE" sz="1500" b="0" dirty="0">
                          <a:solidFill>
                            <a:schemeClr val="tx2">
                              <a:lumMod val="75000"/>
                              <a:lumOff val="25000"/>
                            </a:schemeClr>
                          </a:solidFill>
                          <a:latin typeface="Calibri" panose="020F0502020204030204" pitchFamily="34" charset="0"/>
                          <a:cs typeface="Calibri" panose="020F0502020204030204" pitchFamily="34" charset="0"/>
                        </a:rPr>
                        <a:t>);</a:t>
                      </a:r>
                      <a:endParaRPr lang="en-US" sz="1500" b="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pic>
        <p:nvPicPr>
          <p:cNvPr id="10" name="Picture 9">
            <a:extLst>
              <a:ext uri="{FF2B5EF4-FFF2-40B4-BE49-F238E27FC236}">
                <a16:creationId xmlns:a16="http://schemas.microsoft.com/office/drawing/2014/main" id="{69D8857D-5811-2DCF-BE35-9BA4861CDFFA}"/>
              </a:ext>
            </a:extLst>
          </p:cNvPr>
          <p:cNvPicPr>
            <a:picLocks noChangeAspect="1"/>
          </p:cNvPicPr>
          <p:nvPr/>
        </p:nvPicPr>
        <p:blipFill rotWithShape="1">
          <a:blip r:embed="rId3">
            <a:extLst>
              <a:ext uri="{28A0092B-C50C-407E-A947-70E740481C1C}">
                <a14:useLocalDpi xmlns:a14="http://schemas.microsoft.com/office/drawing/2010/main" val="0"/>
              </a:ext>
            </a:extLst>
          </a:blip>
          <a:srcRect l="2970" t="5253" r="22566" b="70327"/>
          <a:stretch/>
        </p:blipFill>
        <p:spPr>
          <a:xfrm>
            <a:off x="5029454" y="5248373"/>
            <a:ext cx="5139268" cy="1224151"/>
          </a:xfrm>
          <a:prstGeom prst="rect">
            <a:avLst/>
          </a:prstGeom>
        </p:spPr>
      </p:pic>
      <p:pic>
        <p:nvPicPr>
          <p:cNvPr id="11" name="Picture 10">
            <a:extLst>
              <a:ext uri="{FF2B5EF4-FFF2-40B4-BE49-F238E27FC236}">
                <a16:creationId xmlns:a16="http://schemas.microsoft.com/office/drawing/2014/main" id="{B6B8DC91-989E-21F4-D4F3-D510A3150660}"/>
              </a:ext>
            </a:extLst>
          </p:cNvPr>
          <p:cNvPicPr>
            <a:picLocks noChangeAspect="1"/>
          </p:cNvPicPr>
          <p:nvPr/>
        </p:nvPicPr>
        <p:blipFill rotWithShape="1">
          <a:blip r:embed="rId4">
            <a:extLst>
              <a:ext uri="{28A0092B-C50C-407E-A947-70E740481C1C}">
                <a14:useLocalDpi xmlns:a14="http://schemas.microsoft.com/office/drawing/2010/main" val="0"/>
              </a:ext>
            </a:extLst>
          </a:blip>
          <a:srcRect l="5249" t="5324" r="44198" b="84371"/>
          <a:stretch/>
        </p:blipFill>
        <p:spPr>
          <a:xfrm>
            <a:off x="5029454" y="4223785"/>
            <a:ext cx="4298051" cy="856212"/>
          </a:xfrm>
          <a:prstGeom prst="rect">
            <a:avLst/>
          </a:prstGeom>
        </p:spPr>
      </p:pic>
    </p:spTree>
    <p:extLst>
      <p:ext uri="{BB962C8B-B14F-4D97-AF65-F5344CB8AC3E}">
        <p14:creationId xmlns:p14="http://schemas.microsoft.com/office/powerpoint/2010/main" val="2314406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a:t>Transporting Bytes Using </a:t>
            </a:r>
            <a:r>
              <a:rPr lang="en-US" b="1" dirty="0" err="1"/>
              <a:t>fscanf</a:t>
            </a:r>
            <a:r>
              <a:rPr lang="en-US" b="1" dirty="0"/>
              <a:t>() and </a:t>
            </a:r>
            <a:r>
              <a:rPr lang="en-US" b="1" dirty="0" err="1"/>
              <a:t>fprintf</a:t>
            </a:r>
            <a:r>
              <a:rPr lang="en-US" b="1" dirty="0"/>
              <a:t>()</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err="1">
                <a:latin typeface="Calibri" panose="020F0502020204030204" pitchFamily="34" charset="0"/>
                <a:cs typeface="Calibri" panose="020F0502020204030204" pitchFamily="34" charset="0"/>
              </a:rPr>
              <a:t>fscanf</a:t>
            </a:r>
            <a:r>
              <a:rPr lang="en-US" sz="2200" dirty="0">
                <a:latin typeface="Calibri" panose="020F0502020204030204" pitchFamily="34" charset="0"/>
                <a:cs typeface="Calibri" panose="020F0502020204030204" pitchFamily="34" charset="0"/>
              </a:rPr>
              <a:t>() and </a:t>
            </a:r>
            <a:r>
              <a:rPr lang="en-US" sz="2200" dirty="0" err="1">
                <a:latin typeface="Calibri" panose="020F0502020204030204" pitchFamily="34" charset="0"/>
                <a:cs typeface="Calibri" panose="020F0502020204030204" pitchFamily="34" charset="0"/>
              </a:rPr>
              <a:t>fprintf</a:t>
            </a:r>
            <a:r>
              <a:rPr lang="en-US" sz="2200" dirty="0">
                <a:latin typeface="Calibri" panose="020F0502020204030204" pitchFamily="34" charset="0"/>
                <a:cs typeface="Calibri" panose="020F0502020204030204" pitchFamily="34" charset="0"/>
              </a:rPr>
              <a:t>() functions are specialized for handling formatted text data, allowing the program to read from or write to streams with specific formatting rules.</a:t>
            </a:r>
          </a:p>
          <a:p>
            <a:pPr lvl="1" algn="just"/>
            <a:r>
              <a:rPr lang="en-US" sz="2000" dirty="0" err="1">
                <a:latin typeface="Calibri" panose="020F0502020204030204" pitchFamily="34" charset="0"/>
                <a:cs typeface="Calibri" panose="020F0502020204030204" pitchFamily="34" charset="0"/>
              </a:rPr>
              <a:t>fscanf</a:t>
            </a:r>
            <a:r>
              <a:rPr lang="en-US" sz="2000" dirty="0">
                <a:latin typeface="Calibri" panose="020F0502020204030204" pitchFamily="34" charset="0"/>
                <a:cs typeface="Calibri" panose="020F0502020204030204" pitchFamily="34" charset="0"/>
              </a:rPr>
              <a:t>() Function: Reads formatted data from a stream and stores it in variables according to format specifiers, such as %s for strings or %d for integers.</a:t>
            </a:r>
          </a:p>
          <a:p>
            <a:pPr lvl="1" algn="just"/>
            <a:r>
              <a:rPr lang="en-US" sz="2000" dirty="0" err="1">
                <a:solidFill>
                  <a:srgbClr val="C00000"/>
                </a:solidFill>
                <a:latin typeface="Calibri" panose="020F0502020204030204" pitchFamily="34" charset="0"/>
                <a:cs typeface="Calibri" panose="020F0502020204030204" pitchFamily="34" charset="0"/>
              </a:rPr>
              <a:t>fscanf</a:t>
            </a:r>
            <a:r>
              <a:rPr lang="en-US" sz="2000" dirty="0">
                <a:solidFill>
                  <a:srgbClr val="C00000"/>
                </a:solidFill>
                <a:latin typeface="Calibri" panose="020F0502020204030204" pitchFamily="34" charset="0"/>
                <a:cs typeface="Calibri" panose="020F0502020204030204" pitchFamily="34" charset="0"/>
              </a:rPr>
              <a:t> reads one formatted input at a time (e.g., one word, one number). </a:t>
            </a:r>
          </a:p>
          <a:p>
            <a:pPr lvl="1" algn="just"/>
            <a:r>
              <a:rPr lang="en-US" sz="2000" dirty="0">
                <a:solidFill>
                  <a:srgbClr val="C00000"/>
                </a:solidFill>
                <a:latin typeface="Calibri" panose="020F0502020204030204" pitchFamily="34" charset="0"/>
                <a:cs typeface="Calibri" panose="020F0502020204030204" pitchFamily="34" charset="0"/>
              </a:rPr>
              <a:t>To read everything in the file, we need to call </a:t>
            </a:r>
            <a:r>
              <a:rPr lang="en-US" sz="2000" dirty="0" err="1">
                <a:solidFill>
                  <a:srgbClr val="C00000"/>
                </a:solidFill>
                <a:latin typeface="Calibri" panose="020F0502020204030204" pitchFamily="34" charset="0"/>
                <a:cs typeface="Calibri" panose="020F0502020204030204" pitchFamily="34" charset="0"/>
              </a:rPr>
              <a:t>fscanf</a:t>
            </a:r>
            <a:r>
              <a:rPr lang="en-US" sz="2000" dirty="0">
                <a:solidFill>
                  <a:srgbClr val="C00000"/>
                </a:solidFill>
                <a:latin typeface="Calibri" panose="020F0502020204030204" pitchFamily="34" charset="0"/>
                <a:cs typeface="Calibri" panose="020F0502020204030204" pitchFamily="34" charset="0"/>
              </a:rPr>
              <a:t> multiple times, which is why we use it with a loop. </a:t>
            </a:r>
          </a:p>
          <a:p>
            <a:pPr lvl="1" algn="just"/>
            <a:r>
              <a:rPr lang="en-US" sz="2000" dirty="0">
                <a:solidFill>
                  <a:srgbClr val="C00000"/>
                </a:solidFill>
                <a:latin typeface="Calibri" panose="020F0502020204030204" pitchFamily="34" charset="0"/>
                <a:cs typeface="Calibri" panose="020F0502020204030204" pitchFamily="34" charset="0"/>
              </a:rPr>
              <a:t>The loop continues until </a:t>
            </a:r>
            <a:r>
              <a:rPr lang="en-US" sz="2000" dirty="0" err="1">
                <a:solidFill>
                  <a:srgbClr val="C00000"/>
                </a:solidFill>
                <a:latin typeface="Calibri" panose="020F0502020204030204" pitchFamily="34" charset="0"/>
                <a:cs typeface="Calibri" panose="020F0502020204030204" pitchFamily="34" charset="0"/>
              </a:rPr>
              <a:t>fscanf</a:t>
            </a:r>
            <a:r>
              <a:rPr lang="en-US" sz="2000" dirty="0">
                <a:solidFill>
                  <a:srgbClr val="C00000"/>
                </a:solidFill>
                <a:latin typeface="Calibri" panose="020F0502020204030204" pitchFamily="34" charset="0"/>
                <a:cs typeface="Calibri" panose="020F0502020204030204" pitchFamily="34" charset="0"/>
              </a:rPr>
              <a:t> reaches the end of the file (EOF).</a:t>
            </a:r>
          </a:p>
          <a:p>
            <a:pPr lvl="1" algn="just"/>
            <a:endParaRPr lang="en-US" sz="2000" dirty="0">
              <a:latin typeface="Calibri" panose="020F0502020204030204" pitchFamily="34" charset="0"/>
              <a:cs typeface="Calibri" panose="020F0502020204030204" pitchFamily="34" charset="0"/>
            </a:endParaRPr>
          </a:p>
          <a:p>
            <a:pPr lvl="1" algn="just"/>
            <a:r>
              <a:rPr lang="en-US" sz="2000" dirty="0" err="1">
                <a:latin typeface="Calibri" panose="020F0502020204030204" pitchFamily="34" charset="0"/>
                <a:cs typeface="Calibri" panose="020F0502020204030204" pitchFamily="34" charset="0"/>
              </a:rPr>
              <a:t>fprintf</a:t>
            </a:r>
            <a:r>
              <a:rPr lang="en-US" sz="2000" dirty="0">
                <a:latin typeface="Calibri" panose="020F0502020204030204" pitchFamily="34" charset="0"/>
                <a:cs typeface="Calibri" panose="020F0502020204030204" pitchFamily="34" charset="0"/>
              </a:rPr>
              <a:t>() Function: Writes formatted data to a stream, converting variables to text according to the format specifiers before sending them to the output destination.</a:t>
            </a:r>
          </a:p>
          <a:p>
            <a:pPr algn="just"/>
            <a:endParaRPr lang="en-US" sz="2200" dirty="0">
              <a:latin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8323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4: </a:t>
            </a:r>
            <a:r>
              <a:rPr lang="en-US" b="1" dirty="0" err="1"/>
              <a:t>fscanf</a:t>
            </a:r>
            <a:r>
              <a:rPr lang="en-US" b="1" dirty="0"/>
              <a:t>() and </a:t>
            </a:r>
            <a:r>
              <a:rPr lang="en-US" b="1" dirty="0" err="1"/>
              <a:t>fprintf</a:t>
            </a:r>
            <a:r>
              <a:rPr lang="en-US" b="1" dirty="0"/>
              <a:t>()</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l"/>
            <a:r>
              <a:rPr lang="en-US" sz="2200" b="0" i="0" u="none" strike="noStrike" baseline="0" dirty="0">
                <a:latin typeface="Calibri" panose="020F0502020204030204" pitchFamily="34" charset="0"/>
                <a:cs typeface="Calibri" panose="020F0502020204030204" pitchFamily="34" charset="0"/>
              </a:rPr>
              <a:t>Write a C program to perform the following operations on a text file:</a:t>
            </a:r>
          </a:p>
          <a:p>
            <a:pPr lvl="1"/>
            <a:r>
              <a:rPr lang="en-US" sz="1800" b="0" i="0" u="none" strike="noStrike" baseline="0" dirty="0">
                <a:latin typeface="Calibri" panose="020F0502020204030204" pitchFamily="34" charset="0"/>
                <a:cs typeface="Calibri" panose="020F0502020204030204" pitchFamily="34" charset="0"/>
              </a:rPr>
              <a:t>Read the content of a text file named example2.txt using </a:t>
            </a:r>
            <a:r>
              <a:rPr lang="en-US" sz="1800" b="0" i="0" u="none" strike="noStrike" baseline="0" dirty="0" err="1">
                <a:latin typeface="Calibri" panose="020F0502020204030204" pitchFamily="34" charset="0"/>
                <a:cs typeface="Calibri" panose="020F0502020204030204" pitchFamily="34" charset="0"/>
              </a:rPr>
              <a:t>fscanf</a:t>
            </a:r>
            <a:r>
              <a:rPr lang="en-US" sz="1800" b="0" i="0" u="none" strike="noStrike" baseline="0" dirty="0">
                <a:latin typeface="Calibri" panose="020F0502020204030204" pitchFamily="34" charset="0"/>
                <a:cs typeface="Calibri" panose="020F0502020204030204" pitchFamily="34" charset="0"/>
              </a:rPr>
              <a:t>.</a:t>
            </a:r>
          </a:p>
          <a:p>
            <a:pPr lvl="1"/>
            <a:r>
              <a:rPr lang="en-US" sz="1800" b="0" i="0" u="none" strike="noStrike" baseline="0" dirty="0">
                <a:latin typeface="Calibri" panose="020F0502020204030204" pitchFamily="34" charset="0"/>
                <a:cs typeface="Calibri" panose="020F0502020204030204" pitchFamily="34" charset="0"/>
              </a:rPr>
              <a:t>Update the content by appending a new line of text to the existing content.</a:t>
            </a:r>
          </a:p>
          <a:p>
            <a:pPr lvl="1"/>
            <a:r>
              <a:rPr lang="en-US" sz="1800" b="0" i="0" u="none" strike="noStrike" baseline="0" dirty="0">
                <a:latin typeface="Calibri" panose="020F0502020204030204" pitchFamily="34" charset="0"/>
                <a:cs typeface="Calibri" panose="020F0502020204030204" pitchFamily="34" charset="0"/>
              </a:rPr>
              <a:t>Rewrite the updated content back to the same text file (example2.txt) and read the file again using </a:t>
            </a:r>
            <a:r>
              <a:rPr lang="en-US" sz="1800" b="0" i="0" u="none" strike="noStrike" baseline="0" dirty="0" err="1">
                <a:latin typeface="Calibri" panose="020F0502020204030204" pitchFamily="34" charset="0"/>
                <a:cs typeface="Calibri" panose="020F0502020204030204" pitchFamily="34" charset="0"/>
              </a:rPr>
              <a:t>fscanf</a:t>
            </a:r>
            <a:r>
              <a:rPr lang="en-US" sz="1800" b="0" i="0" u="none" strike="noStrike" baseline="0" dirty="0">
                <a:latin typeface="Calibri" panose="020F0502020204030204" pitchFamily="34" charset="0"/>
                <a:cs typeface="Calibri" panose="020F0502020204030204" pitchFamily="34" charset="0"/>
              </a:rPr>
              <a:t>.</a:t>
            </a:r>
          </a:p>
          <a:p>
            <a:pPr lvl="1"/>
            <a:r>
              <a:rPr lang="en-US" sz="1800" b="0" i="0" u="none" strike="noStrike" baseline="0" dirty="0">
                <a:latin typeface="Calibri" panose="020F0502020204030204" pitchFamily="34" charset="0"/>
                <a:cs typeface="Calibri" panose="020F0502020204030204" pitchFamily="34" charset="0"/>
              </a:rPr>
              <a:t>Close the file after the operations are completed.</a:t>
            </a:r>
            <a:endParaRPr lang="en-US" sz="2000" dirty="0">
              <a:latin typeface="Calibri" panose="020F0502020204030204" pitchFamily="34" charset="0"/>
              <a:cs typeface="Calibri" panose="020F0502020204030204" pitchFamily="34" charset="0"/>
            </a:endParaRPr>
          </a:p>
          <a:p>
            <a:pPr marL="0" indent="0" algn="l">
              <a:buNone/>
            </a:pPr>
            <a:endParaRPr lang="en-US" sz="2400" b="0" i="0" u="none" strike="noStrike" baseline="0" dirty="0">
              <a:latin typeface="Calibri" panose="020F0502020204030204" pitchFamily="34" charset="0"/>
              <a:cs typeface="Calibri" panose="020F0502020204030204" pitchFamily="34" charset="0"/>
            </a:endParaRPr>
          </a:p>
          <a:p>
            <a:pPr algn="l"/>
            <a:endParaRPr lang="en-US" sz="1800" b="0" i="0" u="none" strike="noStrike" baseline="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D95A2CA9-053E-C1D5-FE1B-9886F84142CC}"/>
              </a:ext>
            </a:extLst>
          </p:cNvPr>
          <p:cNvPicPr>
            <a:picLocks noChangeAspect="1"/>
          </p:cNvPicPr>
          <p:nvPr/>
        </p:nvPicPr>
        <p:blipFill rotWithShape="1">
          <a:blip r:embed="rId2">
            <a:extLst>
              <a:ext uri="{28A0092B-C50C-407E-A947-70E740481C1C}">
                <a14:useLocalDpi xmlns:a14="http://schemas.microsoft.com/office/drawing/2010/main" val="0"/>
              </a:ext>
            </a:extLst>
          </a:blip>
          <a:srcRect l="5249" t="5324" r="5645" b="67273"/>
          <a:stretch/>
        </p:blipFill>
        <p:spPr>
          <a:xfrm>
            <a:off x="1588655" y="4136231"/>
            <a:ext cx="6253019" cy="1879311"/>
          </a:xfrm>
          <a:prstGeom prst="rect">
            <a:avLst/>
          </a:prstGeom>
        </p:spPr>
      </p:pic>
      <p:sp>
        <p:nvSpPr>
          <p:cNvPr id="6" name="TextBox 5">
            <a:extLst>
              <a:ext uri="{FF2B5EF4-FFF2-40B4-BE49-F238E27FC236}">
                <a16:creationId xmlns:a16="http://schemas.microsoft.com/office/drawing/2014/main" id="{C9194991-CE57-D8BD-A99D-F0494DC08183}"/>
              </a:ext>
            </a:extLst>
          </p:cNvPr>
          <p:cNvSpPr txBox="1"/>
          <p:nvPr/>
        </p:nvSpPr>
        <p:spPr>
          <a:xfrm>
            <a:off x="3787570" y="5646210"/>
            <a:ext cx="1855188" cy="369332"/>
          </a:xfrm>
          <a:prstGeom prst="rect">
            <a:avLst/>
          </a:prstGeom>
          <a:noFill/>
        </p:spPr>
        <p:txBody>
          <a:bodyPr wrap="none" rtlCol="0">
            <a:spAutoFit/>
          </a:bodyPr>
          <a:lstStyle/>
          <a:p>
            <a:r>
              <a:rPr lang="en-GB" dirty="0">
                <a:latin typeface="Calibri" panose="020F0502020204030204" pitchFamily="34" charset="0"/>
                <a:cs typeface="Calibri" panose="020F0502020204030204" pitchFamily="34" charset="0"/>
              </a:rPr>
              <a:t>Example2 text file</a:t>
            </a:r>
          </a:p>
        </p:txBody>
      </p:sp>
    </p:spTree>
    <p:extLst>
      <p:ext uri="{BB962C8B-B14F-4D97-AF65-F5344CB8AC3E}">
        <p14:creationId xmlns:p14="http://schemas.microsoft.com/office/powerpoint/2010/main" val="638839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4: </a:t>
            </a:r>
            <a:r>
              <a:rPr lang="en-US" b="1" dirty="0" err="1"/>
              <a:t>fscanf</a:t>
            </a:r>
            <a:r>
              <a:rPr lang="en-US" b="1" dirty="0"/>
              <a:t>() and </a:t>
            </a:r>
            <a:r>
              <a:rPr lang="en-US" b="1" dirty="0" err="1"/>
              <a:t>fprintf</a:t>
            </a:r>
            <a:r>
              <a:rPr lang="en-US" b="1" dirty="0"/>
              <a:t>()</a:t>
            </a:r>
            <a:endParaRPr lang="en-GB" b="1" dirty="0"/>
          </a:p>
        </p:txBody>
      </p:sp>
      <p:pic>
        <p:nvPicPr>
          <p:cNvPr id="5" name="Picture 4" descr="A screenshot of a computer screen&#10;&#10;Description automatically generated">
            <a:extLst>
              <a:ext uri="{FF2B5EF4-FFF2-40B4-BE49-F238E27FC236}">
                <a16:creationId xmlns:a16="http://schemas.microsoft.com/office/drawing/2014/main" id="{6EFEA802-0A7E-6FF4-1B54-91751261A03C}"/>
              </a:ext>
            </a:extLst>
          </p:cNvPr>
          <p:cNvPicPr>
            <a:picLocks noChangeAspect="1"/>
          </p:cNvPicPr>
          <p:nvPr/>
        </p:nvPicPr>
        <p:blipFill rotWithShape="1">
          <a:blip r:embed="rId2">
            <a:extLst>
              <a:ext uri="{28A0092B-C50C-407E-A947-70E740481C1C}">
                <a14:useLocalDpi xmlns:a14="http://schemas.microsoft.com/office/drawing/2010/main" val="0"/>
              </a:ext>
            </a:extLst>
          </a:blip>
          <a:srcRect l="5381" t="9697" r="33284" b="19731"/>
          <a:stretch/>
        </p:blipFill>
        <p:spPr>
          <a:xfrm>
            <a:off x="7185891" y="1422400"/>
            <a:ext cx="4729017" cy="5317608"/>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8C414B5B-A510-AC47-B124-830879E7A75B}"/>
              </a:ext>
            </a:extLst>
          </p:cNvPr>
          <p:cNvPicPr>
            <a:picLocks noChangeAspect="1"/>
          </p:cNvPicPr>
          <p:nvPr/>
        </p:nvPicPr>
        <p:blipFill rotWithShape="1">
          <a:blip r:embed="rId3">
            <a:extLst>
              <a:ext uri="{28A0092B-C50C-407E-A947-70E740481C1C}">
                <a14:useLocalDpi xmlns:a14="http://schemas.microsoft.com/office/drawing/2010/main" val="0"/>
              </a:ext>
            </a:extLst>
          </a:blip>
          <a:srcRect l="2747" t="3095" r="19542" b="57439"/>
          <a:stretch/>
        </p:blipFill>
        <p:spPr>
          <a:xfrm>
            <a:off x="360219" y="4081204"/>
            <a:ext cx="6410036" cy="2364510"/>
          </a:xfrm>
          <a:prstGeom prst="rect">
            <a:avLst/>
          </a:prstGeom>
        </p:spPr>
      </p:pic>
    </p:spTree>
    <p:extLst>
      <p:ext uri="{BB962C8B-B14F-4D97-AF65-F5344CB8AC3E}">
        <p14:creationId xmlns:p14="http://schemas.microsoft.com/office/powerpoint/2010/main" val="2706703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4: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1" dirty="0" err="1">
                <a:latin typeface="Calibri" panose="020F0502020204030204" pitchFamily="34" charset="0"/>
                <a:cs typeface="Calibri" panose="020F0502020204030204" pitchFamily="34" charset="0"/>
              </a:rPr>
              <a:t>fscanf</a:t>
            </a:r>
            <a:r>
              <a:rPr lang="en-US" sz="2200" b="1" dirty="0">
                <a:latin typeface="Calibri" panose="020F0502020204030204" pitchFamily="34" charset="0"/>
                <a:cs typeface="Calibri" panose="020F0502020204030204" pitchFamily="34" charset="0"/>
              </a:rPr>
              <a:t>(file, "%255s", buffer):</a:t>
            </a:r>
          </a:p>
          <a:p>
            <a:pPr lvl="1" algn="just"/>
            <a:r>
              <a:rPr lang="en-US" sz="2000" dirty="0">
                <a:latin typeface="Calibri" panose="020F0502020204030204" pitchFamily="34" charset="0"/>
                <a:cs typeface="Calibri" panose="020F0502020204030204" pitchFamily="34" charset="0"/>
              </a:rPr>
              <a:t>Reads a string (up to 255 characters) from the file and stores it in buffer. The %255s format specifier tells </a:t>
            </a:r>
            <a:r>
              <a:rPr lang="en-US" sz="2000" dirty="0" err="1">
                <a:latin typeface="Calibri" panose="020F0502020204030204" pitchFamily="34" charset="0"/>
                <a:cs typeface="Calibri" panose="020F0502020204030204" pitchFamily="34" charset="0"/>
              </a:rPr>
              <a:t>fscanf</a:t>
            </a:r>
            <a:r>
              <a:rPr lang="en-US" sz="2000" dirty="0">
                <a:latin typeface="Calibri" panose="020F0502020204030204" pitchFamily="34" charset="0"/>
                <a:cs typeface="Calibri" panose="020F0502020204030204" pitchFamily="34" charset="0"/>
              </a:rPr>
              <a:t> to read a string, but only up to 255 characters to avoid buffer overflow.</a:t>
            </a:r>
          </a:p>
          <a:p>
            <a:pPr lvl="1" algn="just"/>
            <a:r>
              <a:rPr lang="en-US" sz="2000" dirty="0">
                <a:latin typeface="Calibri" panose="020F0502020204030204" pitchFamily="34" charset="0"/>
                <a:cs typeface="Calibri" panose="020F0502020204030204" pitchFamily="34" charset="0"/>
              </a:rPr>
              <a:t>It reads input word by word. Each word is defined as a sequence of characters delimited by whitespace (space, newline, etc.).</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Printing Words:</a:t>
            </a:r>
          </a:p>
          <a:p>
            <a:pPr lvl="1" algn="just"/>
            <a:r>
              <a:rPr lang="en-US" sz="2000" dirty="0">
                <a:latin typeface="Calibri" panose="020F0502020204030204" pitchFamily="34" charset="0"/>
                <a:cs typeface="Calibri" panose="020F0502020204030204" pitchFamily="34" charset="0"/>
              </a:rPr>
              <a:t>After reading each word, it is immediately printed with a space for separation. </a:t>
            </a:r>
          </a:p>
          <a:p>
            <a:pPr lvl="1" algn="just"/>
            <a:r>
              <a:rPr lang="en-US" sz="2000" dirty="0">
                <a:latin typeface="Calibri" panose="020F0502020204030204" pitchFamily="34" charset="0"/>
                <a:cs typeface="Calibri" panose="020F0502020204030204" pitchFamily="34" charset="0"/>
              </a:rPr>
              <a:t>The final output may differ slightly because </a:t>
            </a:r>
            <a:r>
              <a:rPr lang="en-US" sz="2000" dirty="0" err="1">
                <a:latin typeface="Calibri" panose="020F0502020204030204" pitchFamily="34" charset="0"/>
                <a:cs typeface="Calibri" panose="020F0502020204030204" pitchFamily="34" charset="0"/>
              </a:rPr>
              <a:t>fscanf</a:t>
            </a:r>
            <a:r>
              <a:rPr lang="en-US" sz="2000" dirty="0">
                <a:latin typeface="Calibri" panose="020F0502020204030204" pitchFamily="34" charset="0"/>
                <a:cs typeface="Calibri" panose="020F0502020204030204" pitchFamily="34" charset="0"/>
              </a:rPr>
              <a:t> will ignore whitespace and treat consecutive words as separate inputs.</a:t>
            </a:r>
          </a:p>
        </p:txBody>
      </p:sp>
    </p:spTree>
    <p:extLst>
      <p:ext uri="{BB962C8B-B14F-4D97-AF65-F5344CB8AC3E}">
        <p14:creationId xmlns:p14="http://schemas.microsoft.com/office/powerpoint/2010/main" val="3750277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4: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1" dirty="0">
                <a:latin typeface="Calibri" panose="020F0502020204030204" pitchFamily="34" charset="0"/>
                <a:cs typeface="Calibri" panose="020F0502020204030204" pitchFamily="34" charset="0"/>
              </a:rPr>
              <a:t>Usage Scenario</a:t>
            </a:r>
          </a:p>
          <a:p>
            <a:pPr lvl="1" algn="just"/>
            <a:r>
              <a:rPr lang="en-US" sz="2000" dirty="0" err="1">
                <a:latin typeface="Calibri" panose="020F0502020204030204" pitchFamily="34" charset="0"/>
                <a:cs typeface="Calibri" panose="020F0502020204030204" pitchFamily="34" charset="0"/>
              </a:rPr>
              <a:t>fgetc</a:t>
            </a:r>
            <a:r>
              <a:rPr lang="en-US" sz="2000" dirty="0">
                <a:latin typeface="Calibri" panose="020F0502020204030204" pitchFamily="34" charset="0"/>
                <a:cs typeface="Calibri" panose="020F0502020204030204" pitchFamily="34" charset="0"/>
              </a:rPr>
              <a:t>: Use </a:t>
            </a:r>
            <a:r>
              <a:rPr lang="en-US" sz="2000" dirty="0" err="1">
                <a:latin typeface="Calibri" panose="020F0502020204030204" pitchFamily="34" charset="0"/>
                <a:cs typeface="Calibri" panose="020F0502020204030204" pitchFamily="34" charset="0"/>
              </a:rPr>
              <a:t>fgetc</a:t>
            </a:r>
            <a:r>
              <a:rPr lang="en-US" sz="2000" dirty="0">
                <a:latin typeface="Calibri" panose="020F0502020204030204" pitchFamily="34" charset="0"/>
                <a:cs typeface="Calibri" panose="020F0502020204030204" pitchFamily="34" charset="0"/>
              </a:rPr>
              <a:t> when you want to read a file character by character, including all spaces, newlines, and other whitespace.</a:t>
            </a:r>
          </a:p>
          <a:p>
            <a:pPr lvl="1" algn="just"/>
            <a:r>
              <a:rPr lang="en-US" sz="2000" dirty="0" err="1">
                <a:latin typeface="Calibri" panose="020F0502020204030204" pitchFamily="34" charset="0"/>
                <a:cs typeface="Calibri" panose="020F0502020204030204" pitchFamily="34" charset="0"/>
              </a:rPr>
              <a:t>fscanf</a:t>
            </a:r>
            <a:r>
              <a:rPr lang="en-US" sz="2000" dirty="0">
                <a:latin typeface="Calibri" panose="020F0502020204030204" pitchFamily="34" charset="0"/>
                <a:cs typeface="Calibri" panose="020F0502020204030204" pitchFamily="34" charset="0"/>
              </a:rPr>
              <a:t>: Use </a:t>
            </a:r>
            <a:r>
              <a:rPr lang="en-US" sz="2000" dirty="0" err="1">
                <a:latin typeface="Calibri" panose="020F0502020204030204" pitchFamily="34" charset="0"/>
                <a:cs typeface="Calibri" panose="020F0502020204030204" pitchFamily="34" charset="0"/>
              </a:rPr>
              <a:t>fscanf</a:t>
            </a:r>
            <a:r>
              <a:rPr lang="en-US" sz="2000" dirty="0">
                <a:latin typeface="Calibri" panose="020F0502020204030204" pitchFamily="34" charset="0"/>
                <a:cs typeface="Calibri" panose="020F0502020204030204" pitchFamily="34" charset="0"/>
              </a:rPr>
              <a:t> when you want to read formatted data like integers, floats, or strings (words). It's good for reading files where data is structured and separated by whitespace.</a:t>
            </a:r>
          </a:p>
          <a:p>
            <a:pPr algn="just"/>
            <a:endParaRPr lang="en-US" sz="22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Notes</a:t>
            </a:r>
          </a:p>
          <a:p>
            <a:pPr lvl="1" algn="just"/>
            <a:r>
              <a:rPr lang="en-US" sz="1800" dirty="0">
                <a:latin typeface="Calibri" panose="020F0502020204030204" pitchFamily="34" charset="0"/>
                <a:cs typeface="Calibri" panose="020F0502020204030204" pitchFamily="34" charset="0"/>
              </a:rPr>
              <a:t>Using </a:t>
            </a:r>
            <a:r>
              <a:rPr lang="en-US" sz="1800" dirty="0" err="1">
                <a:latin typeface="Calibri" panose="020F0502020204030204" pitchFamily="34" charset="0"/>
                <a:cs typeface="Calibri" panose="020F0502020204030204" pitchFamily="34" charset="0"/>
              </a:rPr>
              <a:t>fscanf</a:t>
            </a:r>
            <a:r>
              <a:rPr lang="en-US" sz="1800" dirty="0">
                <a:latin typeface="Calibri" panose="020F0502020204030204" pitchFamily="34" charset="0"/>
                <a:cs typeface="Calibri" panose="020F0502020204030204" pitchFamily="34" charset="0"/>
              </a:rPr>
              <a:t> for file content reading in this way will treat each word separately, and it will change the original formatting, such as multiple spaces and newlines, which </a:t>
            </a:r>
            <a:r>
              <a:rPr lang="en-US" sz="1800" dirty="0" err="1">
                <a:latin typeface="Calibri" panose="020F0502020204030204" pitchFamily="34" charset="0"/>
                <a:cs typeface="Calibri" panose="020F0502020204030204" pitchFamily="34" charset="0"/>
              </a:rPr>
              <a:t>fgetc</a:t>
            </a:r>
            <a:r>
              <a:rPr lang="en-US" sz="1800" dirty="0">
                <a:latin typeface="Calibri" panose="020F0502020204030204" pitchFamily="34" charset="0"/>
                <a:cs typeface="Calibri" panose="020F0502020204030204" pitchFamily="34" charset="0"/>
              </a:rPr>
              <a:t> would preserve.</a:t>
            </a:r>
          </a:p>
          <a:p>
            <a:pPr lvl="1" algn="just"/>
            <a:r>
              <a:rPr lang="en-US" sz="1800" dirty="0">
                <a:latin typeface="Calibri" panose="020F0502020204030204" pitchFamily="34" charset="0"/>
                <a:cs typeface="Calibri" panose="020F0502020204030204" pitchFamily="34" charset="0"/>
              </a:rPr>
              <a:t>Choose the method (</a:t>
            </a:r>
            <a:r>
              <a:rPr lang="en-US" sz="1800" dirty="0" err="1">
                <a:latin typeface="Calibri" panose="020F0502020204030204" pitchFamily="34" charset="0"/>
                <a:cs typeface="Calibri" panose="020F0502020204030204" pitchFamily="34" charset="0"/>
              </a:rPr>
              <a:t>fgetc</a:t>
            </a:r>
            <a:r>
              <a:rPr lang="en-US" sz="1800" dirty="0">
                <a:latin typeface="Calibri" panose="020F0502020204030204" pitchFamily="34" charset="0"/>
                <a:cs typeface="Calibri" panose="020F0502020204030204" pitchFamily="34" charset="0"/>
              </a:rPr>
              <a:t> or </a:t>
            </a:r>
            <a:r>
              <a:rPr lang="en-US" sz="1800" dirty="0" err="1">
                <a:latin typeface="Calibri" panose="020F0502020204030204" pitchFamily="34" charset="0"/>
                <a:cs typeface="Calibri" panose="020F0502020204030204" pitchFamily="34" charset="0"/>
              </a:rPr>
              <a:t>fscanf</a:t>
            </a:r>
            <a:r>
              <a:rPr lang="en-US" sz="1800" dirty="0">
                <a:latin typeface="Calibri" panose="020F0502020204030204" pitchFamily="34" charset="0"/>
                <a:cs typeface="Calibri" panose="020F0502020204030204" pitchFamily="34" charset="0"/>
              </a:rPr>
              <a:t>) based on the specific needs of an application.</a:t>
            </a: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6865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a:t>Generic Byte Transfer with </a:t>
            </a:r>
            <a:r>
              <a:rPr lang="en-US" b="1" dirty="0" err="1"/>
              <a:t>fread</a:t>
            </a:r>
            <a:r>
              <a:rPr lang="en-US" b="1" dirty="0"/>
              <a:t>() and </a:t>
            </a:r>
            <a:r>
              <a:rPr lang="en-US" b="1" dirty="0" err="1"/>
              <a:t>fwrite</a:t>
            </a:r>
            <a:r>
              <a:rPr lang="en-US" b="1" dirty="0"/>
              <a:t>()</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err="1">
                <a:latin typeface="Calibri" panose="020F0502020204030204" pitchFamily="34" charset="0"/>
                <a:cs typeface="Calibri" panose="020F0502020204030204" pitchFamily="34" charset="0"/>
              </a:rPr>
              <a:t>fread</a:t>
            </a:r>
            <a:r>
              <a:rPr lang="en-US" sz="2200" dirty="0">
                <a:latin typeface="Calibri" panose="020F0502020204030204" pitchFamily="34" charset="0"/>
                <a:cs typeface="Calibri" panose="020F0502020204030204" pitchFamily="34" charset="0"/>
              </a:rPr>
              <a:t>() and </a:t>
            </a:r>
            <a:r>
              <a:rPr lang="en-US" sz="2200" dirty="0" err="1">
                <a:latin typeface="Calibri" panose="020F0502020204030204" pitchFamily="34" charset="0"/>
                <a:cs typeface="Calibri" panose="020F0502020204030204" pitchFamily="34" charset="0"/>
              </a:rPr>
              <a:t>fwrite</a:t>
            </a:r>
            <a:r>
              <a:rPr lang="en-US" sz="2200" dirty="0">
                <a:latin typeface="Calibri" panose="020F0502020204030204" pitchFamily="34" charset="0"/>
                <a:cs typeface="Calibri" panose="020F0502020204030204" pitchFamily="34" charset="0"/>
              </a:rPr>
              <a:t>() Functions for Raw Data Transfer: Unlike </a:t>
            </a:r>
            <a:r>
              <a:rPr lang="en-US" sz="2200" dirty="0" err="1">
                <a:latin typeface="Calibri" panose="020F0502020204030204" pitchFamily="34" charset="0"/>
                <a:cs typeface="Calibri" panose="020F0502020204030204" pitchFamily="34" charset="0"/>
              </a:rPr>
              <a:t>fscanf</a:t>
            </a:r>
            <a:r>
              <a:rPr lang="en-US" sz="2200" dirty="0">
                <a:latin typeface="Calibri" panose="020F0502020204030204" pitchFamily="34" charset="0"/>
                <a:cs typeface="Calibri" panose="020F0502020204030204" pitchFamily="34" charset="0"/>
              </a:rPr>
              <a:t>() and </a:t>
            </a:r>
            <a:r>
              <a:rPr lang="en-US" sz="2200" dirty="0" err="1">
                <a:latin typeface="Calibri" panose="020F0502020204030204" pitchFamily="34" charset="0"/>
                <a:cs typeface="Calibri" panose="020F0502020204030204" pitchFamily="34" charset="0"/>
              </a:rPr>
              <a:t>fprintf</a:t>
            </a:r>
            <a:r>
              <a:rPr lang="en-US" sz="2200" dirty="0">
                <a:latin typeface="Calibri" panose="020F0502020204030204" pitchFamily="34" charset="0"/>
                <a:cs typeface="Calibri" panose="020F0502020204030204" pitchFamily="34" charset="0"/>
              </a:rPr>
              <a:t>(), these functions transfer raw bytes without interpreting or formatting them, making them suitable for handling binary data or custom data formats.</a:t>
            </a:r>
          </a:p>
          <a:p>
            <a:pPr lvl="1" algn="just"/>
            <a:r>
              <a:rPr lang="en-US" sz="2000" dirty="0" err="1">
                <a:latin typeface="Calibri" panose="020F0502020204030204" pitchFamily="34" charset="0"/>
                <a:cs typeface="Calibri" panose="020F0502020204030204" pitchFamily="34" charset="0"/>
              </a:rPr>
              <a:t>fread</a:t>
            </a:r>
            <a:r>
              <a:rPr lang="en-US" sz="2000" dirty="0">
                <a:latin typeface="Calibri" panose="020F0502020204030204" pitchFamily="34" charset="0"/>
                <a:cs typeface="Calibri" panose="020F0502020204030204" pitchFamily="34" charset="0"/>
              </a:rPr>
              <a:t>() Function: Reads a specified number of bytes from a stream and stores them in a memory location within the program.</a:t>
            </a:r>
          </a:p>
          <a:p>
            <a:pPr lvl="1" algn="just"/>
            <a:r>
              <a:rPr lang="en-US" sz="2000" dirty="0" err="1">
                <a:latin typeface="Calibri" panose="020F0502020204030204" pitchFamily="34" charset="0"/>
                <a:cs typeface="Calibri" panose="020F0502020204030204" pitchFamily="34" charset="0"/>
              </a:rPr>
              <a:t>fwrite</a:t>
            </a:r>
            <a:r>
              <a:rPr lang="en-US" sz="2000" dirty="0">
                <a:latin typeface="Calibri" panose="020F0502020204030204" pitchFamily="34" charset="0"/>
                <a:cs typeface="Calibri" panose="020F0502020204030204" pitchFamily="34" charset="0"/>
              </a:rPr>
              <a:t>() Function: Writes a specified number of bytes from a memory location in the program to a stream.</a:t>
            </a:r>
          </a:p>
          <a:p>
            <a:pPr algn="just"/>
            <a:endParaRPr lang="en-US" sz="2200"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7B9F95CC-1191-34DF-93AC-03BD24F2FDD8}"/>
              </a:ext>
            </a:extLst>
          </p:cNvPr>
          <p:cNvGraphicFramePr>
            <a:graphicFrameLocks noGrp="1"/>
          </p:cNvGraphicFramePr>
          <p:nvPr>
            <p:extLst>
              <p:ext uri="{D42A27DB-BD31-4B8C-83A1-F6EECF244321}">
                <p14:modId xmlns:p14="http://schemas.microsoft.com/office/powerpoint/2010/main" val="1641044142"/>
              </p:ext>
            </p:extLst>
          </p:nvPr>
        </p:nvGraphicFramePr>
        <p:xfrm>
          <a:off x="1110671" y="4223785"/>
          <a:ext cx="3128820" cy="1691640"/>
        </p:xfrm>
        <a:graphic>
          <a:graphicData uri="http://schemas.openxmlformats.org/drawingml/2006/table">
            <a:tbl>
              <a:tblPr firstRow="1" bandRow="1">
                <a:tableStyleId>{5C22544A-7EE6-4342-B048-85BDC9FD1C3A}</a:tableStyleId>
              </a:tblPr>
              <a:tblGrid>
                <a:gridCol w="3128820">
                  <a:extLst>
                    <a:ext uri="{9D8B030D-6E8A-4147-A177-3AD203B41FA5}">
                      <a16:colId xmlns:a16="http://schemas.microsoft.com/office/drawing/2014/main" val="3079103876"/>
                    </a:ext>
                  </a:extLst>
                </a:gridCol>
              </a:tblGrid>
              <a:tr h="538021">
                <a:tc>
                  <a:txBody>
                    <a:bodyPr/>
                    <a:lstStyle/>
                    <a:p>
                      <a:r>
                        <a:rPr lang="sv-SE" sz="1500" b="0" dirty="0">
                          <a:solidFill>
                            <a:schemeClr val="tx2">
                              <a:lumMod val="75000"/>
                              <a:lumOff val="25000"/>
                            </a:schemeClr>
                          </a:solidFill>
                          <a:latin typeface="Calibri" panose="020F0502020204030204" pitchFamily="34" charset="0"/>
                          <a:cs typeface="Calibri" panose="020F0502020204030204" pitchFamily="34" charset="0"/>
                        </a:rPr>
                        <a:t>FILE *</a:t>
                      </a:r>
                      <a:r>
                        <a:rPr lang="sv-SE" sz="1500" b="0" dirty="0" err="1">
                          <a:solidFill>
                            <a:schemeClr val="tx2">
                              <a:lumMod val="75000"/>
                              <a:lumOff val="25000"/>
                            </a:schemeClr>
                          </a:solidFill>
                          <a:latin typeface="Calibri" panose="020F0502020204030204" pitchFamily="34" charset="0"/>
                          <a:cs typeface="Calibri" panose="020F0502020204030204" pitchFamily="34" charset="0"/>
                        </a:rPr>
                        <a:t>fpt</a:t>
                      </a:r>
                      <a:r>
                        <a:rPr lang="sv-SE" sz="1500" b="0" dirty="0">
                          <a:solidFill>
                            <a:schemeClr val="tx2">
                              <a:lumMod val="75000"/>
                              <a:lumOff val="25000"/>
                            </a:schemeClr>
                          </a:solidFill>
                          <a:latin typeface="Calibri" panose="020F0502020204030204" pitchFamily="34" charset="0"/>
                          <a:cs typeface="Calibri" panose="020F0502020204030204" pitchFamily="34" charset="0"/>
                        </a:rPr>
                        <a:t>; </a:t>
                      </a:r>
                    </a:p>
                    <a:p>
                      <a:r>
                        <a:rPr lang="sv-SE" sz="1500" b="0" dirty="0">
                          <a:solidFill>
                            <a:schemeClr val="tx2">
                              <a:lumMod val="75000"/>
                              <a:lumOff val="25000"/>
                            </a:schemeClr>
                          </a:solidFill>
                          <a:latin typeface="Calibri" panose="020F0502020204030204" pitchFamily="34" charset="0"/>
                          <a:cs typeface="Calibri" panose="020F0502020204030204" pitchFamily="34" charset="0"/>
                        </a:rPr>
                        <a:t>char text[80]; </a:t>
                      </a:r>
                    </a:p>
                    <a:p>
                      <a:r>
                        <a:rPr lang="sv-SE" sz="1500" b="0" dirty="0" err="1">
                          <a:solidFill>
                            <a:schemeClr val="tx2">
                              <a:lumMod val="75000"/>
                              <a:lumOff val="25000"/>
                            </a:schemeClr>
                          </a:solidFill>
                          <a:latin typeface="Calibri" panose="020F0502020204030204" pitchFamily="34" charset="0"/>
                          <a:cs typeface="Calibri" panose="020F0502020204030204" pitchFamily="34" charset="0"/>
                        </a:rPr>
                        <a:t>fpt</a:t>
                      </a:r>
                      <a:r>
                        <a:rPr lang="sv-SE" sz="1500" b="0" dirty="0">
                          <a:solidFill>
                            <a:schemeClr val="tx2">
                              <a:lumMod val="75000"/>
                              <a:lumOff val="25000"/>
                            </a:schemeClr>
                          </a:solidFill>
                          <a:latin typeface="Calibri" panose="020F0502020204030204" pitchFamily="34" charset="0"/>
                          <a:cs typeface="Calibri" panose="020F0502020204030204" pitchFamily="34" charset="0"/>
                        </a:rPr>
                        <a:t> = </a:t>
                      </a:r>
                      <a:r>
                        <a:rPr lang="sv-SE" sz="1500" b="0" dirty="0" err="1">
                          <a:solidFill>
                            <a:schemeClr val="tx2">
                              <a:lumMod val="75000"/>
                              <a:lumOff val="25000"/>
                            </a:schemeClr>
                          </a:solidFill>
                          <a:latin typeface="Calibri" panose="020F0502020204030204" pitchFamily="34" charset="0"/>
                          <a:cs typeface="Calibri" panose="020F0502020204030204" pitchFamily="34" charset="0"/>
                        </a:rPr>
                        <a:t>fopen</a:t>
                      </a:r>
                      <a:r>
                        <a:rPr lang="sv-SE" sz="1500" b="0" dirty="0">
                          <a:solidFill>
                            <a:schemeClr val="tx2">
                              <a:lumMod val="75000"/>
                              <a:lumOff val="25000"/>
                            </a:schemeClr>
                          </a:solidFill>
                          <a:latin typeface="Calibri" panose="020F0502020204030204" pitchFamily="34" charset="0"/>
                          <a:cs typeface="Calibri" panose="020F0502020204030204" pitchFamily="34" charset="0"/>
                        </a:rPr>
                        <a:t>("example2.txt", "r"); </a:t>
                      </a:r>
                    </a:p>
                    <a:p>
                      <a:r>
                        <a:rPr lang="en-US" sz="1500" b="0" dirty="0" err="1">
                          <a:solidFill>
                            <a:schemeClr val="tx2">
                              <a:lumMod val="75000"/>
                              <a:lumOff val="25000"/>
                            </a:schemeClr>
                          </a:solidFill>
                          <a:latin typeface="Calibri" panose="020F0502020204030204" pitchFamily="34" charset="0"/>
                          <a:cs typeface="Calibri" panose="020F0502020204030204" pitchFamily="34" charset="0"/>
                        </a:rPr>
                        <a:t>fread</a:t>
                      </a:r>
                      <a:r>
                        <a:rPr lang="en-US" sz="1500" b="0" dirty="0">
                          <a:solidFill>
                            <a:schemeClr val="tx2">
                              <a:lumMod val="75000"/>
                              <a:lumOff val="25000"/>
                            </a:schemeClr>
                          </a:solidFill>
                          <a:latin typeface="Calibri" panose="020F0502020204030204" pitchFamily="34" charset="0"/>
                          <a:cs typeface="Calibri" panose="020F0502020204030204" pitchFamily="34" charset="0"/>
                        </a:rPr>
                        <a:t>(text, 1, 33,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a:t>
                      </a:r>
                    </a:p>
                    <a:p>
                      <a:r>
                        <a:rPr lang="en-US" sz="1500" b="0" dirty="0">
                          <a:solidFill>
                            <a:schemeClr val="tx2">
                              <a:lumMod val="75000"/>
                              <a:lumOff val="25000"/>
                            </a:schemeClr>
                          </a:solidFill>
                          <a:latin typeface="Calibri" panose="020F0502020204030204" pitchFamily="34" charset="0"/>
                          <a:cs typeface="Calibri" panose="020F0502020204030204" pitchFamily="34" charset="0"/>
                        </a:rPr>
                        <a:t>text[33] = '\0';</a:t>
                      </a:r>
                    </a:p>
                    <a:p>
                      <a:r>
                        <a:rPr lang="en-US" sz="1500" b="0" dirty="0" err="1">
                          <a:solidFill>
                            <a:schemeClr val="tx2">
                              <a:lumMod val="75000"/>
                              <a:lumOff val="25000"/>
                            </a:schemeClr>
                          </a:solidFill>
                          <a:latin typeface="Calibri" panose="020F0502020204030204" pitchFamily="34" charset="0"/>
                          <a:cs typeface="Calibri" panose="020F0502020204030204" pitchFamily="34" charset="0"/>
                        </a:rPr>
                        <a:t>printf</a:t>
                      </a:r>
                      <a:r>
                        <a:rPr lang="en-US" sz="1500" b="0" dirty="0">
                          <a:solidFill>
                            <a:schemeClr val="tx2">
                              <a:lumMod val="75000"/>
                              <a:lumOff val="25000"/>
                            </a:schemeClr>
                          </a:solidFill>
                          <a:latin typeface="Calibri" panose="020F0502020204030204" pitchFamily="34" charset="0"/>
                          <a:cs typeface="Calibri" panose="020F0502020204030204" pitchFamily="34" charset="0"/>
                        </a:rPr>
                        <a:t>("%s\n", text);</a:t>
                      </a:r>
                    </a:p>
                    <a:p>
                      <a:r>
                        <a:rPr lang="en-US" sz="1500" b="0" dirty="0" err="1">
                          <a:solidFill>
                            <a:schemeClr val="tx2">
                              <a:lumMod val="75000"/>
                              <a:lumOff val="25000"/>
                            </a:schemeClr>
                          </a:solidFill>
                          <a:latin typeface="Calibri" panose="020F0502020204030204" pitchFamily="34" charset="0"/>
                          <a:cs typeface="Calibri" panose="020F0502020204030204" pitchFamily="34" charset="0"/>
                        </a:rPr>
                        <a:t>fclose</a:t>
                      </a:r>
                      <a:r>
                        <a:rPr lang="en-US" sz="1500" b="0" dirty="0">
                          <a:solidFill>
                            <a:schemeClr val="tx2">
                              <a:lumMod val="75000"/>
                              <a:lumOff val="25000"/>
                            </a:schemeClr>
                          </a:solidFill>
                          <a:latin typeface="Calibri" panose="020F0502020204030204" pitchFamily="34" charset="0"/>
                          <a:cs typeface="Calibri" panose="020F0502020204030204" pitchFamily="34" charset="0"/>
                        </a:rPr>
                        <a:t>(</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pic>
        <p:nvPicPr>
          <p:cNvPr id="7" name="Picture 6">
            <a:extLst>
              <a:ext uri="{FF2B5EF4-FFF2-40B4-BE49-F238E27FC236}">
                <a16:creationId xmlns:a16="http://schemas.microsoft.com/office/drawing/2014/main" id="{61254651-F91D-2119-236C-BBF9EC407D42}"/>
              </a:ext>
            </a:extLst>
          </p:cNvPr>
          <p:cNvPicPr>
            <a:picLocks noChangeAspect="1"/>
          </p:cNvPicPr>
          <p:nvPr/>
        </p:nvPicPr>
        <p:blipFill rotWithShape="1">
          <a:blip r:embed="rId3">
            <a:extLst>
              <a:ext uri="{28A0092B-C50C-407E-A947-70E740481C1C}">
                <a14:useLocalDpi xmlns:a14="http://schemas.microsoft.com/office/drawing/2010/main" val="0"/>
              </a:ext>
            </a:extLst>
          </a:blip>
          <a:srcRect l="5249" t="5324" r="44198" b="84371"/>
          <a:stretch/>
        </p:blipFill>
        <p:spPr>
          <a:xfrm>
            <a:off x="5029454" y="4223785"/>
            <a:ext cx="4298051" cy="856212"/>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0F102CE8-CB86-8630-7BD0-11C1210B58B3}"/>
              </a:ext>
            </a:extLst>
          </p:cNvPr>
          <p:cNvPicPr>
            <a:picLocks noChangeAspect="1"/>
          </p:cNvPicPr>
          <p:nvPr/>
        </p:nvPicPr>
        <p:blipFill rotWithShape="1">
          <a:blip r:embed="rId4">
            <a:extLst>
              <a:ext uri="{28A0092B-C50C-407E-A947-70E740481C1C}">
                <a14:useLocalDpi xmlns:a14="http://schemas.microsoft.com/office/drawing/2010/main" val="0"/>
              </a:ext>
            </a:extLst>
          </a:blip>
          <a:srcRect l="2700" t="4134" r="26867" b="67631"/>
          <a:stretch/>
        </p:blipFill>
        <p:spPr>
          <a:xfrm>
            <a:off x="5029454" y="5268724"/>
            <a:ext cx="5139268" cy="1224151"/>
          </a:xfrm>
          <a:prstGeom prst="rect">
            <a:avLst/>
          </a:prstGeom>
        </p:spPr>
      </p:pic>
      <p:sp>
        <p:nvSpPr>
          <p:cNvPr id="11" name="TextBox 10">
            <a:extLst>
              <a:ext uri="{FF2B5EF4-FFF2-40B4-BE49-F238E27FC236}">
                <a16:creationId xmlns:a16="http://schemas.microsoft.com/office/drawing/2014/main" id="{866BB155-962E-C513-09B2-6BE79824D569}"/>
              </a:ext>
            </a:extLst>
          </p:cNvPr>
          <p:cNvSpPr txBox="1"/>
          <p:nvPr/>
        </p:nvSpPr>
        <p:spPr>
          <a:xfrm>
            <a:off x="249382" y="6176963"/>
            <a:ext cx="6096000" cy="323165"/>
          </a:xfrm>
          <a:prstGeom prst="rect">
            <a:avLst/>
          </a:prstGeom>
          <a:noFill/>
        </p:spPr>
        <p:txBody>
          <a:bodyPr wrap="square">
            <a:spAutoFit/>
          </a:bodyPr>
          <a:lstStyle/>
          <a:p>
            <a:r>
              <a:rPr lang="en-GB" sz="1500">
                <a:latin typeface="Calibri" panose="020F0502020204030204" pitchFamily="34" charset="0"/>
                <a:cs typeface="Calibri" panose="020F0502020204030204" pitchFamily="34" charset="0"/>
              </a:rPr>
              <a:t>Declares an 80-byte character array text to store file data.</a:t>
            </a:r>
            <a:endParaRPr lang="en-GB" sz="15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3835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normAutofit/>
          </a:bodyPr>
          <a:lstStyle/>
          <a:p>
            <a:r>
              <a:rPr lang="en-US" b="1" dirty="0"/>
              <a:t>Example5: Generic Byte Transfer with </a:t>
            </a:r>
            <a:r>
              <a:rPr lang="en-US" b="1" dirty="0" err="1"/>
              <a:t>fread</a:t>
            </a:r>
            <a:r>
              <a:rPr lang="en-US" b="1" dirty="0"/>
              <a:t>() and </a:t>
            </a:r>
            <a:r>
              <a:rPr lang="en-US" b="1" dirty="0" err="1"/>
              <a:t>fwrite</a:t>
            </a:r>
            <a:r>
              <a:rPr lang="en-US" b="1" dirty="0"/>
              <a:t>()</a:t>
            </a:r>
            <a:endParaRPr lang="en-GB" b="1" dirty="0"/>
          </a:p>
        </p:txBody>
      </p:sp>
      <p:pic>
        <p:nvPicPr>
          <p:cNvPr id="6" name="Picture 5" descr="A screen shot of a computer&#10;&#10;Description automatically generated">
            <a:extLst>
              <a:ext uri="{FF2B5EF4-FFF2-40B4-BE49-F238E27FC236}">
                <a16:creationId xmlns:a16="http://schemas.microsoft.com/office/drawing/2014/main" id="{304063B8-59E7-E018-168E-82DEA2295DED}"/>
              </a:ext>
            </a:extLst>
          </p:cNvPr>
          <p:cNvPicPr>
            <a:picLocks noChangeAspect="1"/>
          </p:cNvPicPr>
          <p:nvPr/>
        </p:nvPicPr>
        <p:blipFill rotWithShape="1">
          <a:blip r:embed="rId3">
            <a:extLst>
              <a:ext uri="{28A0092B-C50C-407E-A947-70E740481C1C}">
                <a14:useLocalDpi xmlns:a14="http://schemas.microsoft.com/office/drawing/2010/main" val="0"/>
              </a:ext>
            </a:extLst>
          </a:blip>
          <a:srcRect l="5118" t="7677" r="62372" b="59865"/>
          <a:stretch/>
        </p:blipFill>
        <p:spPr>
          <a:xfrm>
            <a:off x="729673" y="1856221"/>
            <a:ext cx="4752089" cy="4636654"/>
          </a:xfrm>
          <a:prstGeom prst="rect">
            <a:avLst/>
          </a:prstGeom>
        </p:spPr>
      </p:pic>
      <p:sp>
        <p:nvSpPr>
          <p:cNvPr id="10" name="TextBox 9">
            <a:extLst>
              <a:ext uri="{FF2B5EF4-FFF2-40B4-BE49-F238E27FC236}">
                <a16:creationId xmlns:a16="http://schemas.microsoft.com/office/drawing/2014/main" id="{78F18CEC-8E71-0F27-4194-ADCF62320942}"/>
              </a:ext>
            </a:extLst>
          </p:cNvPr>
          <p:cNvSpPr txBox="1"/>
          <p:nvPr/>
        </p:nvSpPr>
        <p:spPr>
          <a:xfrm>
            <a:off x="5481762" y="1856221"/>
            <a:ext cx="6096000" cy="369332"/>
          </a:xfrm>
          <a:prstGeom prst="rect">
            <a:avLst/>
          </a:prstGeom>
          <a:noFill/>
        </p:spPr>
        <p:txBody>
          <a:bodyPr wrap="square">
            <a:spAutoFit/>
          </a:bodyPr>
          <a:lstStyle/>
          <a:p>
            <a:r>
              <a:rPr lang="en-GB" dirty="0"/>
              <a:t>Declares an 80-byte character array text to store file data.</a:t>
            </a:r>
          </a:p>
        </p:txBody>
      </p:sp>
      <p:sp>
        <p:nvSpPr>
          <p:cNvPr id="13" name="TextBox 12">
            <a:extLst>
              <a:ext uri="{FF2B5EF4-FFF2-40B4-BE49-F238E27FC236}">
                <a16:creationId xmlns:a16="http://schemas.microsoft.com/office/drawing/2014/main" id="{59D3EF60-1AC5-CB6B-7C2E-76771B097847}"/>
              </a:ext>
            </a:extLst>
          </p:cNvPr>
          <p:cNvSpPr txBox="1"/>
          <p:nvPr/>
        </p:nvSpPr>
        <p:spPr>
          <a:xfrm>
            <a:off x="5481762" y="2826701"/>
            <a:ext cx="6096000" cy="1477328"/>
          </a:xfrm>
          <a:prstGeom prst="rect">
            <a:avLst/>
          </a:prstGeom>
          <a:noFill/>
        </p:spPr>
        <p:txBody>
          <a:bodyPr wrap="square">
            <a:spAutoFit/>
          </a:bodyPr>
          <a:lstStyle/>
          <a:p>
            <a:r>
              <a:rPr lang="en-GB" dirty="0"/>
              <a:t>Reads up to 33 bytes from the file and stores them in the text array. The parameters are:</a:t>
            </a:r>
          </a:p>
          <a:p>
            <a:pPr marL="285750" indent="-285750">
              <a:buFont typeface="Arial" panose="020B0604020202020204" pitchFamily="34" charset="0"/>
              <a:buChar char="•"/>
            </a:pPr>
            <a:r>
              <a:rPr lang="en-GB" dirty="0"/>
              <a:t>text: Pointer to the buffer where data will be read.</a:t>
            </a:r>
          </a:p>
          <a:p>
            <a:pPr marL="285750" indent="-285750">
              <a:buFont typeface="Arial" panose="020B0604020202020204" pitchFamily="34" charset="0"/>
              <a:buChar char="•"/>
            </a:pPr>
            <a:r>
              <a:rPr lang="en-GB" dirty="0"/>
              <a:t>1: Size of each element (1 byte in this case).</a:t>
            </a:r>
          </a:p>
          <a:p>
            <a:pPr marL="285750" indent="-285750">
              <a:buFont typeface="Arial" panose="020B0604020202020204" pitchFamily="34" charset="0"/>
              <a:buChar char="•"/>
            </a:pPr>
            <a:r>
              <a:rPr lang="en-GB" dirty="0"/>
              <a:t>33: Number of elements to read.</a:t>
            </a:r>
          </a:p>
        </p:txBody>
      </p:sp>
      <p:sp>
        <p:nvSpPr>
          <p:cNvPr id="16" name="TextBox 15">
            <a:extLst>
              <a:ext uri="{FF2B5EF4-FFF2-40B4-BE49-F238E27FC236}">
                <a16:creationId xmlns:a16="http://schemas.microsoft.com/office/drawing/2014/main" id="{0686EF86-3E23-058E-E51C-6021755923DD}"/>
              </a:ext>
            </a:extLst>
          </p:cNvPr>
          <p:cNvSpPr txBox="1"/>
          <p:nvPr/>
        </p:nvSpPr>
        <p:spPr>
          <a:xfrm>
            <a:off x="5481762" y="4738549"/>
            <a:ext cx="6096000" cy="1754326"/>
          </a:xfrm>
          <a:prstGeom prst="rect">
            <a:avLst/>
          </a:prstGeom>
          <a:noFill/>
        </p:spPr>
        <p:txBody>
          <a:bodyPr wrap="square">
            <a:spAutoFit/>
          </a:bodyPr>
          <a:lstStyle/>
          <a:p>
            <a:r>
              <a:rPr lang="en-GB" dirty="0"/>
              <a:t>Adds a null terminator at position 33 to ensure the string is properly terminated. This is important for correct string handling and printing. This approach assumes that the file has at least 33 bytes; otherwise, it may lead to undefined behaviour (since there could be no null terminator within the valid file content).</a:t>
            </a:r>
          </a:p>
        </p:txBody>
      </p:sp>
      <p:cxnSp>
        <p:nvCxnSpPr>
          <p:cNvPr id="18" name="Straight Arrow Connector 17">
            <a:extLst>
              <a:ext uri="{FF2B5EF4-FFF2-40B4-BE49-F238E27FC236}">
                <a16:creationId xmlns:a16="http://schemas.microsoft.com/office/drawing/2014/main" id="{D01A365A-F2E9-4C79-2593-DBFFD2E064CB}"/>
              </a:ext>
            </a:extLst>
          </p:cNvPr>
          <p:cNvCxnSpPr>
            <a:endCxn id="10" idx="1"/>
          </p:cNvCxnSpPr>
          <p:nvPr/>
        </p:nvCxnSpPr>
        <p:spPr>
          <a:xfrm flipV="1">
            <a:off x="2595418" y="2040887"/>
            <a:ext cx="2886344" cy="15705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CCBB2CB-0F23-870A-6B72-1E4BA2DF073A}"/>
              </a:ext>
            </a:extLst>
          </p:cNvPr>
          <p:cNvCxnSpPr>
            <a:cxnSpLocks/>
          </p:cNvCxnSpPr>
          <p:nvPr/>
        </p:nvCxnSpPr>
        <p:spPr>
          <a:xfrm flipV="1">
            <a:off x="3823896" y="3990753"/>
            <a:ext cx="1657866" cy="3132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E30C7C38-1C20-FC37-59E9-BA0848E72779}"/>
              </a:ext>
            </a:extLst>
          </p:cNvPr>
          <p:cNvCxnSpPr>
            <a:cxnSpLocks/>
          </p:cNvCxnSpPr>
          <p:nvPr/>
        </p:nvCxnSpPr>
        <p:spPr>
          <a:xfrm>
            <a:off x="2867933" y="4549203"/>
            <a:ext cx="2613829" cy="10665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2737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sv-SE" b="1" dirty="0" err="1"/>
              <a:t>Error</a:t>
            </a:r>
            <a:r>
              <a:rPr lang="sv-SE" b="1" dirty="0"/>
              <a:t> Handling in I/O Operations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a:latin typeface="Calibri" panose="020F0502020204030204" pitchFamily="34" charset="0"/>
                <a:cs typeface="Calibri" panose="020F0502020204030204" pitchFamily="34" charset="0"/>
              </a:rPr>
              <a:t>Importance of Error Checking in I/O: Error handling is crucial in I/O operations to ensure that data is correctly read from or written to streams, and to handle cases where operations fail (e.g., end of file, file not found).</a:t>
            </a:r>
          </a:p>
          <a:p>
            <a:pPr algn="just"/>
            <a:r>
              <a:rPr lang="en-US" sz="2200" dirty="0">
                <a:latin typeface="Calibri" panose="020F0502020204030204" pitchFamily="34" charset="0"/>
                <a:cs typeface="Calibri" panose="020F0502020204030204" pitchFamily="34" charset="0"/>
              </a:rPr>
              <a:t>Error Handling Functions:</a:t>
            </a:r>
          </a:p>
          <a:p>
            <a:pPr lvl="1" algn="just"/>
            <a:r>
              <a:rPr lang="en-US" sz="2000" dirty="0" err="1">
                <a:solidFill>
                  <a:srgbClr val="C00000"/>
                </a:solidFill>
                <a:latin typeface="Calibri" panose="020F0502020204030204" pitchFamily="34" charset="0"/>
                <a:cs typeface="Calibri" panose="020F0502020204030204" pitchFamily="34" charset="0"/>
              </a:rPr>
              <a:t>ferror</a:t>
            </a:r>
            <a:r>
              <a:rPr lang="en-US" sz="2000" dirty="0">
                <a:solidFill>
                  <a:srgbClr val="C00000"/>
                </a:solidFill>
                <a:latin typeface="Calibri" panose="020F0502020204030204" pitchFamily="34" charset="0"/>
                <a:cs typeface="Calibri" panose="020F0502020204030204" pitchFamily="34" charset="0"/>
              </a:rPr>
              <a:t>(FILE *stream) </a:t>
            </a:r>
            <a:r>
              <a:rPr lang="en-US" sz="2000" dirty="0">
                <a:latin typeface="Calibri" panose="020F0502020204030204" pitchFamily="34" charset="0"/>
                <a:cs typeface="Calibri" panose="020F0502020204030204" pitchFamily="34" charset="0"/>
              </a:rPr>
              <a:t>checks for errors during file operations.</a:t>
            </a:r>
          </a:p>
          <a:p>
            <a:pPr lvl="1" algn="just"/>
            <a:r>
              <a:rPr lang="en-US" sz="2000" dirty="0" err="1">
                <a:solidFill>
                  <a:srgbClr val="C00000"/>
                </a:solidFill>
                <a:latin typeface="Calibri" panose="020F0502020204030204" pitchFamily="34" charset="0"/>
                <a:cs typeface="Calibri" panose="020F0502020204030204" pitchFamily="34" charset="0"/>
              </a:rPr>
              <a:t>feof</a:t>
            </a:r>
            <a:r>
              <a:rPr lang="en-US" sz="2000" dirty="0">
                <a:solidFill>
                  <a:srgbClr val="C00000"/>
                </a:solidFill>
                <a:latin typeface="Calibri" panose="020F0502020204030204" pitchFamily="34" charset="0"/>
                <a:cs typeface="Calibri" panose="020F0502020204030204" pitchFamily="34" charset="0"/>
              </a:rPr>
              <a:t>(FILE *stream) </a:t>
            </a:r>
            <a:r>
              <a:rPr lang="en-US" sz="2000" dirty="0">
                <a:latin typeface="Calibri" panose="020F0502020204030204" pitchFamily="34" charset="0"/>
                <a:cs typeface="Calibri" panose="020F0502020204030204" pitchFamily="34" charset="0"/>
              </a:rPr>
              <a:t>detects if the end of the file has been reached.</a:t>
            </a:r>
          </a:p>
          <a:p>
            <a:pPr marL="0" indent="0" algn="just">
              <a:buNone/>
            </a:pPr>
            <a:endParaRPr lang="en-US" sz="2200" dirty="0">
              <a:latin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Checking Return Values: Functions like </a:t>
            </a:r>
            <a:r>
              <a:rPr lang="en-US" sz="2200" dirty="0" err="1">
                <a:latin typeface="Calibri" panose="020F0502020204030204" pitchFamily="34" charset="0"/>
                <a:cs typeface="Calibri" panose="020F0502020204030204" pitchFamily="34" charset="0"/>
              </a:rPr>
              <a:t>fread</a:t>
            </a:r>
            <a:r>
              <a:rPr lang="en-US" sz="2200" dirty="0">
                <a:latin typeface="Calibri" panose="020F0502020204030204" pitchFamily="34" charset="0"/>
                <a:cs typeface="Calibri" panose="020F0502020204030204" pitchFamily="34" charset="0"/>
              </a:rPr>
              <a:t>() return the number of bytes actually read, which can be compared to the expected number to detect errors or the end of a file.</a:t>
            </a:r>
            <a:endParaRPr lang="en-US" sz="1800"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2322C595-53E6-C322-E087-71E71429BBB9}"/>
              </a:ext>
            </a:extLst>
          </p:cNvPr>
          <p:cNvGraphicFramePr>
            <a:graphicFrameLocks noGrp="1"/>
          </p:cNvGraphicFramePr>
          <p:nvPr>
            <p:extLst>
              <p:ext uri="{D42A27DB-BD31-4B8C-83A1-F6EECF244321}">
                <p14:modId xmlns:p14="http://schemas.microsoft.com/office/powerpoint/2010/main" val="783300499"/>
              </p:ext>
            </p:extLst>
          </p:nvPr>
        </p:nvGraphicFramePr>
        <p:xfrm>
          <a:off x="8638308" y="2976876"/>
          <a:ext cx="3128820" cy="1463040"/>
        </p:xfrm>
        <a:graphic>
          <a:graphicData uri="http://schemas.openxmlformats.org/drawingml/2006/table">
            <a:tbl>
              <a:tblPr firstRow="1" bandRow="1">
                <a:tableStyleId>{5C22544A-7EE6-4342-B048-85BDC9FD1C3A}</a:tableStyleId>
              </a:tblPr>
              <a:tblGrid>
                <a:gridCol w="3128820">
                  <a:extLst>
                    <a:ext uri="{9D8B030D-6E8A-4147-A177-3AD203B41FA5}">
                      <a16:colId xmlns:a16="http://schemas.microsoft.com/office/drawing/2014/main" val="3079103876"/>
                    </a:ext>
                  </a:extLst>
                </a:gridCol>
              </a:tblGrid>
              <a:tr h="538021">
                <a:tc>
                  <a:txBody>
                    <a:bodyPr/>
                    <a:lstStyle/>
                    <a:p>
                      <a:r>
                        <a:rPr lang="en-US" sz="1500" b="0" dirty="0">
                          <a:solidFill>
                            <a:schemeClr val="tx2">
                              <a:lumMod val="75000"/>
                              <a:lumOff val="25000"/>
                            </a:schemeClr>
                          </a:solidFill>
                          <a:latin typeface="Calibri" panose="020F0502020204030204" pitchFamily="34" charset="0"/>
                          <a:cs typeface="Calibri" panose="020F0502020204030204" pitchFamily="34" charset="0"/>
                        </a:rPr>
                        <a:t>if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ferror</a:t>
                      </a:r>
                      <a:r>
                        <a:rPr lang="en-US" sz="1500" b="0" dirty="0">
                          <a:solidFill>
                            <a:schemeClr val="tx2">
                              <a:lumMod val="75000"/>
                              <a:lumOff val="25000"/>
                            </a:schemeClr>
                          </a:solidFill>
                          <a:latin typeface="Calibri" panose="020F0502020204030204" pitchFamily="34" charset="0"/>
                          <a:cs typeface="Calibri" panose="020F0502020204030204" pitchFamily="34" charset="0"/>
                        </a:rPr>
                        <a:t>(</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a:t>
                      </a:r>
                    </a:p>
                    <a:p>
                      <a:r>
                        <a:rPr lang="en-US" sz="1500" b="0" dirty="0">
                          <a:solidFill>
                            <a:schemeClr val="tx2">
                              <a:lumMod val="75000"/>
                              <a:lumOff val="25000"/>
                            </a:schemeClr>
                          </a:solidFill>
                          <a:latin typeface="Calibri" panose="020F0502020204030204" pitchFamily="34" charset="0"/>
                          <a:cs typeface="Calibri" panose="020F0502020204030204" pitchFamily="34" charset="0"/>
                        </a:rPr>
                        <a:t>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printf</a:t>
                      </a:r>
                      <a:r>
                        <a:rPr lang="en-US" sz="1500" b="0" dirty="0">
                          <a:solidFill>
                            <a:schemeClr val="tx2">
                              <a:lumMod val="75000"/>
                              <a:lumOff val="25000"/>
                            </a:schemeClr>
                          </a:solidFill>
                          <a:latin typeface="Calibri" panose="020F0502020204030204" pitchFamily="34" charset="0"/>
                          <a:cs typeface="Calibri" panose="020F0502020204030204" pitchFamily="34" charset="0"/>
                        </a:rPr>
                        <a:t>("Error reading file.\n");</a:t>
                      </a:r>
                    </a:p>
                    <a:p>
                      <a:r>
                        <a:rPr lang="en-US" sz="1500" b="0" dirty="0">
                          <a:solidFill>
                            <a:schemeClr val="tx2">
                              <a:lumMod val="75000"/>
                              <a:lumOff val="25000"/>
                            </a:schemeClr>
                          </a:solidFill>
                          <a:latin typeface="Calibri" panose="020F0502020204030204" pitchFamily="34" charset="0"/>
                          <a:cs typeface="Calibri" panose="020F0502020204030204" pitchFamily="34" charset="0"/>
                        </a:rPr>
                        <a:t>}</a:t>
                      </a:r>
                    </a:p>
                    <a:p>
                      <a:r>
                        <a:rPr lang="en-US" sz="1500" b="0" dirty="0">
                          <a:solidFill>
                            <a:schemeClr val="tx2">
                              <a:lumMod val="75000"/>
                              <a:lumOff val="25000"/>
                            </a:schemeClr>
                          </a:solidFill>
                          <a:latin typeface="Calibri" panose="020F0502020204030204" pitchFamily="34" charset="0"/>
                          <a:cs typeface="Calibri" panose="020F0502020204030204" pitchFamily="34" charset="0"/>
                        </a:rPr>
                        <a:t>if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feof</a:t>
                      </a:r>
                      <a:r>
                        <a:rPr lang="en-US" sz="1500" b="0" dirty="0">
                          <a:solidFill>
                            <a:schemeClr val="tx2">
                              <a:lumMod val="75000"/>
                              <a:lumOff val="25000"/>
                            </a:schemeClr>
                          </a:solidFill>
                          <a:latin typeface="Calibri" panose="020F0502020204030204" pitchFamily="34" charset="0"/>
                          <a:cs typeface="Calibri" panose="020F0502020204030204" pitchFamily="34" charset="0"/>
                        </a:rPr>
                        <a:t>(</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 {</a:t>
                      </a:r>
                    </a:p>
                    <a:p>
                      <a:r>
                        <a:rPr lang="en-US" sz="1500" b="0" dirty="0">
                          <a:solidFill>
                            <a:schemeClr val="tx2">
                              <a:lumMod val="75000"/>
                              <a:lumOff val="25000"/>
                            </a:schemeClr>
                          </a:solidFill>
                          <a:latin typeface="Calibri" panose="020F0502020204030204" pitchFamily="34" charset="0"/>
                          <a:cs typeface="Calibri" panose="020F0502020204030204" pitchFamily="34" charset="0"/>
                        </a:rPr>
                        <a:t>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printf</a:t>
                      </a:r>
                      <a:r>
                        <a:rPr lang="en-US" sz="1500" b="0" dirty="0">
                          <a:solidFill>
                            <a:schemeClr val="tx2">
                              <a:lumMod val="75000"/>
                              <a:lumOff val="25000"/>
                            </a:schemeClr>
                          </a:solidFill>
                          <a:latin typeface="Calibri" panose="020F0502020204030204" pitchFamily="34" charset="0"/>
                          <a:cs typeface="Calibri" panose="020F0502020204030204" pitchFamily="34" charset="0"/>
                        </a:rPr>
                        <a:t>("End of file reached.\n");</a:t>
                      </a:r>
                    </a:p>
                    <a:p>
                      <a:r>
                        <a:rPr lang="en-US" sz="1500" b="0" dirty="0">
                          <a:solidFill>
                            <a:schemeClr val="tx2">
                              <a:lumMod val="75000"/>
                              <a:lumOff val="25000"/>
                            </a:schemeClr>
                          </a:solidFill>
                          <a:latin typeface="Calibri" panose="020F0502020204030204" pitchFamily="34" charset="0"/>
                          <a:cs typeface="Calibri" panose="020F050202020403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graphicFrame>
        <p:nvGraphicFramePr>
          <p:cNvPr id="6" name="Table 5">
            <a:extLst>
              <a:ext uri="{FF2B5EF4-FFF2-40B4-BE49-F238E27FC236}">
                <a16:creationId xmlns:a16="http://schemas.microsoft.com/office/drawing/2014/main" id="{7380538E-1C23-24E4-CE59-22CF575CE2B7}"/>
              </a:ext>
            </a:extLst>
          </p:cNvPr>
          <p:cNvGraphicFramePr>
            <a:graphicFrameLocks noGrp="1"/>
          </p:cNvGraphicFramePr>
          <p:nvPr>
            <p:extLst>
              <p:ext uri="{D42A27DB-BD31-4B8C-83A1-F6EECF244321}">
                <p14:modId xmlns:p14="http://schemas.microsoft.com/office/powerpoint/2010/main" val="4212445752"/>
              </p:ext>
            </p:extLst>
          </p:nvPr>
        </p:nvGraphicFramePr>
        <p:xfrm>
          <a:off x="8638308" y="5585098"/>
          <a:ext cx="3128820" cy="1234440"/>
        </p:xfrm>
        <a:graphic>
          <a:graphicData uri="http://schemas.openxmlformats.org/drawingml/2006/table">
            <a:tbl>
              <a:tblPr firstRow="1" bandRow="1">
                <a:tableStyleId>{5C22544A-7EE6-4342-B048-85BDC9FD1C3A}</a:tableStyleId>
              </a:tblPr>
              <a:tblGrid>
                <a:gridCol w="3128820">
                  <a:extLst>
                    <a:ext uri="{9D8B030D-6E8A-4147-A177-3AD203B41FA5}">
                      <a16:colId xmlns:a16="http://schemas.microsoft.com/office/drawing/2014/main" val="3079103876"/>
                    </a:ext>
                  </a:extLst>
                </a:gridCol>
              </a:tblGrid>
              <a:tr h="538021">
                <a:tc>
                  <a:txBody>
                    <a:bodyPr/>
                    <a:lstStyle/>
                    <a:p>
                      <a:r>
                        <a:rPr lang="en-US" sz="1500" b="0" dirty="0">
                          <a:solidFill>
                            <a:schemeClr val="tx2">
                              <a:lumMod val="75000"/>
                              <a:lumOff val="25000"/>
                            </a:schemeClr>
                          </a:solidFill>
                          <a:latin typeface="Calibri" panose="020F0502020204030204" pitchFamily="34" charset="0"/>
                          <a:cs typeface="Calibri" panose="020F0502020204030204" pitchFamily="34" charset="0"/>
                        </a:rPr>
                        <a:t>int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bytes_read</a:t>
                      </a:r>
                      <a:r>
                        <a:rPr lang="en-US" sz="1500" b="0" dirty="0">
                          <a:solidFill>
                            <a:schemeClr val="tx2">
                              <a:lumMod val="75000"/>
                              <a:lumOff val="25000"/>
                            </a:schemeClr>
                          </a:solidFill>
                          <a:latin typeface="Calibri" panose="020F0502020204030204" pitchFamily="34" charset="0"/>
                          <a:cs typeface="Calibri" panose="020F0502020204030204" pitchFamily="34" charset="0"/>
                        </a:rPr>
                        <a:t>;</a:t>
                      </a:r>
                    </a:p>
                    <a:p>
                      <a:r>
                        <a:rPr lang="en-US" sz="1500" b="0" dirty="0" err="1">
                          <a:solidFill>
                            <a:schemeClr val="tx2">
                              <a:lumMod val="75000"/>
                              <a:lumOff val="25000"/>
                            </a:schemeClr>
                          </a:solidFill>
                          <a:latin typeface="Calibri" panose="020F0502020204030204" pitchFamily="34" charset="0"/>
                          <a:cs typeface="Calibri" panose="020F0502020204030204" pitchFamily="34" charset="0"/>
                        </a:rPr>
                        <a:t>bytes_read</a:t>
                      </a:r>
                      <a:r>
                        <a:rPr lang="en-US" sz="1500" b="0" dirty="0">
                          <a:solidFill>
                            <a:schemeClr val="tx2">
                              <a:lumMod val="75000"/>
                              <a:lumOff val="25000"/>
                            </a:schemeClr>
                          </a:solidFill>
                          <a:latin typeface="Calibri" panose="020F0502020204030204" pitchFamily="34" charset="0"/>
                          <a:cs typeface="Calibri" panose="020F0502020204030204" pitchFamily="34" charset="0"/>
                        </a:rPr>
                        <a:t> =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fread</a:t>
                      </a:r>
                      <a:r>
                        <a:rPr lang="en-US" sz="1500" b="0" dirty="0">
                          <a:solidFill>
                            <a:schemeClr val="tx2">
                              <a:lumMod val="75000"/>
                              <a:lumOff val="25000"/>
                            </a:schemeClr>
                          </a:solidFill>
                          <a:latin typeface="Calibri" panose="020F0502020204030204" pitchFamily="34" charset="0"/>
                          <a:cs typeface="Calibri" panose="020F0502020204030204" pitchFamily="34" charset="0"/>
                        </a:rPr>
                        <a:t>(text, 1, 70,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fpt</a:t>
                      </a:r>
                      <a:r>
                        <a:rPr lang="en-US" sz="1500" b="0" dirty="0">
                          <a:solidFill>
                            <a:schemeClr val="tx2">
                              <a:lumMod val="75000"/>
                              <a:lumOff val="25000"/>
                            </a:schemeClr>
                          </a:solidFill>
                          <a:latin typeface="Calibri" panose="020F0502020204030204" pitchFamily="34" charset="0"/>
                          <a:cs typeface="Calibri" panose="020F0502020204030204" pitchFamily="34" charset="0"/>
                        </a:rPr>
                        <a:t>);</a:t>
                      </a:r>
                    </a:p>
                    <a:p>
                      <a:r>
                        <a:rPr lang="en-US" sz="1500" b="0" dirty="0">
                          <a:solidFill>
                            <a:schemeClr val="tx2">
                              <a:lumMod val="75000"/>
                              <a:lumOff val="25000"/>
                            </a:schemeClr>
                          </a:solidFill>
                          <a:latin typeface="Calibri" panose="020F0502020204030204" pitchFamily="34" charset="0"/>
                          <a:cs typeface="Calibri" panose="020F0502020204030204" pitchFamily="34" charset="0"/>
                        </a:rPr>
                        <a:t>if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bytes_read</a:t>
                      </a:r>
                      <a:r>
                        <a:rPr lang="en-US" sz="1500" b="0" dirty="0">
                          <a:solidFill>
                            <a:schemeClr val="tx2">
                              <a:lumMod val="75000"/>
                              <a:lumOff val="25000"/>
                            </a:schemeClr>
                          </a:solidFill>
                          <a:latin typeface="Calibri" panose="020F0502020204030204" pitchFamily="34" charset="0"/>
                          <a:cs typeface="Calibri" panose="020F0502020204030204" pitchFamily="34" charset="0"/>
                        </a:rPr>
                        <a:t> &lt; 70) {</a:t>
                      </a:r>
                    </a:p>
                    <a:p>
                      <a:r>
                        <a:rPr lang="en-US" sz="1500" b="0" dirty="0">
                          <a:solidFill>
                            <a:schemeClr val="tx2">
                              <a:lumMod val="75000"/>
                              <a:lumOff val="25000"/>
                            </a:schemeClr>
                          </a:solidFill>
                          <a:latin typeface="Calibri" panose="020F0502020204030204" pitchFamily="34" charset="0"/>
                          <a:cs typeface="Calibri" panose="020F0502020204030204" pitchFamily="34" charset="0"/>
                        </a:rPr>
                        <a:t>    </a:t>
                      </a:r>
                      <a:r>
                        <a:rPr lang="en-US" sz="1500" b="0" dirty="0" err="1">
                          <a:solidFill>
                            <a:schemeClr val="tx2">
                              <a:lumMod val="75000"/>
                              <a:lumOff val="25000"/>
                            </a:schemeClr>
                          </a:solidFill>
                          <a:latin typeface="Calibri" panose="020F0502020204030204" pitchFamily="34" charset="0"/>
                          <a:cs typeface="Calibri" panose="020F0502020204030204" pitchFamily="34" charset="0"/>
                        </a:rPr>
                        <a:t>printf</a:t>
                      </a:r>
                      <a:r>
                        <a:rPr lang="en-US" sz="1500" b="0" dirty="0">
                          <a:solidFill>
                            <a:schemeClr val="tx2">
                              <a:lumMod val="75000"/>
                              <a:lumOff val="25000"/>
                            </a:schemeClr>
                          </a:solidFill>
                          <a:latin typeface="Calibri" panose="020F0502020204030204" pitchFamily="34" charset="0"/>
                          <a:cs typeface="Calibri" panose="020F0502020204030204" pitchFamily="34" charset="0"/>
                        </a:rPr>
                        <a:t>("Reached end of file.\n");</a:t>
                      </a:r>
                    </a:p>
                    <a:p>
                      <a:r>
                        <a:rPr lang="en-US" sz="1500" b="0" dirty="0">
                          <a:solidFill>
                            <a:schemeClr val="tx2">
                              <a:lumMod val="75000"/>
                              <a:lumOff val="25000"/>
                            </a:schemeClr>
                          </a:solidFill>
                          <a:latin typeface="Calibri" panose="020F0502020204030204" pitchFamily="34" charset="0"/>
                          <a:cs typeface="Calibri" panose="020F050202020403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961831"/>
                  </a:ext>
                </a:extLst>
              </a:tr>
            </a:tbl>
          </a:graphicData>
        </a:graphic>
      </p:graphicFrame>
    </p:spTree>
    <p:extLst>
      <p:ext uri="{BB962C8B-B14F-4D97-AF65-F5344CB8AC3E}">
        <p14:creationId xmlns:p14="http://schemas.microsoft.com/office/powerpoint/2010/main" val="3256400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sv-SE" b="1" dirty="0"/>
              <a:t>System I/O </a:t>
            </a:r>
            <a:r>
              <a:rPr lang="sv-SE" b="1" dirty="0" err="1"/>
              <a:t>Functions</a:t>
            </a:r>
            <a:r>
              <a:rPr lang="sv-SE" b="1" dirty="0"/>
              <a:t> in C</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fontScale="92500" lnSpcReduction="20000"/>
          </a:bodyPr>
          <a:lstStyle/>
          <a:p>
            <a:pPr algn="just"/>
            <a:r>
              <a:rPr lang="en-US" sz="2400" dirty="0">
                <a:latin typeface="Calibri" panose="020F0502020204030204" pitchFamily="34" charset="0"/>
                <a:cs typeface="Calibri" panose="020F0502020204030204" pitchFamily="34" charset="0"/>
              </a:rPr>
              <a:t>System-level I/O function allow to interact more directly with the operating system. </a:t>
            </a:r>
          </a:p>
          <a:p>
            <a:pPr algn="just"/>
            <a:endParaRPr lang="en-US" sz="2400" dirty="0">
              <a:latin typeface="Calibri" panose="020F0502020204030204" pitchFamily="34" charset="0"/>
              <a:cs typeface="Calibri" panose="020F0502020204030204" pitchFamily="34" charset="0"/>
            </a:endParaRPr>
          </a:p>
          <a:p>
            <a:pPr algn="just"/>
            <a:r>
              <a:rPr lang="en-US" sz="2400" dirty="0">
                <a:latin typeface="Calibri" panose="020F0502020204030204" pitchFamily="34" charset="0"/>
                <a:cs typeface="Calibri" panose="020F0502020204030204" pitchFamily="34" charset="0"/>
              </a:rPr>
              <a:t>C provides lower-level system I/O functions, such as:</a:t>
            </a:r>
          </a:p>
          <a:p>
            <a:pPr lvl="1" algn="just"/>
            <a:r>
              <a:rPr lang="en-US" sz="2200" dirty="0">
                <a:solidFill>
                  <a:srgbClr val="C00000"/>
                </a:solidFill>
                <a:latin typeface="Calibri" panose="020F0502020204030204" pitchFamily="34" charset="0"/>
                <a:cs typeface="Calibri" panose="020F0502020204030204" pitchFamily="34" charset="0"/>
              </a:rPr>
              <a:t>open():</a:t>
            </a:r>
            <a:r>
              <a:rPr lang="en-US" sz="2200" dirty="0">
                <a:latin typeface="Calibri" panose="020F0502020204030204" pitchFamily="34" charset="0"/>
                <a:cs typeface="Calibri" panose="020F0502020204030204" pitchFamily="34" charset="0"/>
              </a:rPr>
              <a:t> This function is used to open a file or device. We specify the file's path, access mode (read-only or write-only), and, if creating a new file, its permissions. It returns an integer that we use to reference the open file. If the operation fails, it returns -1.</a:t>
            </a:r>
          </a:p>
          <a:p>
            <a:pPr lvl="1" algn="just"/>
            <a:r>
              <a:rPr lang="en-US" sz="2200" dirty="0">
                <a:solidFill>
                  <a:srgbClr val="C00000"/>
                </a:solidFill>
                <a:latin typeface="Calibri" panose="020F0502020204030204" pitchFamily="34" charset="0"/>
                <a:cs typeface="Calibri" panose="020F0502020204030204" pitchFamily="34" charset="0"/>
              </a:rPr>
              <a:t>close(): </a:t>
            </a:r>
            <a:r>
              <a:rPr lang="en-US" sz="2200" dirty="0">
                <a:latin typeface="Calibri" panose="020F0502020204030204" pitchFamily="34" charset="0"/>
                <a:cs typeface="Calibri" panose="020F0502020204030204" pitchFamily="34" charset="0"/>
              </a:rPr>
              <a:t>This function is used to close a file descriptor that was previously opened with open(). You pass the file descriptor to this function, and it returns 0 on success. If it fails, it returns -1.</a:t>
            </a:r>
          </a:p>
          <a:p>
            <a:pPr lvl="1" algn="just"/>
            <a:r>
              <a:rPr lang="en-US" sz="2200" dirty="0">
                <a:solidFill>
                  <a:srgbClr val="C00000"/>
                </a:solidFill>
                <a:latin typeface="Calibri" panose="020F0502020204030204" pitchFamily="34" charset="0"/>
                <a:cs typeface="Calibri" panose="020F0502020204030204" pitchFamily="34" charset="0"/>
              </a:rPr>
              <a:t>read(): </a:t>
            </a:r>
            <a:r>
              <a:rPr lang="en-US" sz="2200" dirty="0">
                <a:latin typeface="Calibri" panose="020F0502020204030204" pitchFamily="34" charset="0"/>
                <a:cs typeface="Calibri" panose="020F0502020204030204" pitchFamily="34" charset="0"/>
              </a:rPr>
              <a:t>This function reads data from a file descriptor into a buffer. You provide the file descriptor, a pointer to the buffer where the data should be stored, and the number of bytes to read. It returns the number of bytes actually read, 0 if the end of the file is reached, or -1 if an error occurs</a:t>
            </a:r>
            <a:r>
              <a:rPr lang="en-US" sz="2000" dirty="0">
                <a:latin typeface="Calibri" panose="020F0502020204030204" pitchFamily="34" charset="0"/>
                <a:cs typeface="Calibri" panose="020F0502020204030204" pitchFamily="34" charset="0"/>
              </a:rPr>
              <a:t>.</a:t>
            </a:r>
          </a:p>
          <a:p>
            <a:pPr lvl="1" algn="just"/>
            <a:r>
              <a:rPr lang="en-US" sz="2200" dirty="0">
                <a:solidFill>
                  <a:srgbClr val="C00000"/>
                </a:solidFill>
                <a:latin typeface="Calibri" panose="020F0502020204030204" pitchFamily="34" charset="0"/>
                <a:cs typeface="Calibri" panose="020F0502020204030204" pitchFamily="34" charset="0"/>
              </a:rPr>
              <a:t>write(): </a:t>
            </a:r>
            <a:r>
              <a:rPr lang="en-US" sz="2200" dirty="0">
                <a:latin typeface="Calibri" panose="020F0502020204030204" pitchFamily="34" charset="0"/>
                <a:cs typeface="Calibri" panose="020F0502020204030204" pitchFamily="34" charset="0"/>
              </a:rPr>
              <a:t>This function writes data from a buffer to a file descriptor. You provide the file descriptor, a pointer to the buffer containing the data, and the number of bytes to write. It returns the number of bytes written or -1 if an error occurs.</a:t>
            </a:r>
          </a:p>
        </p:txBody>
      </p:sp>
    </p:spTree>
    <p:extLst>
      <p:ext uri="{BB962C8B-B14F-4D97-AF65-F5344CB8AC3E}">
        <p14:creationId xmlns:p14="http://schemas.microsoft.com/office/powerpoint/2010/main" val="2394314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6: </a:t>
            </a:r>
            <a:r>
              <a:rPr lang="sv-SE" b="1" dirty="0"/>
              <a:t>System I/O </a:t>
            </a:r>
            <a:r>
              <a:rPr lang="sv-SE" b="1" dirty="0" err="1"/>
              <a:t>Functions</a:t>
            </a:r>
            <a:r>
              <a:rPr lang="sv-SE" b="1" dirty="0"/>
              <a:t> </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b="0" i="0" u="none" strike="noStrike" baseline="0" dirty="0">
                <a:latin typeface="Calibri" panose="020F0502020204030204" pitchFamily="34" charset="0"/>
                <a:cs typeface="Calibri" panose="020F0502020204030204" pitchFamily="34" charset="0"/>
              </a:rPr>
              <a:t>Write a C program that performs the following operations on a file named example6.txt:</a:t>
            </a:r>
          </a:p>
          <a:p>
            <a:pPr lvl="1" algn="just"/>
            <a:r>
              <a:rPr lang="en-US" sz="2000" b="0" i="0" u="none" strike="noStrike" baseline="0" dirty="0">
                <a:latin typeface="Calibri" panose="020F0502020204030204" pitchFamily="34" charset="0"/>
                <a:cs typeface="Calibri" panose="020F0502020204030204" pitchFamily="34" charset="0"/>
              </a:rPr>
              <a:t>Opens the file for writing, creating it if it does not exist, and truncating it to zero length if it does.</a:t>
            </a:r>
          </a:p>
          <a:p>
            <a:pPr lvl="1" algn="just"/>
            <a:r>
              <a:rPr lang="en-US" sz="2000" b="0" i="0" u="none" strike="noStrike" baseline="0" dirty="0">
                <a:latin typeface="Calibri" panose="020F0502020204030204" pitchFamily="34" charset="0"/>
                <a:cs typeface="Calibri" panose="020F0502020204030204" pitchFamily="34" charset="0"/>
              </a:rPr>
              <a:t>Writes the string "Hello" to the file.</a:t>
            </a:r>
          </a:p>
          <a:p>
            <a:pPr lvl="1" algn="just"/>
            <a:r>
              <a:rPr lang="en-US" sz="2000" b="0" i="0" u="none" strike="noStrike" baseline="0" dirty="0">
                <a:latin typeface="Calibri" panose="020F0502020204030204" pitchFamily="34" charset="0"/>
                <a:cs typeface="Calibri" panose="020F0502020204030204" pitchFamily="34" charset="0"/>
              </a:rPr>
              <a:t>Closes the file.</a:t>
            </a:r>
          </a:p>
          <a:p>
            <a:pPr lvl="1" algn="just"/>
            <a:r>
              <a:rPr lang="en-US" sz="2000" b="0" i="0" u="none" strike="noStrike" baseline="0" dirty="0">
                <a:latin typeface="Calibri" panose="020F0502020204030204" pitchFamily="34" charset="0"/>
                <a:cs typeface="Calibri" panose="020F0502020204030204" pitchFamily="34" charset="0"/>
              </a:rPr>
              <a:t>Reopens the file for reading.</a:t>
            </a:r>
          </a:p>
          <a:p>
            <a:pPr lvl="1" algn="just"/>
            <a:r>
              <a:rPr lang="en-US" sz="2000" b="0" i="0" u="none" strike="noStrike" baseline="0" dirty="0">
                <a:latin typeface="Calibri" panose="020F0502020204030204" pitchFamily="34" charset="0"/>
                <a:cs typeface="Calibri" panose="020F0502020204030204" pitchFamily="34" charset="0"/>
              </a:rPr>
              <a:t>Reads the content of the file into a buffer and prints it.</a:t>
            </a:r>
          </a:p>
          <a:p>
            <a:pPr lvl="1" algn="just"/>
            <a:r>
              <a:rPr lang="en-US" sz="2000" b="0" i="0" u="none" strike="noStrike" baseline="0" dirty="0">
                <a:latin typeface="Calibri" panose="020F0502020204030204" pitchFamily="34" charset="0"/>
                <a:cs typeface="Calibri" panose="020F0502020204030204" pitchFamily="34" charset="0"/>
              </a:rPr>
              <a:t>Closes the file again.</a:t>
            </a:r>
          </a:p>
          <a:p>
            <a:pPr algn="l"/>
            <a:endParaRPr lang="en-US" sz="18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3866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6: </a:t>
            </a:r>
            <a:r>
              <a:rPr lang="sv-SE" b="1" dirty="0"/>
              <a:t>System I/O </a:t>
            </a:r>
            <a:r>
              <a:rPr lang="sv-SE" b="1" dirty="0" err="1"/>
              <a:t>Functions</a:t>
            </a:r>
            <a:r>
              <a:rPr lang="sv-SE" b="1" dirty="0"/>
              <a:t> </a:t>
            </a:r>
            <a:endParaRPr lang="en-GB" b="1" dirty="0"/>
          </a:p>
        </p:txBody>
      </p:sp>
      <p:pic>
        <p:nvPicPr>
          <p:cNvPr id="4" name="Picture 3">
            <a:extLst>
              <a:ext uri="{FF2B5EF4-FFF2-40B4-BE49-F238E27FC236}">
                <a16:creationId xmlns:a16="http://schemas.microsoft.com/office/drawing/2014/main" id="{0AA31D6A-BD61-7826-D0C7-BE9D8C83E4A9}"/>
              </a:ext>
            </a:extLst>
          </p:cNvPr>
          <p:cNvPicPr>
            <a:picLocks noChangeAspect="1"/>
          </p:cNvPicPr>
          <p:nvPr/>
        </p:nvPicPr>
        <p:blipFill rotWithShape="1">
          <a:blip r:embed="rId2">
            <a:extLst>
              <a:ext uri="{28A0092B-C50C-407E-A947-70E740481C1C}">
                <a14:useLocalDpi xmlns:a14="http://schemas.microsoft.com/office/drawing/2010/main" val="0"/>
              </a:ext>
            </a:extLst>
          </a:blip>
          <a:srcRect l="2747" t="3404" r="29844" b="69463"/>
          <a:stretch/>
        </p:blipFill>
        <p:spPr>
          <a:xfrm>
            <a:off x="424871" y="4960573"/>
            <a:ext cx="5241170" cy="1532302"/>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A3D636F0-A676-712F-1015-0CCD36213950}"/>
              </a:ext>
            </a:extLst>
          </p:cNvPr>
          <p:cNvPicPr>
            <a:picLocks noChangeAspect="1"/>
          </p:cNvPicPr>
          <p:nvPr/>
        </p:nvPicPr>
        <p:blipFill rotWithShape="1">
          <a:blip r:embed="rId3">
            <a:extLst>
              <a:ext uri="{28A0092B-C50C-407E-A947-70E740481C1C}">
                <a14:useLocalDpi xmlns:a14="http://schemas.microsoft.com/office/drawing/2010/main" val="0"/>
              </a:ext>
            </a:extLst>
          </a:blip>
          <a:srcRect l="5117" t="8485" r="37234" b="29697"/>
          <a:stretch/>
        </p:blipFill>
        <p:spPr>
          <a:xfrm>
            <a:off x="6867704" y="1309253"/>
            <a:ext cx="5241169" cy="5492460"/>
          </a:xfrm>
          <a:prstGeom prst="rect">
            <a:avLst/>
          </a:prstGeom>
        </p:spPr>
      </p:pic>
    </p:spTree>
    <p:extLst>
      <p:ext uri="{BB962C8B-B14F-4D97-AF65-F5344CB8AC3E}">
        <p14:creationId xmlns:p14="http://schemas.microsoft.com/office/powerpoint/2010/main" val="358860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6: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1" dirty="0">
                <a:latin typeface="Calibri" panose="020F0502020204030204" pitchFamily="34" charset="0"/>
                <a:cs typeface="Calibri" panose="020F0502020204030204" pitchFamily="34" charset="0"/>
              </a:rPr>
              <a:t>Headers:</a:t>
            </a:r>
          </a:p>
          <a:p>
            <a:pPr lvl="1" algn="just"/>
            <a:r>
              <a:rPr lang="en-US" sz="2000" dirty="0">
                <a:latin typeface="Calibri" panose="020F0502020204030204" pitchFamily="34" charset="0"/>
                <a:cs typeface="Calibri" panose="020F0502020204030204" pitchFamily="34" charset="0"/>
              </a:rPr>
              <a:t>#include &lt;</a:t>
            </a:r>
            <a:r>
              <a:rPr lang="en-US" sz="2000" dirty="0" err="1">
                <a:latin typeface="Calibri" panose="020F0502020204030204" pitchFamily="34" charset="0"/>
                <a:cs typeface="Calibri" panose="020F0502020204030204" pitchFamily="34" charset="0"/>
              </a:rPr>
              <a:t>fcntl.h</a:t>
            </a:r>
            <a:r>
              <a:rPr lang="en-US" sz="2000" dirty="0">
                <a:latin typeface="Calibri" panose="020F0502020204030204" pitchFamily="34" charset="0"/>
                <a:cs typeface="Calibri" panose="020F0502020204030204" pitchFamily="34" charset="0"/>
              </a:rPr>
              <a:t>&gt;: Defines constants and function prototypes related to file control, such as file opening flags.</a:t>
            </a:r>
          </a:p>
          <a:p>
            <a:pPr lvl="2" algn="just"/>
            <a:r>
              <a:rPr lang="en-US" sz="1800" dirty="0">
                <a:latin typeface="Calibri" panose="020F0502020204030204" pitchFamily="34" charset="0"/>
                <a:cs typeface="Calibri" panose="020F0502020204030204" pitchFamily="34" charset="0"/>
              </a:rPr>
              <a:t>Provides the O_WRONLY, O_CREAT, O_TRUNC, and O_RDONLY constants used in the open() function to specify file access modes and attributes.</a:t>
            </a:r>
          </a:p>
          <a:p>
            <a:pPr lvl="1" algn="just"/>
            <a:r>
              <a:rPr lang="en-US" sz="2000" dirty="0">
                <a:latin typeface="Calibri" panose="020F0502020204030204" pitchFamily="34" charset="0"/>
                <a:cs typeface="Calibri" panose="020F0502020204030204" pitchFamily="34" charset="0"/>
              </a:rPr>
              <a:t>#include &lt;</a:t>
            </a:r>
            <a:r>
              <a:rPr lang="en-US" sz="2000" dirty="0" err="1">
                <a:latin typeface="Calibri" panose="020F0502020204030204" pitchFamily="34" charset="0"/>
                <a:cs typeface="Calibri" panose="020F0502020204030204" pitchFamily="34" charset="0"/>
              </a:rPr>
              <a:t>unistd.h</a:t>
            </a:r>
            <a:r>
              <a:rPr lang="en-US" sz="2000" dirty="0">
                <a:latin typeface="Calibri" panose="020F0502020204030204" pitchFamily="34" charset="0"/>
                <a:cs typeface="Calibri" panose="020F0502020204030204" pitchFamily="34" charset="0"/>
              </a:rPr>
              <a:t>&gt;: Contains declarations for POSIX operating system API functions, including file I/O functions such as </a:t>
            </a:r>
            <a:r>
              <a:rPr lang="en-US" sz="1800" dirty="0">
                <a:latin typeface="Calibri" panose="020F0502020204030204" pitchFamily="34" charset="0"/>
                <a:cs typeface="Calibri" panose="020F0502020204030204" pitchFamily="34" charset="0"/>
              </a:rPr>
              <a:t>open(), read(), write(), and close() functions.</a:t>
            </a:r>
          </a:p>
          <a:p>
            <a:pPr algn="just"/>
            <a:r>
              <a:rPr lang="en-US" sz="2200" b="1" dirty="0">
                <a:latin typeface="Calibri" panose="020F0502020204030204" pitchFamily="34" charset="0"/>
                <a:cs typeface="Calibri" panose="020F0502020204030204" pitchFamily="34" charset="0"/>
              </a:rPr>
              <a:t>Open the file for writing: </a:t>
            </a:r>
          </a:p>
          <a:p>
            <a:pPr lvl="1" algn="just"/>
            <a:r>
              <a:rPr lang="en-US" sz="2000" dirty="0">
                <a:latin typeface="Calibri" panose="020F0502020204030204" pitchFamily="34" charset="0"/>
                <a:cs typeface="Calibri" panose="020F0502020204030204" pitchFamily="34" charset="0"/>
              </a:rPr>
              <a:t>The open() function with flags O_WRONLY | O_CREAT | O_TRUNC opens the file in write-only mode, creates it if it doesn't exist, and truncates it to zero length if it does. </a:t>
            </a:r>
          </a:p>
          <a:p>
            <a:pPr lvl="1" algn="just"/>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0</a:t>
            </a:r>
            <a:r>
              <a:rPr lang="en-US" sz="2000" b="1" dirty="0">
                <a:solidFill>
                  <a:schemeClr val="tx2">
                    <a:lumMod val="75000"/>
                    <a:lumOff val="25000"/>
                  </a:schemeClr>
                </a:solidFill>
                <a:latin typeface="Calibri" panose="020F0502020204030204" pitchFamily="34" charset="0"/>
                <a:cs typeface="Calibri" panose="020F0502020204030204" pitchFamily="34" charset="0"/>
              </a:rPr>
              <a:t>6</a:t>
            </a:r>
            <a:r>
              <a:rPr lang="en-US" sz="2000" b="1" dirty="0">
                <a:solidFill>
                  <a:srgbClr val="FF0000"/>
                </a:solidFill>
                <a:latin typeface="Calibri" panose="020F0502020204030204" pitchFamily="34" charset="0"/>
                <a:cs typeface="Calibri" panose="020F0502020204030204" pitchFamily="34" charset="0"/>
              </a:rPr>
              <a:t>4</a:t>
            </a:r>
            <a:r>
              <a:rPr lang="en-US" sz="2000" b="1" dirty="0">
                <a:solidFill>
                  <a:schemeClr val="accent3">
                    <a:lumMod val="60000"/>
                    <a:lumOff val="40000"/>
                  </a:schemeClr>
                </a:solidFill>
                <a:latin typeface="Calibri" panose="020F0502020204030204" pitchFamily="34" charset="0"/>
                <a:cs typeface="Calibri" panose="020F0502020204030204" pitchFamily="34" charset="0"/>
              </a:rPr>
              <a:t>4</a:t>
            </a:r>
            <a:r>
              <a:rPr lang="en-US" sz="2000" dirty="0">
                <a:latin typeface="Calibri" panose="020F0502020204030204" pitchFamily="34" charset="0"/>
                <a:cs typeface="Calibri" panose="020F0502020204030204" pitchFamily="34" charset="0"/>
              </a:rPr>
              <a:t> sets the file permissions so that the </a:t>
            </a:r>
            <a:r>
              <a:rPr lang="en-US" sz="2000" b="1" dirty="0">
                <a:solidFill>
                  <a:schemeClr val="tx2">
                    <a:lumMod val="75000"/>
                    <a:lumOff val="25000"/>
                  </a:schemeClr>
                </a:solidFill>
                <a:latin typeface="Calibri" panose="020F0502020204030204" pitchFamily="34" charset="0"/>
                <a:cs typeface="Calibri" panose="020F0502020204030204" pitchFamily="34" charset="0"/>
              </a:rPr>
              <a:t>file owner </a:t>
            </a:r>
            <a:r>
              <a:rPr lang="en-US" sz="2000" dirty="0">
                <a:latin typeface="Calibri" panose="020F0502020204030204" pitchFamily="34" charset="0"/>
                <a:cs typeface="Calibri" panose="020F0502020204030204" pitchFamily="34" charset="0"/>
              </a:rPr>
              <a:t>can read and write to the file, while the </a:t>
            </a:r>
            <a:r>
              <a:rPr lang="en-US" sz="2000" b="1" dirty="0">
                <a:solidFill>
                  <a:srgbClr val="FF0000"/>
                </a:solidFill>
                <a:latin typeface="Calibri" panose="020F0502020204030204" pitchFamily="34" charset="0"/>
                <a:cs typeface="Calibri" panose="020F0502020204030204" pitchFamily="34" charset="0"/>
              </a:rPr>
              <a:t>group</a:t>
            </a:r>
            <a:r>
              <a:rPr lang="en-US" sz="2000" dirty="0">
                <a:latin typeface="Calibri" panose="020F0502020204030204" pitchFamily="34" charset="0"/>
                <a:cs typeface="Calibri" panose="020F0502020204030204" pitchFamily="34" charset="0"/>
              </a:rPr>
              <a:t> and </a:t>
            </a:r>
            <a:r>
              <a:rPr lang="en-US" sz="2000" b="1" dirty="0">
                <a:solidFill>
                  <a:schemeClr val="accent3">
                    <a:lumMod val="60000"/>
                    <a:lumOff val="40000"/>
                  </a:schemeClr>
                </a:solidFill>
                <a:latin typeface="Calibri" panose="020F0502020204030204" pitchFamily="34" charset="0"/>
                <a:cs typeface="Calibri" panose="020F0502020204030204" pitchFamily="34" charset="0"/>
              </a:rPr>
              <a:t>others</a:t>
            </a:r>
            <a:r>
              <a:rPr lang="en-US" sz="2000" dirty="0">
                <a:latin typeface="Calibri" panose="020F0502020204030204" pitchFamily="34" charset="0"/>
                <a:cs typeface="Calibri" panose="020F0502020204030204" pitchFamily="34" charset="0"/>
              </a:rPr>
              <a:t> can only read it. The </a:t>
            </a:r>
            <a:r>
              <a:rPr lang="en-US" sz="2000" b="1" dirty="0">
                <a:latin typeface="Calibri" panose="020F0502020204030204" pitchFamily="34" charset="0"/>
                <a:cs typeface="Calibri" panose="020F0502020204030204" pitchFamily="34" charset="0"/>
              </a:rPr>
              <a:t>0</a:t>
            </a:r>
            <a:r>
              <a:rPr lang="en-US" sz="2000" dirty="0">
                <a:latin typeface="Calibri" panose="020F0502020204030204" pitchFamily="34" charset="0"/>
                <a:cs typeface="Calibri" panose="020F0502020204030204" pitchFamily="34" charset="0"/>
              </a:rPr>
              <a:t> is used to indicate that the number is in octal.</a:t>
            </a:r>
          </a:p>
        </p:txBody>
      </p:sp>
      <p:graphicFrame>
        <p:nvGraphicFramePr>
          <p:cNvPr id="7" name="Table 6">
            <a:extLst>
              <a:ext uri="{FF2B5EF4-FFF2-40B4-BE49-F238E27FC236}">
                <a16:creationId xmlns:a16="http://schemas.microsoft.com/office/drawing/2014/main" id="{8BC51100-37E5-587E-3558-D77F333720D7}"/>
              </a:ext>
            </a:extLst>
          </p:cNvPr>
          <p:cNvGraphicFramePr>
            <a:graphicFrameLocks noGrp="1"/>
          </p:cNvGraphicFramePr>
          <p:nvPr/>
        </p:nvGraphicFramePr>
        <p:xfrm>
          <a:off x="2503053" y="5839460"/>
          <a:ext cx="7185893" cy="944880"/>
        </p:xfrm>
        <a:graphic>
          <a:graphicData uri="http://schemas.openxmlformats.org/drawingml/2006/table">
            <a:tbl>
              <a:tblPr firstRow="1" bandRow="1">
                <a:tableStyleId>{5C22544A-7EE6-4342-B048-85BDC9FD1C3A}</a:tableStyleId>
              </a:tblPr>
              <a:tblGrid>
                <a:gridCol w="2127559">
                  <a:extLst>
                    <a:ext uri="{9D8B030D-6E8A-4147-A177-3AD203B41FA5}">
                      <a16:colId xmlns:a16="http://schemas.microsoft.com/office/drawing/2014/main" val="2609059737"/>
                    </a:ext>
                  </a:extLst>
                </a:gridCol>
                <a:gridCol w="2273990">
                  <a:extLst>
                    <a:ext uri="{9D8B030D-6E8A-4147-A177-3AD203B41FA5}">
                      <a16:colId xmlns:a16="http://schemas.microsoft.com/office/drawing/2014/main" val="1761973122"/>
                    </a:ext>
                  </a:extLst>
                </a:gridCol>
                <a:gridCol w="2784344">
                  <a:extLst>
                    <a:ext uri="{9D8B030D-6E8A-4147-A177-3AD203B41FA5}">
                      <a16:colId xmlns:a16="http://schemas.microsoft.com/office/drawing/2014/main" val="2356002630"/>
                    </a:ext>
                  </a:extLst>
                </a:gridCol>
              </a:tblGrid>
              <a:tr h="67735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0 = No permissions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1 =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Execute</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only</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(--x)</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2 =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Write</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only</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3 =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Write</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and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execute</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wx</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400" b="1"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4 = Read </a:t>
                      </a:r>
                      <a:r>
                        <a:rPr kumimoji="0" lang="sv-SE" altLang="sv-SE" sz="1400" b="1"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only</a:t>
                      </a:r>
                      <a:r>
                        <a:rPr kumimoji="0" lang="sv-SE" altLang="sv-SE" sz="1400" b="1"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(r--)</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5 = Read and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execute</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(r-x)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400" b="0" i="0" u="none" strike="noStrike" kern="1200" cap="none" normalizeH="0" baseline="0" dirty="0">
                          <a:ln>
                            <a:noFill/>
                          </a:ln>
                          <a:solidFill>
                            <a:schemeClr val="tx2">
                              <a:lumMod val="75000"/>
                              <a:lumOff val="25000"/>
                            </a:schemeClr>
                          </a:solidFill>
                          <a:effectLst/>
                          <a:latin typeface="Calibri" panose="020F0502020204030204" pitchFamily="34" charset="0"/>
                          <a:ea typeface="+mn-ea"/>
                          <a:cs typeface="Calibri" panose="020F0502020204030204" pitchFamily="34" charset="0"/>
                        </a:rPr>
                        <a:t>6 = Read and </a:t>
                      </a:r>
                      <a:r>
                        <a:rPr kumimoji="0" lang="sv-SE" altLang="sv-SE" sz="1400" b="0" i="0" u="none" strike="noStrike" kern="1200" cap="none" normalizeH="0" baseline="0" dirty="0" err="1">
                          <a:ln>
                            <a:noFill/>
                          </a:ln>
                          <a:solidFill>
                            <a:schemeClr val="tx2">
                              <a:lumMod val="75000"/>
                              <a:lumOff val="25000"/>
                            </a:schemeClr>
                          </a:solidFill>
                          <a:effectLst/>
                          <a:latin typeface="Calibri" panose="020F0502020204030204" pitchFamily="34" charset="0"/>
                          <a:ea typeface="+mn-ea"/>
                          <a:cs typeface="Calibri" panose="020F0502020204030204" pitchFamily="34" charset="0"/>
                        </a:rPr>
                        <a:t>write</a:t>
                      </a:r>
                      <a:r>
                        <a:rPr kumimoji="0" lang="sv-SE" altLang="sv-SE" sz="1400" b="0" i="0" u="none" strike="noStrike" kern="1200" cap="none" normalizeH="0" baseline="0" dirty="0">
                          <a:ln>
                            <a:noFill/>
                          </a:ln>
                          <a:solidFill>
                            <a:schemeClr val="tx2">
                              <a:lumMod val="75000"/>
                              <a:lumOff val="25000"/>
                            </a:schemeClr>
                          </a:solidFill>
                          <a:effectLst/>
                          <a:latin typeface="Calibri" panose="020F0502020204030204" pitchFamily="34" charset="0"/>
                          <a:ea typeface="+mn-ea"/>
                          <a:cs typeface="Calibri" panose="020F0502020204030204" pitchFamily="34" charset="0"/>
                        </a:rPr>
                        <a:t> (</a:t>
                      </a:r>
                      <a:r>
                        <a:rPr kumimoji="0" lang="sv-SE" altLang="sv-SE" sz="1400" b="0" i="0" u="none" strike="noStrike" kern="1200" cap="none" normalizeH="0" baseline="0" dirty="0" err="1">
                          <a:ln>
                            <a:noFill/>
                          </a:ln>
                          <a:solidFill>
                            <a:schemeClr val="tx2">
                              <a:lumMod val="75000"/>
                              <a:lumOff val="25000"/>
                            </a:schemeClr>
                          </a:solidFill>
                          <a:effectLst/>
                          <a:latin typeface="Calibri" panose="020F0502020204030204" pitchFamily="34" charset="0"/>
                          <a:ea typeface="+mn-ea"/>
                          <a:cs typeface="Calibri" panose="020F0502020204030204" pitchFamily="34" charset="0"/>
                        </a:rPr>
                        <a:t>rw</a:t>
                      </a:r>
                      <a:r>
                        <a:rPr kumimoji="0" lang="sv-SE" altLang="sv-SE" sz="1400" b="0" i="0" u="none" strike="noStrike" kern="1200" cap="none" normalizeH="0" baseline="0" dirty="0">
                          <a:ln>
                            <a:noFill/>
                          </a:ln>
                          <a:solidFill>
                            <a:schemeClr val="tx2">
                              <a:lumMod val="75000"/>
                              <a:lumOff val="25000"/>
                            </a:schemeClr>
                          </a:solidFill>
                          <a:effectLst/>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7 = Read,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write</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and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execute</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 (</a:t>
                      </a:r>
                      <a:r>
                        <a:rPr kumimoji="0" lang="sv-SE" altLang="sv-SE" sz="1400" b="0" i="0" u="none" strike="noStrike" kern="1200" cap="none" normalizeH="0" baseline="0" dirty="0" err="1">
                          <a:ln>
                            <a:noFill/>
                          </a:ln>
                          <a:solidFill>
                            <a:schemeClr val="tx1"/>
                          </a:solidFill>
                          <a:effectLst/>
                          <a:latin typeface="Calibri" panose="020F0502020204030204" pitchFamily="34" charset="0"/>
                          <a:ea typeface="+mn-ea"/>
                          <a:cs typeface="Calibri" panose="020F0502020204030204" pitchFamily="34" charset="0"/>
                        </a:rPr>
                        <a:t>rwx</a:t>
                      </a:r>
                      <a:r>
                        <a:rPr kumimoji="0" lang="sv-SE" altLang="sv-SE"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0367305"/>
                  </a:ext>
                </a:extLst>
              </a:tr>
            </a:tbl>
          </a:graphicData>
        </a:graphic>
      </p:graphicFrame>
    </p:spTree>
    <p:extLst>
      <p:ext uri="{BB962C8B-B14F-4D97-AF65-F5344CB8AC3E}">
        <p14:creationId xmlns:p14="http://schemas.microsoft.com/office/powerpoint/2010/main" val="816316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6: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1" dirty="0">
                <a:latin typeface="Calibri" panose="020F0502020204030204" pitchFamily="34" charset="0"/>
                <a:cs typeface="Calibri" panose="020F0502020204030204" pitchFamily="34" charset="0"/>
              </a:rPr>
              <a:t>Write to the file: </a:t>
            </a:r>
          </a:p>
          <a:p>
            <a:pPr lvl="1" algn="just"/>
            <a:r>
              <a:rPr lang="en-US" sz="2000" dirty="0">
                <a:latin typeface="Calibri" panose="020F0502020204030204" pitchFamily="34" charset="0"/>
                <a:cs typeface="Calibri" panose="020F0502020204030204" pitchFamily="34" charset="0"/>
              </a:rPr>
              <a:t>The write() function writes the string "Hello" (5 bytes) to the file.</a:t>
            </a:r>
          </a:p>
          <a:p>
            <a:pPr algn="just"/>
            <a:r>
              <a:rPr lang="en-US" sz="2200" b="1" dirty="0">
                <a:latin typeface="Calibri" panose="020F0502020204030204" pitchFamily="34" charset="0"/>
                <a:cs typeface="Calibri" panose="020F0502020204030204" pitchFamily="34" charset="0"/>
              </a:rPr>
              <a:t>Close the file: </a:t>
            </a:r>
          </a:p>
          <a:p>
            <a:pPr lvl="1" algn="just"/>
            <a:r>
              <a:rPr lang="en-US" sz="2000" dirty="0">
                <a:latin typeface="Calibri" panose="020F0502020204030204" pitchFamily="34" charset="0"/>
                <a:cs typeface="Calibri" panose="020F0502020204030204" pitchFamily="34" charset="0"/>
              </a:rPr>
              <a:t>The close() function closes the file descriptor after writing.</a:t>
            </a:r>
          </a:p>
          <a:p>
            <a:pPr algn="just"/>
            <a:r>
              <a:rPr lang="en-US" sz="2200" b="1" dirty="0">
                <a:latin typeface="Calibri" panose="020F0502020204030204" pitchFamily="34" charset="0"/>
                <a:cs typeface="Calibri" panose="020F0502020204030204" pitchFamily="34" charset="0"/>
              </a:rPr>
              <a:t>Reopen the file for reading</a:t>
            </a:r>
            <a:r>
              <a:rPr lang="en-US" sz="2200" dirty="0">
                <a:latin typeface="Calibri" panose="020F0502020204030204" pitchFamily="34" charset="0"/>
                <a:cs typeface="Calibri" panose="020F0502020204030204" pitchFamily="34" charset="0"/>
              </a:rPr>
              <a:t>: </a:t>
            </a:r>
          </a:p>
          <a:p>
            <a:pPr lvl="1" algn="just"/>
            <a:r>
              <a:rPr lang="en-US" sz="2000" dirty="0">
                <a:latin typeface="Calibri" panose="020F0502020204030204" pitchFamily="34" charset="0"/>
                <a:cs typeface="Calibri" panose="020F0502020204030204" pitchFamily="34" charset="0"/>
              </a:rPr>
              <a:t>The open() function with flag O_RDONLY reopens the file in read-only mode.</a:t>
            </a:r>
          </a:p>
          <a:p>
            <a:pPr algn="just"/>
            <a:r>
              <a:rPr lang="en-US" sz="2200" b="1" dirty="0">
                <a:latin typeface="Calibri" panose="020F0502020204030204" pitchFamily="34" charset="0"/>
                <a:cs typeface="Calibri" panose="020F0502020204030204" pitchFamily="34" charset="0"/>
              </a:rPr>
              <a:t>Read the file content: </a:t>
            </a:r>
          </a:p>
          <a:p>
            <a:pPr lvl="1" algn="just"/>
            <a:r>
              <a:rPr lang="en-US" sz="2000" dirty="0">
                <a:latin typeface="Calibri" panose="020F0502020204030204" pitchFamily="34" charset="0"/>
                <a:cs typeface="Calibri" panose="020F0502020204030204" pitchFamily="34" charset="0"/>
              </a:rPr>
              <a:t>The read() function reads up to </a:t>
            </a:r>
            <a:r>
              <a:rPr lang="en-US" sz="2000" dirty="0" err="1">
                <a:latin typeface="Calibri" panose="020F0502020204030204" pitchFamily="34" charset="0"/>
                <a:cs typeface="Calibri" panose="020F0502020204030204" pitchFamily="34" charset="0"/>
              </a:rPr>
              <a:t>sizeof</a:t>
            </a:r>
            <a:r>
              <a:rPr lang="en-US" sz="2000" dirty="0">
                <a:latin typeface="Calibri" panose="020F0502020204030204" pitchFamily="34" charset="0"/>
                <a:cs typeface="Calibri" panose="020F0502020204030204" pitchFamily="34" charset="0"/>
              </a:rPr>
              <a:t>(buffer) - 1 bytes from the file into the buffer. </a:t>
            </a:r>
          </a:p>
          <a:p>
            <a:pPr lvl="1" algn="just"/>
            <a:r>
              <a:rPr lang="en-US" sz="2000" dirty="0">
                <a:latin typeface="Calibri" panose="020F0502020204030204" pitchFamily="34" charset="0"/>
                <a:cs typeface="Calibri" panose="020F0502020204030204" pitchFamily="34" charset="0"/>
              </a:rPr>
              <a:t>The buffer[5] = '\0'; line null-terminates the string to ensure it's properly terminated for printing.</a:t>
            </a:r>
          </a:p>
          <a:p>
            <a:pPr algn="just"/>
            <a:r>
              <a:rPr lang="en-US" sz="2200" b="1" dirty="0">
                <a:latin typeface="Calibri" panose="020F0502020204030204" pitchFamily="34" charset="0"/>
                <a:cs typeface="Calibri" panose="020F0502020204030204" pitchFamily="34" charset="0"/>
              </a:rPr>
              <a:t>Close the file: </a:t>
            </a:r>
          </a:p>
          <a:p>
            <a:pPr lvl="1" algn="just"/>
            <a:r>
              <a:rPr lang="en-US" sz="2000" dirty="0">
                <a:latin typeface="Calibri" panose="020F0502020204030204" pitchFamily="34" charset="0"/>
                <a:cs typeface="Calibri" panose="020F0502020204030204" pitchFamily="34" charset="0"/>
              </a:rPr>
              <a:t>The close() function closes the file descriptor after reading.</a:t>
            </a:r>
          </a:p>
        </p:txBody>
      </p:sp>
    </p:spTree>
    <p:extLst>
      <p:ext uri="{BB962C8B-B14F-4D97-AF65-F5344CB8AC3E}">
        <p14:creationId xmlns:p14="http://schemas.microsoft.com/office/powerpoint/2010/main" val="1361851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High-Level I/O Functions vs. Low-Level </a:t>
            </a:r>
            <a:r>
              <a:rPr lang="sv-SE" b="1" dirty="0"/>
              <a:t>System I/O </a:t>
            </a:r>
            <a:r>
              <a:rPr lang="en-GB" b="1" dirty="0"/>
              <a:t>Functions</a:t>
            </a:r>
            <a:r>
              <a:rPr lang="sv-SE" b="1" dirty="0"/>
              <a:t> </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fontScale="25000" lnSpcReduction="20000"/>
          </a:bodyPr>
          <a:lstStyle/>
          <a:p>
            <a:pPr algn="just">
              <a:lnSpc>
                <a:spcPct val="110000"/>
              </a:lnSpc>
            </a:pPr>
            <a:r>
              <a:rPr lang="en-US" sz="8800" b="1" dirty="0">
                <a:latin typeface="Calibri" panose="020F0502020204030204" pitchFamily="34" charset="0"/>
                <a:cs typeface="Calibri" panose="020F0502020204030204" pitchFamily="34" charset="0"/>
              </a:rPr>
              <a:t>High level I/O functions</a:t>
            </a:r>
            <a:r>
              <a:rPr lang="en-US" sz="8800" dirty="0">
                <a:latin typeface="Calibri" panose="020F0502020204030204" pitchFamily="34" charset="0"/>
                <a:cs typeface="Calibri" panose="020F0502020204030204" pitchFamily="34" charset="0"/>
              </a:rPr>
              <a:t>, such as </a:t>
            </a:r>
            <a:r>
              <a:rPr lang="en-US" sz="8800" dirty="0" err="1">
                <a:latin typeface="Calibri" panose="020F0502020204030204" pitchFamily="34" charset="0"/>
                <a:cs typeface="Calibri" panose="020F0502020204030204" pitchFamily="34" charset="0"/>
              </a:rPr>
              <a:t>fopen</a:t>
            </a:r>
            <a:r>
              <a:rPr lang="en-US" sz="8800" dirty="0">
                <a:latin typeface="Calibri" panose="020F0502020204030204" pitchFamily="34" charset="0"/>
                <a:cs typeface="Calibri" panose="020F0502020204030204" pitchFamily="34" charset="0"/>
              </a:rPr>
              <a:t>(), </a:t>
            </a:r>
            <a:r>
              <a:rPr lang="en-US" sz="8800" dirty="0" err="1">
                <a:latin typeface="Calibri" panose="020F0502020204030204" pitchFamily="34" charset="0"/>
                <a:cs typeface="Calibri" panose="020F0502020204030204" pitchFamily="34" charset="0"/>
              </a:rPr>
              <a:t>fprintf</a:t>
            </a:r>
            <a:r>
              <a:rPr lang="en-US" sz="8800" dirty="0">
                <a:latin typeface="Calibri" panose="020F0502020204030204" pitchFamily="34" charset="0"/>
                <a:cs typeface="Calibri" panose="020F0502020204030204" pitchFamily="34" charset="0"/>
              </a:rPr>
              <a:t>(), and </a:t>
            </a:r>
            <a:r>
              <a:rPr lang="en-US" sz="8800" dirty="0" err="1">
                <a:latin typeface="Calibri" panose="020F0502020204030204" pitchFamily="34" charset="0"/>
                <a:cs typeface="Calibri" panose="020F0502020204030204" pitchFamily="34" charset="0"/>
              </a:rPr>
              <a:t>fscanf</a:t>
            </a:r>
            <a:r>
              <a:rPr lang="en-US" sz="8800" dirty="0">
                <a:latin typeface="Calibri" panose="020F0502020204030204" pitchFamily="34" charset="0"/>
                <a:cs typeface="Calibri" panose="020F0502020204030204" pitchFamily="34" charset="0"/>
              </a:rPr>
              <a:t>(), provide a user-friendly interface that abstracts away complex details. </a:t>
            </a:r>
          </a:p>
          <a:p>
            <a:pPr marL="457200" lvl="1" indent="0" algn="just">
              <a:lnSpc>
                <a:spcPct val="110000"/>
              </a:lnSpc>
              <a:buNone/>
            </a:pPr>
            <a:endParaRPr lang="en-US" sz="8800" dirty="0">
              <a:latin typeface="Calibri" panose="020F0502020204030204" pitchFamily="34" charset="0"/>
              <a:cs typeface="Calibri" panose="020F0502020204030204" pitchFamily="34" charset="0"/>
            </a:endParaRPr>
          </a:p>
          <a:p>
            <a:pPr algn="just">
              <a:lnSpc>
                <a:spcPct val="110000"/>
              </a:lnSpc>
            </a:pPr>
            <a:r>
              <a:rPr lang="en-US" sz="8800" b="1" dirty="0">
                <a:latin typeface="Calibri" panose="020F0502020204030204" pitchFamily="34" charset="0"/>
                <a:cs typeface="Calibri" panose="020F0502020204030204" pitchFamily="34" charset="0"/>
              </a:rPr>
              <a:t>Low-level I/O functions</a:t>
            </a:r>
            <a:r>
              <a:rPr lang="en-US" sz="8800" dirty="0">
                <a:latin typeface="Calibri" panose="020F0502020204030204" pitchFamily="34" charset="0"/>
                <a:cs typeface="Calibri" panose="020F0502020204030204" pitchFamily="34" charset="0"/>
              </a:rPr>
              <a:t>, such as open(), read(), and write(), offer a higher level of control over file descriptors and I/O operations and they are less user-friendly. </a:t>
            </a:r>
          </a:p>
          <a:p>
            <a:pPr marL="457200" lvl="1" indent="0" algn="just">
              <a:lnSpc>
                <a:spcPct val="110000"/>
              </a:lnSpc>
              <a:buNone/>
            </a:pPr>
            <a:endParaRPr lang="en-US" sz="8800" dirty="0">
              <a:latin typeface="Calibri" panose="020F0502020204030204" pitchFamily="34" charset="0"/>
              <a:cs typeface="Calibri" panose="020F0502020204030204" pitchFamily="34" charset="0"/>
            </a:endParaRPr>
          </a:p>
          <a:p>
            <a:pPr algn="just">
              <a:lnSpc>
                <a:spcPct val="110000"/>
              </a:lnSpc>
            </a:pPr>
            <a:r>
              <a:rPr lang="en-US" sz="8800" b="1" dirty="0">
                <a:latin typeface="Calibri" panose="020F0502020204030204" pitchFamily="34" charset="0"/>
                <a:cs typeface="Calibri" panose="020F0502020204030204" pitchFamily="34" charset="0"/>
              </a:rPr>
              <a:t>High level I/O functions</a:t>
            </a:r>
            <a:r>
              <a:rPr lang="en-US" sz="8800" dirty="0">
                <a:latin typeface="Calibri" panose="020F0502020204030204" pitchFamily="34" charset="0"/>
                <a:cs typeface="Calibri" panose="020F0502020204030204" pitchFamily="34" charset="0"/>
              </a:rPr>
              <a:t> make programming simpler by managing tasks like data formatting and buffering (manage the flow of data between two locations or device) automatically.</a:t>
            </a:r>
          </a:p>
          <a:p>
            <a:pPr marL="0" indent="0" algn="just">
              <a:lnSpc>
                <a:spcPct val="110000"/>
              </a:lnSpc>
              <a:buNone/>
            </a:pPr>
            <a:endParaRPr lang="en-US" sz="8800" dirty="0">
              <a:latin typeface="Calibri" panose="020F0502020204030204" pitchFamily="34" charset="0"/>
              <a:cs typeface="Calibri" panose="020F0502020204030204" pitchFamily="34" charset="0"/>
            </a:endParaRPr>
          </a:p>
          <a:p>
            <a:pPr algn="just">
              <a:lnSpc>
                <a:spcPct val="110000"/>
              </a:lnSpc>
            </a:pPr>
            <a:r>
              <a:rPr lang="en-US" sz="8800" b="1" dirty="0">
                <a:latin typeface="Calibri" panose="020F0502020204030204" pitchFamily="34" charset="0"/>
                <a:cs typeface="Calibri" panose="020F0502020204030204" pitchFamily="34" charset="0"/>
              </a:rPr>
              <a:t>Low-level I/O functions </a:t>
            </a:r>
            <a:r>
              <a:rPr lang="en-US" sz="8800" dirty="0">
                <a:latin typeface="Calibri" panose="020F0502020204030204" pitchFamily="34" charset="0"/>
                <a:cs typeface="Calibri" panose="020F0502020204030204" pitchFamily="34" charset="0"/>
              </a:rPr>
              <a:t>are designed for scenarios where direct manipulation of I/O resources is necessary and they do not automatically handle buffering. </a:t>
            </a:r>
          </a:p>
          <a:p>
            <a:pPr lvl="1" algn="just">
              <a:lnSpc>
                <a:spcPct val="110000"/>
              </a:lnSpc>
            </a:pPr>
            <a:r>
              <a:rPr lang="en-US" sz="8000" dirty="0">
                <a:latin typeface="Calibri" panose="020F0502020204030204" pitchFamily="34" charset="0"/>
                <a:cs typeface="Calibri" panose="020F0502020204030204" pitchFamily="34" charset="0"/>
              </a:rPr>
              <a:t>Programmers must manage buffering themselves if needed, which allows for customized performance optimization and precise control over data handling.</a:t>
            </a:r>
          </a:p>
        </p:txBody>
      </p:sp>
    </p:spTree>
    <p:extLst>
      <p:ext uri="{BB962C8B-B14F-4D97-AF65-F5344CB8AC3E}">
        <p14:creationId xmlns:p14="http://schemas.microsoft.com/office/powerpoint/2010/main" val="34550974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High-Level I/O Functions vs. Low-Level </a:t>
            </a:r>
            <a:r>
              <a:rPr lang="sv-SE" b="1" dirty="0"/>
              <a:t>System I/O </a:t>
            </a:r>
            <a:r>
              <a:rPr lang="en-GB" b="1" dirty="0"/>
              <a:t>Functions</a:t>
            </a:r>
            <a:r>
              <a:rPr lang="sv-SE" b="1" dirty="0"/>
              <a:t> </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High level I/O functions</a:t>
            </a:r>
            <a:r>
              <a:rPr lang="en-US" sz="2200" b="1" i="0" u="none" strike="noStrike" baseline="0" dirty="0">
                <a:latin typeface="Calibri" panose="020F0502020204030204" pitchFamily="34" charset="0"/>
                <a:cs typeface="Calibri" panose="020F0502020204030204" pitchFamily="34" charset="0"/>
              </a:rPr>
              <a:t> </a:t>
            </a:r>
            <a:r>
              <a:rPr lang="en-US" sz="2200" b="0" i="0" u="none" strike="noStrike" baseline="0" dirty="0">
                <a:latin typeface="Calibri" panose="020F0502020204030204" pitchFamily="34" charset="0"/>
                <a:cs typeface="Calibri" panose="020F0502020204030204" pitchFamily="34" charset="0"/>
              </a:rPr>
              <a:t>are suitable for general </a:t>
            </a:r>
            <a:r>
              <a:rPr lang="en-US" sz="2200" dirty="0">
                <a:latin typeface="Calibri" panose="020F0502020204030204" pitchFamily="34" charset="0"/>
                <a:cs typeface="Calibri" panose="020F0502020204030204" pitchFamily="34" charset="0"/>
              </a:rPr>
              <a:t>a</a:t>
            </a:r>
            <a:r>
              <a:rPr lang="en-US" sz="2200" b="0" i="0" u="none" strike="noStrike" baseline="0" dirty="0">
                <a:latin typeface="Calibri" panose="020F0502020204030204" pitchFamily="34" charset="0"/>
                <a:cs typeface="Calibri" panose="020F0502020204030204" pitchFamily="34" charset="0"/>
              </a:rPr>
              <a:t>pplications as they manage many details automatically.</a:t>
            </a:r>
            <a:endParaRPr lang="en-US" sz="2200" b="1" i="0" u="none" strike="noStrike" baseline="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Low-level I/O functions</a:t>
            </a:r>
            <a:r>
              <a:rPr lang="en-US" sz="2200" b="1" u="none" strike="noStrike" baseline="0" dirty="0">
                <a:latin typeface="Calibri" panose="020F0502020204030204" pitchFamily="34" charset="0"/>
                <a:cs typeface="Calibri" panose="020F0502020204030204" pitchFamily="34" charset="0"/>
              </a:rPr>
              <a:t> </a:t>
            </a:r>
            <a:r>
              <a:rPr lang="en-US" sz="2200" b="0" i="0" u="none" strike="noStrike" baseline="0" dirty="0">
                <a:latin typeface="Calibri" panose="020F0502020204030204" pitchFamily="34" charset="0"/>
                <a:cs typeface="Calibri" panose="020F0502020204030204" pitchFamily="34" charset="0"/>
              </a:rPr>
              <a:t>are suited for system-level programming where fine-tuned control over I/O operations and performance is crucial.</a:t>
            </a:r>
          </a:p>
        </p:txBody>
      </p:sp>
      <p:pic>
        <p:nvPicPr>
          <p:cNvPr id="7" name="Picture 6">
            <a:extLst>
              <a:ext uri="{FF2B5EF4-FFF2-40B4-BE49-F238E27FC236}">
                <a16:creationId xmlns:a16="http://schemas.microsoft.com/office/drawing/2014/main" id="{97395FEE-E66D-29F9-299C-57C1B5CA5A88}"/>
              </a:ext>
            </a:extLst>
          </p:cNvPr>
          <p:cNvPicPr>
            <a:picLocks noChangeAspect="1"/>
          </p:cNvPicPr>
          <p:nvPr/>
        </p:nvPicPr>
        <p:blipFill>
          <a:blip r:embed="rId2"/>
          <a:stretch>
            <a:fillRect/>
          </a:stretch>
        </p:blipFill>
        <p:spPr>
          <a:xfrm>
            <a:off x="3576545" y="3239911"/>
            <a:ext cx="5038910" cy="3618089"/>
          </a:xfrm>
          <a:prstGeom prst="rect">
            <a:avLst/>
          </a:prstGeom>
        </p:spPr>
      </p:pic>
    </p:spTree>
    <p:extLst>
      <p:ext uri="{BB962C8B-B14F-4D97-AF65-F5344CB8AC3E}">
        <p14:creationId xmlns:p14="http://schemas.microsoft.com/office/powerpoint/2010/main" val="661235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Buffering</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lnSpcReduction="10000"/>
          </a:bodyPr>
          <a:lstStyle/>
          <a:p>
            <a:pPr algn="just"/>
            <a:r>
              <a:rPr lang="en-US" sz="2200" dirty="0">
                <a:latin typeface="Calibri" panose="020F0502020204030204" pitchFamily="34" charset="0"/>
                <a:cs typeface="Calibri" panose="020F0502020204030204" pitchFamily="34" charset="0"/>
              </a:rPr>
              <a:t>Buffering involves temporarily storing data in a memory area (buffer) before it is read from or written to a file or device.</a:t>
            </a:r>
          </a:p>
          <a:p>
            <a:pPr algn="just"/>
            <a:r>
              <a:rPr lang="en-US" sz="2200" dirty="0">
                <a:latin typeface="Calibri" panose="020F0502020204030204" pitchFamily="34" charset="0"/>
                <a:cs typeface="Calibri" panose="020F0502020204030204" pitchFamily="34" charset="0"/>
              </a:rPr>
              <a:t>Buffering enhances performance by reducing the number of I/O operations and managing data more efficiently.</a:t>
            </a:r>
          </a:p>
          <a:p>
            <a:pPr algn="just"/>
            <a:endParaRPr lang="en-US" sz="2200" b="1" i="0" u="none" strike="noStrike" baseline="0" dirty="0">
              <a:latin typeface="Calibri" panose="020F0502020204030204" pitchFamily="34" charset="0"/>
              <a:cs typeface="Calibri" panose="020F0502020204030204" pitchFamily="34" charset="0"/>
            </a:endParaRPr>
          </a:p>
          <a:p>
            <a:pPr algn="just"/>
            <a:r>
              <a:rPr lang="en-US" sz="2200" b="1" i="0" u="none" strike="noStrike" baseline="0" dirty="0">
                <a:latin typeface="Calibri" panose="020F0502020204030204" pitchFamily="34" charset="0"/>
                <a:cs typeface="Calibri" panose="020F0502020204030204" pitchFamily="34" charset="0"/>
              </a:rPr>
              <a:t>Types of Buffers:</a:t>
            </a:r>
          </a:p>
          <a:p>
            <a:pPr lvl="1" algn="just"/>
            <a:r>
              <a:rPr lang="en-US" sz="2000" b="1" i="0" u="none" strike="noStrike" baseline="0" dirty="0">
                <a:latin typeface="Calibri" panose="020F0502020204030204" pitchFamily="34" charset="0"/>
                <a:cs typeface="Calibri" panose="020F0502020204030204" pitchFamily="34" charset="0"/>
              </a:rPr>
              <a:t>Input Buffers: </a:t>
            </a:r>
            <a:r>
              <a:rPr lang="en-US" sz="2000" i="0" u="none" strike="noStrike" baseline="0" dirty="0">
                <a:latin typeface="Calibri" panose="020F0502020204030204" pitchFamily="34" charset="0"/>
                <a:cs typeface="Calibri" panose="020F0502020204030204" pitchFamily="34" charset="0"/>
              </a:rPr>
              <a:t>Store data read from files or devices before it is processed.</a:t>
            </a:r>
          </a:p>
          <a:p>
            <a:pPr lvl="2" algn="just"/>
            <a:r>
              <a:rPr lang="en-US" sz="1800" i="0" u="none" strike="noStrike" baseline="0" dirty="0">
                <a:latin typeface="Calibri" panose="020F0502020204030204" pitchFamily="34" charset="0"/>
                <a:cs typeface="Calibri" panose="020F0502020204030204" pitchFamily="34" charset="0"/>
              </a:rPr>
              <a:t>Line-buffered: Output is sent to the terminal when a newline character (\n) is encountered. This is common when writing to the terminal.</a:t>
            </a:r>
          </a:p>
          <a:p>
            <a:pPr lvl="2" algn="just"/>
            <a:r>
              <a:rPr lang="en-US" sz="1800" i="0" u="none" strike="noStrike" baseline="0" dirty="0">
                <a:latin typeface="Calibri" panose="020F0502020204030204" pitchFamily="34" charset="0"/>
                <a:cs typeface="Calibri" panose="020F0502020204030204" pitchFamily="34" charset="0"/>
              </a:rPr>
              <a:t>Fully buffered: Output is sent when the buffer is full. This is common when writing to files.</a:t>
            </a:r>
          </a:p>
          <a:p>
            <a:pPr lvl="2" algn="just"/>
            <a:r>
              <a:rPr lang="en-US" sz="1800" i="0" u="none" strike="noStrike" baseline="0" dirty="0">
                <a:latin typeface="Calibri" panose="020F0502020204030204" pitchFamily="34" charset="0"/>
                <a:cs typeface="Calibri" panose="020F0502020204030204" pitchFamily="34" charset="0"/>
              </a:rPr>
              <a:t>Unbuffered: Output is sent immediately. This is less common.</a:t>
            </a:r>
          </a:p>
          <a:p>
            <a:pPr lvl="1" algn="just"/>
            <a:r>
              <a:rPr lang="en-US" sz="2000" b="1" i="0" u="none" strike="noStrike" baseline="0" dirty="0">
                <a:latin typeface="Calibri" panose="020F0502020204030204" pitchFamily="34" charset="0"/>
                <a:cs typeface="Calibri" panose="020F0502020204030204" pitchFamily="34" charset="0"/>
              </a:rPr>
              <a:t>Output Buffers: </a:t>
            </a:r>
            <a:r>
              <a:rPr lang="en-US" sz="2000" i="0" u="none" strike="noStrike" baseline="0" dirty="0">
                <a:latin typeface="Calibri" panose="020F0502020204030204" pitchFamily="34" charset="0"/>
                <a:cs typeface="Calibri" panose="020F0502020204030204" pitchFamily="34" charset="0"/>
              </a:rPr>
              <a:t>Hold data to be written to files or devices until the buffer is full or explicitly flushed (writes the information stored in the buffer to storage (h</a:t>
            </a:r>
            <a:r>
              <a:rPr lang="sv-SE" sz="2000" b="0" i="0" dirty="0" err="1">
                <a:solidFill>
                  <a:srgbClr val="1F1F1F"/>
                </a:solidFill>
                <a:effectLst/>
                <a:highlight>
                  <a:srgbClr val="FFFFFF"/>
                </a:highlight>
                <a:latin typeface="Calibri" panose="020F0502020204030204" pitchFamily="34" charset="0"/>
                <a:cs typeface="Calibri" panose="020F0502020204030204" pitchFamily="34" charset="0"/>
              </a:rPr>
              <a:t>dd</a:t>
            </a:r>
            <a:r>
              <a:rPr lang="sv-SE" sz="2000" b="0" i="0" dirty="0">
                <a:solidFill>
                  <a:srgbClr val="1F1F1F"/>
                </a:solidFill>
                <a:effectLst/>
                <a:highlight>
                  <a:srgbClr val="FFFFFF"/>
                </a:highlight>
                <a:latin typeface="Calibri" panose="020F0502020204030204" pitchFamily="34" charset="0"/>
                <a:cs typeface="Calibri" panose="020F0502020204030204" pitchFamily="34" charset="0"/>
              </a:rPr>
              <a:t>, </a:t>
            </a:r>
            <a:r>
              <a:rPr lang="sv-SE" sz="2000" b="0" i="0" dirty="0" err="1">
                <a:solidFill>
                  <a:srgbClr val="1F1F1F"/>
                </a:solidFill>
                <a:effectLst/>
                <a:highlight>
                  <a:srgbClr val="FFFFFF"/>
                </a:highlight>
                <a:latin typeface="Calibri" panose="020F0502020204030204" pitchFamily="34" charset="0"/>
                <a:cs typeface="Calibri" panose="020F0502020204030204" pitchFamily="34" charset="0"/>
              </a:rPr>
              <a:t>ssd</a:t>
            </a:r>
            <a:r>
              <a:rPr lang="sv-SE" sz="2000" b="0" i="0" dirty="0">
                <a:solidFill>
                  <a:srgbClr val="1F1F1F"/>
                </a:solidFill>
                <a:effectLst/>
                <a:highlight>
                  <a:srgbClr val="FFFFFF"/>
                </a:highlight>
                <a:latin typeface="Calibri" panose="020F0502020204030204" pitchFamily="34" charset="0"/>
                <a:cs typeface="Calibri" panose="020F0502020204030204" pitchFamily="34" charset="0"/>
              </a:rPr>
              <a:t>, </a:t>
            </a:r>
            <a:r>
              <a:rPr lang="sv-SE" sz="2000" b="0" i="0" dirty="0" err="1">
                <a:solidFill>
                  <a:srgbClr val="1F1F1F"/>
                </a:solidFill>
                <a:effectLst/>
                <a:highlight>
                  <a:srgbClr val="FFFFFF"/>
                </a:highlight>
                <a:latin typeface="Calibri" panose="020F0502020204030204" pitchFamily="34" charset="0"/>
                <a:cs typeface="Calibri" panose="020F0502020204030204" pitchFamily="34" charset="0"/>
              </a:rPr>
              <a:t>etc</a:t>
            </a:r>
            <a:r>
              <a:rPr lang="en-US" sz="2000" i="0" u="none" strike="noStrike" baseline="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298661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Buffering: </a:t>
            </a:r>
            <a:r>
              <a:rPr lang="en-GB" b="1" dirty="0" err="1"/>
              <a:t>fflush</a:t>
            </a:r>
            <a:r>
              <a:rPr lang="en-GB" b="1" dirty="0"/>
              <a:t>() Function</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GB" sz="2200" i="0" u="none" strike="noStrike" baseline="0" dirty="0" err="1">
                <a:latin typeface="Calibri" panose="020F0502020204030204" pitchFamily="34" charset="0"/>
                <a:cs typeface="Calibri" panose="020F0502020204030204" pitchFamily="34" charset="0"/>
              </a:rPr>
              <a:t>fflush</a:t>
            </a:r>
            <a:r>
              <a:rPr lang="en-GB" sz="2200" i="0" u="none" strike="noStrike" baseline="0" dirty="0">
                <a:latin typeface="Calibri" panose="020F0502020204030204" pitchFamily="34" charset="0"/>
                <a:cs typeface="Calibri" panose="020F0502020204030204" pitchFamily="34" charset="0"/>
              </a:rPr>
              <a:t> function </a:t>
            </a:r>
            <a:r>
              <a:rPr lang="en-US" sz="2200" dirty="0">
                <a:latin typeface="Calibri" panose="020F0502020204030204" pitchFamily="34" charset="0"/>
                <a:cs typeface="Calibri" panose="020F0502020204030204" pitchFamily="34" charset="0"/>
              </a:rPr>
              <a:t>forces the output buffer to be written to the file or terminal immediately.</a:t>
            </a:r>
          </a:p>
          <a:p>
            <a:pPr marL="0" indent="0" algn="just">
              <a:buNone/>
            </a:pPr>
            <a:endParaRPr lang="en-US" sz="1500" dirty="0">
              <a:solidFill>
                <a:schemeClr val="tx2">
                  <a:lumMod val="75000"/>
                  <a:lumOff val="25000"/>
                </a:schemeClr>
              </a:solidFill>
              <a:latin typeface="Calibri" panose="020F0502020204030204" pitchFamily="34" charset="0"/>
              <a:cs typeface="Calibri" panose="020F0502020204030204" pitchFamily="34" charset="0"/>
            </a:endParaRPr>
          </a:p>
          <a:p>
            <a:pPr marL="0" indent="0" algn="just">
              <a:buNone/>
            </a:pPr>
            <a:r>
              <a:rPr lang="en-US" sz="1500" dirty="0">
                <a:solidFill>
                  <a:schemeClr val="tx2">
                    <a:lumMod val="75000"/>
                    <a:lumOff val="25000"/>
                  </a:schemeClr>
                </a:solidFill>
                <a:latin typeface="Calibri" panose="020F0502020204030204" pitchFamily="34" charset="0"/>
                <a:cs typeface="Calibri" panose="020F0502020204030204" pitchFamily="34" charset="0"/>
              </a:rPr>
              <a:t>int </a:t>
            </a:r>
            <a:r>
              <a:rPr lang="en-US" sz="1500" dirty="0" err="1">
                <a:solidFill>
                  <a:schemeClr val="tx2">
                    <a:lumMod val="75000"/>
                    <a:lumOff val="25000"/>
                  </a:schemeClr>
                </a:solidFill>
                <a:latin typeface="Calibri" panose="020F0502020204030204" pitchFamily="34" charset="0"/>
                <a:cs typeface="Calibri" panose="020F0502020204030204" pitchFamily="34" charset="0"/>
              </a:rPr>
              <a:t>fflush</a:t>
            </a:r>
            <a:r>
              <a:rPr lang="en-US" sz="1500" dirty="0">
                <a:solidFill>
                  <a:schemeClr val="tx2">
                    <a:lumMod val="75000"/>
                    <a:lumOff val="25000"/>
                  </a:schemeClr>
                </a:solidFill>
                <a:latin typeface="Calibri" panose="020F0502020204030204" pitchFamily="34" charset="0"/>
                <a:cs typeface="Calibri" panose="020F0502020204030204" pitchFamily="34" charset="0"/>
              </a:rPr>
              <a:t>(FILE *stream);</a:t>
            </a:r>
            <a:endParaRPr lang="en-US" sz="2200" i="0" u="none" strike="noStrike" baseline="0" dirty="0">
              <a:latin typeface="Calibri" panose="020F0502020204030204" pitchFamily="34" charset="0"/>
              <a:cs typeface="Calibri" panose="020F0502020204030204" pitchFamily="34" charset="0"/>
            </a:endParaRPr>
          </a:p>
          <a:p>
            <a:pPr marL="457200" lvl="1" indent="0" algn="just">
              <a:buNone/>
            </a:pPr>
            <a:endParaRPr lang="en-US" sz="2000" dirty="0">
              <a:latin typeface="Calibri" panose="020F0502020204030204" pitchFamily="34" charset="0"/>
              <a:cs typeface="Calibri" panose="020F0502020204030204" pitchFamily="34" charset="0"/>
            </a:endParaRPr>
          </a:p>
          <a:p>
            <a:pPr marL="457200" lvl="1" indent="0" algn="just">
              <a:buNone/>
            </a:pPr>
            <a:r>
              <a:rPr lang="en-US" sz="2000" dirty="0">
                <a:latin typeface="Calibri" panose="020F0502020204030204" pitchFamily="34" charset="0"/>
                <a:cs typeface="Calibri" panose="020F0502020204030204" pitchFamily="34" charset="0"/>
              </a:rPr>
              <a:t>		Pointer to a FILE object. If NULL, flushes all output streams.</a:t>
            </a:r>
          </a:p>
          <a:p>
            <a:pPr marL="0" indent="0" algn="just">
              <a:buNone/>
            </a:pPr>
            <a:endParaRPr lang="en-US" sz="2200" i="0" u="none" strike="noStrike" baseline="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Usage: </a:t>
            </a:r>
          </a:p>
          <a:p>
            <a:pPr lvl="1" algn="just"/>
            <a:r>
              <a:rPr lang="en-US" sz="2000" b="1" dirty="0">
                <a:latin typeface="Calibri" panose="020F0502020204030204" pitchFamily="34" charset="0"/>
                <a:cs typeface="Calibri" panose="020F0502020204030204" pitchFamily="34" charset="0"/>
              </a:rPr>
              <a:t>Immediate Output</a:t>
            </a:r>
            <a:r>
              <a:rPr lang="en-US" sz="2000" dirty="0">
                <a:latin typeface="Calibri" panose="020F0502020204030204" pitchFamily="34" charset="0"/>
                <a:cs typeface="Calibri" panose="020F0502020204030204" pitchFamily="34" charset="0"/>
              </a:rPr>
              <a:t>: Ensures data is visible or saved immediately.</a:t>
            </a:r>
          </a:p>
          <a:p>
            <a:pPr lvl="2" algn="just"/>
            <a:r>
              <a:rPr lang="en-US" sz="1800" i="0" u="none" strike="noStrike" baseline="0" dirty="0">
                <a:latin typeface="Calibri" panose="020F0502020204030204" pitchFamily="34" charset="0"/>
                <a:cs typeface="Calibri" panose="020F0502020204030204" pitchFamily="34" charset="0"/>
              </a:rPr>
              <a:t>In C, standard output (</a:t>
            </a:r>
            <a:r>
              <a:rPr lang="en-US" sz="1800" i="0" u="none" strike="noStrike" baseline="0" dirty="0" err="1">
                <a:latin typeface="Calibri" panose="020F0502020204030204" pitchFamily="34" charset="0"/>
                <a:cs typeface="Calibri" panose="020F0502020204030204" pitchFamily="34" charset="0"/>
              </a:rPr>
              <a:t>stdout</a:t>
            </a:r>
            <a:r>
              <a:rPr lang="en-US" sz="1800" i="0" u="none" strike="noStrike" baseline="0" dirty="0">
                <a:latin typeface="Calibri" panose="020F0502020204030204" pitchFamily="34" charset="0"/>
                <a:cs typeface="Calibri" panose="020F0502020204030204" pitchFamily="34" charset="0"/>
              </a:rPr>
              <a:t>), which is where </a:t>
            </a:r>
            <a:r>
              <a:rPr lang="en-US" sz="1800" i="0" u="none" strike="noStrike" baseline="0" dirty="0" err="1">
                <a:latin typeface="Calibri" panose="020F0502020204030204" pitchFamily="34" charset="0"/>
                <a:cs typeface="Calibri" panose="020F0502020204030204" pitchFamily="34" charset="0"/>
              </a:rPr>
              <a:t>printf</a:t>
            </a:r>
            <a:r>
              <a:rPr lang="en-US" sz="1800" i="0" u="none" strike="noStrike" baseline="0" dirty="0">
                <a:latin typeface="Calibri" panose="020F0502020204030204" pitchFamily="34" charset="0"/>
                <a:cs typeface="Calibri" panose="020F0502020204030204" pitchFamily="34" charset="0"/>
              </a:rPr>
              <a:t> writes to, is typically buffered. </a:t>
            </a:r>
          </a:p>
          <a:p>
            <a:pPr lvl="2" algn="just"/>
            <a:r>
              <a:rPr lang="en-US" sz="1800" i="0" u="none" strike="noStrike" baseline="0" dirty="0">
                <a:latin typeface="Calibri" panose="020F0502020204030204" pitchFamily="34" charset="0"/>
                <a:cs typeface="Calibri" panose="020F0502020204030204" pitchFamily="34" charset="0"/>
              </a:rPr>
              <a:t>This means that instead of sending every single character to the terminal immediately, the system collects (buffers) the output and then sends it all at once under certain conditions.</a:t>
            </a:r>
          </a:p>
        </p:txBody>
      </p:sp>
      <p:cxnSp>
        <p:nvCxnSpPr>
          <p:cNvPr id="7" name="Straight Arrow Connector 6">
            <a:extLst>
              <a:ext uri="{FF2B5EF4-FFF2-40B4-BE49-F238E27FC236}">
                <a16:creationId xmlns:a16="http://schemas.microsoft.com/office/drawing/2014/main" id="{4CAEAE85-63A2-4FF8-4B55-0E615048F617}"/>
              </a:ext>
            </a:extLst>
          </p:cNvPr>
          <p:cNvCxnSpPr/>
          <p:nvPr/>
        </p:nvCxnSpPr>
        <p:spPr>
          <a:xfrm>
            <a:off x="2419927" y="2872509"/>
            <a:ext cx="563418" cy="3325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9334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7: </a:t>
            </a:r>
            <a:r>
              <a:rPr lang="en-GB" b="1" dirty="0" err="1"/>
              <a:t>fflush</a:t>
            </a:r>
            <a:r>
              <a:rPr lang="en-GB" b="1" dirty="0"/>
              <a:t>() Function</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a:xfrm>
            <a:off x="838200" y="1825625"/>
            <a:ext cx="4537364" cy="4351338"/>
          </a:xfrm>
        </p:spPr>
        <p:txBody>
          <a:bodyPr>
            <a:noAutofit/>
          </a:bodyPr>
          <a:lstStyle/>
          <a:p>
            <a:pPr algn="just"/>
            <a:r>
              <a:rPr lang="en-US" sz="2200" i="0" u="none" strike="noStrike" baseline="0" dirty="0">
                <a:latin typeface="Calibri" panose="020F0502020204030204" pitchFamily="34" charset="0"/>
                <a:cs typeface="Calibri" panose="020F0502020204030204" pitchFamily="34" charset="0"/>
              </a:rPr>
              <a:t>Imagine we are writing a program that processes data and you want to display a progress indicator (like dots appearing on the screen) to show that the program is working. </a:t>
            </a:r>
            <a:r>
              <a:rPr lang="en-US" sz="2200" b="1" i="0" u="none" strike="noStrike" baseline="0" dirty="0">
                <a:latin typeface="Calibri" panose="020F0502020204030204" pitchFamily="34" charset="0"/>
                <a:cs typeface="Calibri" panose="020F0502020204030204" pitchFamily="34" charset="0"/>
              </a:rPr>
              <a:t>Without </a:t>
            </a:r>
            <a:r>
              <a:rPr lang="en-US" sz="2200" b="1" i="0" u="none" strike="noStrike" baseline="0" dirty="0" err="1">
                <a:latin typeface="Calibri" panose="020F0502020204030204" pitchFamily="34" charset="0"/>
                <a:cs typeface="Calibri" panose="020F0502020204030204" pitchFamily="34" charset="0"/>
              </a:rPr>
              <a:t>fflush</a:t>
            </a:r>
            <a:r>
              <a:rPr lang="en-US" sz="2200" b="1" i="0" u="none" strike="noStrike" baseline="0" dirty="0">
                <a:latin typeface="Calibri" panose="020F0502020204030204" pitchFamily="34" charset="0"/>
                <a:cs typeface="Calibri" panose="020F0502020204030204" pitchFamily="34" charset="0"/>
              </a:rPr>
              <a:t>()</a:t>
            </a:r>
            <a:r>
              <a:rPr lang="en-US" sz="2200" i="0" u="none" strike="noStrike" baseline="0" dirty="0">
                <a:latin typeface="Calibri" panose="020F0502020204030204" pitchFamily="34" charset="0"/>
                <a:cs typeface="Calibri" panose="020F0502020204030204" pitchFamily="34" charset="0"/>
              </a:rPr>
              <a:t>, the progress indicator might not show up as expected, making the program seem unresponsive.</a:t>
            </a:r>
          </a:p>
        </p:txBody>
      </p:sp>
      <p:pic>
        <p:nvPicPr>
          <p:cNvPr id="6" name="Picture 5" descr="A screenshot of a computer&#10;&#10;Description automatically generated">
            <a:extLst>
              <a:ext uri="{FF2B5EF4-FFF2-40B4-BE49-F238E27FC236}">
                <a16:creationId xmlns:a16="http://schemas.microsoft.com/office/drawing/2014/main" id="{61DA1B4B-6714-C213-EE18-462987B68750}"/>
              </a:ext>
            </a:extLst>
          </p:cNvPr>
          <p:cNvPicPr>
            <a:picLocks noChangeAspect="1"/>
          </p:cNvPicPr>
          <p:nvPr/>
        </p:nvPicPr>
        <p:blipFill rotWithShape="1">
          <a:blip r:embed="rId2">
            <a:extLst>
              <a:ext uri="{28A0092B-C50C-407E-A947-70E740481C1C}">
                <a14:useLocalDpi xmlns:a14="http://schemas.microsoft.com/office/drawing/2010/main" val="0"/>
              </a:ext>
            </a:extLst>
          </a:blip>
          <a:srcRect l="4957" t="5324" r="23778" b="55062"/>
          <a:stretch/>
        </p:blipFill>
        <p:spPr>
          <a:xfrm>
            <a:off x="6225307" y="1825625"/>
            <a:ext cx="5809673" cy="3156060"/>
          </a:xfrm>
          <a:prstGeom prst="rect">
            <a:avLst/>
          </a:prstGeom>
        </p:spPr>
      </p:pic>
      <p:sp>
        <p:nvSpPr>
          <p:cNvPr id="9" name="TextBox 8">
            <a:extLst>
              <a:ext uri="{FF2B5EF4-FFF2-40B4-BE49-F238E27FC236}">
                <a16:creationId xmlns:a16="http://schemas.microsoft.com/office/drawing/2014/main" id="{E397D600-221B-10E5-3CC3-300BA553A97C}"/>
              </a:ext>
            </a:extLst>
          </p:cNvPr>
          <p:cNvSpPr txBox="1"/>
          <p:nvPr/>
        </p:nvSpPr>
        <p:spPr>
          <a:xfrm>
            <a:off x="1582882" y="5116622"/>
            <a:ext cx="9026236" cy="923330"/>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Without </a:t>
            </a:r>
            <a:r>
              <a:rPr lang="en-GB" b="1" dirty="0" err="1">
                <a:latin typeface="Calibri" panose="020F0502020204030204" pitchFamily="34" charset="0"/>
                <a:cs typeface="Calibri" panose="020F0502020204030204" pitchFamily="34" charset="0"/>
              </a:rPr>
              <a:t>fflush</a:t>
            </a:r>
            <a:r>
              <a:rPr lang="en-GB" b="1" dirty="0">
                <a:latin typeface="Calibri" panose="020F0502020204030204" pitchFamily="34" charset="0"/>
                <a:cs typeface="Calibri" panose="020F0502020204030204" pitchFamily="34" charset="0"/>
              </a:rPr>
              <a:t>(</a:t>
            </a:r>
            <a:r>
              <a:rPr lang="en-GB" b="1" dirty="0" err="1">
                <a:latin typeface="Calibri" panose="020F0502020204030204" pitchFamily="34" charset="0"/>
                <a:cs typeface="Calibri" panose="020F0502020204030204" pitchFamily="34" charset="0"/>
              </a:rPr>
              <a:t>stdout</a:t>
            </a:r>
            <a:r>
              <a:rPr lang="en-GB" b="1" dirty="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The program might wait until the loop finishes before displaying all the dots at once. This would make the progress indicator useless, as the user wouldn't see the dots appearing one by one.</a:t>
            </a:r>
          </a:p>
        </p:txBody>
      </p:sp>
      <p:sp>
        <p:nvSpPr>
          <p:cNvPr id="12" name="TextBox 11">
            <a:extLst>
              <a:ext uri="{FF2B5EF4-FFF2-40B4-BE49-F238E27FC236}">
                <a16:creationId xmlns:a16="http://schemas.microsoft.com/office/drawing/2014/main" id="{120620AF-22F0-A32E-D1E6-E87E01F75AF9}"/>
              </a:ext>
            </a:extLst>
          </p:cNvPr>
          <p:cNvSpPr txBox="1"/>
          <p:nvPr/>
        </p:nvSpPr>
        <p:spPr>
          <a:xfrm>
            <a:off x="1582881" y="6139953"/>
            <a:ext cx="9026235" cy="646331"/>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With </a:t>
            </a:r>
            <a:r>
              <a:rPr lang="en-GB" b="1" dirty="0" err="1">
                <a:latin typeface="Calibri" panose="020F0502020204030204" pitchFamily="34" charset="0"/>
                <a:cs typeface="Calibri" panose="020F0502020204030204" pitchFamily="34" charset="0"/>
              </a:rPr>
              <a:t>fflush</a:t>
            </a:r>
            <a:r>
              <a:rPr lang="en-GB" b="1" dirty="0">
                <a:latin typeface="Calibri" panose="020F0502020204030204" pitchFamily="34" charset="0"/>
                <a:cs typeface="Calibri" panose="020F0502020204030204" pitchFamily="34" charset="0"/>
              </a:rPr>
              <a:t>(</a:t>
            </a:r>
            <a:r>
              <a:rPr lang="en-GB" b="1" dirty="0" err="1">
                <a:latin typeface="Calibri" panose="020F0502020204030204" pitchFamily="34" charset="0"/>
                <a:cs typeface="Calibri" panose="020F0502020204030204" pitchFamily="34" charset="0"/>
              </a:rPr>
              <a:t>stdout</a:t>
            </a:r>
            <a:r>
              <a:rPr lang="en-GB" b="1" dirty="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Each dot is displayed immediately after </a:t>
            </a:r>
            <a:r>
              <a:rPr lang="en-GB" dirty="0" err="1">
                <a:latin typeface="Calibri" panose="020F0502020204030204" pitchFamily="34" charset="0"/>
                <a:cs typeface="Calibri" panose="020F0502020204030204" pitchFamily="34" charset="0"/>
              </a:rPr>
              <a:t>printf</a:t>
            </a:r>
            <a:r>
              <a:rPr lang="en-GB" dirty="0">
                <a:latin typeface="Calibri" panose="020F0502020204030204" pitchFamily="34" charset="0"/>
                <a:cs typeface="Calibri" panose="020F0502020204030204" pitchFamily="34" charset="0"/>
              </a:rPr>
              <a:t>(".");, giving the user real-time feedback that the program is still processing.</a:t>
            </a:r>
          </a:p>
        </p:txBody>
      </p:sp>
    </p:spTree>
    <p:extLst>
      <p:ext uri="{BB962C8B-B14F-4D97-AF65-F5344CB8AC3E}">
        <p14:creationId xmlns:p14="http://schemas.microsoft.com/office/powerpoint/2010/main" val="3415769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Buffering: </a:t>
            </a:r>
            <a:r>
              <a:rPr lang="en-GB" b="1" dirty="0" err="1"/>
              <a:t>fflush</a:t>
            </a:r>
            <a:r>
              <a:rPr lang="en-GB" b="1" dirty="0"/>
              <a:t>() Function</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i="0" u="none" strike="noStrike" baseline="0" dirty="0">
                <a:latin typeface="Calibri" panose="020F0502020204030204" pitchFamily="34" charset="0"/>
                <a:cs typeface="Calibri" panose="020F0502020204030204" pitchFamily="34" charset="0"/>
              </a:rPr>
              <a:t>A pipe in C is a method used to enable inter-process communication (IPC) or </a:t>
            </a:r>
            <a:r>
              <a:rPr lang="en-US" sz="2200" dirty="0">
                <a:latin typeface="Calibri" panose="020F0502020204030204" pitchFamily="34" charset="0"/>
                <a:cs typeface="Calibri" panose="020F0502020204030204" pitchFamily="34" charset="0"/>
              </a:rPr>
              <a:t>pass the output of one command as input to another</a:t>
            </a:r>
            <a:r>
              <a:rPr lang="en-US" sz="2200" i="0" u="none" strike="noStrike" baseline="0" dirty="0">
                <a:latin typeface="Calibri" panose="020F0502020204030204" pitchFamily="34" charset="0"/>
                <a:cs typeface="Calibri" panose="020F0502020204030204" pitchFamily="34" charset="0"/>
              </a:rPr>
              <a:t>. </a:t>
            </a:r>
          </a:p>
          <a:p>
            <a:pPr algn="just"/>
            <a:r>
              <a:rPr lang="en-US" sz="2200" i="0" u="none" strike="noStrike" baseline="0" dirty="0">
                <a:latin typeface="Calibri" panose="020F0502020204030204" pitchFamily="34" charset="0"/>
                <a:cs typeface="Calibri" panose="020F0502020204030204" pitchFamily="34" charset="0"/>
              </a:rPr>
              <a:t>It allows data to flow from one process to another in a unidirectional way.</a:t>
            </a:r>
          </a:p>
          <a:p>
            <a:pPr algn="just"/>
            <a:r>
              <a:rPr lang="en-US" sz="2200" i="0" u="none" strike="noStrike" baseline="0" dirty="0">
                <a:latin typeface="Calibri" panose="020F0502020204030204" pitchFamily="34" charset="0"/>
                <a:cs typeface="Calibri" panose="020F0502020204030204" pitchFamily="34" charset="0"/>
              </a:rPr>
              <a:t>Unidirectional Data Flow: Pipes only allow data to flow in one direction. </a:t>
            </a:r>
          </a:p>
          <a:p>
            <a:pPr lvl="1" algn="just"/>
            <a:r>
              <a:rPr lang="en-US" sz="2000" i="0" u="none" strike="noStrike" baseline="0" dirty="0">
                <a:latin typeface="Calibri" panose="020F0502020204030204" pitchFamily="34" charset="0"/>
                <a:cs typeface="Calibri" panose="020F0502020204030204" pitchFamily="34" charset="0"/>
              </a:rPr>
              <a:t>For example, if you create a pipe between two processes, one process can write data to the pipe, and the other process can read it.</a:t>
            </a:r>
          </a:p>
          <a:p>
            <a:pPr algn="just"/>
            <a:r>
              <a:rPr lang="en-US" sz="2200" dirty="0">
                <a:latin typeface="Calibri" panose="020F0502020204030204" pitchFamily="34" charset="0"/>
                <a:cs typeface="Calibri" panose="020F0502020204030204" pitchFamily="34" charset="0"/>
              </a:rPr>
              <a:t>File Descriptor: When a pipe is created using the pipe() system call, it generates two file descriptors:</a:t>
            </a:r>
          </a:p>
          <a:p>
            <a:pPr lvl="1" algn="just"/>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[0]: Used for reading from the pipe.</a:t>
            </a:r>
          </a:p>
          <a:p>
            <a:pPr lvl="1" algn="just"/>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[1]: Used for writing to the pipe.</a:t>
            </a:r>
          </a:p>
          <a:p>
            <a:pPr algn="just"/>
            <a:r>
              <a:rPr lang="en-US" sz="2200" i="0" u="none" strike="noStrike" baseline="0" dirty="0">
                <a:latin typeface="Calibri" panose="020F0502020204030204" pitchFamily="34" charset="0"/>
                <a:cs typeface="Calibri" panose="020F0502020204030204" pitchFamily="34" charset="0"/>
              </a:rPr>
              <a:t>Parent and Child Processes: Pipes are commonly used between parent and child processes after a fork() system call. </a:t>
            </a:r>
          </a:p>
          <a:p>
            <a:pPr lvl="1" algn="just"/>
            <a:r>
              <a:rPr lang="en-US" sz="2000" i="0" u="none" strike="noStrike" baseline="0" dirty="0">
                <a:latin typeface="Calibri" panose="020F0502020204030204" pitchFamily="34" charset="0"/>
                <a:cs typeface="Calibri" panose="020F0502020204030204" pitchFamily="34" charset="0"/>
              </a:rPr>
              <a:t>The parent process can send data to the child process or vice versa.</a:t>
            </a:r>
          </a:p>
        </p:txBody>
      </p:sp>
    </p:spTree>
    <p:extLst>
      <p:ext uri="{BB962C8B-B14F-4D97-AF65-F5344CB8AC3E}">
        <p14:creationId xmlns:p14="http://schemas.microsoft.com/office/powerpoint/2010/main" val="2864174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8: </a:t>
            </a:r>
            <a:r>
              <a:rPr lang="en-US" b="1" dirty="0"/>
              <a:t>Communication Between Parent and Child Process Using a Pipe</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a:xfrm>
            <a:off x="838200" y="1825625"/>
            <a:ext cx="4537364" cy="4351338"/>
          </a:xfrm>
        </p:spPr>
        <p:txBody>
          <a:bodyPr>
            <a:noAutofit/>
          </a:bodyPr>
          <a:lstStyle/>
          <a:p>
            <a:pPr algn="just"/>
            <a:r>
              <a:rPr lang="en-US" sz="2200" i="0" u="none" strike="noStrike" baseline="0" dirty="0">
                <a:latin typeface="Calibri" panose="020F0502020204030204" pitchFamily="34" charset="0"/>
                <a:cs typeface="Calibri" panose="020F0502020204030204" pitchFamily="34" charset="0"/>
              </a:rPr>
              <a:t>In Unix-like operating systems, a pipe is a method for inter-process communication (IPC). It allows data to be passed from one process to another. This example demonstrates how a parent process can communicate with its child process using a pipe.</a:t>
            </a:r>
          </a:p>
        </p:txBody>
      </p:sp>
      <p:pic>
        <p:nvPicPr>
          <p:cNvPr id="5" name="Picture 4" descr="A screenshot of a computer screen&#10;&#10;Description automatically generated">
            <a:extLst>
              <a:ext uri="{FF2B5EF4-FFF2-40B4-BE49-F238E27FC236}">
                <a16:creationId xmlns:a16="http://schemas.microsoft.com/office/drawing/2014/main" id="{3BCA07C0-FD03-DC6F-CA51-63446B36401B}"/>
              </a:ext>
            </a:extLst>
          </p:cNvPr>
          <p:cNvPicPr>
            <a:picLocks noChangeAspect="1"/>
          </p:cNvPicPr>
          <p:nvPr/>
        </p:nvPicPr>
        <p:blipFill rotWithShape="1">
          <a:blip r:embed="rId2">
            <a:extLst>
              <a:ext uri="{28A0092B-C50C-407E-A947-70E740481C1C}">
                <a14:useLocalDpi xmlns:a14="http://schemas.microsoft.com/office/drawing/2010/main" val="0"/>
              </a:ext>
            </a:extLst>
          </a:blip>
          <a:srcRect l="4796" t="9931" r="38096" b="45350"/>
          <a:stretch/>
        </p:blipFill>
        <p:spPr>
          <a:xfrm>
            <a:off x="6816438" y="1825625"/>
            <a:ext cx="5003029" cy="3828683"/>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F099816C-3B73-9BBA-96B3-041883534D45}"/>
              </a:ext>
            </a:extLst>
          </p:cNvPr>
          <p:cNvPicPr>
            <a:picLocks noChangeAspect="1"/>
          </p:cNvPicPr>
          <p:nvPr/>
        </p:nvPicPr>
        <p:blipFill rotWithShape="1">
          <a:blip r:embed="rId3">
            <a:extLst>
              <a:ext uri="{28A0092B-C50C-407E-A947-70E740481C1C}">
                <a14:useLocalDpi xmlns:a14="http://schemas.microsoft.com/office/drawing/2010/main" val="0"/>
              </a:ext>
            </a:extLst>
          </a:blip>
          <a:srcRect l="2746" t="4133" r="30157" b="70868"/>
          <a:stretch/>
        </p:blipFill>
        <p:spPr>
          <a:xfrm>
            <a:off x="561367" y="4995156"/>
            <a:ext cx="5534634" cy="1497719"/>
          </a:xfrm>
          <a:prstGeom prst="rect">
            <a:avLst/>
          </a:prstGeom>
        </p:spPr>
      </p:pic>
    </p:spTree>
    <p:extLst>
      <p:ext uri="{BB962C8B-B14F-4D97-AF65-F5344CB8AC3E}">
        <p14:creationId xmlns:p14="http://schemas.microsoft.com/office/powerpoint/2010/main" val="1865520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8: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1" dirty="0">
                <a:latin typeface="Calibri" panose="020F0502020204030204" pitchFamily="34" charset="0"/>
                <a:cs typeface="Calibri" panose="020F0502020204030204" pitchFamily="34" charset="0"/>
              </a:rPr>
              <a:t>Pipe Creation:</a:t>
            </a:r>
          </a:p>
          <a:p>
            <a:pPr lvl="1" algn="just"/>
            <a:r>
              <a:rPr lang="en-US" sz="2000" dirty="0">
                <a:latin typeface="Calibri" panose="020F0502020204030204" pitchFamily="34" charset="0"/>
                <a:cs typeface="Calibri" panose="020F0502020204030204" pitchFamily="34" charset="0"/>
              </a:rPr>
              <a:t>The pipe(</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 function creates a pipe. </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 is an array where </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[0] is the read end, and </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[1] is the write end of the pipe. Data written to </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[1] can be read from </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[0].</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Forking the Process:</a:t>
            </a:r>
          </a:p>
          <a:p>
            <a:pPr lvl="1" algn="just"/>
            <a:r>
              <a:rPr lang="en-US" sz="2000" dirty="0">
                <a:latin typeface="Calibri" panose="020F0502020204030204" pitchFamily="34" charset="0"/>
                <a:cs typeface="Calibri" panose="020F0502020204030204" pitchFamily="34" charset="0"/>
              </a:rPr>
              <a:t>The fork() function creates a new process. The child process receives a return value of 0 from fork(), and the parent process receives the process ID of the child. Here, the code inside if (fork() == 0) is executed only by the child process.</a:t>
            </a:r>
          </a:p>
          <a:p>
            <a:pPr algn="just"/>
            <a:endParaRPr lang="en-US" sz="2000" dirty="0">
              <a:latin typeface="Calibri" panose="020F0502020204030204" pitchFamily="34" charset="0"/>
              <a:cs typeface="Calibri" panose="020F0502020204030204" pitchFamily="34" charset="0"/>
            </a:endParaRPr>
          </a:p>
        </p:txBody>
      </p:sp>
      <p:pic>
        <p:nvPicPr>
          <p:cNvPr id="5" name="Picture 4" descr="A screenshot of a computer screen&#10;&#10;Description automatically generated">
            <a:extLst>
              <a:ext uri="{FF2B5EF4-FFF2-40B4-BE49-F238E27FC236}">
                <a16:creationId xmlns:a16="http://schemas.microsoft.com/office/drawing/2014/main" id="{6E9451CA-C771-4EAA-EA14-8C2B0D45DE4F}"/>
              </a:ext>
            </a:extLst>
          </p:cNvPr>
          <p:cNvPicPr>
            <a:picLocks noChangeAspect="1"/>
          </p:cNvPicPr>
          <p:nvPr/>
        </p:nvPicPr>
        <p:blipFill rotWithShape="1">
          <a:blip r:embed="rId2">
            <a:extLst>
              <a:ext uri="{28A0092B-C50C-407E-A947-70E740481C1C}">
                <a14:useLocalDpi xmlns:a14="http://schemas.microsoft.com/office/drawing/2010/main" val="0"/>
              </a:ext>
            </a:extLst>
          </a:blip>
          <a:srcRect l="4796" t="18167" r="38096" b="71328"/>
          <a:stretch/>
        </p:blipFill>
        <p:spPr>
          <a:xfrm>
            <a:off x="3594485" y="5116945"/>
            <a:ext cx="5003029" cy="899391"/>
          </a:xfrm>
          <a:prstGeom prst="rect">
            <a:avLst/>
          </a:prstGeom>
        </p:spPr>
      </p:pic>
    </p:spTree>
    <p:extLst>
      <p:ext uri="{BB962C8B-B14F-4D97-AF65-F5344CB8AC3E}">
        <p14:creationId xmlns:p14="http://schemas.microsoft.com/office/powerpoint/2010/main" val="3061864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8: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1" dirty="0">
                <a:latin typeface="Calibri" panose="020F0502020204030204" pitchFamily="34" charset="0"/>
                <a:cs typeface="Calibri" panose="020F0502020204030204" pitchFamily="34" charset="0"/>
              </a:rPr>
              <a:t>Child Process:</a:t>
            </a:r>
          </a:p>
          <a:p>
            <a:pPr lvl="1" algn="just"/>
            <a:r>
              <a:rPr lang="en-US" sz="2000" dirty="0">
                <a:latin typeface="Calibri" panose="020F0502020204030204" pitchFamily="34" charset="0"/>
                <a:cs typeface="Calibri" panose="020F0502020204030204" pitchFamily="34" charset="0"/>
              </a:rPr>
              <a:t>The child process closes the read end of the pipe (</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[0]) because it only needs to write data to the pipe.</a:t>
            </a:r>
          </a:p>
          <a:p>
            <a:pPr lvl="1" algn="just"/>
            <a:r>
              <a:rPr lang="en-US" sz="2000" dirty="0">
                <a:latin typeface="Calibri" panose="020F0502020204030204" pitchFamily="34" charset="0"/>
                <a:cs typeface="Calibri" panose="020F0502020204030204" pitchFamily="34" charset="0"/>
              </a:rPr>
              <a:t>It then writes a message ("Hello from child!") to the write end of the pipe (</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[1]).</a:t>
            </a:r>
          </a:p>
          <a:p>
            <a:pPr lvl="1" algn="just"/>
            <a:r>
              <a:rPr lang="en-US" sz="2000" dirty="0">
                <a:latin typeface="Calibri" panose="020F0502020204030204" pitchFamily="34" charset="0"/>
                <a:cs typeface="Calibri" panose="020F0502020204030204" pitchFamily="34" charset="0"/>
              </a:rPr>
              <a:t>After writing, the child closes the write end of the pipe.</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Parent Process:</a:t>
            </a:r>
          </a:p>
          <a:p>
            <a:pPr lvl="1" algn="just"/>
            <a:r>
              <a:rPr lang="en-US" sz="2000" dirty="0">
                <a:latin typeface="Calibri" panose="020F0502020204030204" pitchFamily="34" charset="0"/>
                <a:cs typeface="Calibri" panose="020F0502020204030204" pitchFamily="34" charset="0"/>
              </a:rPr>
              <a:t>The parent process closes the write end of the pipe (</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[1]) because it only needs to read data from the pipe.</a:t>
            </a:r>
          </a:p>
          <a:p>
            <a:pPr lvl="1" algn="just"/>
            <a:r>
              <a:rPr lang="en-US" sz="2000" dirty="0">
                <a:latin typeface="Calibri" panose="020F0502020204030204" pitchFamily="34" charset="0"/>
                <a:cs typeface="Calibri" panose="020F0502020204030204" pitchFamily="34" charset="0"/>
              </a:rPr>
              <a:t>It reads the message sent by the child from the read end of the pipe (</a:t>
            </a:r>
            <a:r>
              <a:rPr lang="en-US" sz="2000" dirty="0" err="1">
                <a:latin typeface="Calibri" panose="020F0502020204030204" pitchFamily="34" charset="0"/>
                <a:cs typeface="Calibri" panose="020F0502020204030204" pitchFamily="34" charset="0"/>
              </a:rPr>
              <a:t>fd</a:t>
            </a:r>
            <a:r>
              <a:rPr lang="en-US" sz="2000" dirty="0">
                <a:latin typeface="Calibri" panose="020F0502020204030204" pitchFamily="34" charset="0"/>
                <a:cs typeface="Calibri" panose="020F0502020204030204" pitchFamily="34" charset="0"/>
              </a:rPr>
              <a:t>[0]) into the buffer.</a:t>
            </a:r>
          </a:p>
          <a:p>
            <a:pPr lvl="1" algn="just"/>
            <a:r>
              <a:rPr lang="en-US" sz="2000" dirty="0">
                <a:latin typeface="Calibri" panose="020F0502020204030204" pitchFamily="34" charset="0"/>
                <a:cs typeface="Calibri" panose="020F0502020204030204" pitchFamily="34" charset="0"/>
              </a:rPr>
              <a:t>The message is then printed to the terminal, showing "Received message: Hello from child!".</a:t>
            </a:r>
          </a:p>
          <a:p>
            <a:pPr lvl="1" algn="just"/>
            <a:r>
              <a:rPr lang="en-US" sz="2000" dirty="0">
                <a:latin typeface="Calibri" panose="020F0502020204030204" pitchFamily="34" charset="0"/>
                <a:cs typeface="Calibri" panose="020F0502020204030204" pitchFamily="34" charset="0"/>
              </a:rPr>
              <a:t>Finally, the parent process closes the read end of the pipe.</a:t>
            </a:r>
          </a:p>
          <a:p>
            <a:pPr algn="just"/>
            <a:endParaRPr lang="en-US" sz="2000" dirty="0">
              <a:latin typeface="Calibri" panose="020F0502020204030204" pitchFamily="34" charset="0"/>
              <a:cs typeface="Calibri" panose="020F0502020204030204" pitchFamily="34" charset="0"/>
            </a:endParaRPr>
          </a:p>
        </p:txBody>
      </p:sp>
      <p:pic>
        <p:nvPicPr>
          <p:cNvPr id="4" name="Picture 3" descr="A screenshot of a computer screen&#10;&#10;Description automatically generated">
            <a:extLst>
              <a:ext uri="{FF2B5EF4-FFF2-40B4-BE49-F238E27FC236}">
                <a16:creationId xmlns:a16="http://schemas.microsoft.com/office/drawing/2014/main" id="{E6CF090D-4108-4BA2-8B14-0F9701DA268D}"/>
              </a:ext>
            </a:extLst>
          </p:cNvPr>
          <p:cNvPicPr>
            <a:picLocks noChangeAspect="1"/>
          </p:cNvPicPr>
          <p:nvPr/>
        </p:nvPicPr>
        <p:blipFill rotWithShape="1">
          <a:blip r:embed="rId3">
            <a:extLst>
              <a:ext uri="{28A0092B-C50C-407E-A947-70E740481C1C}">
                <a14:useLocalDpi xmlns:a14="http://schemas.microsoft.com/office/drawing/2010/main" val="0"/>
              </a:ext>
            </a:extLst>
          </a:blip>
          <a:srcRect l="11860" t="27337" r="42278" b="63062"/>
          <a:stretch/>
        </p:blipFill>
        <p:spPr>
          <a:xfrm>
            <a:off x="7675418" y="1279669"/>
            <a:ext cx="4017818" cy="822037"/>
          </a:xfrm>
          <a:prstGeom prst="rect">
            <a:avLst/>
          </a:prstGeom>
        </p:spPr>
      </p:pic>
      <p:pic>
        <p:nvPicPr>
          <p:cNvPr id="5" name="Picture 4" descr="A screenshot of a computer screen&#10;&#10;Description automatically generated">
            <a:extLst>
              <a:ext uri="{FF2B5EF4-FFF2-40B4-BE49-F238E27FC236}">
                <a16:creationId xmlns:a16="http://schemas.microsoft.com/office/drawing/2014/main" id="{7F6B2E9F-BD1F-AFF5-9A1E-4D527F283CA6}"/>
              </a:ext>
            </a:extLst>
          </p:cNvPr>
          <p:cNvPicPr>
            <a:picLocks noChangeAspect="1"/>
          </p:cNvPicPr>
          <p:nvPr/>
        </p:nvPicPr>
        <p:blipFill rotWithShape="1">
          <a:blip r:embed="rId3">
            <a:extLst>
              <a:ext uri="{28A0092B-C50C-407E-A947-70E740481C1C}">
                <a14:useLocalDpi xmlns:a14="http://schemas.microsoft.com/office/drawing/2010/main" val="0"/>
              </a:ext>
            </a:extLst>
          </a:blip>
          <a:srcRect l="8275" t="36722" r="40380" b="50116"/>
          <a:stretch/>
        </p:blipFill>
        <p:spPr>
          <a:xfrm>
            <a:off x="7675418" y="3235098"/>
            <a:ext cx="4378037" cy="1096757"/>
          </a:xfrm>
          <a:prstGeom prst="rect">
            <a:avLst/>
          </a:prstGeom>
        </p:spPr>
      </p:pic>
    </p:spTree>
    <p:extLst>
      <p:ext uri="{BB962C8B-B14F-4D97-AF65-F5344CB8AC3E}">
        <p14:creationId xmlns:p14="http://schemas.microsoft.com/office/powerpoint/2010/main" val="1989403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Program Management from Code to Program</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lnSpc>
                <a:spcPct val="110000"/>
              </a:lnSpc>
            </a:pPr>
            <a:r>
              <a:rPr lang="en-US" sz="2200" dirty="0">
                <a:latin typeface="Calibri" panose="020F0502020204030204" pitchFamily="34" charset="0"/>
                <a:cs typeface="Calibri" panose="020F0502020204030204" pitchFamily="34" charset="0"/>
              </a:rPr>
              <a:t>Program management is about how programs are organized, built, and distributed.</a:t>
            </a:r>
          </a:p>
          <a:p>
            <a:pPr algn="just">
              <a:lnSpc>
                <a:spcPct val="110000"/>
              </a:lnSpc>
            </a:pPr>
            <a:r>
              <a:rPr lang="en-US" sz="2200" dirty="0">
                <a:latin typeface="Calibri" panose="020F0502020204030204" pitchFamily="34" charset="0"/>
                <a:cs typeface="Calibri" panose="020F0502020204030204" pitchFamily="34" charset="0"/>
              </a:rPr>
              <a:t>It ensures that programs are easy to understand, modify, and run on different systems.</a:t>
            </a:r>
          </a:p>
          <a:p>
            <a:pPr algn="just">
              <a:lnSpc>
                <a:spcPct val="110000"/>
              </a:lnSpc>
            </a:pPr>
            <a:r>
              <a:rPr lang="en-US" sz="2200" b="1" dirty="0">
                <a:latin typeface="Calibri" panose="020F0502020204030204" pitchFamily="34" charset="0"/>
                <a:cs typeface="Calibri" panose="020F0502020204030204" pitchFamily="34" charset="0"/>
              </a:rPr>
              <a:t>From Code to Program: Building Blocks</a:t>
            </a:r>
          </a:p>
          <a:p>
            <a:pPr lvl="1" algn="just">
              <a:lnSpc>
                <a:spcPct val="110000"/>
              </a:lnSpc>
            </a:pPr>
            <a:r>
              <a:rPr lang="en-US" sz="2000" dirty="0">
                <a:latin typeface="Calibri" panose="020F0502020204030204" pitchFamily="34" charset="0"/>
                <a:cs typeface="Calibri" panose="020F0502020204030204" pitchFamily="34" charset="0"/>
              </a:rPr>
              <a:t>Source Code: The code you write (e.g., </a:t>
            </a:r>
            <a:r>
              <a:rPr lang="en-US" sz="2000" dirty="0" err="1">
                <a:latin typeface="Calibri" panose="020F0502020204030204" pitchFamily="34" charset="0"/>
                <a:cs typeface="Calibri" panose="020F0502020204030204" pitchFamily="34" charset="0"/>
              </a:rPr>
              <a:t>main.c</a:t>
            </a:r>
            <a:r>
              <a:rPr lang="en-US" sz="2000" dirty="0">
                <a:latin typeface="Calibri" panose="020F0502020204030204" pitchFamily="34" charset="0"/>
                <a:cs typeface="Calibri" panose="020F0502020204030204" pitchFamily="34" charset="0"/>
              </a:rPr>
              <a:t>).</a:t>
            </a:r>
          </a:p>
          <a:p>
            <a:pPr lvl="1" algn="just">
              <a:lnSpc>
                <a:spcPct val="110000"/>
              </a:lnSpc>
            </a:pPr>
            <a:r>
              <a:rPr lang="en-US" sz="2000" dirty="0">
                <a:latin typeface="Calibri" panose="020F0502020204030204" pitchFamily="34" charset="0"/>
                <a:cs typeface="Calibri" panose="020F0502020204030204" pitchFamily="34" charset="0"/>
              </a:rPr>
              <a:t>Building: Turning this code into something the computer can run.</a:t>
            </a:r>
          </a:p>
          <a:p>
            <a:pPr algn="just">
              <a:lnSpc>
                <a:spcPct val="110000"/>
              </a:lnSpc>
            </a:pPr>
            <a:r>
              <a:rPr lang="en-US" sz="2200" b="1" dirty="0">
                <a:latin typeface="Calibri" panose="020F0502020204030204" pitchFamily="34" charset="0"/>
                <a:cs typeface="Calibri" panose="020F0502020204030204" pitchFamily="34" charset="0"/>
              </a:rPr>
              <a:t>Steps:</a:t>
            </a:r>
          </a:p>
          <a:p>
            <a:pPr lvl="1" algn="just">
              <a:lnSpc>
                <a:spcPct val="110000"/>
              </a:lnSpc>
            </a:pPr>
            <a:r>
              <a:rPr lang="en-US" sz="2000" dirty="0">
                <a:latin typeface="Calibri" panose="020F0502020204030204" pitchFamily="34" charset="0"/>
                <a:cs typeface="Calibri" panose="020F0502020204030204" pitchFamily="34" charset="0"/>
              </a:rPr>
              <a:t>Compiling: Translating your code into a form the computer can understand.</a:t>
            </a:r>
          </a:p>
          <a:p>
            <a:pPr lvl="1" algn="just">
              <a:lnSpc>
                <a:spcPct val="110000"/>
              </a:lnSpc>
            </a:pPr>
            <a:r>
              <a:rPr lang="en-US" sz="2000" dirty="0">
                <a:latin typeface="Calibri" panose="020F0502020204030204" pitchFamily="34" charset="0"/>
                <a:cs typeface="Calibri" panose="020F0502020204030204" pitchFamily="34" charset="0"/>
              </a:rPr>
              <a:t>Linking: Putting together all the pieces of the program.</a:t>
            </a:r>
          </a:p>
        </p:txBody>
      </p:sp>
    </p:spTree>
    <p:extLst>
      <p:ext uri="{BB962C8B-B14F-4D97-AF65-F5344CB8AC3E}">
        <p14:creationId xmlns:p14="http://schemas.microsoft.com/office/powerpoint/2010/main" val="816382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Program Management from Code to Program</a:t>
            </a:r>
          </a:p>
        </p:txBody>
      </p:sp>
      <p:grpSp>
        <p:nvGrpSpPr>
          <p:cNvPr id="11" name="Group 10">
            <a:extLst>
              <a:ext uri="{FF2B5EF4-FFF2-40B4-BE49-F238E27FC236}">
                <a16:creationId xmlns:a16="http://schemas.microsoft.com/office/drawing/2014/main" id="{16DC8E9B-39BF-A784-1CA4-011499C4285F}"/>
              </a:ext>
            </a:extLst>
          </p:cNvPr>
          <p:cNvGrpSpPr/>
          <p:nvPr/>
        </p:nvGrpSpPr>
        <p:grpSpPr>
          <a:xfrm>
            <a:off x="3278613" y="2229330"/>
            <a:ext cx="5634774" cy="3670653"/>
            <a:chOff x="3278613" y="2229330"/>
            <a:chExt cx="5634774" cy="3670653"/>
          </a:xfrm>
        </p:grpSpPr>
        <p:grpSp>
          <p:nvGrpSpPr>
            <p:cNvPr id="9" name="Group 8">
              <a:extLst>
                <a:ext uri="{FF2B5EF4-FFF2-40B4-BE49-F238E27FC236}">
                  <a16:creationId xmlns:a16="http://schemas.microsoft.com/office/drawing/2014/main" id="{7C4E531B-9D4E-3113-F7B1-36CBF558BB1E}"/>
                </a:ext>
              </a:extLst>
            </p:cNvPr>
            <p:cNvGrpSpPr/>
            <p:nvPr/>
          </p:nvGrpSpPr>
          <p:grpSpPr>
            <a:xfrm>
              <a:off x="3278613" y="2229330"/>
              <a:ext cx="5634774" cy="3670653"/>
              <a:chOff x="560917" y="2312457"/>
              <a:chExt cx="5634774" cy="3670653"/>
            </a:xfrm>
          </p:grpSpPr>
          <p:pic>
            <p:nvPicPr>
              <p:cNvPr id="9218" name="Picture 2">
                <a:extLst>
                  <a:ext uri="{FF2B5EF4-FFF2-40B4-BE49-F238E27FC236}">
                    <a16:creationId xmlns:a16="http://schemas.microsoft.com/office/drawing/2014/main" id="{21CC4A6D-66CE-E0A4-52DD-DFFBE8AEF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917" y="2312457"/>
                <a:ext cx="5634774" cy="367065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BBDC8B4-F291-EF1B-8CFA-735A409DFBA1}"/>
                  </a:ext>
                </a:extLst>
              </p:cNvPr>
              <p:cNvSpPr/>
              <p:nvPr/>
            </p:nvSpPr>
            <p:spPr>
              <a:xfrm>
                <a:off x="3089274" y="2783681"/>
                <a:ext cx="123031" cy="1214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CAAE3FB3-C89E-61A2-C52A-51BC49EC6E3D}"/>
                  </a:ext>
                </a:extLst>
              </p:cNvPr>
              <p:cNvSpPr/>
              <p:nvPr/>
            </p:nvSpPr>
            <p:spPr>
              <a:xfrm>
                <a:off x="4210845" y="2781300"/>
                <a:ext cx="123031" cy="1214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0D8E3FF0-48D9-33FF-18E5-DD5878725AAF}"/>
                  </a:ext>
                </a:extLst>
              </p:cNvPr>
              <p:cNvSpPr/>
              <p:nvPr/>
            </p:nvSpPr>
            <p:spPr>
              <a:xfrm>
                <a:off x="5275662" y="2786062"/>
                <a:ext cx="123031" cy="1214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 name="Rectangle 9">
              <a:extLst>
                <a:ext uri="{FF2B5EF4-FFF2-40B4-BE49-F238E27FC236}">
                  <a16:creationId xmlns:a16="http://schemas.microsoft.com/office/drawing/2014/main" id="{E3D62EA9-5E21-BF84-100E-A7B73E498DB0}"/>
                </a:ext>
              </a:extLst>
            </p:cNvPr>
            <p:cNvSpPr/>
            <p:nvPr/>
          </p:nvSpPr>
          <p:spPr>
            <a:xfrm>
              <a:off x="3718643" y="3284321"/>
              <a:ext cx="123031" cy="1214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3" name="TextBox 12">
            <a:extLst>
              <a:ext uri="{FF2B5EF4-FFF2-40B4-BE49-F238E27FC236}">
                <a16:creationId xmlns:a16="http://schemas.microsoft.com/office/drawing/2014/main" id="{E84E5A07-8A79-7AFF-2878-45D0905969D4}"/>
              </a:ext>
            </a:extLst>
          </p:cNvPr>
          <p:cNvSpPr txBox="1"/>
          <p:nvPr/>
        </p:nvSpPr>
        <p:spPr>
          <a:xfrm>
            <a:off x="5161548" y="6123543"/>
            <a:ext cx="3780047" cy="369332"/>
          </a:xfrm>
          <a:prstGeom prst="rect">
            <a:avLst/>
          </a:prstGeom>
          <a:noFill/>
        </p:spPr>
        <p:txBody>
          <a:bodyPr wrap="square">
            <a:spAutoFit/>
          </a:bodyPr>
          <a:lstStyle/>
          <a:p>
            <a:r>
              <a:rPr lang="en-US" sz="1800" b="0" i="0" u="none" strike="noStrike" baseline="0" dirty="0">
                <a:latin typeface="Minion-Regular"/>
              </a:rPr>
              <a:t>The basic steps in building a program.</a:t>
            </a:r>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877308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Object Files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lnSpc>
                <a:spcPct val="110000"/>
              </a:lnSpc>
            </a:pPr>
            <a:r>
              <a:rPr lang="en-US" sz="2200" dirty="0">
                <a:latin typeface="Calibri" panose="020F0502020204030204" pitchFamily="34" charset="0"/>
                <a:cs typeface="Calibri" panose="020F0502020204030204" pitchFamily="34" charset="0"/>
              </a:rPr>
              <a:t>Object files are intermediate files generated from source code. </a:t>
            </a:r>
          </a:p>
          <a:p>
            <a:pPr algn="just">
              <a:lnSpc>
                <a:spcPct val="110000"/>
              </a:lnSpc>
            </a:pPr>
            <a:r>
              <a:rPr lang="en-US" sz="2200" dirty="0">
                <a:latin typeface="Calibri" panose="020F0502020204030204" pitchFamily="34" charset="0"/>
                <a:cs typeface="Calibri" panose="020F0502020204030204" pitchFamily="34" charset="0"/>
              </a:rPr>
              <a:t>An object code file contains machine code which is instructions that can be run on the processor.</a:t>
            </a:r>
          </a:p>
          <a:p>
            <a:pPr algn="just">
              <a:lnSpc>
                <a:spcPct val="110000"/>
              </a:lnSpc>
            </a:pPr>
            <a:r>
              <a:rPr lang="en-US" sz="2200" dirty="0">
                <a:latin typeface="Calibri" panose="020F0502020204030204" pitchFamily="34" charset="0"/>
                <a:cs typeface="Calibri" panose="020F0502020204030204" pitchFamily="34" charset="0"/>
              </a:rPr>
              <a:t>Object code file cannot be directly executed and must be linked to become an executable program that can be run.</a:t>
            </a:r>
          </a:p>
          <a:p>
            <a:pPr marL="0" indent="0" algn="just">
              <a:lnSpc>
                <a:spcPct val="110000"/>
              </a:lnSpc>
              <a:buNone/>
            </a:pPr>
            <a:endParaRPr lang="en-US" sz="2200" dirty="0">
              <a:latin typeface="Calibri" panose="020F0502020204030204" pitchFamily="34" charset="0"/>
              <a:cs typeface="Calibri" panose="020F0502020204030204" pitchFamily="34" charset="0"/>
            </a:endParaRPr>
          </a:p>
          <a:p>
            <a:pPr algn="just">
              <a:lnSpc>
                <a:spcPct val="110000"/>
              </a:lnSpc>
            </a:pPr>
            <a:endParaRPr lang="en-US" sz="2200" dirty="0">
              <a:latin typeface="Calibri" panose="020F0502020204030204" pitchFamily="34" charset="0"/>
              <a:cs typeface="Calibri" panose="020F0502020204030204" pitchFamily="34" charset="0"/>
            </a:endParaRPr>
          </a:p>
          <a:p>
            <a:pPr marL="0" indent="0" algn="just">
              <a:lnSpc>
                <a:spcPct val="110000"/>
              </a:lnSpc>
              <a:buNone/>
            </a:pPr>
            <a:endParaRPr lang="en-US" sz="2200" dirty="0">
              <a:latin typeface="Calibri" panose="020F0502020204030204" pitchFamily="34" charset="0"/>
              <a:cs typeface="Calibri" panose="020F0502020204030204" pitchFamily="34" charset="0"/>
            </a:endParaRPr>
          </a:p>
          <a:p>
            <a:pPr algn="just">
              <a:lnSpc>
                <a:spcPct val="110000"/>
              </a:lnSpc>
            </a:pPr>
            <a:r>
              <a:rPr lang="en-US" sz="2200" dirty="0">
                <a:latin typeface="Calibri" panose="020F0502020204030204" pitchFamily="34" charset="0"/>
                <a:cs typeface="Calibri" panose="020F0502020204030204" pitchFamily="34" charset="0"/>
              </a:rPr>
              <a:t>The </a:t>
            </a:r>
            <a:r>
              <a:rPr lang="en-US" sz="2200" b="1" dirty="0">
                <a:solidFill>
                  <a:srgbClr val="C00000"/>
                </a:solidFill>
                <a:latin typeface="Calibri" panose="020F0502020204030204" pitchFamily="34" charset="0"/>
                <a:cs typeface="Calibri" panose="020F0502020204030204" pitchFamily="34" charset="0"/>
              </a:rPr>
              <a:t>-c </a:t>
            </a:r>
            <a:r>
              <a:rPr lang="en-US" sz="2200" dirty="0">
                <a:latin typeface="Calibri" panose="020F0502020204030204" pitchFamily="34" charset="0"/>
                <a:cs typeface="Calibri" panose="020F0502020204030204" pitchFamily="34" charset="0"/>
              </a:rPr>
              <a:t>flag tells </a:t>
            </a:r>
            <a:r>
              <a:rPr lang="en-US" sz="2200" dirty="0" err="1">
                <a:latin typeface="Calibri" panose="020F0502020204030204" pitchFamily="34" charset="0"/>
                <a:cs typeface="Calibri" panose="020F0502020204030204" pitchFamily="34" charset="0"/>
              </a:rPr>
              <a:t>gcc</a:t>
            </a:r>
            <a:r>
              <a:rPr lang="en-US" sz="2200" dirty="0">
                <a:latin typeface="Calibri" panose="020F0502020204030204" pitchFamily="34" charset="0"/>
                <a:cs typeface="Calibri" panose="020F0502020204030204" pitchFamily="34" charset="0"/>
              </a:rPr>
              <a:t> to stop after the compile stage and not to proceed to linking.</a:t>
            </a:r>
          </a:p>
          <a:p>
            <a:pPr algn="just">
              <a:lnSpc>
                <a:spcPct val="110000"/>
              </a:lnSpc>
            </a:pPr>
            <a:r>
              <a:rPr lang="en-US" sz="2200" dirty="0">
                <a:latin typeface="Calibri" panose="020F0502020204030204" pitchFamily="34" charset="0"/>
                <a:cs typeface="Calibri" panose="020F0502020204030204" pitchFamily="34" charset="0"/>
              </a:rPr>
              <a:t>This creates a file named example9.o that contains object code.</a:t>
            </a:r>
          </a:p>
        </p:txBody>
      </p:sp>
      <p:graphicFrame>
        <p:nvGraphicFramePr>
          <p:cNvPr id="6" name="Table 5">
            <a:extLst>
              <a:ext uri="{FF2B5EF4-FFF2-40B4-BE49-F238E27FC236}">
                <a16:creationId xmlns:a16="http://schemas.microsoft.com/office/drawing/2014/main" id="{A7674770-7245-3A5A-A533-9CF2D19C6AD5}"/>
              </a:ext>
            </a:extLst>
          </p:cNvPr>
          <p:cNvGraphicFramePr>
            <a:graphicFrameLocks noGrp="1"/>
          </p:cNvGraphicFramePr>
          <p:nvPr>
            <p:extLst>
              <p:ext uri="{D42A27DB-BD31-4B8C-83A1-F6EECF244321}">
                <p14:modId xmlns:p14="http://schemas.microsoft.com/office/powerpoint/2010/main" val="506890415"/>
              </p:ext>
            </p:extLst>
          </p:nvPr>
        </p:nvGraphicFramePr>
        <p:xfrm>
          <a:off x="1385455" y="4065256"/>
          <a:ext cx="9968346" cy="1463040"/>
        </p:xfrm>
        <a:graphic>
          <a:graphicData uri="http://schemas.openxmlformats.org/drawingml/2006/table">
            <a:tbl>
              <a:tblPr firstRow="1" bandRow="1">
                <a:tableStyleId>{5C22544A-7EE6-4342-B048-85BDC9FD1C3A}</a:tableStyleId>
              </a:tblPr>
              <a:tblGrid>
                <a:gridCol w="2567709">
                  <a:extLst>
                    <a:ext uri="{9D8B030D-6E8A-4147-A177-3AD203B41FA5}">
                      <a16:colId xmlns:a16="http://schemas.microsoft.com/office/drawing/2014/main" val="1379614122"/>
                    </a:ext>
                  </a:extLst>
                </a:gridCol>
                <a:gridCol w="4682836">
                  <a:extLst>
                    <a:ext uri="{9D8B030D-6E8A-4147-A177-3AD203B41FA5}">
                      <a16:colId xmlns:a16="http://schemas.microsoft.com/office/drawing/2014/main" val="866659004"/>
                    </a:ext>
                  </a:extLst>
                </a:gridCol>
                <a:gridCol w="2717801">
                  <a:extLst>
                    <a:ext uri="{9D8B030D-6E8A-4147-A177-3AD203B41FA5}">
                      <a16:colId xmlns:a16="http://schemas.microsoft.com/office/drawing/2014/main" val="4256700146"/>
                    </a:ext>
                  </a:extLst>
                </a:gridCol>
              </a:tblGrid>
              <a:tr h="370840">
                <a:tc>
                  <a:txBody>
                    <a:bodyPr/>
                    <a:lstStyle/>
                    <a:p>
                      <a:r>
                        <a:rPr lang="en-US" sz="1500" b="0" dirty="0">
                          <a:solidFill>
                            <a:schemeClr val="tx2">
                              <a:lumMod val="75000"/>
                              <a:lumOff val="25000"/>
                            </a:schemeClr>
                          </a:solidFill>
                        </a:rPr>
                        <a:t>#include &lt;</a:t>
                      </a:r>
                      <a:r>
                        <a:rPr lang="en-US" sz="1500" b="0" dirty="0" err="1">
                          <a:solidFill>
                            <a:schemeClr val="tx2">
                              <a:lumMod val="75000"/>
                              <a:lumOff val="25000"/>
                            </a:schemeClr>
                          </a:solidFill>
                        </a:rPr>
                        <a:t>stdio.h</a:t>
                      </a:r>
                      <a:r>
                        <a:rPr lang="en-US" sz="1500" b="0" dirty="0">
                          <a:solidFill>
                            <a:schemeClr val="tx2">
                              <a:lumMod val="75000"/>
                              <a:lumOff val="25000"/>
                            </a:schemeClr>
                          </a:solidFill>
                        </a:rPr>
                        <a:t>&gt;</a:t>
                      </a:r>
                    </a:p>
                    <a:p>
                      <a:r>
                        <a:rPr lang="en-US" sz="1500" b="0" dirty="0">
                          <a:solidFill>
                            <a:schemeClr val="tx2">
                              <a:lumMod val="75000"/>
                              <a:lumOff val="25000"/>
                            </a:schemeClr>
                          </a:solidFill>
                        </a:rPr>
                        <a:t>int main() {</a:t>
                      </a:r>
                    </a:p>
                    <a:p>
                      <a:r>
                        <a:rPr lang="en-US" sz="1500" b="0" dirty="0">
                          <a:solidFill>
                            <a:schemeClr val="tx2">
                              <a:lumMod val="75000"/>
                              <a:lumOff val="25000"/>
                            </a:schemeClr>
                          </a:solidFill>
                        </a:rPr>
                        <a:t>    </a:t>
                      </a:r>
                      <a:r>
                        <a:rPr lang="en-US" sz="1500" b="0" dirty="0" err="1">
                          <a:solidFill>
                            <a:schemeClr val="tx2">
                              <a:lumMod val="75000"/>
                              <a:lumOff val="25000"/>
                            </a:schemeClr>
                          </a:solidFill>
                        </a:rPr>
                        <a:t>printf</a:t>
                      </a:r>
                      <a:r>
                        <a:rPr lang="en-US" sz="1500" b="0" dirty="0">
                          <a:solidFill>
                            <a:schemeClr val="tx2">
                              <a:lumMod val="75000"/>
                              <a:lumOff val="25000"/>
                            </a:schemeClr>
                          </a:solidFill>
                        </a:rPr>
                        <a:t>("Hello, World!\n");</a:t>
                      </a:r>
                    </a:p>
                    <a:p>
                      <a:r>
                        <a:rPr lang="en-US" sz="1500" b="0" dirty="0">
                          <a:solidFill>
                            <a:schemeClr val="tx2">
                              <a:lumMod val="75000"/>
                              <a:lumOff val="25000"/>
                            </a:schemeClr>
                          </a:solidFill>
                        </a:rPr>
                        <a:t>    return 0;</a:t>
                      </a:r>
                    </a:p>
                    <a:p>
                      <a:r>
                        <a:rPr lang="en-US" sz="1500" b="0" dirty="0">
                          <a:solidFill>
                            <a:schemeClr val="tx2">
                              <a:lumMod val="75000"/>
                              <a:lumOff val="25000"/>
                            </a:schemeClr>
                          </a:solidFill>
                        </a:rPr>
                        <a:t>}</a:t>
                      </a:r>
                    </a:p>
                    <a:p>
                      <a:endParaRPr lang="en-GB" sz="15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500" b="0" dirty="0" err="1">
                          <a:solidFill>
                            <a:schemeClr val="tx2">
                              <a:lumMod val="75000"/>
                              <a:lumOff val="25000"/>
                            </a:schemeClr>
                          </a:solidFill>
                        </a:rPr>
                        <a:t>amir@Amir</a:t>
                      </a:r>
                      <a:r>
                        <a:rPr lang="en-US" sz="1500" b="0" dirty="0">
                          <a:solidFill>
                            <a:schemeClr val="tx2">
                              <a:lumMod val="75000"/>
                              <a:lumOff val="25000"/>
                            </a:schemeClr>
                          </a:solidFill>
                        </a:rPr>
                        <a:t>:~/Desktop/lecture4$ touch example9.c</a:t>
                      </a:r>
                    </a:p>
                    <a:p>
                      <a:r>
                        <a:rPr lang="en-US" sz="1500" b="0" dirty="0" err="1">
                          <a:solidFill>
                            <a:schemeClr val="tx2">
                              <a:lumMod val="75000"/>
                              <a:lumOff val="25000"/>
                            </a:schemeClr>
                          </a:solidFill>
                        </a:rPr>
                        <a:t>amir@Amir</a:t>
                      </a:r>
                      <a:r>
                        <a:rPr lang="en-US" sz="1500" b="0" dirty="0">
                          <a:solidFill>
                            <a:schemeClr val="tx2">
                              <a:lumMod val="75000"/>
                              <a:lumOff val="25000"/>
                            </a:schemeClr>
                          </a:solidFill>
                        </a:rPr>
                        <a:t>:~/Desktop/lecture4$ </a:t>
                      </a:r>
                      <a:r>
                        <a:rPr lang="en-US" sz="1500" b="0" dirty="0" err="1">
                          <a:solidFill>
                            <a:schemeClr val="tx2">
                              <a:lumMod val="75000"/>
                              <a:lumOff val="25000"/>
                            </a:schemeClr>
                          </a:solidFill>
                        </a:rPr>
                        <a:t>gcc</a:t>
                      </a:r>
                      <a:r>
                        <a:rPr lang="en-US" sz="1500" b="0" dirty="0">
                          <a:solidFill>
                            <a:schemeClr val="tx2">
                              <a:lumMod val="75000"/>
                              <a:lumOff val="25000"/>
                            </a:schemeClr>
                          </a:solidFill>
                        </a:rPr>
                        <a:t> </a:t>
                      </a:r>
                      <a:r>
                        <a:rPr lang="en-US" sz="1500" b="1" dirty="0">
                          <a:solidFill>
                            <a:srgbClr val="C00000"/>
                          </a:solidFill>
                        </a:rPr>
                        <a:t>-c </a:t>
                      </a:r>
                      <a:r>
                        <a:rPr lang="en-US" sz="1500" b="0" dirty="0">
                          <a:solidFill>
                            <a:schemeClr val="tx2">
                              <a:lumMod val="75000"/>
                              <a:lumOff val="25000"/>
                            </a:schemeClr>
                          </a:solidFill>
                        </a:rPr>
                        <a:t>example9.c</a:t>
                      </a:r>
                    </a:p>
                    <a:p>
                      <a:r>
                        <a:rPr lang="en-US" sz="1500" b="0" dirty="0" err="1">
                          <a:solidFill>
                            <a:schemeClr val="tx2">
                              <a:lumMod val="75000"/>
                              <a:lumOff val="25000"/>
                            </a:schemeClr>
                          </a:solidFill>
                        </a:rPr>
                        <a:t>amir@Amir</a:t>
                      </a:r>
                      <a:r>
                        <a:rPr lang="en-US" sz="1500" b="0" dirty="0">
                          <a:solidFill>
                            <a:schemeClr val="tx2">
                              <a:lumMod val="75000"/>
                              <a:lumOff val="25000"/>
                            </a:schemeClr>
                          </a:solidFill>
                        </a:rPr>
                        <a:t>:~/Desktop/lecture4$ ls</a:t>
                      </a:r>
                    </a:p>
                    <a:p>
                      <a:endParaRPr lang="en-GB" sz="15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500" dirty="0">
                          <a:solidFill>
                            <a:sysClr val="windowText" lastClr="000000"/>
                          </a:solidFill>
                        </a:rPr>
                        <a:t>Terminal ls output:</a:t>
                      </a:r>
                      <a:br>
                        <a:rPr lang="en-GB" sz="1500" dirty="0">
                          <a:solidFill>
                            <a:sysClr val="windowText" lastClr="000000"/>
                          </a:solidFill>
                        </a:rPr>
                      </a:br>
                      <a:r>
                        <a:rPr lang="en-GB" sz="1500" dirty="0">
                          <a:solidFill>
                            <a:sysClr val="windowText" lastClr="000000"/>
                          </a:solidFill>
                        </a:rPr>
                        <a:t>example9.c  example9.o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012975"/>
                  </a:ext>
                </a:extLst>
              </a:tr>
            </a:tbl>
          </a:graphicData>
        </a:graphic>
      </p:graphicFrame>
      <p:cxnSp>
        <p:nvCxnSpPr>
          <p:cNvPr id="20" name="Connector: Elbow 19">
            <a:extLst>
              <a:ext uri="{FF2B5EF4-FFF2-40B4-BE49-F238E27FC236}">
                <a16:creationId xmlns:a16="http://schemas.microsoft.com/office/drawing/2014/main" id="{27D8DCB8-ED38-CF78-468B-162B3F4BBC32}"/>
              </a:ext>
            </a:extLst>
          </p:cNvPr>
          <p:cNvCxnSpPr>
            <a:cxnSpLocks/>
          </p:cNvCxnSpPr>
          <p:nvPr/>
        </p:nvCxnSpPr>
        <p:spPr>
          <a:xfrm flipV="1">
            <a:off x="7215044" y="4567714"/>
            <a:ext cx="3065027" cy="817086"/>
          </a:xfrm>
          <a:prstGeom prst="bentConnector3">
            <a:avLst>
              <a:gd name="adj1" fmla="val 9992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002B93D-61C5-6503-3565-23B90F085C9E}"/>
              </a:ext>
            </a:extLst>
          </p:cNvPr>
          <p:cNvCxnSpPr>
            <a:cxnSpLocks/>
          </p:cNvCxnSpPr>
          <p:nvPr/>
        </p:nvCxnSpPr>
        <p:spPr>
          <a:xfrm flipV="1">
            <a:off x="7215044" y="4545806"/>
            <a:ext cx="0" cy="83899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96681FC7-5D6E-F443-6C3A-DCDFD4BBFA39}"/>
              </a:ext>
            </a:extLst>
          </p:cNvPr>
          <p:cNvCxnSpPr/>
          <p:nvPr/>
        </p:nvCxnSpPr>
        <p:spPr>
          <a:xfrm flipV="1">
            <a:off x="6954982" y="4267200"/>
            <a:ext cx="1745673" cy="471055"/>
          </a:xfrm>
          <a:prstGeom prst="bentConnector3">
            <a:avLst>
              <a:gd name="adj1" fmla="val 83862"/>
            </a:avLst>
          </a:prstGeom>
          <a:ln w="38100">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6823941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The Role of Linking</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lnSpc>
                <a:spcPct val="110000"/>
              </a:lnSpc>
            </a:pPr>
            <a:r>
              <a:rPr lang="en-US" sz="2200" dirty="0">
                <a:latin typeface="Calibri" panose="020F0502020204030204" pitchFamily="34" charset="0"/>
                <a:cs typeface="Calibri" panose="020F0502020204030204" pitchFamily="34" charset="0"/>
              </a:rPr>
              <a:t>Linking combines object files and libraries into a single executable program.</a:t>
            </a:r>
          </a:p>
          <a:p>
            <a:pPr algn="just">
              <a:lnSpc>
                <a:spcPct val="110000"/>
              </a:lnSpc>
            </a:pPr>
            <a:r>
              <a:rPr lang="en-US" sz="2200" dirty="0">
                <a:latin typeface="Calibri" panose="020F0502020204030204" pitchFamily="34" charset="0"/>
                <a:cs typeface="Calibri" panose="020F0502020204030204" pitchFamily="34" charset="0"/>
              </a:rPr>
              <a:t>Linking ensures all parts of the program work together and includes necessary library functions.</a:t>
            </a:r>
          </a:p>
          <a:p>
            <a:pPr algn="just">
              <a:lnSpc>
                <a:spcPct val="110000"/>
              </a:lnSpc>
            </a:pPr>
            <a:r>
              <a:rPr lang="en-US" sz="2200" b="1" dirty="0">
                <a:latin typeface="Calibri" panose="020F0502020204030204" pitchFamily="34" charset="0"/>
                <a:cs typeface="Calibri" panose="020F0502020204030204" pitchFamily="34" charset="0"/>
              </a:rPr>
              <a:t>Example:</a:t>
            </a:r>
          </a:p>
          <a:p>
            <a:pPr lvl="1" algn="just">
              <a:lnSpc>
                <a:spcPct val="110000"/>
              </a:lnSpc>
            </a:pPr>
            <a:r>
              <a:rPr lang="en-US" sz="2000" dirty="0">
                <a:latin typeface="Calibri" panose="020F0502020204030204" pitchFamily="34" charset="0"/>
                <a:cs typeface="Calibri" panose="020F0502020204030204" pitchFamily="34" charset="0"/>
              </a:rPr>
              <a:t>Object Files: </a:t>
            </a:r>
            <a:r>
              <a:rPr lang="en-US" sz="2000" dirty="0" err="1">
                <a:latin typeface="Calibri" panose="020F0502020204030204" pitchFamily="34" charset="0"/>
                <a:cs typeface="Calibri" panose="020F0502020204030204" pitchFamily="34" charset="0"/>
              </a:rPr>
              <a:t>main.o</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utils.o</a:t>
            </a:r>
            <a:endParaRPr lang="en-US" sz="2000" dirty="0">
              <a:latin typeface="Calibri" panose="020F0502020204030204" pitchFamily="34" charset="0"/>
              <a:cs typeface="Calibri" panose="020F0502020204030204" pitchFamily="34" charset="0"/>
            </a:endParaRPr>
          </a:p>
          <a:p>
            <a:pPr lvl="1" algn="just">
              <a:lnSpc>
                <a:spcPct val="110000"/>
              </a:lnSpc>
            </a:pPr>
            <a:r>
              <a:rPr lang="en-US" sz="2000" dirty="0">
                <a:latin typeface="Calibri" panose="020F0502020204030204" pitchFamily="34" charset="0"/>
                <a:cs typeface="Calibri" panose="020F0502020204030204" pitchFamily="34" charset="0"/>
              </a:rPr>
              <a:t>Linking Command: </a:t>
            </a:r>
            <a:r>
              <a:rPr lang="en-US" sz="2000" dirty="0" err="1">
                <a:latin typeface="Calibri" panose="020F0502020204030204" pitchFamily="34" charset="0"/>
                <a:cs typeface="Calibri" panose="020F0502020204030204" pitchFamily="34" charset="0"/>
              </a:rPr>
              <a:t>gcc</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main.o</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utils.o</a:t>
            </a:r>
            <a:r>
              <a:rPr lang="en-US" sz="2000" dirty="0">
                <a:latin typeface="Calibri" panose="020F0502020204030204" pitchFamily="34" charset="0"/>
                <a:cs typeface="Calibri" panose="020F0502020204030204" pitchFamily="34" charset="0"/>
              </a:rPr>
              <a:t> -o </a:t>
            </a:r>
            <a:r>
              <a:rPr lang="en-US" sz="2000" dirty="0" err="1">
                <a:latin typeface="Calibri" panose="020F0502020204030204" pitchFamily="34" charset="0"/>
                <a:cs typeface="Calibri" panose="020F0502020204030204" pitchFamily="34" charset="0"/>
              </a:rPr>
              <a:t>myprogram</a:t>
            </a:r>
            <a:endParaRPr lang="en-US" sz="2000" dirty="0">
              <a:latin typeface="Calibri" panose="020F0502020204030204" pitchFamily="34" charset="0"/>
              <a:cs typeface="Calibri" panose="020F0502020204030204" pitchFamily="34" charset="0"/>
            </a:endParaRPr>
          </a:p>
          <a:p>
            <a:pPr lvl="1" algn="just">
              <a:lnSpc>
                <a:spcPct val="110000"/>
              </a:lnSpc>
            </a:pPr>
            <a:r>
              <a:rPr lang="en-US" sz="2000" dirty="0">
                <a:latin typeface="Calibri" panose="020F0502020204030204" pitchFamily="34" charset="0"/>
                <a:cs typeface="Calibri" panose="020F0502020204030204" pitchFamily="34" charset="0"/>
              </a:rPr>
              <a:t>Result: </a:t>
            </a:r>
            <a:r>
              <a:rPr lang="en-US" sz="2000" dirty="0" err="1">
                <a:latin typeface="Calibri" panose="020F0502020204030204" pitchFamily="34" charset="0"/>
                <a:cs typeface="Calibri" panose="020F0502020204030204" pitchFamily="34" charset="0"/>
              </a:rPr>
              <a:t>myprogram</a:t>
            </a:r>
            <a:r>
              <a:rPr lang="en-US" sz="2000" dirty="0">
                <a:latin typeface="Calibri" panose="020F0502020204030204" pitchFamily="34" charset="0"/>
                <a:cs typeface="Calibri" panose="020F0502020204030204" pitchFamily="34" charset="0"/>
              </a:rPr>
              <a:t> (an executable file)</a:t>
            </a:r>
          </a:p>
        </p:txBody>
      </p:sp>
      <p:pic>
        <p:nvPicPr>
          <p:cNvPr id="6" name="Picture 5">
            <a:extLst>
              <a:ext uri="{FF2B5EF4-FFF2-40B4-BE49-F238E27FC236}">
                <a16:creationId xmlns:a16="http://schemas.microsoft.com/office/drawing/2014/main" id="{0343733C-789E-8818-CC3E-CAD1E02DFDF6}"/>
              </a:ext>
            </a:extLst>
          </p:cNvPr>
          <p:cNvPicPr>
            <a:picLocks noChangeAspect="1"/>
          </p:cNvPicPr>
          <p:nvPr/>
        </p:nvPicPr>
        <p:blipFill>
          <a:blip r:embed="rId2"/>
          <a:stretch>
            <a:fillRect/>
          </a:stretch>
        </p:blipFill>
        <p:spPr>
          <a:xfrm>
            <a:off x="3996020" y="4991100"/>
            <a:ext cx="4199959" cy="1804670"/>
          </a:xfrm>
          <a:prstGeom prst="rect">
            <a:avLst/>
          </a:prstGeom>
        </p:spPr>
      </p:pic>
    </p:spTree>
    <p:extLst>
      <p:ext uri="{BB962C8B-B14F-4D97-AF65-F5344CB8AC3E}">
        <p14:creationId xmlns:p14="http://schemas.microsoft.com/office/powerpoint/2010/main" val="9842937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9: </a:t>
            </a:r>
            <a:r>
              <a:rPr lang="en-US" b="1" dirty="0"/>
              <a:t>Object Files and Linking</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a:xfrm>
            <a:off x="838200" y="1825625"/>
            <a:ext cx="4537364" cy="4351338"/>
          </a:xfrm>
        </p:spPr>
        <p:txBody>
          <a:bodyPr>
            <a:noAutofit/>
          </a:bodyPr>
          <a:lstStyle/>
          <a:p>
            <a:pPr algn="just"/>
            <a:r>
              <a:rPr lang="en-US" sz="2200" i="0" u="none" strike="noStrike" baseline="0" dirty="0">
                <a:latin typeface="Calibri" panose="020F0502020204030204" pitchFamily="34" charset="0"/>
                <a:cs typeface="Calibri" panose="020F0502020204030204" pitchFamily="34" charset="0"/>
              </a:rPr>
              <a:t>In this example, we have two separate C files: one that calculates the square of a number and another that asks the user for a number and prints its square. We will build object files from these C files and then combine them to create an executable program.</a:t>
            </a:r>
          </a:p>
        </p:txBody>
      </p:sp>
      <p:pic>
        <p:nvPicPr>
          <p:cNvPr id="6" name="Picture 5" descr="A screen shot of a computer&#10;&#10;Description automatically generated">
            <a:extLst>
              <a:ext uri="{FF2B5EF4-FFF2-40B4-BE49-F238E27FC236}">
                <a16:creationId xmlns:a16="http://schemas.microsoft.com/office/drawing/2014/main" id="{E7E7B240-6A55-64DB-64CF-67F436678843}"/>
              </a:ext>
            </a:extLst>
          </p:cNvPr>
          <p:cNvPicPr>
            <a:picLocks noChangeAspect="1"/>
          </p:cNvPicPr>
          <p:nvPr/>
        </p:nvPicPr>
        <p:blipFill rotWithShape="1">
          <a:blip r:embed="rId2">
            <a:extLst>
              <a:ext uri="{28A0092B-C50C-407E-A947-70E740481C1C}">
                <a14:useLocalDpi xmlns:a14="http://schemas.microsoft.com/office/drawing/2010/main" val="0"/>
              </a:ext>
            </a:extLst>
          </a:blip>
          <a:srcRect l="5611" t="4918" r="5480" b="60267"/>
          <a:stretch/>
        </p:blipFill>
        <p:spPr>
          <a:xfrm>
            <a:off x="5660656" y="3429000"/>
            <a:ext cx="6239244" cy="2387600"/>
          </a:xfrm>
          <a:prstGeom prst="rect">
            <a:avLst/>
          </a:prstGeom>
        </p:spPr>
      </p:pic>
      <p:pic>
        <p:nvPicPr>
          <p:cNvPr id="8" name="Picture 7" descr="A screen shot of a computer&#10;&#10;Description automatically generated">
            <a:extLst>
              <a:ext uri="{FF2B5EF4-FFF2-40B4-BE49-F238E27FC236}">
                <a16:creationId xmlns:a16="http://schemas.microsoft.com/office/drawing/2014/main" id="{AE33F92F-80C8-6584-A1B2-9868D472E782}"/>
              </a:ext>
            </a:extLst>
          </p:cNvPr>
          <p:cNvPicPr>
            <a:picLocks noChangeAspect="1"/>
          </p:cNvPicPr>
          <p:nvPr/>
        </p:nvPicPr>
        <p:blipFill rotWithShape="1">
          <a:blip r:embed="rId3">
            <a:extLst>
              <a:ext uri="{28A0092B-C50C-407E-A947-70E740481C1C}">
                <a14:useLocalDpi xmlns:a14="http://schemas.microsoft.com/office/drawing/2010/main" val="0"/>
              </a:ext>
            </a:extLst>
          </a:blip>
          <a:srcRect l="5480" t="5324" r="5611" b="73380"/>
          <a:stretch/>
        </p:blipFill>
        <p:spPr>
          <a:xfrm>
            <a:off x="5660656" y="1660524"/>
            <a:ext cx="6239244" cy="1460501"/>
          </a:xfrm>
          <a:prstGeom prst="rect">
            <a:avLst/>
          </a:prstGeom>
        </p:spPr>
      </p:pic>
      <p:pic>
        <p:nvPicPr>
          <p:cNvPr id="25" name="Picture 24" descr="A screenshot of a computer program&#10;&#10;Description automatically generated">
            <a:extLst>
              <a:ext uri="{FF2B5EF4-FFF2-40B4-BE49-F238E27FC236}">
                <a16:creationId xmlns:a16="http://schemas.microsoft.com/office/drawing/2014/main" id="{23368CA9-C484-15B5-D5A5-3D6D9723B6EA}"/>
              </a:ext>
            </a:extLst>
          </p:cNvPr>
          <p:cNvPicPr>
            <a:picLocks noChangeAspect="1"/>
          </p:cNvPicPr>
          <p:nvPr/>
        </p:nvPicPr>
        <p:blipFill rotWithShape="1">
          <a:blip r:embed="rId4">
            <a:extLst>
              <a:ext uri="{28A0092B-C50C-407E-A947-70E740481C1C}">
                <a14:useLocalDpi xmlns:a14="http://schemas.microsoft.com/office/drawing/2010/main" val="0"/>
              </a:ext>
            </a:extLst>
          </a:blip>
          <a:srcRect l="2785" t="2756" r="3742" b="57393"/>
          <a:stretch/>
        </p:blipFill>
        <p:spPr>
          <a:xfrm>
            <a:off x="243721" y="4859590"/>
            <a:ext cx="5131843" cy="1633285"/>
          </a:xfrm>
          <a:prstGeom prst="rect">
            <a:avLst/>
          </a:prstGeom>
        </p:spPr>
      </p:pic>
      <p:grpSp>
        <p:nvGrpSpPr>
          <p:cNvPr id="29" name="Group 28">
            <a:extLst>
              <a:ext uri="{FF2B5EF4-FFF2-40B4-BE49-F238E27FC236}">
                <a16:creationId xmlns:a16="http://schemas.microsoft.com/office/drawing/2014/main" id="{5A46C524-7909-57E8-33FC-A842FA56C686}"/>
              </a:ext>
            </a:extLst>
          </p:cNvPr>
          <p:cNvGrpSpPr/>
          <p:nvPr/>
        </p:nvGrpSpPr>
        <p:grpSpPr>
          <a:xfrm>
            <a:off x="8006790" y="3992058"/>
            <a:ext cx="3904545" cy="2637522"/>
            <a:chOff x="8043734" y="4001294"/>
            <a:chExt cx="3904545" cy="2637522"/>
          </a:xfrm>
        </p:grpSpPr>
        <p:pic>
          <p:nvPicPr>
            <p:cNvPr id="27" name="Picture 26" descr="A screenshot of a computer&#10;&#10;Description automatically generated">
              <a:extLst>
                <a:ext uri="{FF2B5EF4-FFF2-40B4-BE49-F238E27FC236}">
                  <a16:creationId xmlns:a16="http://schemas.microsoft.com/office/drawing/2014/main" id="{50BEB8C2-5BF4-FF12-05AB-368A041BAE2B}"/>
                </a:ext>
              </a:extLst>
            </p:cNvPr>
            <p:cNvPicPr>
              <a:picLocks noChangeAspect="1"/>
            </p:cNvPicPr>
            <p:nvPr/>
          </p:nvPicPr>
          <p:blipFill rotWithShape="1">
            <a:blip r:embed="rId5">
              <a:extLst>
                <a:ext uri="{28A0092B-C50C-407E-A947-70E740481C1C}">
                  <a14:useLocalDpi xmlns:a14="http://schemas.microsoft.com/office/drawing/2010/main" val="0"/>
                </a:ext>
              </a:extLst>
            </a:blip>
            <a:srcRect l="23201" t="7081" r="6104" b="23813"/>
            <a:stretch/>
          </p:blipFill>
          <p:spPr>
            <a:xfrm>
              <a:off x="8043734" y="4001294"/>
              <a:ext cx="3904545" cy="2637522"/>
            </a:xfrm>
            <a:prstGeom prst="rect">
              <a:avLst/>
            </a:prstGeom>
          </p:spPr>
        </p:pic>
        <p:sp>
          <p:nvSpPr>
            <p:cNvPr id="28" name="Rectangle 27">
              <a:extLst>
                <a:ext uri="{FF2B5EF4-FFF2-40B4-BE49-F238E27FC236}">
                  <a16:creationId xmlns:a16="http://schemas.microsoft.com/office/drawing/2014/main" id="{06480B9A-1E59-4312-4013-51B6E640471B}"/>
                </a:ext>
              </a:extLst>
            </p:cNvPr>
            <p:cNvSpPr/>
            <p:nvPr/>
          </p:nvSpPr>
          <p:spPr>
            <a:xfrm>
              <a:off x="8146472" y="5956428"/>
              <a:ext cx="3225800" cy="6547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1" name="TextBox 30">
            <a:extLst>
              <a:ext uri="{FF2B5EF4-FFF2-40B4-BE49-F238E27FC236}">
                <a16:creationId xmlns:a16="http://schemas.microsoft.com/office/drawing/2014/main" id="{96BDCC29-E4CA-8E70-0244-52B2D98FB47A}"/>
              </a:ext>
            </a:extLst>
          </p:cNvPr>
          <p:cNvSpPr txBox="1"/>
          <p:nvPr/>
        </p:nvSpPr>
        <p:spPr>
          <a:xfrm>
            <a:off x="3106882" y="6089903"/>
            <a:ext cx="1446645" cy="323165"/>
          </a:xfrm>
          <a:prstGeom prst="rect">
            <a:avLst/>
          </a:prstGeom>
          <a:noFill/>
        </p:spPr>
        <p:txBody>
          <a:bodyPr wrap="square">
            <a:spAutoFit/>
          </a:bodyPr>
          <a:lstStyle/>
          <a:p>
            <a:r>
              <a:rPr lang="en-GB" sz="1500" b="1" dirty="0">
                <a:solidFill>
                  <a:schemeClr val="tx2">
                    <a:lumMod val="75000"/>
                    <a:lumOff val="25000"/>
                  </a:schemeClr>
                </a:solidFill>
                <a:latin typeface="Calibri" panose="020F0502020204030204" pitchFamily="34" charset="0"/>
                <a:cs typeface="Calibri" panose="020F0502020204030204" pitchFamily="34" charset="0"/>
              </a:rPr>
              <a:t>Link object files</a:t>
            </a:r>
          </a:p>
        </p:txBody>
      </p:sp>
      <p:cxnSp>
        <p:nvCxnSpPr>
          <p:cNvPr id="33" name="Straight Arrow Connector 32">
            <a:extLst>
              <a:ext uri="{FF2B5EF4-FFF2-40B4-BE49-F238E27FC236}">
                <a16:creationId xmlns:a16="http://schemas.microsoft.com/office/drawing/2014/main" id="{7A1FC4BC-88FD-3211-548C-FFFA05FAA9FA}"/>
              </a:ext>
            </a:extLst>
          </p:cNvPr>
          <p:cNvCxnSpPr>
            <a:cxnSpLocks/>
            <a:stCxn id="31" idx="0"/>
          </p:cNvCxnSpPr>
          <p:nvPr/>
        </p:nvCxnSpPr>
        <p:spPr>
          <a:xfrm flipH="1" flipV="1">
            <a:off x="3574473" y="5947192"/>
            <a:ext cx="255732" cy="1427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30277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a:t>Why Care About Object Files and Linking</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lnSpcReduction="10000"/>
          </a:bodyPr>
          <a:lstStyle/>
          <a:p>
            <a:pPr algn="just">
              <a:lnSpc>
                <a:spcPct val="110000"/>
              </a:lnSpc>
            </a:pPr>
            <a:r>
              <a:rPr lang="en-US" sz="2200" b="1" dirty="0">
                <a:latin typeface="Calibri" panose="020F0502020204030204" pitchFamily="34" charset="0"/>
                <a:cs typeface="Calibri" panose="020F0502020204030204" pitchFamily="34" charset="0"/>
              </a:rPr>
              <a:t>Modularity: </a:t>
            </a:r>
            <a:r>
              <a:rPr lang="en-US" sz="2200" dirty="0">
                <a:latin typeface="Calibri" panose="020F0502020204030204" pitchFamily="34" charset="0"/>
                <a:cs typeface="Calibri" panose="020F0502020204030204" pitchFamily="34" charset="0"/>
              </a:rPr>
              <a:t>Allows us to manage and update individual parts of our program without affecting the whole.</a:t>
            </a:r>
          </a:p>
          <a:p>
            <a:pPr algn="just">
              <a:lnSpc>
                <a:spcPct val="110000"/>
              </a:lnSpc>
            </a:pPr>
            <a:r>
              <a:rPr lang="en-US" sz="2200" b="1" dirty="0">
                <a:latin typeface="Calibri" panose="020F0502020204030204" pitchFamily="34" charset="0"/>
                <a:cs typeface="Calibri" panose="020F0502020204030204" pitchFamily="34" charset="0"/>
              </a:rPr>
              <a:t>Efficiency: </a:t>
            </a:r>
            <a:r>
              <a:rPr lang="en-US" sz="2200" dirty="0">
                <a:latin typeface="Calibri" panose="020F0502020204030204" pitchFamily="34" charset="0"/>
                <a:cs typeface="Calibri" panose="020F0502020204030204" pitchFamily="34" charset="0"/>
              </a:rPr>
              <a:t>Reduces the need to recompile the entire program when only parts of it change.</a:t>
            </a:r>
          </a:p>
          <a:p>
            <a:pPr algn="just">
              <a:lnSpc>
                <a:spcPct val="110000"/>
              </a:lnSpc>
            </a:pPr>
            <a:r>
              <a:rPr lang="en-US" sz="2200" b="1" dirty="0">
                <a:latin typeface="Calibri" panose="020F0502020204030204" pitchFamily="34" charset="0"/>
                <a:cs typeface="Calibri" panose="020F0502020204030204" pitchFamily="34" charset="0"/>
              </a:rPr>
              <a:t>Flexibility: </a:t>
            </a:r>
            <a:r>
              <a:rPr lang="en-US" sz="2200" dirty="0">
                <a:latin typeface="Calibri" panose="020F0502020204030204" pitchFamily="34" charset="0"/>
                <a:cs typeface="Calibri" panose="020F0502020204030204" pitchFamily="34" charset="0"/>
              </a:rPr>
              <a:t>Lets us use code written in different languages and combine multiple files.</a:t>
            </a:r>
          </a:p>
          <a:p>
            <a:pPr algn="just">
              <a:lnSpc>
                <a:spcPct val="110000"/>
              </a:lnSpc>
            </a:pPr>
            <a:endParaRPr lang="en-US" sz="2200" dirty="0">
              <a:latin typeface="Calibri" panose="020F0502020204030204" pitchFamily="34" charset="0"/>
              <a:cs typeface="Calibri" panose="020F0502020204030204" pitchFamily="34" charset="0"/>
            </a:endParaRPr>
          </a:p>
          <a:p>
            <a:pPr algn="just">
              <a:lnSpc>
                <a:spcPct val="110000"/>
              </a:lnSpc>
            </a:pPr>
            <a:r>
              <a:rPr lang="en-US" sz="2200" dirty="0">
                <a:latin typeface="Calibri" panose="020F0502020204030204" pitchFamily="34" charset="0"/>
                <a:cs typeface="Calibri" panose="020F0502020204030204" pitchFamily="34" charset="0"/>
              </a:rPr>
              <a:t>Hence mastering object files and linking is crucial for managing larger programs and optimizing development workflows.</a:t>
            </a:r>
          </a:p>
          <a:p>
            <a:pPr algn="just">
              <a:lnSpc>
                <a:spcPct val="110000"/>
              </a:lnSpc>
            </a:pPr>
            <a:r>
              <a:rPr lang="en-US" sz="2200" dirty="0">
                <a:latin typeface="Calibri" panose="020F0502020204030204" pitchFamily="34" charset="0"/>
                <a:cs typeface="Calibri" panose="020F0502020204030204" pitchFamily="34" charset="0"/>
              </a:rPr>
              <a:t>Understanding these basics enhances our ability to write, manage, and deploy efficient programs.</a:t>
            </a:r>
          </a:p>
        </p:txBody>
      </p:sp>
    </p:spTree>
    <p:extLst>
      <p:ext uri="{BB962C8B-B14F-4D97-AF65-F5344CB8AC3E}">
        <p14:creationId xmlns:p14="http://schemas.microsoft.com/office/powerpoint/2010/main" val="11349205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err="1"/>
              <a:t>Makefiles</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lnSpc>
                <a:spcPct val="110000"/>
              </a:lnSpc>
            </a:pPr>
            <a:r>
              <a:rPr lang="en-US" sz="2200" dirty="0">
                <a:latin typeface="Calibri" panose="020F0502020204030204" pitchFamily="34" charset="0"/>
                <a:cs typeface="Calibri" panose="020F0502020204030204" pitchFamily="34" charset="0"/>
              </a:rPr>
              <a:t>When building a program from a single source code file, we typically run a single compile command. </a:t>
            </a:r>
          </a:p>
          <a:p>
            <a:pPr algn="just">
              <a:lnSpc>
                <a:spcPct val="110000"/>
              </a:lnSpc>
            </a:pPr>
            <a:r>
              <a:rPr lang="en-US" sz="2200" dirty="0">
                <a:latin typeface="Calibri" panose="020F0502020204030204" pitchFamily="34" charset="0"/>
                <a:cs typeface="Calibri" panose="020F0502020204030204" pitchFamily="34" charset="0"/>
              </a:rPr>
              <a:t>For larger programs with multiple files, we may need to run several compile commands, some of which may involve multiple filenames and options. </a:t>
            </a:r>
          </a:p>
          <a:p>
            <a:pPr algn="just">
              <a:lnSpc>
                <a:spcPct val="110000"/>
              </a:lnSpc>
            </a:pPr>
            <a:r>
              <a:rPr lang="en-US" sz="2200" dirty="0">
                <a:latin typeface="Calibri" panose="020F0502020204030204" pitchFamily="34" charset="0"/>
                <a:cs typeface="Calibri" panose="020F0502020204030204" pitchFamily="34" charset="0"/>
              </a:rPr>
              <a:t>This process can become tedious and error-prone. </a:t>
            </a:r>
          </a:p>
          <a:p>
            <a:pPr algn="just">
              <a:lnSpc>
                <a:spcPct val="110000"/>
              </a:lnSpc>
            </a:pPr>
            <a:endParaRPr lang="en-US" sz="2200" dirty="0">
              <a:latin typeface="Calibri" panose="020F0502020204030204" pitchFamily="34" charset="0"/>
              <a:cs typeface="Calibri" panose="020F0502020204030204" pitchFamily="34" charset="0"/>
            </a:endParaRPr>
          </a:p>
          <a:p>
            <a:pPr algn="just">
              <a:lnSpc>
                <a:spcPct val="110000"/>
              </a:lnSpc>
            </a:pPr>
            <a:r>
              <a:rPr lang="en-US" sz="2200" dirty="0">
                <a:latin typeface="Calibri" panose="020F0502020204030204" pitchFamily="34" charset="0"/>
                <a:cs typeface="Calibri" panose="020F0502020204030204" pitchFamily="34" charset="0"/>
              </a:rPr>
              <a:t>To solve this problem, programmers use </a:t>
            </a:r>
            <a:r>
              <a:rPr lang="en-US" sz="2200" dirty="0" err="1">
                <a:latin typeface="Calibri" panose="020F0502020204030204" pitchFamily="34" charset="0"/>
                <a:cs typeface="Calibri" panose="020F0502020204030204" pitchFamily="34" charset="0"/>
              </a:rPr>
              <a:t>Makefiles</a:t>
            </a:r>
            <a:r>
              <a:rPr lang="en-US" sz="2200" dirty="0">
                <a:latin typeface="Calibri" panose="020F0502020204030204" pitchFamily="34" charset="0"/>
                <a:cs typeface="Calibri" panose="020F0502020204030204" pitchFamily="34" charset="0"/>
              </a:rPr>
              <a:t>. </a:t>
            </a:r>
          </a:p>
          <a:p>
            <a:pPr algn="just">
              <a:lnSpc>
                <a:spcPct val="110000"/>
              </a:lnSpc>
            </a:pPr>
            <a:endParaRPr lang="en-US" sz="2200" dirty="0">
              <a:latin typeface="Calibri" panose="020F0502020204030204" pitchFamily="34" charset="0"/>
              <a:cs typeface="Calibri" panose="020F0502020204030204" pitchFamily="34" charset="0"/>
            </a:endParaRPr>
          </a:p>
          <a:p>
            <a:pPr algn="just">
              <a:lnSpc>
                <a:spcPct val="110000"/>
              </a:lnSpc>
            </a:pPr>
            <a:r>
              <a:rPr lang="en-US" sz="2200" dirty="0">
                <a:latin typeface="Calibri" panose="020F0502020204030204" pitchFamily="34" charset="0"/>
                <a:cs typeface="Calibri" panose="020F0502020204030204" pitchFamily="34" charset="0"/>
              </a:rPr>
              <a:t>A </a:t>
            </a:r>
            <a:r>
              <a:rPr lang="en-US" sz="2200" dirty="0" err="1">
                <a:latin typeface="Calibri" panose="020F0502020204030204" pitchFamily="34" charset="0"/>
                <a:cs typeface="Calibri" panose="020F0502020204030204" pitchFamily="34" charset="0"/>
              </a:rPr>
              <a:t>Makefile</a:t>
            </a:r>
            <a:r>
              <a:rPr lang="en-US" sz="2200" dirty="0">
                <a:latin typeface="Calibri" panose="020F0502020204030204" pitchFamily="34" charset="0"/>
                <a:cs typeface="Calibri" panose="020F0502020204030204" pitchFamily="34" charset="0"/>
              </a:rPr>
              <a:t> is a special file that organizes compile commands and intermediate files, allowing you to rebuild your program efficiently with minimal manual effort.</a:t>
            </a:r>
          </a:p>
        </p:txBody>
      </p:sp>
    </p:spTree>
    <p:extLst>
      <p:ext uri="{BB962C8B-B14F-4D97-AF65-F5344CB8AC3E}">
        <p14:creationId xmlns:p14="http://schemas.microsoft.com/office/powerpoint/2010/main" val="9597949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err="1"/>
              <a:t>Makefiles</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lnSpc>
                <a:spcPct val="110000"/>
              </a:lnSpc>
            </a:pPr>
            <a:r>
              <a:rPr lang="en-US" sz="2200" dirty="0">
                <a:latin typeface="Calibri" panose="020F0502020204030204" pitchFamily="34" charset="0"/>
                <a:cs typeface="Calibri" panose="020F0502020204030204" pitchFamily="34" charset="0"/>
              </a:rPr>
              <a:t>A </a:t>
            </a:r>
            <a:r>
              <a:rPr lang="en-US" sz="2200" dirty="0" err="1">
                <a:latin typeface="Calibri" panose="020F0502020204030204" pitchFamily="34" charset="0"/>
                <a:cs typeface="Calibri" panose="020F0502020204030204" pitchFamily="34" charset="0"/>
              </a:rPr>
              <a:t>Makefile</a:t>
            </a:r>
            <a:r>
              <a:rPr lang="en-US" sz="2200" dirty="0">
                <a:latin typeface="Calibri" panose="020F0502020204030204" pitchFamily="34" charset="0"/>
                <a:cs typeface="Calibri" panose="020F0502020204030204" pitchFamily="34" charset="0"/>
              </a:rPr>
              <a:t> is a text file that we place in our project's directory, usually alongside our source code files. </a:t>
            </a:r>
          </a:p>
          <a:p>
            <a:pPr algn="just">
              <a:lnSpc>
                <a:spcPct val="110000"/>
              </a:lnSpc>
            </a:pPr>
            <a:r>
              <a:rPr lang="en-US" sz="2200" dirty="0">
                <a:latin typeface="Calibri" panose="020F0502020204030204" pitchFamily="34" charset="0"/>
                <a:cs typeface="Calibri" panose="020F0502020204030204" pitchFamily="34" charset="0"/>
              </a:rPr>
              <a:t>A </a:t>
            </a:r>
            <a:r>
              <a:rPr lang="en-US" sz="2200" dirty="0" err="1">
                <a:latin typeface="Calibri" panose="020F0502020204030204" pitchFamily="34" charset="0"/>
                <a:cs typeface="Calibri" panose="020F0502020204030204" pitchFamily="34" charset="0"/>
              </a:rPr>
              <a:t>Makefile</a:t>
            </a:r>
            <a:r>
              <a:rPr lang="en-US" sz="2200" dirty="0">
                <a:latin typeface="Calibri" panose="020F0502020204030204" pitchFamily="34" charset="0"/>
                <a:cs typeface="Calibri" panose="020F0502020204030204" pitchFamily="34" charset="0"/>
              </a:rPr>
              <a:t> consists of two main components:</a:t>
            </a:r>
          </a:p>
          <a:p>
            <a:pPr lvl="1" algn="just">
              <a:lnSpc>
                <a:spcPct val="110000"/>
              </a:lnSpc>
            </a:pPr>
            <a:r>
              <a:rPr lang="en-US" sz="2000" b="1" dirty="0">
                <a:latin typeface="Calibri" panose="020F0502020204030204" pitchFamily="34" charset="0"/>
                <a:cs typeface="Calibri" panose="020F0502020204030204" pitchFamily="34" charset="0"/>
              </a:rPr>
              <a:t>Dependencies: </a:t>
            </a:r>
            <a:r>
              <a:rPr lang="en-US" sz="2000" dirty="0">
                <a:latin typeface="Calibri" panose="020F0502020204030204" pitchFamily="34" charset="0"/>
                <a:cs typeface="Calibri" panose="020F0502020204030204" pitchFamily="34" charset="0"/>
              </a:rPr>
              <a:t>These define the relationships between files. For example, if a source file changes, the corresponding object file must be recompiled.</a:t>
            </a:r>
          </a:p>
          <a:p>
            <a:pPr lvl="1" algn="just">
              <a:lnSpc>
                <a:spcPct val="110000"/>
              </a:lnSpc>
            </a:pPr>
            <a:r>
              <a:rPr lang="en-US" sz="2000" b="1" dirty="0">
                <a:latin typeface="Calibri" panose="020F0502020204030204" pitchFamily="34" charset="0"/>
                <a:cs typeface="Calibri" panose="020F0502020204030204" pitchFamily="34" charset="0"/>
              </a:rPr>
              <a:t>Commands: </a:t>
            </a:r>
            <a:r>
              <a:rPr lang="en-US" sz="2000" dirty="0">
                <a:latin typeface="Calibri" panose="020F0502020204030204" pitchFamily="34" charset="0"/>
                <a:cs typeface="Calibri" panose="020F0502020204030204" pitchFamily="34" charset="0"/>
              </a:rPr>
              <a:t>These are the actual steps or commands needed to rebuild the files.</a:t>
            </a:r>
          </a:p>
          <a:p>
            <a:pPr algn="just">
              <a:lnSpc>
                <a:spcPct val="110000"/>
              </a:lnSpc>
            </a:pPr>
            <a:r>
              <a:rPr lang="en-US" sz="2400" dirty="0">
                <a:latin typeface="Calibri" panose="020F0502020204030204" pitchFamily="34" charset="0"/>
                <a:cs typeface="Calibri" panose="020F0502020204030204" pitchFamily="34" charset="0"/>
              </a:rPr>
              <a:t>format of </a:t>
            </a:r>
            <a:r>
              <a:rPr lang="en-US" sz="2000" dirty="0">
                <a:latin typeface="Calibri" panose="020F0502020204030204" pitchFamily="34" charset="0"/>
                <a:cs typeface="Calibri" panose="020F0502020204030204" pitchFamily="34" charset="0"/>
              </a:rPr>
              <a:t>a dependency/command block is as follows:</a:t>
            </a:r>
          </a:p>
          <a:p>
            <a:pPr marL="0" indent="0" algn="l">
              <a:buNone/>
            </a:pPr>
            <a:r>
              <a:rPr lang="en-GB" sz="1800" b="0" i="0" u="none" strike="noStrike" baseline="0" dirty="0">
                <a:latin typeface="ZztexMono-Regular"/>
              </a:rPr>
              <a:t>	</a:t>
            </a: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file : dependency</a:t>
            </a:r>
            <a:r>
              <a:rPr lang="en-GB" sz="1500" b="0" i="0" u="none" strike="noStrike" baseline="0" dirty="0">
                <a:latin typeface="Calibri" panose="020F0502020204030204" pitchFamily="34" charset="0"/>
                <a:cs typeface="Calibri" panose="020F0502020204030204" pitchFamily="34" charset="0"/>
              </a:rPr>
              <a:t>                  </a:t>
            </a:r>
            <a:r>
              <a:rPr lang="en-GB" sz="1500" b="1" i="0" u="none" strike="noStrike" baseline="0" dirty="0">
                <a:latin typeface="Calibri" panose="020F0502020204030204" pitchFamily="34" charset="0"/>
                <a:cs typeface="Calibri" panose="020F0502020204030204" pitchFamily="34" charset="0"/>
              </a:rPr>
              <a:t>file: </a:t>
            </a:r>
            <a:r>
              <a:rPr lang="en-US" sz="1500" dirty="0">
                <a:latin typeface="Calibri" panose="020F0502020204030204" pitchFamily="34" charset="0"/>
                <a:cs typeface="Calibri" panose="020F0502020204030204" pitchFamily="34" charset="0"/>
              </a:rPr>
              <a:t>The file you want to create or update.  </a:t>
            </a:r>
            <a:r>
              <a:rPr lang="en-US" sz="1500" b="1" dirty="0">
                <a:latin typeface="Calibri" panose="020F0502020204030204" pitchFamily="34" charset="0"/>
                <a:cs typeface="Calibri" panose="020F0502020204030204" pitchFamily="34" charset="0"/>
              </a:rPr>
              <a:t>Dependency: </a:t>
            </a:r>
            <a:r>
              <a:rPr lang="en-US" sz="1500" dirty="0">
                <a:latin typeface="Calibri" panose="020F0502020204030204" pitchFamily="34" charset="0"/>
                <a:cs typeface="Calibri" panose="020F0502020204030204" pitchFamily="34" charset="0"/>
              </a:rPr>
              <a:t>The files that the target depends on.</a:t>
            </a:r>
            <a:endParaRPr lang="en-GB" sz="1500" b="0" i="0" u="none" strike="noStrike" baseline="0" dirty="0">
              <a:latin typeface="Calibri" panose="020F0502020204030204" pitchFamily="34" charset="0"/>
              <a:cs typeface="Calibri" panose="020F0502020204030204" pitchFamily="34" charset="0"/>
            </a:endParaRPr>
          </a:p>
          <a:p>
            <a:pPr marL="0" indent="0" algn="l">
              <a:buNone/>
            </a:pPr>
            <a:r>
              <a:rPr lang="en-GB" sz="1500" b="0" i="0" u="none" strike="noStrike" baseline="0" dirty="0">
                <a:latin typeface="Calibri" panose="020F0502020204030204" pitchFamily="34" charset="0"/>
                <a:cs typeface="Calibri" panose="020F0502020204030204" pitchFamily="34" charset="0"/>
              </a:rPr>
              <a:t>	</a:t>
            </a: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[TAB] command</a:t>
            </a:r>
            <a:r>
              <a:rPr lang="en-GB" sz="1500" b="0" i="0" u="none" strike="noStrike" baseline="0" dirty="0">
                <a:latin typeface="Calibri" panose="020F0502020204030204" pitchFamily="34" charset="0"/>
                <a:cs typeface="Calibri" panose="020F0502020204030204" pitchFamily="34" charset="0"/>
              </a:rPr>
              <a:t>	      </a:t>
            </a:r>
            <a:r>
              <a:rPr lang="en-GB" sz="1500" b="1" i="0" u="none" strike="noStrike" baseline="0" dirty="0">
                <a:latin typeface="Calibri" panose="020F0502020204030204" pitchFamily="34" charset="0"/>
                <a:cs typeface="Calibri" panose="020F0502020204030204" pitchFamily="34" charset="0"/>
              </a:rPr>
              <a:t>Command: </a:t>
            </a:r>
            <a:r>
              <a:rPr lang="en-GB" sz="1500" b="0" i="0" u="none" strike="noStrike" baseline="0" dirty="0">
                <a:latin typeface="Calibri" panose="020F0502020204030204" pitchFamily="34" charset="0"/>
                <a:cs typeface="Calibri" panose="020F0502020204030204" pitchFamily="34" charset="0"/>
              </a:rPr>
              <a:t>T</a:t>
            </a:r>
            <a:r>
              <a:rPr lang="en-US" sz="1500" dirty="0">
                <a:latin typeface="Calibri" panose="020F0502020204030204" pitchFamily="34" charset="0"/>
                <a:cs typeface="Calibri" panose="020F0502020204030204" pitchFamily="34" charset="0"/>
              </a:rPr>
              <a:t>he command to execute if the dependency has changed.</a:t>
            </a:r>
            <a:endParaRPr lang="en-GB" sz="1500" b="0" i="0" u="none" strike="noStrike" baseline="0" dirty="0">
              <a:latin typeface="Calibri" panose="020F0502020204030204" pitchFamily="34" charset="0"/>
              <a:cs typeface="Calibri" panose="020F0502020204030204" pitchFamily="34" charset="0"/>
            </a:endParaRPr>
          </a:p>
          <a:p>
            <a:pPr marL="0" indent="0" algn="l">
              <a:buNone/>
            </a:pPr>
            <a:r>
              <a:rPr lang="en-GB" sz="1500" b="0" i="0" u="none" strike="noStrike" baseline="0" dirty="0">
                <a:latin typeface="Calibri" panose="020F0502020204030204" pitchFamily="34" charset="0"/>
                <a:cs typeface="Calibri" panose="020F0502020204030204" pitchFamily="34" charset="0"/>
              </a:rPr>
              <a:t>	</a:t>
            </a: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[TAB] command</a:t>
            </a:r>
          </a:p>
        </p:txBody>
      </p:sp>
    </p:spTree>
    <p:extLst>
      <p:ext uri="{BB962C8B-B14F-4D97-AF65-F5344CB8AC3E}">
        <p14:creationId xmlns:p14="http://schemas.microsoft.com/office/powerpoint/2010/main" val="23969014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US" b="1" dirty="0" err="1"/>
              <a:t>Makefiles</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lnSpc>
                <a:spcPct val="110000"/>
              </a:lnSpc>
            </a:pPr>
            <a:r>
              <a:rPr lang="en-US" sz="2200" dirty="0">
                <a:latin typeface="Calibri" panose="020F0502020204030204" pitchFamily="34" charset="0"/>
                <a:cs typeface="Calibri" panose="020F0502020204030204" pitchFamily="34" charset="0"/>
              </a:rPr>
              <a:t>A </a:t>
            </a:r>
            <a:r>
              <a:rPr lang="en-US" sz="2200" dirty="0" err="1">
                <a:latin typeface="Calibri" panose="020F0502020204030204" pitchFamily="34" charset="0"/>
                <a:cs typeface="Calibri" panose="020F0502020204030204" pitchFamily="34" charset="0"/>
              </a:rPr>
              <a:t>Makefile</a:t>
            </a:r>
            <a:r>
              <a:rPr lang="en-US" sz="2200" dirty="0">
                <a:latin typeface="Calibri" panose="020F0502020204030204" pitchFamily="34" charset="0"/>
                <a:cs typeface="Calibri" panose="020F0502020204030204" pitchFamily="34" charset="0"/>
              </a:rPr>
              <a:t> is a text file that we place in our project's directory, usually alongside our source code files. </a:t>
            </a:r>
          </a:p>
          <a:p>
            <a:pPr algn="just">
              <a:lnSpc>
                <a:spcPct val="110000"/>
              </a:lnSpc>
            </a:pPr>
            <a:r>
              <a:rPr lang="en-US" sz="2200" dirty="0">
                <a:latin typeface="Calibri" panose="020F0502020204030204" pitchFamily="34" charset="0"/>
                <a:cs typeface="Calibri" panose="020F0502020204030204" pitchFamily="34" charset="0"/>
              </a:rPr>
              <a:t>A </a:t>
            </a:r>
            <a:r>
              <a:rPr lang="en-US" sz="2200" dirty="0" err="1">
                <a:latin typeface="Calibri" panose="020F0502020204030204" pitchFamily="34" charset="0"/>
                <a:cs typeface="Calibri" panose="020F0502020204030204" pitchFamily="34" charset="0"/>
              </a:rPr>
              <a:t>Makefile</a:t>
            </a:r>
            <a:r>
              <a:rPr lang="en-US" sz="2200" dirty="0">
                <a:latin typeface="Calibri" panose="020F0502020204030204" pitchFamily="34" charset="0"/>
                <a:cs typeface="Calibri" panose="020F0502020204030204" pitchFamily="34" charset="0"/>
              </a:rPr>
              <a:t> consists of two main components:</a:t>
            </a:r>
          </a:p>
          <a:p>
            <a:pPr lvl="1" algn="just">
              <a:lnSpc>
                <a:spcPct val="110000"/>
              </a:lnSpc>
            </a:pPr>
            <a:r>
              <a:rPr lang="en-US" sz="2000" b="1" dirty="0">
                <a:latin typeface="Calibri" panose="020F0502020204030204" pitchFamily="34" charset="0"/>
                <a:cs typeface="Calibri" panose="020F0502020204030204" pitchFamily="34" charset="0"/>
              </a:rPr>
              <a:t>Dependencies: </a:t>
            </a:r>
            <a:r>
              <a:rPr lang="en-US" sz="2000" dirty="0">
                <a:latin typeface="Calibri" panose="020F0502020204030204" pitchFamily="34" charset="0"/>
                <a:cs typeface="Calibri" panose="020F0502020204030204" pitchFamily="34" charset="0"/>
              </a:rPr>
              <a:t>These define the relationships between files. For example, if a source file changes, the corresponding object file must be recompiled.</a:t>
            </a:r>
          </a:p>
          <a:p>
            <a:pPr lvl="1" algn="just">
              <a:lnSpc>
                <a:spcPct val="110000"/>
              </a:lnSpc>
            </a:pPr>
            <a:r>
              <a:rPr lang="en-US" sz="2000" b="1" dirty="0">
                <a:latin typeface="Calibri" panose="020F0502020204030204" pitchFamily="34" charset="0"/>
                <a:cs typeface="Calibri" panose="020F0502020204030204" pitchFamily="34" charset="0"/>
              </a:rPr>
              <a:t>Commands: </a:t>
            </a:r>
            <a:r>
              <a:rPr lang="en-US" sz="2000" dirty="0">
                <a:latin typeface="Calibri" panose="020F0502020204030204" pitchFamily="34" charset="0"/>
                <a:cs typeface="Calibri" panose="020F0502020204030204" pitchFamily="34" charset="0"/>
              </a:rPr>
              <a:t>These are the actual steps or commands needed to rebuild the files.</a:t>
            </a:r>
          </a:p>
          <a:p>
            <a:pPr algn="just">
              <a:lnSpc>
                <a:spcPct val="110000"/>
              </a:lnSpc>
            </a:pPr>
            <a:r>
              <a:rPr lang="en-US" sz="2400" dirty="0">
                <a:latin typeface="Calibri" panose="020F0502020204030204" pitchFamily="34" charset="0"/>
                <a:cs typeface="Calibri" panose="020F0502020204030204" pitchFamily="34" charset="0"/>
              </a:rPr>
              <a:t>format of </a:t>
            </a:r>
            <a:r>
              <a:rPr lang="en-US" sz="2000" dirty="0">
                <a:latin typeface="Calibri" panose="020F0502020204030204" pitchFamily="34" charset="0"/>
                <a:cs typeface="Calibri" panose="020F0502020204030204" pitchFamily="34" charset="0"/>
              </a:rPr>
              <a:t>a dependency/command block is as follows:</a:t>
            </a:r>
          </a:p>
          <a:p>
            <a:pPr marL="0" indent="0" algn="l">
              <a:buNone/>
            </a:pPr>
            <a:r>
              <a:rPr lang="en-GB" sz="1800" b="0" i="0" u="none" strike="noStrike" baseline="0" dirty="0">
                <a:latin typeface="ZztexMono-Regular"/>
              </a:rPr>
              <a:t>	</a:t>
            </a: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file : dependency</a:t>
            </a:r>
            <a:r>
              <a:rPr lang="en-GB" sz="1500" b="0" i="0" u="none" strike="noStrike" baseline="0" dirty="0">
                <a:latin typeface="Calibri" panose="020F0502020204030204" pitchFamily="34" charset="0"/>
                <a:cs typeface="Calibri" panose="020F0502020204030204" pitchFamily="34" charset="0"/>
              </a:rPr>
              <a:t>                  </a:t>
            </a:r>
            <a:r>
              <a:rPr lang="en-GB" sz="1500" b="1" i="0" u="none" strike="noStrike" baseline="0" dirty="0">
                <a:latin typeface="Calibri" panose="020F0502020204030204" pitchFamily="34" charset="0"/>
                <a:cs typeface="Calibri" panose="020F0502020204030204" pitchFamily="34" charset="0"/>
              </a:rPr>
              <a:t>file: </a:t>
            </a:r>
            <a:r>
              <a:rPr lang="en-US" sz="1500" dirty="0">
                <a:latin typeface="Calibri" panose="020F0502020204030204" pitchFamily="34" charset="0"/>
                <a:cs typeface="Calibri" panose="020F0502020204030204" pitchFamily="34" charset="0"/>
              </a:rPr>
              <a:t>The file you want to create or update.  </a:t>
            </a:r>
            <a:r>
              <a:rPr lang="en-US" sz="1500" b="1" dirty="0">
                <a:latin typeface="Calibri" panose="020F0502020204030204" pitchFamily="34" charset="0"/>
                <a:cs typeface="Calibri" panose="020F0502020204030204" pitchFamily="34" charset="0"/>
              </a:rPr>
              <a:t>Dependency: </a:t>
            </a:r>
            <a:r>
              <a:rPr lang="en-US" sz="1500" dirty="0">
                <a:latin typeface="Calibri" panose="020F0502020204030204" pitchFamily="34" charset="0"/>
                <a:cs typeface="Calibri" panose="020F0502020204030204" pitchFamily="34" charset="0"/>
              </a:rPr>
              <a:t>The files that the target depends on.</a:t>
            </a:r>
            <a:endParaRPr lang="en-GB" sz="1500" b="0" i="0" u="none" strike="noStrike" baseline="0" dirty="0">
              <a:latin typeface="Calibri" panose="020F0502020204030204" pitchFamily="34" charset="0"/>
              <a:cs typeface="Calibri" panose="020F0502020204030204" pitchFamily="34" charset="0"/>
            </a:endParaRPr>
          </a:p>
          <a:p>
            <a:pPr marL="0" indent="0" algn="l">
              <a:buNone/>
            </a:pPr>
            <a:r>
              <a:rPr lang="en-GB" sz="1500" b="0" i="0" u="none" strike="noStrike" baseline="0" dirty="0">
                <a:latin typeface="Calibri" panose="020F0502020204030204" pitchFamily="34" charset="0"/>
                <a:cs typeface="Calibri" panose="020F0502020204030204" pitchFamily="34" charset="0"/>
              </a:rPr>
              <a:t>	</a:t>
            </a:r>
            <a:r>
              <a:rPr lang="en-GB" sz="1500" b="1" i="0" u="none" strike="noStrike" baseline="0" dirty="0">
                <a:solidFill>
                  <a:schemeClr val="tx2">
                    <a:lumMod val="75000"/>
                    <a:lumOff val="25000"/>
                  </a:schemeClr>
                </a:solidFill>
                <a:latin typeface="Calibri" panose="020F0502020204030204" pitchFamily="34" charset="0"/>
                <a:cs typeface="Calibri" panose="020F0502020204030204" pitchFamily="34" charset="0"/>
              </a:rPr>
              <a:t>[TAB] </a:t>
            </a: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command</a:t>
            </a:r>
            <a:r>
              <a:rPr lang="en-GB" sz="1500" b="0" i="0" u="none" strike="noStrike" baseline="0" dirty="0">
                <a:latin typeface="Calibri" panose="020F0502020204030204" pitchFamily="34" charset="0"/>
                <a:cs typeface="Calibri" panose="020F0502020204030204" pitchFamily="34" charset="0"/>
              </a:rPr>
              <a:t>	      </a:t>
            </a:r>
            <a:r>
              <a:rPr lang="en-GB" sz="1500" b="1" i="0" u="none" strike="noStrike" baseline="0" dirty="0">
                <a:latin typeface="Calibri" panose="020F0502020204030204" pitchFamily="34" charset="0"/>
                <a:cs typeface="Calibri" panose="020F0502020204030204" pitchFamily="34" charset="0"/>
              </a:rPr>
              <a:t>Command: </a:t>
            </a:r>
            <a:r>
              <a:rPr lang="en-GB" sz="1500" b="0" i="0" u="none" strike="noStrike" baseline="0" dirty="0">
                <a:latin typeface="Calibri" panose="020F0502020204030204" pitchFamily="34" charset="0"/>
                <a:cs typeface="Calibri" panose="020F0502020204030204" pitchFamily="34" charset="0"/>
              </a:rPr>
              <a:t>T</a:t>
            </a:r>
            <a:r>
              <a:rPr lang="en-US" sz="1500" dirty="0">
                <a:latin typeface="Calibri" panose="020F0502020204030204" pitchFamily="34" charset="0"/>
                <a:cs typeface="Calibri" panose="020F0502020204030204" pitchFamily="34" charset="0"/>
              </a:rPr>
              <a:t>he command to execute if the dependency has changed.</a:t>
            </a:r>
            <a:endParaRPr lang="en-GB" sz="1500" b="0" i="0" u="none" strike="noStrike" baseline="0" dirty="0">
              <a:latin typeface="Calibri" panose="020F0502020204030204" pitchFamily="34" charset="0"/>
              <a:cs typeface="Calibri" panose="020F0502020204030204" pitchFamily="34" charset="0"/>
            </a:endParaRPr>
          </a:p>
          <a:p>
            <a:pPr marL="0" indent="0" algn="l">
              <a:buNone/>
            </a:pPr>
            <a:r>
              <a:rPr lang="en-GB" sz="1500" b="0" i="0" u="none" strike="noStrike" baseline="0" dirty="0">
                <a:latin typeface="Calibri" panose="020F0502020204030204" pitchFamily="34" charset="0"/>
                <a:cs typeface="Calibri" panose="020F0502020204030204" pitchFamily="34" charset="0"/>
              </a:rPr>
              <a:t>	</a:t>
            </a:r>
            <a:r>
              <a:rPr lang="en-GB" sz="1500" b="1" i="0" u="none" strike="noStrike" baseline="0" dirty="0">
                <a:solidFill>
                  <a:schemeClr val="tx2">
                    <a:lumMod val="75000"/>
                    <a:lumOff val="25000"/>
                  </a:schemeClr>
                </a:solidFill>
                <a:latin typeface="Calibri" panose="020F0502020204030204" pitchFamily="34" charset="0"/>
                <a:cs typeface="Calibri" panose="020F0502020204030204" pitchFamily="34" charset="0"/>
              </a:rPr>
              <a:t>[TAB] </a:t>
            </a: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command</a:t>
            </a:r>
          </a:p>
        </p:txBody>
      </p:sp>
    </p:spTree>
    <p:extLst>
      <p:ext uri="{BB962C8B-B14F-4D97-AF65-F5344CB8AC3E}">
        <p14:creationId xmlns:p14="http://schemas.microsoft.com/office/powerpoint/2010/main" val="20181806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BA63-4989-4BDB-E933-BD7159569A41}"/>
              </a:ext>
            </a:extLst>
          </p:cNvPr>
          <p:cNvSpPr>
            <a:spLocks noGrp="1"/>
          </p:cNvSpPr>
          <p:nvPr>
            <p:ph type="title"/>
          </p:nvPr>
        </p:nvSpPr>
        <p:spPr/>
        <p:txBody>
          <a:bodyPr/>
          <a:lstStyle/>
          <a:p>
            <a:r>
              <a:rPr lang="en-US" b="1" dirty="0"/>
              <a:t>Steps to Create a </a:t>
            </a:r>
            <a:r>
              <a:rPr lang="en-US" b="1" dirty="0" err="1"/>
              <a:t>Makefile</a:t>
            </a:r>
            <a:endParaRPr lang="en-GB" b="1" dirty="0"/>
          </a:p>
        </p:txBody>
      </p:sp>
      <p:sp>
        <p:nvSpPr>
          <p:cNvPr id="3" name="Content Placeholder 2">
            <a:extLst>
              <a:ext uri="{FF2B5EF4-FFF2-40B4-BE49-F238E27FC236}">
                <a16:creationId xmlns:a16="http://schemas.microsoft.com/office/drawing/2014/main" id="{0563C153-7CA2-C4A5-075B-46E21382F544}"/>
              </a:ext>
            </a:extLst>
          </p:cNvPr>
          <p:cNvSpPr>
            <a:spLocks noGrp="1"/>
          </p:cNvSpPr>
          <p:nvPr>
            <p:ph idx="1"/>
          </p:nvPr>
        </p:nvSpPr>
        <p:spPr/>
        <p:txBody>
          <a:bodyPr>
            <a:normAutofit/>
          </a:bodyPr>
          <a:lstStyle/>
          <a:p>
            <a:r>
              <a:rPr lang="en-US" sz="2200" dirty="0">
                <a:latin typeface="Calibri" panose="020F0502020204030204" pitchFamily="34" charset="0"/>
                <a:cs typeface="Calibri" panose="020F0502020204030204" pitchFamily="34" charset="0"/>
              </a:rPr>
              <a:t>Steps to Create a </a:t>
            </a:r>
            <a:r>
              <a:rPr lang="en-US" sz="2200" dirty="0" err="1">
                <a:latin typeface="Calibri" panose="020F0502020204030204" pitchFamily="34" charset="0"/>
                <a:cs typeface="Calibri" panose="020F0502020204030204" pitchFamily="34" charset="0"/>
              </a:rPr>
              <a:t>Makefile</a:t>
            </a:r>
            <a:r>
              <a:rPr lang="en-US" sz="2200" dirty="0">
                <a:latin typeface="Calibri" panose="020F0502020204030204" pitchFamily="34" charset="0"/>
                <a:cs typeface="Calibri" panose="020F0502020204030204" pitchFamily="34" charset="0"/>
              </a:rPr>
              <a:t> in Linux:</a:t>
            </a:r>
          </a:p>
          <a:p>
            <a:pPr lvl="1"/>
            <a:r>
              <a:rPr lang="en-US" sz="2000" dirty="0">
                <a:latin typeface="Calibri" panose="020F0502020204030204" pitchFamily="34" charset="0"/>
                <a:cs typeface="Calibri" panose="020F0502020204030204" pitchFamily="34" charset="0"/>
              </a:rPr>
              <a:t>Open a Terminal: Start by opening a terminal on your Linux system.</a:t>
            </a:r>
          </a:p>
          <a:p>
            <a:pPr lvl="1"/>
            <a:r>
              <a:rPr lang="en-US" sz="2000" dirty="0">
                <a:latin typeface="Calibri" panose="020F0502020204030204" pitchFamily="34" charset="0"/>
                <a:cs typeface="Calibri" panose="020F0502020204030204" pitchFamily="34" charset="0"/>
              </a:rPr>
              <a:t>Navigate to Your Project Directory: Use the cd command to navigate to the directory where you want to create the </a:t>
            </a:r>
            <a:r>
              <a:rPr lang="en-US" sz="2000" dirty="0" err="1">
                <a:latin typeface="Calibri" panose="020F0502020204030204" pitchFamily="34" charset="0"/>
                <a:cs typeface="Calibri" panose="020F0502020204030204" pitchFamily="34" charset="0"/>
              </a:rPr>
              <a:t>Makefile</a:t>
            </a:r>
            <a:r>
              <a:rPr lang="en-US" sz="2000" dirty="0">
                <a:latin typeface="Calibri" panose="020F0502020204030204" pitchFamily="34" charset="0"/>
                <a:cs typeface="Calibri" panose="020F0502020204030204" pitchFamily="34" charset="0"/>
              </a:rPr>
              <a:t>. For example: </a:t>
            </a:r>
            <a:r>
              <a:rPr lang="en-US" sz="2000" dirty="0">
                <a:solidFill>
                  <a:schemeClr val="tx2">
                    <a:lumMod val="75000"/>
                    <a:lumOff val="25000"/>
                  </a:schemeClr>
                </a:solidFill>
                <a:latin typeface="Calibri" panose="020F0502020204030204" pitchFamily="34" charset="0"/>
                <a:cs typeface="Calibri" panose="020F0502020204030204" pitchFamily="34" charset="0"/>
              </a:rPr>
              <a:t>cd /path/to/your/project</a:t>
            </a:r>
          </a:p>
          <a:p>
            <a:pPr lvl="1"/>
            <a:endParaRPr lang="en-US" sz="2000" dirty="0">
              <a:latin typeface="Calibri" panose="020F0502020204030204" pitchFamily="34" charset="0"/>
              <a:cs typeface="Calibri" panose="020F0502020204030204" pitchFamily="34" charset="0"/>
            </a:endParaRPr>
          </a:p>
          <a:p>
            <a:pPr lvl="1"/>
            <a:endParaRPr lang="en-US" sz="2000" dirty="0">
              <a:latin typeface="Calibri" panose="020F0502020204030204" pitchFamily="34" charset="0"/>
              <a:cs typeface="Calibri" panose="020F0502020204030204" pitchFamily="34" charset="0"/>
            </a:endParaRPr>
          </a:p>
          <a:p>
            <a:pPr lvl="1"/>
            <a:endParaRPr lang="en-US" sz="2000" dirty="0">
              <a:latin typeface="Calibri" panose="020F0502020204030204" pitchFamily="34" charset="0"/>
              <a:cs typeface="Calibri" panose="020F0502020204030204" pitchFamily="34" charset="0"/>
            </a:endParaRPr>
          </a:p>
          <a:p>
            <a:pPr lvl="1"/>
            <a:r>
              <a:rPr lang="en-US" sz="2000" dirty="0">
                <a:latin typeface="Calibri" panose="020F0502020204030204" pitchFamily="34" charset="0"/>
                <a:cs typeface="Calibri" panose="020F0502020204030204" pitchFamily="34" charset="0"/>
              </a:rPr>
              <a:t>Create and Open the </a:t>
            </a:r>
            <a:r>
              <a:rPr lang="en-US" sz="2000" dirty="0" err="1">
                <a:latin typeface="Calibri" panose="020F0502020204030204" pitchFamily="34" charset="0"/>
                <a:cs typeface="Calibri" panose="020F0502020204030204" pitchFamily="34" charset="0"/>
              </a:rPr>
              <a:t>Makefile</a:t>
            </a:r>
            <a:r>
              <a:rPr lang="en-US" sz="2000" dirty="0">
                <a:latin typeface="Calibri" panose="020F0502020204030204" pitchFamily="34" charset="0"/>
                <a:cs typeface="Calibri" panose="020F0502020204030204" pitchFamily="34" charset="0"/>
              </a:rPr>
              <a:t> Using a Text Editor: You can use any text editor, such as nano, vim, or </a:t>
            </a:r>
            <a:r>
              <a:rPr lang="en-US" sz="2000" dirty="0" err="1">
                <a:latin typeface="Calibri" panose="020F0502020204030204" pitchFamily="34" charset="0"/>
                <a:cs typeface="Calibri" panose="020F0502020204030204" pitchFamily="34" charset="0"/>
              </a:rPr>
              <a:t>gedit</a:t>
            </a:r>
            <a:r>
              <a:rPr lang="en-US" sz="2000" dirty="0">
                <a:latin typeface="Calibri" panose="020F0502020204030204" pitchFamily="34" charset="0"/>
                <a:cs typeface="Calibri" panose="020F0502020204030204" pitchFamily="34" charset="0"/>
              </a:rPr>
              <a:t>. Here's how to do it with </a:t>
            </a:r>
            <a:r>
              <a:rPr lang="en-US" sz="2000" dirty="0" err="1">
                <a:latin typeface="Calibri" panose="020F0502020204030204" pitchFamily="34" charset="0"/>
                <a:cs typeface="Calibri" panose="020F0502020204030204" pitchFamily="34" charset="0"/>
              </a:rPr>
              <a:t>gedit</a:t>
            </a:r>
            <a:r>
              <a:rPr lang="en-US" sz="2000" dirty="0">
                <a:latin typeface="Calibri" panose="020F0502020204030204" pitchFamily="34" charset="0"/>
                <a:cs typeface="Calibri" panose="020F0502020204030204" pitchFamily="34" charset="0"/>
              </a:rPr>
              <a:t>, which is a graphical text editor. </a:t>
            </a:r>
          </a:p>
          <a:p>
            <a:pPr lvl="2"/>
            <a:r>
              <a:rPr lang="en-US" sz="1800" dirty="0">
                <a:latin typeface="Calibri" panose="020F0502020204030204" pitchFamily="34" charset="0"/>
                <a:cs typeface="Calibri" panose="020F0502020204030204" pitchFamily="34" charset="0"/>
              </a:rPr>
              <a:t>Install </a:t>
            </a:r>
            <a:r>
              <a:rPr lang="en-US" sz="1800" dirty="0" err="1">
                <a:latin typeface="Calibri" panose="020F0502020204030204" pitchFamily="34" charset="0"/>
                <a:cs typeface="Calibri" panose="020F0502020204030204" pitchFamily="34" charset="0"/>
              </a:rPr>
              <a:t>gedit</a:t>
            </a:r>
            <a:r>
              <a:rPr lang="en-US" sz="1800" dirty="0">
                <a:latin typeface="Calibri" panose="020F0502020204030204" pitchFamily="34" charset="0"/>
                <a:cs typeface="Calibri" panose="020F0502020204030204" pitchFamily="34" charset="0"/>
              </a:rPr>
              <a:t> by: </a:t>
            </a:r>
            <a:r>
              <a:rPr lang="en-US" sz="1800" dirty="0" err="1">
                <a:solidFill>
                  <a:schemeClr val="tx2">
                    <a:lumMod val="75000"/>
                    <a:lumOff val="25000"/>
                  </a:schemeClr>
                </a:solidFill>
                <a:latin typeface="Calibri" panose="020F0502020204030204" pitchFamily="34" charset="0"/>
                <a:cs typeface="Calibri" panose="020F0502020204030204" pitchFamily="34" charset="0"/>
              </a:rPr>
              <a:t>sudo</a:t>
            </a:r>
            <a:r>
              <a:rPr lang="en-US" sz="1800" dirty="0">
                <a:solidFill>
                  <a:schemeClr val="tx2">
                    <a:lumMod val="75000"/>
                    <a:lumOff val="25000"/>
                  </a:schemeClr>
                </a:solidFill>
                <a:latin typeface="Calibri" panose="020F0502020204030204" pitchFamily="34" charset="0"/>
                <a:cs typeface="Calibri" panose="020F0502020204030204" pitchFamily="34" charset="0"/>
              </a:rPr>
              <a:t> snap install </a:t>
            </a:r>
            <a:r>
              <a:rPr lang="en-US" sz="1800" dirty="0" err="1">
                <a:solidFill>
                  <a:schemeClr val="tx2">
                    <a:lumMod val="75000"/>
                    <a:lumOff val="25000"/>
                  </a:schemeClr>
                </a:solidFill>
                <a:latin typeface="Calibri" panose="020F0502020204030204" pitchFamily="34" charset="0"/>
                <a:cs typeface="Calibri" panose="020F0502020204030204" pitchFamily="34" charset="0"/>
              </a:rPr>
              <a:t>gedit</a:t>
            </a:r>
            <a:r>
              <a:rPr lang="en-US" sz="1800" dirty="0">
                <a:solidFill>
                  <a:schemeClr val="tx2">
                    <a:lumMod val="75000"/>
                    <a:lumOff val="25000"/>
                  </a:schemeClr>
                </a:solidFill>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(only run this commend for the first time)</a:t>
            </a:r>
          </a:p>
          <a:p>
            <a:pPr lvl="2"/>
            <a:r>
              <a:rPr lang="en-US" sz="1800" dirty="0">
                <a:latin typeface="Calibri" panose="020F0502020204030204" pitchFamily="34" charset="0"/>
                <a:cs typeface="Calibri" panose="020F0502020204030204" pitchFamily="34" charset="0"/>
              </a:rPr>
              <a:t>Open text editor by: </a:t>
            </a:r>
            <a:r>
              <a:rPr lang="en-US" sz="1800" dirty="0" err="1">
                <a:solidFill>
                  <a:schemeClr val="tx2">
                    <a:lumMod val="75000"/>
                    <a:lumOff val="25000"/>
                  </a:schemeClr>
                </a:solidFill>
                <a:latin typeface="Calibri" panose="020F0502020204030204" pitchFamily="34" charset="0"/>
                <a:cs typeface="Calibri" panose="020F0502020204030204" pitchFamily="34" charset="0"/>
              </a:rPr>
              <a:t>gedit</a:t>
            </a:r>
            <a:r>
              <a:rPr lang="en-US" sz="1800" dirty="0">
                <a:solidFill>
                  <a:schemeClr val="tx2">
                    <a:lumMod val="75000"/>
                    <a:lumOff val="25000"/>
                  </a:schemeClr>
                </a:solidFill>
                <a:latin typeface="Calibri" panose="020F0502020204030204" pitchFamily="34" charset="0"/>
                <a:cs typeface="Calibri" panose="020F0502020204030204" pitchFamily="34" charset="0"/>
              </a:rPr>
              <a:t> </a:t>
            </a:r>
            <a:r>
              <a:rPr lang="en-US" sz="1800" dirty="0" err="1">
                <a:solidFill>
                  <a:schemeClr val="tx2">
                    <a:lumMod val="75000"/>
                    <a:lumOff val="25000"/>
                  </a:schemeClr>
                </a:solidFill>
                <a:latin typeface="Calibri" panose="020F0502020204030204" pitchFamily="34" charset="0"/>
                <a:cs typeface="Calibri" panose="020F0502020204030204" pitchFamily="34" charset="0"/>
              </a:rPr>
              <a:t>Makefile</a:t>
            </a:r>
            <a:r>
              <a:rPr lang="en-US" sz="1800" dirty="0">
                <a:solidFill>
                  <a:schemeClr val="tx2">
                    <a:lumMod val="75000"/>
                    <a:lumOff val="25000"/>
                  </a:schemeClr>
                </a:solidFill>
                <a:latin typeface="Calibri" panose="020F0502020204030204" pitchFamily="34" charset="0"/>
                <a:cs typeface="Calibri" panose="020F0502020204030204" pitchFamily="34" charset="0"/>
              </a:rPr>
              <a:t> &amp; </a:t>
            </a:r>
          </a:p>
          <a:p>
            <a:pPr lvl="3"/>
            <a:r>
              <a:rPr lang="en-US" sz="1600" dirty="0">
                <a:latin typeface="Calibri" panose="020F0502020204030204" pitchFamily="34" charset="0"/>
                <a:cs typeface="Calibri" panose="020F0502020204030204" pitchFamily="34" charset="0"/>
              </a:rPr>
              <a:t>Why &amp;: Running in the Background and this allows us to continue using the terminal for other commands while </a:t>
            </a:r>
            <a:r>
              <a:rPr lang="en-US" sz="1600" dirty="0" err="1">
                <a:latin typeface="Calibri" panose="020F0502020204030204" pitchFamily="34" charset="0"/>
                <a:cs typeface="Calibri" panose="020F0502020204030204" pitchFamily="34" charset="0"/>
              </a:rPr>
              <a:t>gedit</a:t>
            </a:r>
            <a:r>
              <a:rPr lang="en-US" sz="1600" dirty="0">
                <a:latin typeface="Calibri" panose="020F0502020204030204" pitchFamily="34" charset="0"/>
                <a:cs typeface="Calibri" panose="020F0502020204030204" pitchFamily="34" charset="0"/>
              </a:rPr>
              <a:t> is still open.</a:t>
            </a:r>
          </a:p>
        </p:txBody>
      </p:sp>
      <p:pic>
        <p:nvPicPr>
          <p:cNvPr id="6" name="Picture 5" descr="A screenshot of a computer&#10;&#10;Description automatically generated">
            <a:extLst>
              <a:ext uri="{FF2B5EF4-FFF2-40B4-BE49-F238E27FC236}">
                <a16:creationId xmlns:a16="http://schemas.microsoft.com/office/drawing/2014/main" id="{CD894CB2-EE14-AC16-22C7-76D389BF5584}"/>
              </a:ext>
            </a:extLst>
          </p:cNvPr>
          <p:cNvPicPr>
            <a:picLocks noChangeAspect="1"/>
          </p:cNvPicPr>
          <p:nvPr/>
        </p:nvPicPr>
        <p:blipFill rotWithShape="1">
          <a:blip r:embed="rId2">
            <a:extLst>
              <a:ext uri="{28A0092B-C50C-407E-A947-70E740481C1C}">
                <a14:useLocalDpi xmlns:a14="http://schemas.microsoft.com/office/drawing/2010/main" val="0"/>
              </a:ext>
            </a:extLst>
          </a:blip>
          <a:srcRect l="2958" t="10964" r="2958" b="76762"/>
          <a:stretch/>
        </p:blipFill>
        <p:spPr>
          <a:xfrm>
            <a:off x="2215662" y="3265915"/>
            <a:ext cx="7760676" cy="735379"/>
          </a:xfrm>
          <a:prstGeom prst="rect">
            <a:avLst/>
          </a:prstGeom>
        </p:spPr>
      </p:pic>
    </p:spTree>
    <p:extLst>
      <p:ext uri="{BB962C8B-B14F-4D97-AF65-F5344CB8AC3E}">
        <p14:creationId xmlns:p14="http://schemas.microsoft.com/office/powerpoint/2010/main" val="1488282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BA63-4989-4BDB-E933-BD7159569A41}"/>
              </a:ext>
            </a:extLst>
          </p:cNvPr>
          <p:cNvSpPr>
            <a:spLocks noGrp="1"/>
          </p:cNvSpPr>
          <p:nvPr>
            <p:ph type="title"/>
          </p:nvPr>
        </p:nvSpPr>
        <p:spPr/>
        <p:txBody>
          <a:bodyPr/>
          <a:lstStyle/>
          <a:p>
            <a:r>
              <a:rPr lang="en-US" b="1" dirty="0"/>
              <a:t>Steps to Create a </a:t>
            </a:r>
            <a:r>
              <a:rPr lang="en-US" b="1" dirty="0" err="1"/>
              <a:t>Makefile</a:t>
            </a:r>
            <a:endParaRPr lang="en-GB" b="1" dirty="0"/>
          </a:p>
        </p:txBody>
      </p:sp>
      <p:sp>
        <p:nvSpPr>
          <p:cNvPr id="3" name="Content Placeholder 2">
            <a:extLst>
              <a:ext uri="{FF2B5EF4-FFF2-40B4-BE49-F238E27FC236}">
                <a16:creationId xmlns:a16="http://schemas.microsoft.com/office/drawing/2014/main" id="{0563C153-7CA2-C4A5-075B-46E21382F544}"/>
              </a:ext>
            </a:extLst>
          </p:cNvPr>
          <p:cNvSpPr>
            <a:spLocks noGrp="1"/>
          </p:cNvSpPr>
          <p:nvPr>
            <p:ph idx="1"/>
          </p:nvPr>
        </p:nvSpPr>
        <p:spPr/>
        <p:txBody>
          <a:bodyPr>
            <a:normAutofit/>
          </a:bodyPr>
          <a:lstStyle/>
          <a:p>
            <a:r>
              <a:rPr lang="en-US" sz="2200" dirty="0">
                <a:latin typeface="Calibri" panose="020F0502020204030204" pitchFamily="34" charset="0"/>
                <a:cs typeface="Calibri" panose="020F0502020204030204" pitchFamily="34" charset="0"/>
              </a:rPr>
              <a:t>Steps to Create a </a:t>
            </a:r>
            <a:r>
              <a:rPr lang="en-US" sz="2200" dirty="0" err="1">
                <a:latin typeface="Calibri" panose="020F0502020204030204" pitchFamily="34" charset="0"/>
                <a:cs typeface="Calibri" panose="020F0502020204030204" pitchFamily="34" charset="0"/>
              </a:rPr>
              <a:t>Makefile</a:t>
            </a:r>
            <a:r>
              <a:rPr lang="en-US" sz="2200" dirty="0">
                <a:latin typeface="Calibri" panose="020F0502020204030204" pitchFamily="34" charset="0"/>
                <a:cs typeface="Calibri" panose="020F0502020204030204" pitchFamily="34" charset="0"/>
              </a:rPr>
              <a:t> in Linux:</a:t>
            </a:r>
          </a:p>
          <a:p>
            <a:pPr lvl="1"/>
            <a:r>
              <a:rPr lang="en-US" sz="2000" dirty="0">
                <a:latin typeface="Calibri" panose="020F0502020204030204" pitchFamily="34" charset="0"/>
                <a:cs typeface="Calibri" panose="020F0502020204030204" pitchFamily="34" charset="0"/>
              </a:rPr>
              <a:t>Enter the Content of the </a:t>
            </a:r>
            <a:r>
              <a:rPr lang="en-US" sz="2000" dirty="0" err="1">
                <a:latin typeface="Calibri" panose="020F0502020204030204" pitchFamily="34" charset="0"/>
                <a:cs typeface="Calibri" panose="020F0502020204030204" pitchFamily="34" charset="0"/>
              </a:rPr>
              <a:t>Makefile</a:t>
            </a:r>
            <a:r>
              <a:rPr lang="en-US" sz="2000" dirty="0">
                <a:latin typeface="Calibri" panose="020F0502020204030204" pitchFamily="34" charset="0"/>
                <a:cs typeface="Calibri" panose="020F0502020204030204" pitchFamily="34" charset="0"/>
              </a:rPr>
              <a:t>: Once the text editor is open, you can type or paste the content of your </a:t>
            </a:r>
            <a:r>
              <a:rPr lang="en-US" sz="2000" dirty="0" err="1">
                <a:latin typeface="Calibri" panose="020F0502020204030204" pitchFamily="34" charset="0"/>
                <a:cs typeface="Calibri" panose="020F0502020204030204" pitchFamily="34" charset="0"/>
              </a:rPr>
              <a:t>Makefile</a:t>
            </a:r>
            <a:r>
              <a:rPr lang="en-US" sz="2000" dirty="0">
                <a:latin typeface="Calibri" panose="020F0502020204030204" pitchFamily="34" charset="0"/>
                <a:cs typeface="Calibri" panose="020F0502020204030204" pitchFamily="34" charset="0"/>
              </a:rPr>
              <a:t>. Here's an example:</a:t>
            </a:r>
          </a:p>
        </p:txBody>
      </p:sp>
      <p:pic>
        <p:nvPicPr>
          <p:cNvPr id="7" name="Picture 6" descr="A screenshot of a computer&#10;&#10;Description automatically generated">
            <a:extLst>
              <a:ext uri="{FF2B5EF4-FFF2-40B4-BE49-F238E27FC236}">
                <a16:creationId xmlns:a16="http://schemas.microsoft.com/office/drawing/2014/main" id="{32FF0E98-4B39-39F4-9CEE-CF427F741D33}"/>
              </a:ext>
            </a:extLst>
          </p:cNvPr>
          <p:cNvPicPr>
            <a:picLocks noChangeAspect="1"/>
          </p:cNvPicPr>
          <p:nvPr/>
        </p:nvPicPr>
        <p:blipFill rotWithShape="1">
          <a:blip r:embed="rId2">
            <a:extLst>
              <a:ext uri="{28A0092B-C50C-407E-A947-70E740481C1C}">
                <a14:useLocalDpi xmlns:a14="http://schemas.microsoft.com/office/drawing/2010/main" val="0"/>
              </a:ext>
            </a:extLst>
          </a:blip>
          <a:srcRect l="5397" t="5324" r="5062" b="50000"/>
          <a:stretch/>
        </p:blipFill>
        <p:spPr>
          <a:xfrm>
            <a:off x="2892669" y="3429000"/>
            <a:ext cx="6406661" cy="3123894"/>
          </a:xfrm>
          <a:prstGeom prst="rect">
            <a:avLst/>
          </a:prstGeom>
        </p:spPr>
      </p:pic>
      <p:sp>
        <p:nvSpPr>
          <p:cNvPr id="8" name="Rectangle 1">
            <a:extLst>
              <a:ext uri="{FF2B5EF4-FFF2-40B4-BE49-F238E27FC236}">
                <a16:creationId xmlns:a16="http://schemas.microsoft.com/office/drawing/2014/main" id="{11147DAB-8B5B-C9C1-FCD7-20443D751943}"/>
              </a:ext>
            </a:extLst>
          </p:cNvPr>
          <p:cNvSpPr>
            <a:spLocks noChangeArrowheads="1"/>
          </p:cNvSpPr>
          <p:nvPr/>
        </p:nvSpPr>
        <p:spPr bwMode="auto">
          <a:xfrm>
            <a:off x="2898531" y="6183562"/>
            <a:ext cx="6400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GB" altLang="sv-SE"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Make sure each command line begins with a </a:t>
            </a:r>
            <a:r>
              <a:rPr kumimoji="0" lang="en-GB" altLang="sv-SE"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TAB</a:t>
            </a:r>
            <a:r>
              <a:rPr kumimoji="0" lang="en-GB" altLang="sv-SE"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character.</a:t>
            </a:r>
          </a:p>
        </p:txBody>
      </p:sp>
    </p:spTree>
    <p:extLst>
      <p:ext uri="{BB962C8B-B14F-4D97-AF65-F5344CB8AC3E}">
        <p14:creationId xmlns:p14="http://schemas.microsoft.com/office/powerpoint/2010/main" val="21304488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BA63-4989-4BDB-E933-BD7159569A41}"/>
              </a:ext>
            </a:extLst>
          </p:cNvPr>
          <p:cNvSpPr>
            <a:spLocks noGrp="1"/>
          </p:cNvSpPr>
          <p:nvPr>
            <p:ph type="title"/>
          </p:nvPr>
        </p:nvSpPr>
        <p:spPr/>
        <p:txBody>
          <a:bodyPr/>
          <a:lstStyle/>
          <a:p>
            <a:r>
              <a:rPr lang="en-US" b="1" dirty="0"/>
              <a:t>Steps to Create a </a:t>
            </a:r>
            <a:r>
              <a:rPr lang="en-US" b="1" dirty="0" err="1"/>
              <a:t>Makefile</a:t>
            </a:r>
            <a:endParaRPr lang="en-GB" b="1" dirty="0"/>
          </a:p>
        </p:txBody>
      </p:sp>
      <p:sp>
        <p:nvSpPr>
          <p:cNvPr id="3" name="Content Placeholder 2">
            <a:extLst>
              <a:ext uri="{FF2B5EF4-FFF2-40B4-BE49-F238E27FC236}">
                <a16:creationId xmlns:a16="http://schemas.microsoft.com/office/drawing/2014/main" id="{0563C153-7CA2-C4A5-075B-46E21382F544}"/>
              </a:ext>
            </a:extLst>
          </p:cNvPr>
          <p:cNvSpPr>
            <a:spLocks noGrp="1"/>
          </p:cNvSpPr>
          <p:nvPr>
            <p:ph idx="1"/>
          </p:nvPr>
        </p:nvSpPr>
        <p:spPr/>
        <p:txBody>
          <a:bodyPr>
            <a:normAutofit/>
          </a:bodyPr>
          <a:lstStyle/>
          <a:p>
            <a:r>
              <a:rPr lang="en-US" sz="2200" dirty="0">
                <a:latin typeface="Calibri" panose="020F0502020204030204" pitchFamily="34" charset="0"/>
                <a:cs typeface="Calibri" panose="020F0502020204030204" pitchFamily="34" charset="0"/>
              </a:rPr>
              <a:t>Steps to Create a </a:t>
            </a:r>
            <a:r>
              <a:rPr lang="en-US" sz="2200" dirty="0" err="1">
                <a:latin typeface="Calibri" panose="020F0502020204030204" pitchFamily="34" charset="0"/>
                <a:cs typeface="Calibri" panose="020F0502020204030204" pitchFamily="34" charset="0"/>
              </a:rPr>
              <a:t>Makefile</a:t>
            </a:r>
            <a:r>
              <a:rPr lang="en-US" sz="2200" dirty="0">
                <a:latin typeface="Calibri" panose="020F0502020204030204" pitchFamily="34" charset="0"/>
                <a:cs typeface="Calibri" panose="020F0502020204030204" pitchFamily="34" charset="0"/>
              </a:rPr>
              <a:t> in Linux:</a:t>
            </a:r>
          </a:p>
          <a:p>
            <a:pPr lvl="1"/>
            <a:r>
              <a:rPr lang="en-US" sz="2000" dirty="0">
                <a:latin typeface="Calibri" panose="020F0502020204030204" pitchFamily="34" charset="0"/>
                <a:cs typeface="Calibri" panose="020F0502020204030204" pitchFamily="34" charset="0"/>
              </a:rPr>
              <a:t>Save and Close the File:</a:t>
            </a:r>
          </a:p>
          <a:p>
            <a:pPr lvl="2"/>
            <a:r>
              <a:rPr lang="en-US" dirty="0">
                <a:latin typeface="Calibri" panose="020F0502020204030204" pitchFamily="34" charset="0"/>
                <a:cs typeface="Calibri" panose="020F0502020204030204" pitchFamily="34" charset="0"/>
              </a:rPr>
              <a:t>If you're using nano, press Ctrl + O to save the file, and then Ctrl + X to exit.</a:t>
            </a:r>
          </a:p>
          <a:p>
            <a:pPr lvl="2"/>
            <a:r>
              <a:rPr lang="en-US" dirty="0">
                <a:latin typeface="Calibri" panose="020F0502020204030204" pitchFamily="34" charset="0"/>
                <a:cs typeface="Calibri" panose="020F0502020204030204" pitchFamily="34" charset="0"/>
              </a:rPr>
              <a:t>If you're using vim, press Esc, then type :</a:t>
            </a:r>
            <a:r>
              <a:rPr lang="en-US" dirty="0" err="1">
                <a:latin typeface="Calibri" panose="020F0502020204030204" pitchFamily="34" charset="0"/>
                <a:cs typeface="Calibri" panose="020F0502020204030204" pitchFamily="34" charset="0"/>
              </a:rPr>
              <a:t>wq</a:t>
            </a:r>
            <a:r>
              <a:rPr lang="en-US" dirty="0">
                <a:latin typeface="Calibri" panose="020F0502020204030204" pitchFamily="34" charset="0"/>
                <a:cs typeface="Calibri" panose="020F0502020204030204" pitchFamily="34" charset="0"/>
              </a:rPr>
              <a:t> and press Enter to save and quit.</a:t>
            </a:r>
          </a:p>
          <a:p>
            <a:pPr lvl="2"/>
            <a:r>
              <a:rPr lang="en-US" dirty="0">
                <a:latin typeface="Calibri" panose="020F0502020204030204" pitchFamily="34" charset="0"/>
                <a:cs typeface="Calibri" panose="020F0502020204030204" pitchFamily="34" charset="0"/>
              </a:rPr>
              <a:t>If you're using </a:t>
            </a:r>
            <a:r>
              <a:rPr lang="en-US" dirty="0" err="1">
                <a:latin typeface="Calibri" panose="020F0502020204030204" pitchFamily="34" charset="0"/>
                <a:cs typeface="Calibri" panose="020F0502020204030204" pitchFamily="34" charset="0"/>
              </a:rPr>
              <a:t>gedit</a:t>
            </a:r>
            <a:r>
              <a:rPr lang="en-US" dirty="0">
                <a:latin typeface="Calibri" panose="020F0502020204030204" pitchFamily="34" charset="0"/>
                <a:cs typeface="Calibri" panose="020F0502020204030204" pitchFamily="34" charset="0"/>
              </a:rPr>
              <a:t>, just click the save icon or press Ctrl + S, then close the window.</a:t>
            </a:r>
          </a:p>
          <a:p>
            <a:pPr lvl="1"/>
            <a:endParaRPr lang="en-US" sz="2000" dirty="0">
              <a:latin typeface="Calibri" panose="020F0502020204030204" pitchFamily="34" charset="0"/>
              <a:cs typeface="Calibri" panose="020F0502020204030204" pitchFamily="34" charset="0"/>
            </a:endParaRPr>
          </a:p>
          <a:p>
            <a:pPr lvl="1"/>
            <a:endParaRPr lang="en-US" sz="2000" dirty="0">
              <a:latin typeface="Calibri" panose="020F0502020204030204" pitchFamily="34" charset="0"/>
              <a:cs typeface="Calibri" panose="020F0502020204030204" pitchFamily="34" charset="0"/>
            </a:endParaRPr>
          </a:p>
          <a:p>
            <a:pPr lvl="1"/>
            <a:endParaRPr lang="en-US" sz="2000" dirty="0">
              <a:latin typeface="Calibri" panose="020F0502020204030204" pitchFamily="34" charset="0"/>
              <a:cs typeface="Calibri" panose="020F0502020204030204" pitchFamily="34" charset="0"/>
            </a:endParaRPr>
          </a:p>
          <a:p>
            <a:pPr lvl="1"/>
            <a:endParaRPr lang="en-US" sz="2000" dirty="0">
              <a:latin typeface="Calibri" panose="020F0502020204030204" pitchFamily="34" charset="0"/>
              <a:cs typeface="Calibri" panose="020F0502020204030204" pitchFamily="34" charset="0"/>
            </a:endParaRPr>
          </a:p>
          <a:p>
            <a:pPr lvl="1"/>
            <a:r>
              <a:rPr lang="en-US" sz="2000" dirty="0">
                <a:latin typeface="Calibri" panose="020F0502020204030204" pitchFamily="34" charset="0"/>
                <a:cs typeface="Calibri" panose="020F0502020204030204" pitchFamily="34" charset="0"/>
              </a:rPr>
              <a:t>Verifying the </a:t>
            </a:r>
            <a:r>
              <a:rPr lang="en-US" sz="2000" dirty="0" err="1">
                <a:latin typeface="Calibri" panose="020F0502020204030204" pitchFamily="34" charset="0"/>
                <a:cs typeface="Calibri" panose="020F0502020204030204" pitchFamily="34" charset="0"/>
              </a:rPr>
              <a:t>Makefile</a:t>
            </a:r>
            <a:r>
              <a:rPr lang="en-US" sz="2000" dirty="0">
                <a:latin typeface="Calibri" panose="020F0502020204030204" pitchFamily="34" charset="0"/>
                <a:cs typeface="Calibri" panose="020F0502020204030204" pitchFamily="34" charset="0"/>
              </a:rPr>
              <a:t>: After creating the </a:t>
            </a:r>
            <a:r>
              <a:rPr lang="en-US" sz="2000" dirty="0" err="1">
                <a:latin typeface="Calibri" panose="020F0502020204030204" pitchFamily="34" charset="0"/>
                <a:cs typeface="Calibri" panose="020F0502020204030204" pitchFamily="34" charset="0"/>
              </a:rPr>
              <a:t>Makefile</a:t>
            </a:r>
            <a:r>
              <a:rPr lang="en-US" sz="2000" dirty="0">
                <a:latin typeface="Calibri" panose="020F0502020204030204" pitchFamily="34" charset="0"/>
                <a:cs typeface="Calibri" panose="020F0502020204030204" pitchFamily="34" charset="0"/>
              </a:rPr>
              <a:t>, you can verify that it is working by running the make command in the terminal:</a:t>
            </a:r>
            <a:endParaRPr lang="en-GB" sz="2000" dirty="0">
              <a:latin typeface="Calibri" panose="020F0502020204030204" pitchFamily="34" charset="0"/>
              <a:cs typeface="Calibri" panose="020F0502020204030204" pitchFamily="34" charset="0"/>
            </a:endParaRPr>
          </a:p>
        </p:txBody>
      </p:sp>
      <p:pic>
        <p:nvPicPr>
          <p:cNvPr id="5" name="Picture 4" descr="A screenshot of a computer&#10;&#10;Description automatically generated">
            <a:extLst>
              <a:ext uri="{FF2B5EF4-FFF2-40B4-BE49-F238E27FC236}">
                <a16:creationId xmlns:a16="http://schemas.microsoft.com/office/drawing/2014/main" id="{2D9BABDE-E0DB-64CC-CD36-296B5D256593}"/>
              </a:ext>
            </a:extLst>
          </p:cNvPr>
          <p:cNvPicPr>
            <a:picLocks noChangeAspect="1"/>
          </p:cNvPicPr>
          <p:nvPr/>
        </p:nvPicPr>
        <p:blipFill rotWithShape="1">
          <a:blip r:embed="rId2">
            <a:extLst>
              <a:ext uri="{28A0092B-C50C-407E-A947-70E740481C1C}">
                <a14:useLocalDpi xmlns:a14="http://schemas.microsoft.com/office/drawing/2010/main" val="0"/>
              </a:ext>
            </a:extLst>
          </a:blip>
          <a:srcRect l="23729" t="57551" r="18331" b="21792"/>
          <a:stretch/>
        </p:blipFill>
        <p:spPr>
          <a:xfrm>
            <a:off x="3766038" y="3667949"/>
            <a:ext cx="4659923" cy="1148097"/>
          </a:xfrm>
          <a:prstGeom prst="rect">
            <a:avLst/>
          </a:prstGeom>
        </p:spPr>
      </p:pic>
    </p:spTree>
    <p:extLst>
      <p:ext uri="{BB962C8B-B14F-4D97-AF65-F5344CB8AC3E}">
        <p14:creationId xmlns:p14="http://schemas.microsoft.com/office/powerpoint/2010/main" val="9051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BA63-4989-4BDB-E933-BD7159569A41}"/>
              </a:ext>
            </a:extLst>
          </p:cNvPr>
          <p:cNvSpPr>
            <a:spLocks noGrp="1"/>
          </p:cNvSpPr>
          <p:nvPr>
            <p:ph type="title"/>
          </p:nvPr>
        </p:nvSpPr>
        <p:spPr/>
        <p:txBody>
          <a:bodyPr/>
          <a:lstStyle/>
          <a:p>
            <a:r>
              <a:rPr lang="en-US" b="1" dirty="0"/>
              <a:t>Steps to Create a </a:t>
            </a:r>
            <a:r>
              <a:rPr lang="en-US" b="1" dirty="0" err="1"/>
              <a:t>Makefile</a:t>
            </a:r>
            <a:endParaRPr lang="en-GB" b="1" dirty="0"/>
          </a:p>
        </p:txBody>
      </p:sp>
      <p:sp>
        <p:nvSpPr>
          <p:cNvPr id="3" name="Content Placeholder 2">
            <a:extLst>
              <a:ext uri="{FF2B5EF4-FFF2-40B4-BE49-F238E27FC236}">
                <a16:creationId xmlns:a16="http://schemas.microsoft.com/office/drawing/2014/main" id="{0563C153-7CA2-C4A5-075B-46E21382F544}"/>
              </a:ext>
            </a:extLst>
          </p:cNvPr>
          <p:cNvSpPr>
            <a:spLocks noGrp="1"/>
          </p:cNvSpPr>
          <p:nvPr>
            <p:ph idx="1"/>
          </p:nvPr>
        </p:nvSpPr>
        <p:spPr/>
        <p:txBody>
          <a:bodyPr>
            <a:normAutofit/>
          </a:bodyPr>
          <a:lstStyle/>
          <a:p>
            <a:r>
              <a:rPr lang="en-US" sz="2200" dirty="0">
                <a:latin typeface="Calibri" panose="020F0502020204030204" pitchFamily="34" charset="0"/>
                <a:cs typeface="Calibri" panose="020F0502020204030204" pitchFamily="34" charset="0"/>
              </a:rPr>
              <a:t>Steps to Create a </a:t>
            </a:r>
            <a:r>
              <a:rPr lang="en-US" sz="2200" dirty="0" err="1">
                <a:latin typeface="Calibri" panose="020F0502020204030204" pitchFamily="34" charset="0"/>
                <a:cs typeface="Calibri" panose="020F0502020204030204" pitchFamily="34" charset="0"/>
              </a:rPr>
              <a:t>Makefile</a:t>
            </a:r>
            <a:r>
              <a:rPr lang="en-US" sz="2200" dirty="0">
                <a:latin typeface="Calibri" panose="020F0502020204030204" pitchFamily="34" charset="0"/>
                <a:cs typeface="Calibri" panose="020F0502020204030204" pitchFamily="34" charset="0"/>
              </a:rPr>
              <a:t> in Linux:</a:t>
            </a:r>
          </a:p>
          <a:p>
            <a:pPr lvl="1"/>
            <a:r>
              <a:rPr lang="en-US" sz="2000" dirty="0">
                <a:latin typeface="Calibri" panose="020F0502020204030204" pitchFamily="34" charset="0"/>
                <a:cs typeface="Calibri" panose="020F0502020204030204" pitchFamily="34" charset="0"/>
              </a:rPr>
              <a:t>Verifying the </a:t>
            </a:r>
            <a:r>
              <a:rPr lang="en-US" sz="2000" dirty="0" err="1">
                <a:latin typeface="Calibri" panose="020F0502020204030204" pitchFamily="34" charset="0"/>
                <a:cs typeface="Calibri" panose="020F0502020204030204" pitchFamily="34" charset="0"/>
              </a:rPr>
              <a:t>Makefile</a:t>
            </a:r>
            <a:r>
              <a:rPr lang="en-US" sz="2000" dirty="0">
                <a:latin typeface="Calibri" panose="020F0502020204030204" pitchFamily="34" charset="0"/>
                <a:cs typeface="Calibri" panose="020F0502020204030204" pitchFamily="34" charset="0"/>
              </a:rPr>
              <a:t>: After creating the </a:t>
            </a:r>
            <a:r>
              <a:rPr lang="en-US" sz="2000" dirty="0" err="1">
                <a:latin typeface="Calibri" panose="020F0502020204030204" pitchFamily="34" charset="0"/>
                <a:cs typeface="Calibri" panose="020F0502020204030204" pitchFamily="34" charset="0"/>
              </a:rPr>
              <a:t>Makefile</a:t>
            </a:r>
            <a:r>
              <a:rPr lang="en-US" sz="2000" dirty="0">
                <a:latin typeface="Calibri" panose="020F0502020204030204" pitchFamily="34" charset="0"/>
                <a:cs typeface="Calibri" panose="020F0502020204030204" pitchFamily="34" charset="0"/>
              </a:rPr>
              <a:t>, we can verify that it is working by running the make command in the terminal:</a:t>
            </a:r>
            <a:endParaRPr lang="en-GB" sz="2000" dirty="0">
              <a:latin typeface="Calibri" panose="020F0502020204030204" pitchFamily="34" charset="0"/>
              <a:cs typeface="Calibri" panose="020F0502020204030204" pitchFamily="34" charset="0"/>
            </a:endParaRPr>
          </a:p>
        </p:txBody>
      </p:sp>
      <p:pic>
        <p:nvPicPr>
          <p:cNvPr id="6" name="Picture 5" descr="A screenshot of a computer&#10;&#10;Description automatically generated">
            <a:extLst>
              <a:ext uri="{FF2B5EF4-FFF2-40B4-BE49-F238E27FC236}">
                <a16:creationId xmlns:a16="http://schemas.microsoft.com/office/drawing/2014/main" id="{0E7A5B36-8428-C11B-E181-E7BD33FB11DA}"/>
              </a:ext>
            </a:extLst>
          </p:cNvPr>
          <p:cNvPicPr>
            <a:picLocks noChangeAspect="1"/>
          </p:cNvPicPr>
          <p:nvPr/>
        </p:nvPicPr>
        <p:blipFill rotWithShape="1">
          <a:blip r:embed="rId2">
            <a:extLst>
              <a:ext uri="{28A0092B-C50C-407E-A947-70E740481C1C}">
                <a14:useLocalDpi xmlns:a14="http://schemas.microsoft.com/office/drawing/2010/main" val="0"/>
              </a:ext>
            </a:extLst>
          </a:blip>
          <a:srcRect l="2957" t="4133" r="3100" b="64577"/>
          <a:stretch/>
        </p:blipFill>
        <p:spPr>
          <a:xfrm>
            <a:off x="228600" y="3271836"/>
            <a:ext cx="7748953" cy="1874595"/>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8C47AF0E-6BBD-6B49-3E45-826AE17264F7}"/>
              </a:ext>
            </a:extLst>
          </p:cNvPr>
          <p:cNvPicPr>
            <a:picLocks noChangeAspect="1"/>
          </p:cNvPicPr>
          <p:nvPr/>
        </p:nvPicPr>
        <p:blipFill rotWithShape="1">
          <a:blip r:embed="rId3">
            <a:extLst>
              <a:ext uri="{28A0092B-C50C-407E-A947-70E740481C1C}">
                <a14:useLocalDpi xmlns:a14="http://schemas.microsoft.com/office/drawing/2010/main" val="0"/>
              </a:ext>
            </a:extLst>
          </a:blip>
          <a:srcRect l="25889" t="58767" r="9454" b="24568"/>
          <a:stretch/>
        </p:blipFill>
        <p:spPr>
          <a:xfrm>
            <a:off x="5035061" y="5566812"/>
            <a:ext cx="6318739" cy="1125417"/>
          </a:xfrm>
          <a:prstGeom prst="rect">
            <a:avLst/>
          </a:prstGeom>
        </p:spPr>
      </p:pic>
      <p:cxnSp>
        <p:nvCxnSpPr>
          <p:cNvPr id="12" name="Connector: Elbow 11">
            <a:extLst>
              <a:ext uri="{FF2B5EF4-FFF2-40B4-BE49-F238E27FC236}">
                <a16:creationId xmlns:a16="http://schemas.microsoft.com/office/drawing/2014/main" id="{59A281BA-00FD-AD09-49F8-DFCF60E3996A}"/>
              </a:ext>
            </a:extLst>
          </p:cNvPr>
          <p:cNvCxnSpPr/>
          <p:nvPr/>
        </p:nvCxnSpPr>
        <p:spPr>
          <a:xfrm rot="10800000">
            <a:off x="3528647" y="3763108"/>
            <a:ext cx="7432431" cy="1926798"/>
          </a:xfrm>
          <a:prstGeom prst="bentConnector3">
            <a:avLst>
              <a:gd name="adj1" fmla="val 0"/>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A33E02D9-3404-B636-83D6-A2D17F8ADD03}"/>
              </a:ext>
            </a:extLst>
          </p:cNvPr>
          <p:cNvCxnSpPr/>
          <p:nvPr/>
        </p:nvCxnSpPr>
        <p:spPr>
          <a:xfrm>
            <a:off x="3481754" y="3892062"/>
            <a:ext cx="2028092" cy="1674750"/>
          </a:xfrm>
          <a:prstGeom prst="bentConnector3">
            <a:avLst>
              <a:gd name="adj1" fmla="val 9971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9C416EE-570D-FA2A-6752-2517AF3B5E76}"/>
              </a:ext>
            </a:extLst>
          </p:cNvPr>
          <p:cNvSpPr txBox="1"/>
          <p:nvPr/>
        </p:nvSpPr>
        <p:spPr>
          <a:xfrm>
            <a:off x="5498123" y="4080176"/>
            <a:ext cx="4599002" cy="646331"/>
          </a:xfrm>
          <a:prstGeom prst="rect">
            <a:avLst/>
          </a:prstGeom>
          <a:noFill/>
        </p:spPr>
        <p:txBody>
          <a:bodyPr wrap="square" rtlCol="0">
            <a:spAutoFit/>
          </a:bodyPr>
          <a:lstStyle/>
          <a:p>
            <a:r>
              <a:rPr lang="en-GB" dirty="0">
                <a:solidFill>
                  <a:srgbClr val="FF0000"/>
                </a:solidFill>
              </a:rPr>
              <a:t>Execute the commends    in the </a:t>
            </a:r>
            <a:r>
              <a:rPr lang="en-GB" dirty="0" err="1">
                <a:solidFill>
                  <a:srgbClr val="FF0000"/>
                </a:solidFill>
              </a:rPr>
              <a:t>Makefile</a:t>
            </a:r>
            <a:r>
              <a:rPr lang="en-GB" dirty="0">
                <a:solidFill>
                  <a:srgbClr val="FF0000"/>
                </a:solidFill>
              </a:rPr>
              <a:t> to build the project</a:t>
            </a:r>
          </a:p>
        </p:txBody>
      </p:sp>
      <p:sp>
        <p:nvSpPr>
          <p:cNvPr id="18" name="TextBox 17">
            <a:extLst>
              <a:ext uri="{FF2B5EF4-FFF2-40B4-BE49-F238E27FC236}">
                <a16:creationId xmlns:a16="http://schemas.microsoft.com/office/drawing/2014/main" id="{99AE0938-C524-6CF0-0BB9-562672C2C544}"/>
              </a:ext>
            </a:extLst>
          </p:cNvPr>
          <p:cNvSpPr txBox="1"/>
          <p:nvPr/>
        </p:nvSpPr>
        <p:spPr>
          <a:xfrm>
            <a:off x="2196299" y="5432966"/>
            <a:ext cx="3301824" cy="369332"/>
          </a:xfrm>
          <a:prstGeom prst="rect">
            <a:avLst/>
          </a:prstGeom>
          <a:noFill/>
        </p:spPr>
        <p:txBody>
          <a:bodyPr wrap="square" rtlCol="0">
            <a:spAutoFit/>
          </a:bodyPr>
          <a:lstStyle/>
          <a:p>
            <a:r>
              <a:rPr lang="en-GB" dirty="0">
                <a:solidFill>
                  <a:srgbClr val="FF0000"/>
                </a:solidFill>
              </a:rPr>
              <a:t>Execute the compiled program</a:t>
            </a:r>
          </a:p>
        </p:txBody>
      </p:sp>
      <p:cxnSp>
        <p:nvCxnSpPr>
          <p:cNvPr id="19" name="Connector: Elbow 18">
            <a:extLst>
              <a:ext uri="{FF2B5EF4-FFF2-40B4-BE49-F238E27FC236}">
                <a16:creationId xmlns:a16="http://schemas.microsoft.com/office/drawing/2014/main" id="{B0FE4DE5-6D82-2C1E-1553-2D62ADE866B2}"/>
              </a:ext>
            </a:extLst>
          </p:cNvPr>
          <p:cNvCxnSpPr>
            <a:cxnSpLocks/>
            <a:endCxn id="18" idx="0"/>
          </p:cNvCxnSpPr>
          <p:nvPr/>
        </p:nvCxnSpPr>
        <p:spPr>
          <a:xfrm rot="5400000">
            <a:off x="3332400" y="4918153"/>
            <a:ext cx="1029625" cy="1"/>
          </a:xfrm>
          <a:prstGeom prst="bent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43530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6C14-235C-CB31-F749-488E6B6D9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62095-F8D0-443B-284D-E0EBB80DC85A}"/>
              </a:ext>
            </a:extLst>
          </p:cNvPr>
          <p:cNvSpPr>
            <a:spLocks noGrp="1"/>
          </p:cNvSpPr>
          <p:nvPr>
            <p:ph type="title"/>
          </p:nvPr>
        </p:nvSpPr>
        <p:spPr>
          <a:xfrm>
            <a:off x="838200" y="2766218"/>
            <a:ext cx="10515600" cy="1325563"/>
          </a:xfrm>
        </p:spPr>
        <p:txBody>
          <a:bodyPr>
            <a:normAutofit/>
          </a:bodyPr>
          <a:lstStyle/>
          <a:p>
            <a:pPr algn="ctr"/>
            <a:r>
              <a:rPr lang="en-US" b="1" dirty="0"/>
              <a:t>Thank you for listening </a:t>
            </a:r>
          </a:p>
        </p:txBody>
      </p:sp>
    </p:spTree>
    <p:extLst>
      <p:ext uri="{BB962C8B-B14F-4D97-AF65-F5344CB8AC3E}">
        <p14:creationId xmlns:p14="http://schemas.microsoft.com/office/powerpoint/2010/main" val="2448488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6805</TotalTime>
  <Words>5591</Words>
  <Application>Microsoft Office PowerPoint</Application>
  <PresentationFormat>Widescreen</PresentationFormat>
  <Paragraphs>418</Paragraphs>
  <Slides>51</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Aptos</vt:lpstr>
      <vt:lpstr>Aptos Display</vt:lpstr>
      <vt:lpstr>Arial</vt:lpstr>
      <vt:lpstr>Calibri</vt:lpstr>
      <vt:lpstr>Minion-Regular</vt:lpstr>
      <vt:lpstr>Times New Roman</vt:lpstr>
      <vt:lpstr>ZztexMono-Regular</vt:lpstr>
      <vt:lpstr>Office Theme</vt:lpstr>
      <vt:lpstr>Lecture 4: Input/Output and Program Management</vt:lpstr>
      <vt:lpstr>Outline:</vt:lpstr>
      <vt:lpstr>Introduction to I/O in C Programming</vt:lpstr>
      <vt:lpstr>Understanding Streams</vt:lpstr>
      <vt:lpstr>Understanding Streams</vt:lpstr>
      <vt:lpstr>Example 1: Understanding Streams</vt:lpstr>
      <vt:lpstr>Establishing I/O Connections in C</vt:lpstr>
      <vt:lpstr>Establishing I/O Connections in C</vt:lpstr>
      <vt:lpstr>Establishing I/O Connections in C</vt:lpstr>
      <vt:lpstr>Example 2: I/O Connections</vt:lpstr>
      <vt:lpstr>Example 2: I/O Connections</vt:lpstr>
      <vt:lpstr>Example 2: Explanation</vt:lpstr>
      <vt:lpstr>Example 2: Explanation</vt:lpstr>
      <vt:lpstr>Example 3: I/O Connections</vt:lpstr>
      <vt:lpstr>Transporting Bytes Using fscanf() and fprintf()</vt:lpstr>
      <vt:lpstr>Transporting Bytes Using fscanf() and fprintf()</vt:lpstr>
      <vt:lpstr>Example 4: fscanf() and fprintf()</vt:lpstr>
      <vt:lpstr>Example 4: fscanf() and fprintf()</vt:lpstr>
      <vt:lpstr>Example 4: Explanation</vt:lpstr>
      <vt:lpstr>Example 4: Explanation</vt:lpstr>
      <vt:lpstr>Generic Byte Transfer with fread() and fwrite()</vt:lpstr>
      <vt:lpstr>Example5: Generic Byte Transfer with fread() and fwrite()</vt:lpstr>
      <vt:lpstr>Error Handling in I/O Operations</vt:lpstr>
      <vt:lpstr>System I/O Functions in C</vt:lpstr>
      <vt:lpstr>Example 6: System I/O Functions </vt:lpstr>
      <vt:lpstr>Example 6: System I/O Functions </vt:lpstr>
      <vt:lpstr>Example 6: Explanation</vt:lpstr>
      <vt:lpstr>Example 6: Explanation</vt:lpstr>
      <vt:lpstr>High-Level I/O Functions vs. Low-Level System I/O Functions </vt:lpstr>
      <vt:lpstr>High-Level I/O Functions vs. Low-Level System I/O Functions </vt:lpstr>
      <vt:lpstr>Buffering</vt:lpstr>
      <vt:lpstr>Buffering: fflush() Function</vt:lpstr>
      <vt:lpstr>Example 7: fflush() Function</vt:lpstr>
      <vt:lpstr>Buffering: fflush() Function</vt:lpstr>
      <vt:lpstr>Example 8: Communication Between Parent and Child Process Using a Pipe</vt:lpstr>
      <vt:lpstr>Example 8: Explanation</vt:lpstr>
      <vt:lpstr>Example 8: Explanation</vt:lpstr>
      <vt:lpstr>Program Management from Code to Program</vt:lpstr>
      <vt:lpstr>Program Management from Code to Program</vt:lpstr>
      <vt:lpstr>Object Files</vt:lpstr>
      <vt:lpstr>The Role of Linking</vt:lpstr>
      <vt:lpstr>Example 9: Object Files and Linking</vt:lpstr>
      <vt:lpstr>Why Care About Object Files and Linking</vt:lpstr>
      <vt:lpstr>Makefiles</vt:lpstr>
      <vt:lpstr>Makefiles</vt:lpstr>
      <vt:lpstr>Makefiles</vt:lpstr>
      <vt:lpstr>Steps to Create a Makefile</vt:lpstr>
      <vt:lpstr>Steps to Create a Makefile</vt:lpstr>
      <vt:lpstr>Steps to Create a Makefile</vt:lpstr>
      <vt:lpstr>Steps to Create a Makefile</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Programming with C  </dc:title>
  <dc:creator>Amir  Yavariabdi</dc:creator>
  <cp:lastModifiedBy>Amir  Yavariabdi</cp:lastModifiedBy>
  <cp:revision>120</cp:revision>
  <dcterms:created xsi:type="dcterms:W3CDTF">2024-07-12T15:28:22Z</dcterms:created>
  <dcterms:modified xsi:type="dcterms:W3CDTF">2024-08-31T12:51:19Z</dcterms:modified>
</cp:coreProperties>
</file>