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429" r:id="rId3"/>
    <p:sldId id="475" r:id="rId4"/>
    <p:sldId id="476" r:id="rId5"/>
    <p:sldId id="478" r:id="rId6"/>
    <p:sldId id="477" r:id="rId7"/>
    <p:sldId id="485" r:id="rId8"/>
    <p:sldId id="479" r:id="rId9"/>
    <p:sldId id="480" r:id="rId10"/>
    <p:sldId id="481" r:id="rId11"/>
    <p:sldId id="482" r:id="rId12"/>
    <p:sldId id="483" r:id="rId13"/>
    <p:sldId id="486" r:id="rId14"/>
    <p:sldId id="487" r:id="rId15"/>
    <p:sldId id="488" r:id="rId16"/>
    <p:sldId id="489" r:id="rId17"/>
    <p:sldId id="490" r:id="rId18"/>
    <p:sldId id="491" r:id="rId19"/>
    <p:sldId id="492" r:id="rId20"/>
    <p:sldId id="493" r:id="rId21"/>
    <p:sldId id="494" r:id="rId22"/>
    <p:sldId id="497" r:id="rId23"/>
    <p:sldId id="495" r:id="rId24"/>
    <p:sldId id="499" r:id="rId25"/>
    <p:sldId id="496" r:id="rId26"/>
    <p:sldId id="471" r:id="rId27"/>
    <p:sldId id="501" r:id="rId28"/>
    <p:sldId id="502" r:id="rId29"/>
    <p:sldId id="503" r:id="rId30"/>
    <p:sldId id="472" r:id="rId31"/>
    <p:sldId id="474" r:id="rId32"/>
    <p:sldId id="504" r:id="rId33"/>
    <p:sldId id="505" r:id="rId34"/>
    <p:sldId id="506" r:id="rId35"/>
    <p:sldId id="507" r:id="rId36"/>
    <p:sldId id="509" r:id="rId37"/>
    <p:sldId id="510" r:id="rId38"/>
    <p:sldId id="511" r:id="rId39"/>
    <p:sldId id="512" r:id="rId40"/>
    <p:sldId id="513" r:id="rId41"/>
    <p:sldId id="514" r:id="rId42"/>
    <p:sldId id="515" r:id="rId43"/>
    <p:sldId id="516" r:id="rId44"/>
    <p:sldId id="517" r:id="rId45"/>
    <p:sldId id="518" r:id="rId46"/>
    <p:sldId id="519" r:id="rId47"/>
    <p:sldId id="520" r:id="rId48"/>
    <p:sldId id="522" r:id="rId49"/>
    <p:sldId id="521" r:id="rId50"/>
    <p:sldId id="523" r:id="rId51"/>
    <p:sldId id="524" r:id="rId52"/>
    <p:sldId id="525" r:id="rId53"/>
    <p:sldId id="526" r:id="rId54"/>
    <p:sldId id="420" r:id="rId5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autoAdjust="0"/>
    <p:restoredTop sz="94660"/>
  </p:normalViewPr>
  <p:slideViewPr>
    <p:cSldViewPr snapToGrid="0">
      <p:cViewPr varScale="1">
        <p:scale>
          <a:sx n="154" d="100"/>
          <a:sy n="154" d="100"/>
        </p:scale>
        <p:origin x="271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F4E199-04CC-48E8-99A0-31C124D1AF1B}" type="datetimeFigureOut">
              <a:rPr lang="en-GB" smtClean="0"/>
              <a:t>31/08/2024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291CC-A73C-4AD1-B614-7C2250A1126E}" type="slidenum">
              <a:rPr lang="en-GB" smtClean="0"/>
              <a:t>‹#›</a:t>
            </a:fld>
            <a:endParaRPr lang="en-GB"/>
          </a:p>
        </p:txBody>
      </p:sp>
    </p:spTree>
    <p:extLst>
      <p:ext uri="{BB962C8B-B14F-4D97-AF65-F5344CB8AC3E}">
        <p14:creationId xmlns:p14="http://schemas.microsoft.com/office/powerpoint/2010/main" val="3835734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A8291CC-A73C-4AD1-B614-7C2250A1126E}" type="slidenum">
              <a:rPr lang="en-GB" smtClean="0"/>
              <a:t>23</a:t>
            </a:fld>
            <a:endParaRPr lang="en-GB"/>
          </a:p>
        </p:txBody>
      </p:sp>
    </p:spTree>
    <p:extLst>
      <p:ext uri="{BB962C8B-B14F-4D97-AF65-F5344CB8AC3E}">
        <p14:creationId xmlns:p14="http://schemas.microsoft.com/office/powerpoint/2010/main" val="3508103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26</a:t>
            </a:fld>
            <a:endParaRPr lang="en-US"/>
          </a:p>
        </p:txBody>
      </p:sp>
    </p:spTree>
    <p:extLst>
      <p:ext uri="{BB962C8B-B14F-4D97-AF65-F5344CB8AC3E}">
        <p14:creationId xmlns:p14="http://schemas.microsoft.com/office/powerpoint/2010/main" val="1039655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8368-B31E-CCF3-6EBE-F69CDA6C4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0A17EC8-D3DB-97B1-CBDF-5D5E9BFD6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5CA4377-ABF3-8399-43F4-CBF11E53151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A28AF15B-637A-37B4-7688-7590FE856E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F65C4E-A1D6-8726-B8F2-F63E4589D91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513020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3D3B-CC06-6D6F-995C-28DC5FEF915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CA1CB01-ED7C-448D-3524-8AACEB03A2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576B95-E971-36DD-ABDF-1D64263B9C8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DDA8A084-7BF4-1CFF-CF83-BAE171C773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A9FBD-D43C-3203-42C4-634D4E0D5B25}"/>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159020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36C4-1EB4-E62D-0239-A35CD7BDD9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E28393F-F949-C102-2EC7-75880E7231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30F856-BCE1-9F32-4FE7-9C68A21BF3B9}"/>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02CA59D0-267F-5F00-4109-7D7718C965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8D5907-7B55-4612-CD1E-D4E6EDD9567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75990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19929-7FE8-07AA-6363-1C70BD823D3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45923A-085E-D2BC-1316-D49BAFF52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140070B-2864-1704-4A98-C137180ACF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5D2E3C3-B254-3E63-EA1D-28432CEC3E48}"/>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A3697CBB-42F7-837E-9590-7991F894014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B42BF4-49B2-62D8-9EC5-579305D4532B}"/>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640078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43B3-2BB3-10ED-1420-1061EADCFA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C7E0B60-893B-36F9-86B2-1D4B62FC07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444519-4CDA-9D1F-4824-A8AC9611C6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4173B01-9BD9-DDBA-197E-52C210FC99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9B13D-AB27-D4A6-4E1E-A70507B3E1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D1D70A0-9B4B-E991-E711-289FC87F1BC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8" name="Footer Placeholder 7">
            <a:extLst>
              <a:ext uri="{FF2B5EF4-FFF2-40B4-BE49-F238E27FC236}">
                <a16:creationId xmlns:a16="http://schemas.microsoft.com/office/drawing/2014/main" id="{467511C9-6A84-A9F0-6CC9-D998478194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F160A1-5409-1442-9473-3B7B4CFBBED0}"/>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11690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0A34-CE5C-4DF1-3808-F84428A481E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E1B820D-78B3-40E4-8A59-8C791CD3687C}"/>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4" name="Footer Placeholder 3">
            <a:extLst>
              <a:ext uri="{FF2B5EF4-FFF2-40B4-BE49-F238E27FC236}">
                <a16:creationId xmlns:a16="http://schemas.microsoft.com/office/drawing/2014/main" id="{E51B0147-9B88-9A7D-1906-35A93461308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8CFE370-409E-4A20-6F9C-06EB4C95E8B2}"/>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35173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9F2EC-C3AD-BCC1-0F39-B5B771413CA0}"/>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3" name="Footer Placeholder 2">
            <a:extLst>
              <a:ext uri="{FF2B5EF4-FFF2-40B4-BE49-F238E27FC236}">
                <a16:creationId xmlns:a16="http://schemas.microsoft.com/office/drawing/2014/main" id="{AFC72AA2-9A6B-6C28-B222-3B85AD17FE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B0F743-87AD-B4C4-1788-84F660BE874F}"/>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201011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937D-8E66-BF14-D850-F64271EDAD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30E9AFD-7119-A492-9238-D51436F19D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EAB28-DA13-6DC2-6862-E07EBA1BA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BAC759-F7D6-7776-6001-BC0001884CD7}"/>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EB8B2BB6-EEF5-593C-4DE3-02C22FA2657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100D5D2-A28E-BA6E-BEC9-8944848F7DBC}"/>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490916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0853-5ACD-28F1-941A-DE84D9E0E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772948A-3172-609D-3F6F-B427B1E418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368962-DB8A-B23D-EC96-CD1DF0F0E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99956-5B23-E583-B979-76BF9434FBCA}"/>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6" name="Footer Placeholder 5">
            <a:extLst>
              <a:ext uri="{FF2B5EF4-FFF2-40B4-BE49-F238E27FC236}">
                <a16:creationId xmlns:a16="http://schemas.microsoft.com/office/drawing/2014/main" id="{0452074F-7BF7-8C9C-2470-EEC5EA2DF9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00B982-8317-791F-628B-112A33893C2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403347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3E66-087B-7D5A-E5B9-98DB65BC48E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E8F9538-687F-D251-F3A4-0E26F3C42F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2F8BFD-BBC7-53D9-123D-9A267873BAD2}"/>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25D37EC0-1C4A-5718-0B00-9FB0EBB391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9DA87E-C299-2A29-2E9B-B1C1B722968A}"/>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847773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9CB12-EA03-8555-1536-5726881F3D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E56447-2D84-9C16-93D9-4894E920FB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F91E81-E963-1258-9E2F-F43E09D5A28F}"/>
              </a:ext>
            </a:extLst>
          </p:cNvPr>
          <p:cNvSpPr>
            <a:spLocks noGrp="1"/>
          </p:cNvSpPr>
          <p:nvPr>
            <p:ph type="dt" sz="half" idx="10"/>
          </p:nvPr>
        </p:nvSpPr>
        <p:spPr/>
        <p:txBody>
          <a:body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95D6C1C-4E72-29F3-B562-AF479D78D8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85CD84-E612-4FEA-F381-31FA2613E4F3}"/>
              </a:ext>
            </a:extLst>
          </p:cNvPr>
          <p:cNvSpPr>
            <a:spLocks noGrp="1"/>
          </p:cNvSpPr>
          <p:nvPr>
            <p:ph type="sldNum" sz="quarter" idx="12"/>
          </p:nvPr>
        </p:nvSpPr>
        <p:spPr/>
        <p:txBody>
          <a:bodyPr/>
          <a:lstStyle/>
          <a:p>
            <a:fld id="{C0A587D8-0FD9-4FA3-8619-3C8C78E80720}" type="slidenum">
              <a:rPr lang="en-GB" smtClean="0"/>
              <a:t>‹#›</a:t>
            </a:fld>
            <a:endParaRPr lang="en-GB"/>
          </a:p>
        </p:txBody>
      </p:sp>
    </p:spTree>
    <p:extLst>
      <p:ext uri="{BB962C8B-B14F-4D97-AF65-F5344CB8AC3E}">
        <p14:creationId xmlns:p14="http://schemas.microsoft.com/office/powerpoint/2010/main" val="107964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2C3BED-CF1A-FD36-5F2C-22BB242859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276FE4-91EF-2D9D-369B-22B7B0CDD2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21E41A-C3A0-CF89-7631-BF6143D80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76AB05-0434-4290-ABB5-7283183F797D}" type="datetimeFigureOut">
              <a:rPr lang="en-GB" smtClean="0"/>
              <a:t>31/08/2024</a:t>
            </a:fld>
            <a:endParaRPr lang="en-GB"/>
          </a:p>
        </p:txBody>
      </p:sp>
      <p:sp>
        <p:nvSpPr>
          <p:cNvPr id="5" name="Footer Placeholder 4">
            <a:extLst>
              <a:ext uri="{FF2B5EF4-FFF2-40B4-BE49-F238E27FC236}">
                <a16:creationId xmlns:a16="http://schemas.microsoft.com/office/drawing/2014/main" id="{301F07D8-9DFA-0A79-BCF1-B91A556139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23B8BB5-5DAA-1AC8-9D67-058C73D7F3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A587D8-0FD9-4FA3-8619-3C8C78E80720}" type="slidenum">
              <a:rPr lang="en-GB" smtClean="0"/>
              <a:t>‹#›</a:t>
            </a:fld>
            <a:endParaRPr lang="en-GB"/>
          </a:p>
        </p:txBody>
      </p:sp>
    </p:spTree>
    <p:extLst>
      <p:ext uri="{BB962C8B-B14F-4D97-AF65-F5344CB8AC3E}">
        <p14:creationId xmlns:p14="http://schemas.microsoft.com/office/powerpoint/2010/main" val="399211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3948" y="2020279"/>
            <a:ext cx="6595183" cy="2817438"/>
          </a:xfrm>
          <a:prstGeom prst="rect">
            <a:avLst/>
          </a:prstGeom>
        </p:spPr>
        <p:txBody>
          <a:bodyPr vert="horz" wrap="square" lIns="0" tIns="97790" rIns="0" bIns="0" rtlCol="0" anchor="ctr">
            <a:spAutoFit/>
          </a:bodyPr>
          <a:lstStyle/>
          <a:p>
            <a:pPr marL="12700" marR="5080">
              <a:lnSpc>
                <a:spcPts val="5290"/>
              </a:lnSpc>
              <a:spcBef>
                <a:spcPts val="770"/>
              </a:spcBef>
            </a:pPr>
            <a:r>
              <a:rPr lang="en-US" sz="4900" spc="-10" dirty="0">
                <a:latin typeface="Calibri"/>
                <a:cs typeface="Calibri"/>
              </a:rPr>
              <a:t>Lecture 2: Fundamentals of C Programming: Loops, Flow Control, Data Types, and Arrays,</a:t>
            </a:r>
            <a:endParaRPr lang="en-US" sz="4900" dirty="0">
              <a:latin typeface="Times New Roman"/>
              <a:cs typeface="Times New Roman"/>
            </a:endParaRPr>
          </a:p>
        </p:txBody>
      </p:sp>
      <p:sp>
        <p:nvSpPr>
          <p:cNvPr id="3" name="object 3"/>
          <p:cNvSpPr txBox="1"/>
          <p:nvPr/>
        </p:nvSpPr>
        <p:spPr>
          <a:xfrm>
            <a:off x="5493948" y="5264148"/>
            <a:ext cx="4125595" cy="591187"/>
          </a:xfrm>
          <a:prstGeom prst="rect">
            <a:avLst/>
          </a:prstGeom>
        </p:spPr>
        <p:txBody>
          <a:bodyPr vert="horz" wrap="square" lIns="0" tIns="97790" rIns="0" bIns="0" rtlCol="0">
            <a:spAutoFit/>
          </a:bodyPr>
          <a:lstStyle/>
          <a:p>
            <a:pPr marL="12700">
              <a:spcBef>
                <a:spcPts val="439"/>
              </a:spcBef>
            </a:pPr>
            <a:r>
              <a:rPr sz="3200" spc="-120" dirty="0">
                <a:solidFill>
                  <a:srgbClr val="888888"/>
                </a:solidFill>
                <a:latin typeface="Calibri"/>
                <a:cs typeface="Calibri"/>
              </a:rPr>
              <a:t>Dr.</a:t>
            </a:r>
            <a:r>
              <a:rPr sz="3200" spc="-80" dirty="0">
                <a:solidFill>
                  <a:srgbClr val="888888"/>
                </a:solidFill>
                <a:latin typeface="Times New Roman"/>
                <a:cs typeface="Times New Roman"/>
              </a:rPr>
              <a:t> </a:t>
            </a:r>
            <a:r>
              <a:rPr lang="en-US" sz="3200" dirty="0">
                <a:solidFill>
                  <a:srgbClr val="888888"/>
                </a:solidFill>
                <a:latin typeface="Calibri"/>
                <a:cs typeface="Calibri"/>
              </a:rPr>
              <a:t>Amir Yavariabdi</a:t>
            </a:r>
            <a:endParaRPr sz="3200" dirty="0">
              <a:latin typeface="Calibri"/>
              <a:cs typeface="Calibri"/>
            </a:endParaRPr>
          </a:p>
        </p:txBody>
      </p:sp>
      <p:pic>
        <p:nvPicPr>
          <p:cNvPr id="4" name="object 4"/>
          <p:cNvPicPr/>
          <p:nvPr/>
        </p:nvPicPr>
        <p:blipFill>
          <a:blip r:embed="rId2" cstate="print"/>
          <a:stretch>
            <a:fillRect/>
          </a:stretch>
        </p:blipFill>
        <p:spPr>
          <a:xfrm>
            <a:off x="851180" y="1905381"/>
            <a:ext cx="3054857" cy="3047237"/>
          </a:xfrm>
          <a:prstGeom prst="rect">
            <a:avLst/>
          </a:prstGeom>
        </p:spPr>
      </p:pic>
      <p:sp>
        <p:nvSpPr>
          <p:cNvPr id="5" name="object 5"/>
          <p:cNvSpPr/>
          <p:nvPr/>
        </p:nvSpPr>
        <p:spPr>
          <a:xfrm>
            <a:off x="5493948" y="746759"/>
            <a:ext cx="843915" cy="847090"/>
          </a:xfrm>
          <a:custGeom>
            <a:avLst/>
            <a:gdLst/>
            <a:ahLst/>
            <a:cxnLst/>
            <a:rect l="l" t="t" r="r" b="b"/>
            <a:pathLst>
              <a:path w="843914" h="847090">
                <a:moveTo>
                  <a:pt x="143570" y="846582"/>
                </a:moveTo>
                <a:lnTo>
                  <a:pt x="112633" y="823366"/>
                </a:lnTo>
                <a:lnTo>
                  <a:pt x="4352" y="573100"/>
                </a:lnTo>
                <a:lnTo>
                  <a:pt x="0" y="549021"/>
                </a:lnTo>
                <a:lnTo>
                  <a:pt x="1088" y="536334"/>
                </a:lnTo>
                <a:lnTo>
                  <a:pt x="112633" y="274675"/>
                </a:lnTo>
                <a:lnTo>
                  <a:pt x="143570" y="251460"/>
                </a:lnTo>
                <a:lnTo>
                  <a:pt x="360143" y="251460"/>
                </a:lnTo>
                <a:lnTo>
                  <a:pt x="391080" y="274675"/>
                </a:lnTo>
                <a:lnTo>
                  <a:pt x="499360" y="524941"/>
                </a:lnTo>
                <a:lnTo>
                  <a:pt x="503227" y="549021"/>
                </a:lnTo>
                <a:lnTo>
                  <a:pt x="502261" y="561707"/>
                </a:lnTo>
                <a:lnTo>
                  <a:pt x="391080" y="823366"/>
                </a:lnTo>
                <a:lnTo>
                  <a:pt x="360143" y="846582"/>
                </a:lnTo>
                <a:lnTo>
                  <a:pt x="143570" y="846582"/>
                </a:lnTo>
                <a:close/>
              </a:path>
              <a:path w="843914" h="847090">
                <a:moveTo>
                  <a:pt x="549741" y="484632"/>
                </a:moveTo>
                <a:lnTo>
                  <a:pt x="436102" y="261924"/>
                </a:lnTo>
                <a:lnTo>
                  <a:pt x="432549" y="242316"/>
                </a:lnTo>
                <a:lnTo>
                  <a:pt x="433437" y="231985"/>
                </a:lnTo>
                <a:lnTo>
                  <a:pt x="524494" y="18910"/>
                </a:lnTo>
                <a:lnTo>
                  <a:pt x="549741" y="0"/>
                </a:lnTo>
                <a:lnTo>
                  <a:pt x="726513" y="0"/>
                </a:lnTo>
                <a:lnTo>
                  <a:pt x="840165" y="222707"/>
                </a:lnTo>
                <a:lnTo>
                  <a:pt x="843318" y="242316"/>
                </a:lnTo>
                <a:lnTo>
                  <a:pt x="842529" y="252646"/>
                </a:lnTo>
                <a:lnTo>
                  <a:pt x="751773" y="465721"/>
                </a:lnTo>
                <a:lnTo>
                  <a:pt x="726513" y="484632"/>
                </a:lnTo>
                <a:lnTo>
                  <a:pt x="549741" y="484632"/>
                </a:lnTo>
                <a:close/>
              </a:path>
            </a:pathLst>
          </a:custGeom>
          <a:ln w="28575">
            <a:solidFill>
              <a:srgbClr val="000000"/>
            </a:solidFill>
          </a:ln>
        </p:spPr>
        <p:txBody>
          <a:bodyPr wrap="square" lIns="0" tIns="0" rIns="0" bIns="0" rtlCol="0"/>
          <a:lstStyle/>
          <a:p>
            <a:endParaRPr/>
          </a:p>
        </p:txBody>
      </p:sp>
      <p:sp>
        <p:nvSpPr>
          <p:cNvPr id="7" name="object 7"/>
          <p:cNvSpPr txBox="1"/>
          <p:nvPr/>
        </p:nvSpPr>
        <p:spPr>
          <a:xfrm>
            <a:off x="10038245" y="6195312"/>
            <a:ext cx="102870" cy="197490"/>
          </a:xfrm>
          <a:prstGeom prst="rect">
            <a:avLst/>
          </a:prstGeom>
        </p:spPr>
        <p:txBody>
          <a:bodyPr vert="horz" wrap="square" lIns="0" tIns="12700" rIns="0" bIns="0" rtlCol="0">
            <a:spAutoFit/>
          </a:bodyPr>
          <a:lstStyle/>
          <a:p>
            <a:pPr marL="12700">
              <a:spcBef>
                <a:spcPts val="100"/>
              </a:spcBef>
            </a:pPr>
            <a:r>
              <a:rPr sz="1200" spc="-50" dirty="0">
                <a:solidFill>
                  <a:srgbClr val="FFFFFF"/>
                </a:solidFill>
                <a:latin typeface="Calibri"/>
                <a:cs typeface="Calibri"/>
              </a:rPr>
              <a:t>1</a:t>
            </a:r>
            <a:endParaRPr sz="1200">
              <a:latin typeface="Calibri"/>
              <a:cs typeface="Calibri"/>
            </a:endParaRPr>
          </a:p>
        </p:txBody>
      </p:sp>
      <p:sp>
        <p:nvSpPr>
          <p:cNvPr id="6" name="object 3">
            <a:extLst>
              <a:ext uri="{FF2B5EF4-FFF2-40B4-BE49-F238E27FC236}">
                <a16:creationId xmlns:a16="http://schemas.microsoft.com/office/drawing/2014/main" id="{9E363249-E6F3-9319-3532-431A26DB72F0}"/>
              </a:ext>
            </a:extLst>
          </p:cNvPr>
          <p:cNvSpPr txBox="1"/>
          <p:nvPr/>
        </p:nvSpPr>
        <p:spPr>
          <a:xfrm>
            <a:off x="5493948" y="6195312"/>
            <a:ext cx="4125595" cy="375744"/>
          </a:xfrm>
          <a:prstGeom prst="rect">
            <a:avLst/>
          </a:prstGeom>
        </p:spPr>
        <p:txBody>
          <a:bodyPr vert="horz" wrap="square" lIns="0" tIns="97790" rIns="0" bIns="0" rtlCol="0">
            <a:spAutoFit/>
          </a:bodyPr>
          <a:lstStyle/>
          <a:p>
            <a:pPr marL="12700">
              <a:spcBef>
                <a:spcPts val="439"/>
              </a:spcBef>
            </a:pPr>
            <a:r>
              <a:rPr lang="en-US" spc="-120" dirty="0">
                <a:solidFill>
                  <a:srgbClr val="888888"/>
                </a:solidFill>
                <a:latin typeface="Calibri"/>
                <a:cs typeface="Calibri"/>
              </a:rPr>
              <a:t>amir.yavariabdi@bth.se</a:t>
            </a:r>
            <a:endParaRPr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75C1-1794-5405-0B6E-952517360EF5}"/>
              </a:ext>
            </a:extLst>
          </p:cNvPr>
          <p:cNvSpPr>
            <a:spLocks noGrp="1"/>
          </p:cNvSpPr>
          <p:nvPr>
            <p:ph type="title"/>
          </p:nvPr>
        </p:nvSpPr>
        <p:spPr/>
        <p:txBody>
          <a:bodyPr/>
          <a:lstStyle/>
          <a:p>
            <a:r>
              <a:rPr lang="en-GB" b="1" dirty="0"/>
              <a:t>Outline:</a:t>
            </a:r>
          </a:p>
        </p:txBody>
      </p:sp>
      <p:sp>
        <p:nvSpPr>
          <p:cNvPr id="3" name="Content Placeholder 2">
            <a:extLst>
              <a:ext uri="{FF2B5EF4-FFF2-40B4-BE49-F238E27FC236}">
                <a16:creationId xmlns:a16="http://schemas.microsoft.com/office/drawing/2014/main" id="{23F826C2-6788-3302-BDA3-FBF3E2E0B500}"/>
              </a:ext>
            </a:extLst>
          </p:cNvPr>
          <p:cNvSpPr>
            <a:spLocks noGrp="1"/>
          </p:cNvSpPr>
          <p:nvPr>
            <p:ph idx="1"/>
          </p:nvPr>
        </p:nvSpPr>
        <p:spPr/>
        <p:txBody>
          <a:bodyPr>
            <a:normAutofit/>
          </a:bodyPr>
          <a:lstStyle/>
          <a:p>
            <a:pPr algn="just" fontAlgn="base"/>
            <a:r>
              <a:rPr lang="en-US" sz="2400" dirty="0">
                <a:solidFill>
                  <a:srgbClr val="000000"/>
                </a:solidFill>
                <a:highlight>
                  <a:srgbClr val="FFFFFF"/>
                </a:highlight>
                <a:latin typeface="Aptos" panose="020B0004020202020204" pitchFamily="34" charset="0"/>
              </a:rPr>
              <a:t>Loops in C </a:t>
            </a:r>
          </a:p>
          <a:p>
            <a:pPr algn="just" fontAlgn="base"/>
            <a:r>
              <a:rPr lang="en-US" sz="2400" dirty="0">
                <a:solidFill>
                  <a:srgbClr val="000000"/>
                </a:solidFill>
                <a:highlight>
                  <a:srgbClr val="FFFFFF"/>
                </a:highlight>
                <a:latin typeface="Aptos" panose="020B0004020202020204" pitchFamily="34" charset="0"/>
              </a:rPr>
              <a:t>Flow control statements (break, continue) </a:t>
            </a:r>
          </a:p>
          <a:p>
            <a:pPr algn="just" fontAlgn="base"/>
            <a:r>
              <a:rPr lang="en-US" sz="2400" dirty="0">
                <a:solidFill>
                  <a:srgbClr val="000000"/>
                </a:solidFill>
                <a:highlight>
                  <a:srgbClr val="FFFFFF"/>
                </a:highlight>
                <a:latin typeface="Aptos" panose="020B0004020202020204" pitchFamily="34" charset="0"/>
              </a:rPr>
              <a:t>Understanding Bitwise Operators in C</a:t>
            </a:r>
          </a:p>
          <a:p>
            <a:pPr algn="just" fontAlgn="base"/>
            <a:r>
              <a:rPr lang="en-US" sz="2400" dirty="0">
                <a:solidFill>
                  <a:srgbClr val="000000"/>
                </a:solidFill>
                <a:highlight>
                  <a:srgbClr val="FFFFFF"/>
                </a:highlight>
                <a:latin typeface="Aptos" panose="020B0004020202020204" pitchFamily="34" charset="0"/>
              </a:rPr>
              <a:t>Arrays and Multidimensional Arrays</a:t>
            </a:r>
            <a:endParaRPr lang="en-GB" sz="2400" dirty="0">
              <a:solidFill>
                <a:srgbClr val="000000"/>
              </a:solidFill>
              <a:highlight>
                <a:srgbClr val="FFFFFF"/>
              </a:highlight>
              <a:latin typeface="Aptos" panose="020B0004020202020204" pitchFamily="34" charset="0"/>
            </a:endParaRPr>
          </a:p>
        </p:txBody>
      </p:sp>
    </p:spTree>
    <p:extLst>
      <p:ext uri="{BB962C8B-B14F-4D97-AF65-F5344CB8AC3E}">
        <p14:creationId xmlns:p14="http://schemas.microsoft.com/office/powerpoint/2010/main" val="231257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The while Repetition Statement</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Repetition structure</a:t>
            </a:r>
          </a:p>
          <a:p>
            <a:pPr lvl="1" algn="just"/>
            <a:r>
              <a:rPr lang="en-US" sz="2000" dirty="0">
                <a:latin typeface="Calibri" panose="020F0502020204030204" pitchFamily="34" charset="0"/>
                <a:cs typeface="Calibri" panose="020F0502020204030204" pitchFamily="34" charset="0"/>
              </a:rPr>
              <a:t>Programmer specifies an action to be repeated while some condition remains </a:t>
            </a:r>
            <a:r>
              <a:rPr lang="en-US" sz="2000" dirty="0">
                <a:solidFill>
                  <a:schemeClr val="accent6">
                    <a:lumMod val="75000"/>
                  </a:schemeClr>
                </a:solidFill>
                <a:latin typeface="Calibri" panose="020F0502020204030204" pitchFamily="34" charset="0"/>
                <a:cs typeface="Calibri" panose="020F0502020204030204" pitchFamily="34" charset="0"/>
              </a:rPr>
              <a:t>true</a:t>
            </a:r>
          </a:p>
          <a:p>
            <a:pPr lvl="1" algn="just"/>
            <a:r>
              <a:rPr lang="en-US" sz="2000" dirty="0">
                <a:latin typeface="Calibri" panose="020F0502020204030204" pitchFamily="34" charset="0"/>
                <a:cs typeface="Calibri" panose="020F0502020204030204" pitchFamily="34" charset="0"/>
              </a:rPr>
              <a:t>Pseudocode:</a:t>
            </a:r>
          </a:p>
          <a:p>
            <a:pPr marL="914400" lvl="2" indent="0" algn="just">
              <a:buNone/>
            </a:pPr>
            <a:r>
              <a:rPr lang="en-US" dirty="0">
                <a:solidFill>
                  <a:srgbClr val="00B0F0"/>
                </a:solidFill>
                <a:latin typeface="Calibri" panose="020F0502020204030204" pitchFamily="34" charset="0"/>
                <a:cs typeface="Calibri" panose="020F0502020204030204" pitchFamily="34" charset="0"/>
              </a:rPr>
              <a:t>While there are more items on my shopping list</a:t>
            </a:r>
          </a:p>
          <a:p>
            <a:pPr marL="1371600" lvl="3" indent="0" algn="just">
              <a:buNone/>
            </a:pPr>
            <a:r>
              <a:rPr lang="en-US" sz="2000" dirty="0">
                <a:solidFill>
                  <a:srgbClr val="00B0F0"/>
                </a:solidFill>
                <a:latin typeface="Calibri" panose="020F0502020204030204" pitchFamily="34" charset="0"/>
                <a:cs typeface="Calibri" panose="020F0502020204030204" pitchFamily="34" charset="0"/>
              </a:rPr>
              <a:t>Purchase next item and cross it off my list</a:t>
            </a:r>
          </a:p>
          <a:p>
            <a:pPr lvl="1" algn="just"/>
            <a:endParaRPr lang="en-US" sz="2000" dirty="0">
              <a:solidFill>
                <a:schemeClr val="accent6">
                  <a:lumMod val="75000"/>
                </a:schemeClr>
              </a:solidFill>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while loop repeated until condition becomes false</a:t>
            </a:r>
          </a:p>
          <a:p>
            <a:pPr lvl="1" algn="just"/>
            <a:r>
              <a:rPr lang="en-US" sz="2000" dirty="0">
                <a:latin typeface="Calibri" panose="020F0502020204030204" pitchFamily="34" charset="0"/>
                <a:cs typeface="Calibri" panose="020F0502020204030204" pitchFamily="34" charset="0"/>
              </a:rPr>
              <a:t>Example:</a:t>
            </a:r>
          </a:p>
          <a:p>
            <a:pPr marL="914400" lvl="2" indent="0" algn="just">
              <a:buNone/>
            </a:pPr>
            <a:r>
              <a:rPr lang="en-US" dirty="0">
                <a:solidFill>
                  <a:srgbClr val="00B0F0"/>
                </a:solidFill>
                <a:latin typeface="Calibri" panose="020F0502020204030204" pitchFamily="34" charset="0"/>
                <a:cs typeface="Calibri" panose="020F0502020204030204" pitchFamily="34" charset="0"/>
              </a:rPr>
              <a:t>int product = 2;</a:t>
            </a:r>
          </a:p>
          <a:p>
            <a:pPr marL="914400" lvl="2" indent="0" algn="just">
              <a:buNone/>
            </a:pPr>
            <a:r>
              <a:rPr lang="en-US" dirty="0">
                <a:solidFill>
                  <a:srgbClr val="00B0F0"/>
                </a:solidFill>
                <a:latin typeface="Calibri" panose="020F0502020204030204" pitchFamily="34" charset="0"/>
                <a:cs typeface="Calibri" panose="020F0502020204030204" pitchFamily="34" charset="0"/>
              </a:rPr>
              <a:t>while ( product &lt;= 1000 )</a:t>
            </a:r>
          </a:p>
          <a:p>
            <a:pPr marL="1371600" lvl="3" indent="0" algn="just">
              <a:buNone/>
            </a:pPr>
            <a:r>
              <a:rPr lang="en-US" sz="2000" dirty="0">
                <a:solidFill>
                  <a:srgbClr val="00B0F0"/>
                </a:solidFill>
                <a:latin typeface="Calibri" panose="020F0502020204030204" pitchFamily="34" charset="0"/>
                <a:cs typeface="Calibri" panose="020F0502020204030204" pitchFamily="34" charset="0"/>
              </a:rPr>
              <a:t>product = 2 * product;</a:t>
            </a:r>
            <a:endParaRPr lang="en-GB" sz="2000" dirty="0">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9979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 while Loop</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rmAutofit/>
          </a:bodyPr>
          <a:lstStyle/>
          <a:p>
            <a:pPr algn="just"/>
            <a:r>
              <a:rPr lang="en-US" sz="2200" dirty="0">
                <a:latin typeface="Calibri" panose="020F0502020204030204" pitchFamily="34" charset="0"/>
                <a:cs typeface="Calibri" panose="020F0502020204030204" pitchFamily="34" charset="0"/>
              </a:rPr>
              <a:t>A class of 10 students took a quiz. The grades (integers in the range 0 to 100) for this quiz are available to you. Determine the class average on the quiz.</a:t>
            </a:r>
            <a:endParaRPr lang="en-GB" sz="2200" dirty="0">
              <a:latin typeface="Calibri" panose="020F0502020204030204" pitchFamily="34" charset="0"/>
              <a:cs typeface="Calibri" panose="020F0502020204030204" pitchFamily="34" charset="0"/>
            </a:endParaRPr>
          </a:p>
        </p:txBody>
      </p:sp>
      <p:pic>
        <p:nvPicPr>
          <p:cNvPr id="5" name="Picture 4" descr="A screenshot of a computer&#10;&#10;Description automatically generated">
            <a:extLst>
              <a:ext uri="{FF2B5EF4-FFF2-40B4-BE49-F238E27FC236}">
                <a16:creationId xmlns:a16="http://schemas.microsoft.com/office/drawing/2014/main" id="{6D3FF313-8507-0131-F01A-5B8DDB8105A6}"/>
              </a:ext>
            </a:extLst>
          </p:cNvPr>
          <p:cNvPicPr>
            <a:picLocks noChangeAspect="1"/>
          </p:cNvPicPr>
          <p:nvPr/>
        </p:nvPicPr>
        <p:blipFill rotWithShape="1">
          <a:blip r:embed="rId2">
            <a:extLst>
              <a:ext uri="{28A0092B-C50C-407E-A947-70E740481C1C}">
                <a14:useLocalDpi xmlns:a14="http://schemas.microsoft.com/office/drawing/2010/main" val="0"/>
              </a:ext>
            </a:extLst>
          </a:blip>
          <a:srcRect l="6600" t="8048" r="13787" b="28503"/>
          <a:stretch/>
        </p:blipFill>
        <p:spPr>
          <a:xfrm>
            <a:off x="6532783" y="889685"/>
            <a:ext cx="5593314" cy="512927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11D59AC-76CE-EEAA-20F7-7ECFDEFF3485}"/>
              </a:ext>
            </a:extLst>
          </p:cNvPr>
          <p:cNvPicPr>
            <a:picLocks noChangeAspect="1"/>
          </p:cNvPicPr>
          <p:nvPr/>
        </p:nvPicPr>
        <p:blipFill rotWithShape="1">
          <a:blip r:embed="rId3">
            <a:extLst>
              <a:ext uri="{28A0092B-C50C-407E-A947-70E740481C1C}">
                <a14:useLocalDpi xmlns:a14="http://schemas.microsoft.com/office/drawing/2010/main" val="0"/>
              </a:ext>
            </a:extLst>
          </a:blip>
          <a:srcRect t="4134" r="7933" b="35786"/>
          <a:stretch/>
        </p:blipFill>
        <p:spPr>
          <a:xfrm>
            <a:off x="172429" y="3863864"/>
            <a:ext cx="5546690" cy="2629011"/>
          </a:xfrm>
          <a:prstGeom prst="rect">
            <a:avLst/>
          </a:prstGeom>
        </p:spPr>
      </p:pic>
    </p:spTree>
    <p:extLst>
      <p:ext uri="{BB962C8B-B14F-4D97-AF65-F5344CB8AC3E}">
        <p14:creationId xmlns:p14="http://schemas.microsoft.com/office/powerpoint/2010/main" val="3332203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Declare and initialize variables sum to 0, count to 0, and a float average to store the final average.</a:t>
            </a:r>
          </a:p>
          <a:p>
            <a:pPr algn="just"/>
            <a:r>
              <a:rPr lang="en-US" sz="2200" dirty="0">
                <a:latin typeface="Calibri" panose="020F0502020204030204" pitchFamily="34" charset="0"/>
                <a:cs typeface="Calibri" panose="020F0502020204030204" pitchFamily="34" charset="0"/>
              </a:rPr>
              <a:t>Ask the user to enter the grades for each student within the range of 0 to 100.</a:t>
            </a:r>
          </a:p>
          <a:p>
            <a:pPr algn="just"/>
            <a:r>
              <a:rPr lang="en-US" sz="2200" dirty="0">
                <a:latin typeface="Calibri" panose="020F0502020204030204" pitchFamily="34" charset="0"/>
                <a:cs typeface="Calibri" panose="020F0502020204030204" pitchFamily="34" charset="0"/>
              </a:rPr>
              <a:t>Use a while loop to read the grades. The loop will continue until 10 valid grades have been entered.</a:t>
            </a:r>
          </a:p>
          <a:p>
            <a:pPr algn="just"/>
            <a:r>
              <a:rPr lang="en-US" sz="2200" dirty="0">
                <a:latin typeface="Calibri" panose="020F0502020204030204" pitchFamily="34" charset="0"/>
                <a:cs typeface="Calibri" panose="020F0502020204030204" pitchFamily="34" charset="0"/>
              </a:rPr>
              <a:t>Validate the grade input inside the while loop to ensure it is between 0 and 100. If an invalid grade is entered, ask the user again.</a:t>
            </a:r>
          </a:p>
          <a:p>
            <a:pPr algn="just"/>
            <a:r>
              <a:rPr lang="en-US" sz="2200" dirty="0">
                <a:latin typeface="Calibri" panose="020F0502020204030204" pitchFamily="34" charset="0"/>
                <a:cs typeface="Calibri" panose="020F0502020204030204" pitchFamily="34" charset="0"/>
              </a:rPr>
              <a:t>Accumulate the grades in the sum variable and increment the count.</a:t>
            </a:r>
          </a:p>
          <a:p>
            <a:pPr algn="just"/>
            <a:r>
              <a:rPr lang="en-US" sz="2200" dirty="0">
                <a:latin typeface="Calibri" panose="020F0502020204030204" pitchFamily="34" charset="0"/>
                <a:cs typeface="Calibri" panose="020F0502020204030204" pitchFamily="34" charset="0"/>
              </a:rPr>
              <a:t>Calculate the average by dividing the sum by 10.0 (float).</a:t>
            </a:r>
          </a:p>
          <a:p>
            <a:pPr algn="just"/>
            <a:r>
              <a:rPr lang="en-US" sz="2200" dirty="0">
                <a:latin typeface="Calibri" panose="020F0502020204030204" pitchFamily="34" charset="0"/>
                <a:cs typeface="Calibri" panose="020F0502020204030204" pitchFamily="34" charset="0"/>
              </a:rPr>
              <a:t>Print the average to two decimal places.</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3518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The while Repetition Statement</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Common Programming Error:</a:t>
            </a:r>
          </a:p>
          <a:p>
            <a:pPr marL="0" indent="0" algn="just">
              <a:buNone/>
            </a:pPr>
            <a:endParaRPr lang="en-US" sz="2200" dirty="0">
              <a:latin typeface="Calibri" panose="020F0502020204030204" pitchFamily="34" charset="0"/>
              <a:cs typeface="Calibri" panose="020F0502020204030204" pitchFamily="34" charset="0"/>
            </a:endParaRPr>
          </a:p>
          <a:p>
            <a:pPr marL="457200" lvl="1" indent="0" algn="just">
              <a:buNone/>
            </a:pPr>
            <a:r>
              <a:rPr lang="en-US" sz="2200" b="1" dirty="0">
                <a:solidFill>
                  <a:srgbClr val="FF0000"/>
                </a:solidFill>
                <a:latin typeface="Calibri" panose="020F0502020204030204" pitchFamily="34" charset="0"/>
                <a:cs typeface="Calibri" panose="020F0502020204030204" pitchFamily="34" charset="0"/>
              </a:rPr>
              <a:t>If a counter or total is not initialized, the results of our program will probably be incorrect.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This is an example of a logic error. </a:t>
            </a:r>
          </a:p>
          <a:p>
            <a:pPr lvl="1" algn="just"/>
            <a:r>
              <a:rPr lang="en-US" sz="2000" dirty="0">
                <a:latin typeface="Calibri" panose="020F0502020204030204" pitchFamily="34" charset="0"/>
                <a:cs typeface="Calibri" panose="020F0502020204030204" pitchFamily="34" charset="0"/>
              </a:rPr>
              <a:t>Then, we must initialize all counters and totals.</a:t>
            </a:r>
            <a:endParaRPr lang="en-GB" sz="2000" dirty="0">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67989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break and continue Statements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b="1" dirty="0">
                <a:latin typeface="Calibri" panose="020F0502020204030204" pitchFamily="34" charset="0"/>
                <a:cs typeface="Calibri" panose="020F0502020204030204" pitchFamily="34" charset="0"/>
              </a:rPr>
              <a:t>break statement:</a:t>
            </a:r>
          </a:p>
          <a:p>
            <a:pPr lvl="1" algn="just"/>
            <a:r>
              <a:rPr lang="en-US" sz="2000" dirty="0">
                <a:latin typeface="Calibri" panose="020F0502020204030204" pitchFamily="34" charset="0"/>
                <a:cs typeface="Calibri" panose="020F0502020204030204" pitchFamily="34" charset="0"/>
              </a:rPr>
              <a:t>Used for exiting immediately and rapidly from certain control structures</a:t>
            </a:r>
          </a:p>
          <a:p>
            <a:pPr lvl="1" algn="just"/>
            <a:endParaRPr lang="en-US" sz="20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continue statement: </a:t>
            </a:r>
          </a:p>
          <a:p>
            <a:pPr lvl="1" algn="just"/>
            <a:r>
              <a:rPr lang="en-US" sz="2000" dirty="0">
                <a:latin typeface="Calibri" panose="020F0502020204030204" pitchFamily="34" charset="0"/>
                <a:cs typeface="Calibri" panose="020F0502020204030204" pitchFamily="34" charset="0"/>
              </a:rPr>
              <a:t>Used for skipping the remainder of the body of a repetition structure and proceeding with the next iteration of the loop proceeds with the next iteration of the loop.</a:t>
            </a:r>
          </a:p>
        </p:txBody>
      </p:sp>
    </p:spTree>
    <p:extLst>
      <p:ext uri="{BB962C8B-B14F-4D97-AF65-F5344CB8AC3E}">
        <p14:creationId xmlns:p14="http://schemas.microsoft.com/office/powerpoint/2010/main" val="1979600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2: while Loop</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52578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that reads integers from the user until the user enters a negative number. The program should calculate and print the sum and average of the entered numbers, excluding the negative number.</a:t>
            </a:r>
            <a:endParaRPr lang="en-GB" sz="2000" dirty="0">
              <a:solidFill>
                <a:srgbClr val="00B0F0"/>
              </a:solidFill>
              <a:latin typeface="Calibri" panose="020F0502020204030204" pitchFamily="34" charset="0"/>
              <a:cs typeface="Calibri" panose="020F0502020204030204" pitchFamily="34" charset="0"/>
            </a:endParaRPr>
          </a:p>
        </p:txBody>
      </p:sp>
      <p:pic>
        <p:nvPicPr>
          <p:cNvPr id="5" name="Picture 4" descr="A screenshot of a computer screen&#10;&#10;Description automatically generated">
            <a:extLst>
              <a:ext uri="{FF2B5EF4-FFF2-40B4-BE49-F238E27FC236}">
                <a16:creationId xmlns:a16="http://schemas.microsoft.com/office/drawing/2014/main" id="{806DCA70-B7F2-0413-0A35-E2DE2D9CEB3F}"/>
              </a:ext>
            </a:extLst>
          </p:cNvPr>
          <p:cNvPicPr>
            <a:picLocks noChangeAspect="1"/>
          </p:cNvPicPr>
          <p:nvPr/>
        </p:nvPicPr>
        <p:blipFill rotWithShape="1">
          <a:blip r:embed="rId2">
            <a:extLst>
              <a:ext uri="{28A0092B-C50C-407E-A947-70E740481C1C}">
                <a14:useLocalDpi xmlns:a14="http://schemas.microsoft.com/office/drawing/2010/main" val="0"/>
              </a:ext>
            </a:extLst>
          </a:blip>
          <a:srcRect l="6391" t="7963" r="22689" b="21319"/>
          <a:stretch/>
        </p:blipFill>
        <p:spPr>
          <a:xfrm>
            <a:off x="6934201" y="416902"/>
            <a:ext cx="5257799" cy="6032695"/>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D18701BF-AF2C-9A60-1B7D-717959FE8360}"/>
              </a:ext>
            </a:extLst>
          </p:cNvPr>
          <p:cNvPicPr>
            <a:picLocks noChangeAspect="1"/>
          </p:cNvPicPr>
          <p:nvPr/>
        </p:nvPicPr>
        <p:blipFill rotWithShape="1">
          <a:blip r:embed="rId3">
            <a:extLst>
              <a:ext uri="{28A0092B-C50C-407E-A947-70E740481C1C}">
                <a14:useLocalDpi xmlns:a14="http://schemas.microsoft.com/office/drawing/2010/main" val="0"/>
              </a:ext>
            </a:extLst>
          </a:blip>
          <a:srcRect l="2653" t="1656" r="13872" b="56750"/>
          <a:stretch/>
        </p:blipFill>
        <p:spPr>
          <a:xfrm>
            <a:off x="321966" y="4173041"/>
            <a:ext cx="6290268" cy="2276556"/>
          </a:xfrm>
          <a:prstGeom prst="rect">
            <a:avLst/>
          </a:prstGeom>
        </p:spPr>
      </p:pic>
    </p:spTree>
    <p:extLst>
      <p:ext uri="{BB962C8B-B14F-4D97-AF65-F5344CB8AC3E}">
        <p14:creationId xmlns:p14="http://schemas.microsoft.com/office/powerpoint/2010/main" val="3099683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2: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rmAutofit/>
          </a:bodyPr>
          <a:lstStyle/>
          <a:p>
            <a:pPr algn="just"/>
            <a:r>
              <a:rPr lang="en-US" sz="2200" dirty="0">
                <a:latin typeface="Calibri" panose="020F0502020204030204" pitchFamily="34" charset="0"/>
                <a:cs typeface="Calibri" panose="020F0502020204030204" pitchFamily="34" charset="0"/>
              </a:rPr>
              <a:t>Declare variables: </a:t>
            </a:r>
          </a:p>
          <a:p>
            <a:pPr lvl="1" algn="just"/>
            <a:r>
              <a:rPr lang="en-US" sz="2000" dirty="0">
                <a:latin typeface="Calibri" panose="020F0502020204030204" pitchFamily="34" charset="0"/>
                <a:cs typeface="Calibri" panose="020F0502020204030204" pitchFamily="34" charset="0"/>
              </a:rPr>
              <a:t>num for the current number, sum for the sum of the numbers, count for the number of entered positive numbers, and average for the average.</a:t>
            </a:r>
          </a:p>
          <a:p>
            <a:pPr algn="just"/>
            <a:r>
              <a:rPr lang="en-US" sz="2200" dirty="0">
                <a:latin typeface="Calibri" panose="020F0502020204030204" pitchFamily="34" charset="0"/>
                <a:cs typeface="Calibri" panose="020F0502020204030204" pitchFamily="34" charset="0"/>
              </a:rPr>
              <a:t>Ask the user to enter numbers.</a:t>
            </a:r>
          </a:p>
          <a:p>
            <a:pPr algn="just"/>
            <a:r>
              <a:rPr lang="en-US" sz="2200" dirty="0">
                <a:latin typeface="Calibri" panose="020F0502020204030204" pitchFamily="34" charset="0"/>
                <a:cs typeface="Calibri" panose="020F0502020204030204" pitchFamily="34" charset="0"/>
              </a:rPr>
              <a:t>Use a while(1) loop to continuously read integers from the user.</a:t>
            </a:r>
          </a:p>
          <a:p>
            <a:pPr algn="just"/>
            <a:r>
              <a:rPr lang="en-US" sz="2200" dirty="0">
                <a:latin typeface="Calibri" panose="020F0502020204030204" pitchFamily="34" charset="0"/>
                <a:cs typeface="Calibri" panose="020F0502020204030204" pitchFamily="34" charset="0"/>
              </a:rPr>
              <a:t>Check if the entered number is </a:t>
            </a:r>
            <a:r>
              <a:rPr lang="en-US" sz="2200" b="1" dirty="0">
                <a:latin typeface="Calibri" panose="020F0502020204030204" pitchFamily="34" charset="0"/>
                <a:cs typeface="Calibri" panose="020F0502020204030204" pitchFamily="34" charset="0"/>
              </a:rPr>
              <a:t>negative</a:t>
            </a:r>
            <a:r>
              <a:rPr lang="en-US" sz="2200" dirty="0">
                <a:latin typeface="Calibri" panose="020F0502020204030204" pitchFamily="34" charset="0"/>
                <a:cs typeface="Calibri" panose="020F0502020204030204" pitchFamily="34" charset="0"/>
              </a:rPr>
              <a:t>:</a:t>
            </a:r>
          </a:p>
          <a:p>
            <a:pPr lvl="1" algn="just"/>
            <a:r>
              <a:rPr lang="en-US" sz="1800" dirty="0">
                <a:latin typeface="Calibri" panose="020F0502020204030204" pitchFamily="34" charset="0"/>
                <a:cs typeface="Calibri" panose="020F0502020204030204" pitchFamily="34" charset="0"/>
              </a:rPr>
              <a:t>If it is negative, </a:t>
            </a:r>
            <a:r>
              <a:rPr lang="en-US" sz="1800" b="1" dirty="0">
                <a:latin typeface="Calibri" panose="020F0502020204030204" pitchFamily="34" charset="0"/>
                <a:cs typeface="Calibri" panose="020F0502020204030204" pitchFamily="34" charset="0"/>
              </a:rPr>
              <a:t>exit</a:t>
            </a:r>
            <a:r>
              <a:rPr lang="en-US" sz="1800" dirty="0">
                <a:latin typeface="Calibri" panose="020F0502020204030204" pitchFamily="34" charset="0"/>
                <a:cs typeface="Calibri" panose="020F0502020204030204" pitchFamily="34" charset="0"/>
              </a:rPr>
              <a:t> the loop using </a:t>
            </a:r>
            <a:r>
              <a:rPr lang="en-US" sz="1800" b="1" dirty="0">
                <a:latin typeface="Calibri" panose="020F0502020204030204" pitchFamily="34" charset="0"/>
                <a:cs typeface="Calibri" panose="020F0502020204030204" pitchFamily="34" charset="0"/>
              </a:rPr>
              <a:t>break</a:t>
            </a:r>
            <a:r>
              <a:rPr lang="en-US" sz="1800" dirty="0">
                <a:latin typeface="Calibri" panose="020F0502020204030204" pitchFamily="34" charset="0"/>
                <a:cs typeface="Calibri" panose="020F0502020204030204" pitchFamily="34" charset="0"/>
              </a:rPr>
              <a:t>.</a:t>
            </a:r>
          </a:p>
          <a:p>
            <a:pPr lvl="1" algn="just"/>
            <a:r>
              <a:rPr lang="en-US" sz="1800" dirty="0">
                <a:latin typeface="Calibri" panose="020F0502020204030204" pitchFamily="34" charset="0"/>
                <a:cs typeface="Calibri" panose="020F0502020204030204" pitchFamily="34" charset="0"/>
              </a:rPr>
              <a:t>If it is positive, add the number to sum and increment count.</a:t>
            </a:r>
          </a:p>
          <a:p>
            <a:pPr algn="just"/>
            <a:r>
              <a:rPr lang="en-US" sz="2200" dirty="0">
                <a:latin typeface="Calibri" panose="020F0502020204030204" pitchFamily="34" charset="0"/>
                <a:cs typeface="Calibri" panose="020F0502020204030204" pitchFamily="34" charset="0"/>
              </a:rPr>
              <a:t>Calculate the average after exiting the loop, provided at least one positive number was entered.</a:t>
            </a:r>
          </a:p>
          <a:p>
            <a:pPr algn="just"/>
            <a:r>
              <a:rPr lang="en-US" sz="2200" dirty="0">
                <a:latin typeface="Calibri" panose="020F0502020204030204" pitchFamily="34" charset="0"/>
                <a:cs typeface="Calibri" panose="020F0502020204030204" pitchFamily="34" charset="0"/>
              </a:rPr>
              <a:t>Print the sum and average or notify the user if no positive numbers were entered.</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493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Example 3: while Loop</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a:xfrm>
            <a:off x="838200" y="1825625"/>
            <a:ext cx="52578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that reads integers from the user until the user enters a zero. The program should skip any negative numbers using the continue statement and break out of the loop when the user enters a zero. It should calculate and print the sum and average of the entered positive numbers.</a:t>
            </a:r>
            <a:endParaRPr lang="en-GB" sz="2000" dirty="0">
              <a:solidFill>
                <a:srgbClr val="00B0F0"/>
              </a:solidFill>
              <a:latin typeface="Calibri" panose="020F0502020204030204" pitchFamily="34" charset="0"/>
              <a:cs typeface="Calibri" panose="020F0502020204030204" pitchFamily="34" charset="0"/>
            </a:endParaRPr>
          </a:p>
        </p:txBody>
      </p:sp>
      <p:pic>
        <p:nvPicPr>
          <p:cNvPr id="9" name="Picture 8" descr="A screenshot of a computer&#10;&#10;Description automatically generated">
            <a:extLst>
              <a:ext uri="{FF2B5EF4-FFF2-40B4-BE49-F238E27FC236}">
                <a16:creationId xmlns:a16="http://schemas.microsoft.com/office/drawing/2014/main" id="{B90A369C-C21B-3B6B-1BDA-B7B1BCAB5ACC}"/>
              </a:ext>
            </a:extLst>
          </p:cNvPr>
          <p:cNvPicPr>
            <a:picLocks noChangeAspect="1"/>
          </p:cNvPicPr>
          <p:nvPr/>
        </p:nvPicPr>
        <p:blipFill rotWithShape="1">
          <a:blip r:embed="rId2">
            <a:extLst>
              <a:ext uri="{28A0092B-C50C-407E-A947-70E740481C1C}">
                <a14:useLocalDpi xmlns:a14="http://schemas.microsoft.com/office/drawing/2010/main" val="0"/>
              </a:ext>
            </a:extLst>
          </a:blip>
          <a:srcRect l="2653" t="4133" r="12318" b="50000"/>
          <a:stretch/>
        </p:blipFill>
        <p:spPr>
          <a:xfrm>
            <a:off x="330340" y="4283333"/>
            <a:ext cx="5765660" cy="2258966"/>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71C095E4-EDB5-A774-5412-02746AFC8EC2}"/>
              </a:ext>
            </a:extLst>
          </p:cNvPr>
          <p:cNvPicPr>
            <a:picLocks noChangeAspect="1"/>
          </p:cNvPicPr>
          <p:nvPr/>
        </p:nvPicPr>
        <p:blipFill rotWithShape="1">
          <a:blip r:embed="rId3">
            <a:extLst>
              <a:ext uri="{28A0092B-C50C-407E-A947-70E740481C1C}">
                <a14:useLocalDpi xmlns:a14="http://schemas.microsoft.com/office/drawing/2010/main" val="0"/>
              </a:ext>
            </a:extLst>
          </a:blip>
          <a:srcRect l="6600" t="9931" r="35487" b="15075"/>
          <a:stretch/>
        </p:blipFill>
        <p:spPr>
          <a:xfrm>
            <a:off x="7536796" y="365125"/>
            <a:ext cx="4324864" cy="6444236"/>
          </a:xfrm>
          <a:prstGeom prst="rect">
            <a:avLst/>
          </a:prstGeom>
        </p:spPr>
      </p:pic>
    </p:spTree>
    <p:extLst>
      <p:ext uri="{BB962C8B-B14F-4D97-AF65-F5344CB8AC3E}">
        <p14:creationId xmlns:p14="http://schemas.microsoft.com/office/powerpoint/2010/main" val="2494476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3: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Declare variables: </a:t>
            </a:r>
          </a:p>
          <a:p>
            <a:pPr lvl="1" algn="just"/>
            <a:r>
              <a:rPr lang="en-US" sz="2000" dirty="0">
                <a:latin typeface="Calibri" panose="020F0502020204030204" pitchFamily="34" charset="0"/>
                <a:cs typeface="Calibri" panose="020F0502020204030204" pitchFamily="34" charset="0"/>
              </a:rPr>
              <a:t>num for the current number, sum for the sum of the numbers, count for the number of entered positive numbers, and average for the average.</a:t>
            </a:r>
          </a:p>
          <a:p>
            <a:pPr algn="just"/>
            <a:r>
              <a:rPr lang="en-US" sz="2200" dirty="0">
                <a:latin typeface="Calibri" panose="020F0502020204030204" pitchFamily="34" charset="0"/>
                <a:cs typeface="Calibri" panose="020F0502020204030204" pitchFamily="34" charset="0"/>
              </a:rPr>
              <a:t>Ask the user to enter numbers.</a:t>
            </a:r>
          </a:p>
          <a:p>
            <a:pPr algn="just"/>
            <a:r>
              <a:rPr lang="en-US" sz="2200" dirty="0">
                <a:latin typeface="Calibri" panose="020F0502020204030204" pitchFamily="34" charset="0"/>
                <a:cs typeface="Calibri" panose="020F0502020204030204" pitchFamily="34" charset="0"/>
              </a:rPr>
              <a:t>Use a while(1) loop to continuously read integers from the user.</a:t>
            </a:r>
          </a:p>
          <a:p>
            <a:pPr algn="just"/>
            <a:r>
              <a:rPr lang="en-US" sz="2200" dirty="0">
                <a:latin typeface="Calibri" panose="020F0502020204030204" pitchFamily="34" charset="0"/>
                <a:cs typeface="Calibri" panose="020F0502020204030204" pitchFamily="34" charset="0"/>
              </a:rPr>
              <a:t>Check if the entered number is negative:</a:t>
            </a:r>
          </a:p>
          <a:p>
            <a:pPr lvl="1" algn="just"/>
            <a:r>
              <a:rPr lang="en-US" sz="2000" dirty="0">
                <a:latin typeface="Calibri" panose="020F0502020204030204" pitchFamily="34" charset="0"/>
                <a:cs typeface="Calibri" panose="020F0502020204030204" pitchFamily="34" charset="0"/>
              </a:rPr>
              <a:t>If it is negative, use continue to skip the rest of the loop and prompt for the next number.</a:t>
            </a:r>
          </a:p>
          <a:p>
            <a:pPr lvl="1" algn="just"/>
            <a:r>
              <a:rPr lang="en-US" sz="2000" dirty="0">
                <a:latin typeface="Calibri" panose="020F0502020204030204" pitchFamily="34" charset="0"/>
                <a:cs typeface="Calibri" panose="020F0502020204030204" pitchFamily="34" charset="0"/>
              </a:rPr>
              <a:t>Check if the entered number is </a:t>
            </a:r>
            <a:r>
              <a:rPr lang="en-US" sz="2000" b="1" dirty="0">
                <a:latin typeface="Calibri" panose="020F0502020204030204" pitchFamily="34" charset="0"/>
                <a:cs typeface="Calibri" panose="020F0502020204030204" pitchFamily="34" charset="0"/>
              </a:rPr>
              <a:t>zero</a:t>
            </a:r>
            <a:r>
              <a:rPr lang="en-US" sz="2000" dirty="0">
                <a:latin typeface="Calibri" panose="020F0502020204030204" pitchFamily="34" charset="0"/>
                <a:cs typeface="Calibri" panose="020F0502020204030204" pitchFamily="34" charset="0"/>
              </a:rPr>
              <a:t>:</a:t>
            </a:r>
          </a:p>
          <a:p>
            <a:pPr lvl="2" algn="just"/>
            <a:r>
              <a:rPr lang="en-US" sz="1800" dirty="0">
                <a:latin typeface="Calibri" panose="020F0502020204030204" pitchFamily="34" charset="0"/>
                <a:cs typeface="Calibri" panose="020F0502020204030204" pitchFamily="34" charset="0"/>
              </a:rPr>
              <a:t>If it is zero, use </a:t>
            </a:r>
            <a:r>
              <a:rPr lang="en-US" sz="1800" b="1" dirty="0">
                <a:latin typeface="Calibri" panose="020F0502020204030204" pitchFamily="34" charset="0"/>
                <a:cs typeface="Calibri" panose="020F0502020204030204" pitchFamily="34" charset="0"/>
              </a:rPr>
              <a:t>break</a:t>
            </a:r>
            <a:r>
              <a:rPr lang="en-US" sz="1800" dirty="0">
                <a:latin typeface="Calibri" panose="020F0502020204030204" pitchFamily="34" charset="0"/>
                <a:cs typeface="Calibri" panose="020F0502020204030204" pitchFamily="34" charset="0"/>
              </a:rPr>
              <a:t> to </a:t>
            </a:r>
            <a:r>
              <a:rPr lang="en-US" sz="1800" b="1" dirty="0">
                <a:latin typeface="Calibri" panose="020F0502020204030204" pitchFamily="34" charset="0"/>
                <a:cs typeface="Calibri" panose="020F0502020204030204" pitchFamily="34" charset="0"/>
              </a:rPr>
              <a:t>exit</a:t>
            </a:r>
            <a:r>
              <a:rPr lang="en-US" sz="1800" dirty="0">
                <a:latin typeface="Calibri" panose="020F0502020204030204" pitchFamily="34" charset="0"/>
                <a:cs typeface="Calibri" panose="020F0502020204030204" pitchFamily="34" charset="0"/>
              </a:rPr>
              <a:t> the loop.</a:t>
            </a:r>
          </a:p>
          <a:p>
            <a:pPr lvl="2" algn="just"/>
            <a:r>
              <a:rPr lang="en-US" sz="1800" dirty="0">
                <a:latin typeface="Calibri" panose="020F0502020204030204" pitchFamily="34" charset="0"/>
                <a:cs typeface="Calibri" panose="020F0502020204030204" pitchFamily="34" charset="0"/>
              </a:rPr>
              <a:t>If the number is positive, add it to sum and increment count.</a:t>
            </a:r>
          </a:p>
          <a:p>
            <a:pPr algn="just"/>
            <a:r>
              <a:rPr lang="en-US" sz="2200" dirty="0">
                <a:latin typeface="Calibri" panose="020F0502020204030204" pitchFamily="34" charset="0"/>
                <a:cs typeface="Calibri" panose="020F0502020204030204" pitchFamily="34" charset="0"/>
              </a:rPr>
              <a:t>Calculate the average after exiting the loop, provided at least one positive number was entered.</a:t>
            </a:r>
          </a:p>
          <a:p>
            <a:pPr algn="just"/>
            <a:r>
              <a:rPr lang="en-US" sz="2200" dirty="0">
                <a:latin typeface="Calibri" panose="020F0502020204030204" pitchFamily="34" charset="0"/>
                <a:cs typeface="Calibri" panose="020F0502020204030204" pitchFamily="34" charset="0"/>
              </a:rPr>
              <a:t>Print the sum and average or notify the user if no positive numbers were entered.</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4841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A862-36B9-30CE-5F4C-9E39F4481482}"/>
              </a:ext>
            </a:extLst>
          </p:cNvPr>
          <p:cNvSpPr>
            <a:spLocks noGrp="1"/>
          </p:cNvSpPr>
          <p:nvPr>
            <p:ph type="title"/>
          </p:nvPr>
        </p:nvSpPr>
        <p:spPr/>
        <p:txBody>
          <a:bodyPr/>
          <a:lstStyle/>
          <a:p>
            <a:r>
              <a:rPr lang="en-GB" b="1" dirty="0"/>
              <a:t>The for Repetition Statement</a:t>
            </a:r>
          </a:p>
        </p:txBody>
      </p:sp>
      <p:sp>
        <p:nvSpPr>
          <p:cNvPr id="3" name="Content Placeholder 2">
            <a:extLst>
              <a:ext uri="{FF2B5EF4-FFF2-40B4-BE49-F238E27FC236}">
                <a16:creationId xmlns:a16="http://schemas.microsoft.com/office/drawing/2014/main" id="{695A32E2-BAA9-2A5F-82B6-E22E3E527FC7}"/>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The syntax of the for loop is: </a:t>
            </a:r>
          </a:p>
          <a:p>
            <a:pPr marL="0" indent="0" algn="just">
              <a:buNone/>
            </a:pPr>
            <a:r>
              <a:rPr lang="en-US" sz="2200" dirty="0">
                <a:solidFill>
                  <a:srgbClr val="00B0F0"/>
                </a:solidFill>
                <a:latin typeface="Calibri" panose="020F0502020204030204" pitchFamily="34" charset="0"/>
                <a:cs typeface="Calibri" panose="020F0502020204030204" pitchFamily="34" charset="0"/>
              </a:rPr>
              <a:t>	</a:t>
            </a:r>
            <a:r>
              <a:rPr lang="en-US" sz="2000" dirty="0">
                <a:solidFill>
                  <a:srgbClr val="00B0F0"/>
                </a:solidFill>
                <a:latin typeface="Calibri" panose="020F0502020204030204" pitchFamily="34" charset="0"/>
                <a:cs typeface="Calibri" panose="020F0502020204030204" pitchFamily="34" charset="0"/>
              </a:rPr>
              <a:t>for (</a:t>
            </a:r>
            <a:r>
              <a:rPr lang="en-US" sz="2000" dirty="0" err="1">
                <a:solidFill>
                  <a:srgbClr val="00B0F0"/>
                </a:solidFill>
                <a:latin typeface="Calibri" panose="020F0502020204030204" pitchFamily="34" charset="0"/>
                <a:cs typeface="Calibri" panose="020F0502020204030204" pitchFamily="34" charset="0"/>
              </a:rPr>
              <a:t>initializationStatement</a:t>
            </a:r>
            <a:r>
              <a:rPr lang="en-US" sz="2000" dirty="0">
                <a:solidFill>
                  <a:srgbClr val="00B0F0"/>
                </a:solidFill>
                <a:latin typeface="Calibri" panose="020F0502020204030204" pitchFamily="34" charset="0"/>
                <a:cs typeface="Calibri" panose="020F0502020204030204" pitchFamily="34" charset="0"/>
              </a:rPr>
              <a:t>; </a:t>
            </a:r>
            <a:r>
              <a:rPr lang="en-US" sz="2000" dirty="0" err="1">
                <a:solidFill>
                  <a:srgbClr val="00B0F0"/>
                </a:solidFill>
                <a:latin typeface="Calibri" panose="020F0502020204030204" pitchFamily="34" charset="0"/>
                <a:cs typeface="Calibri" panose="020F0502020204030204" pitchFamily="34" charset="0"/>
              </a:rPr>
              <a:t>testExpression</a:t>
            </a:r>
            <a:r>
              <a:rPr lang="en-US" sz="2000" dirty="0">
                <a:solidFill>
                  <a:srgbClr val="00B0F0"/>
                </a:solidFill>
                <a:latin typeface="Calibri" panose="020F0502020204030204" pitchFamily="34" charset="0"/>
                <a:cs typeface="Calibri" panose="020F0502020204030204" pitchFamily="34" charset="0"/>
              </a:rPr>
              <a:t>; </a:t>
            </a:r>
            <a:r>
              <a:rPr lang="en-US" sz="2000" dirty="0" err="1">
                <a:solidFill>
                  <a:srgbClr val="00B0F0"/>
                </a:solidFill>
                <a:latin typeface="Calibri" panose="020F0502020204030204" pitchFamily="34" charset="0"/>
                <a:cs typeface="Calibri" panose="020F0502020204030204" pitchFamily="34" charset="0"/>
              </a:rPr>
              <a:t>updateStatement</a:t>
            </a:r>
            <a:r>
              <a:rPr lang="en-US" sz="2000" dirty="0">
                <a:solidFill>
                  <a:srgbClr val="00B0F0"/>
                </a:solidFill>
                <a:latin typeface="Calibri" panose="020F0502020204030204" pitchFamily="34" charset="0"/>
                <a:cs typeface="Calibri" panose="020F0502020204030204" pitchFamily="34" charset="0"/>
              </a:rPr>
              <a:t>) </a:t>
            </a:r>
          </a:p>
          <a:p>
            <a:pPr marL="0" indent="0" algn="just">
              <a:buNone/>
            </a:pPr>
            <a:r>
              <a:rPr lang="en-US" sz="2000" dirty="0">
                <a:solidFill>
                  <a:srgbClr val="00B0F0"/>
                </a:solidFill>
                <a:latin typeface="Calibri" panose="020F0502020204030204" pitchFamily="34" charset="0"/>
                <a:cs typeface="Calibri" panose="020F0502020204030204" pitchFamily="34" charset="0"/>
              </a:rPr>
              <a:t>	{ </a:t>
            </a:r>
          </a:p>
          <a:p>
            <a:pPr marL="0" indent="0" algn="just">
              <a:buNone/>
            </a:pPr>
            <a:r>
              <a:rPr lang="en-US" sz="2000" dirty="0">
                <a:solidFill>
                  <a:srgbClr val="00B0F0"/>
                </a:solidFill>
                <a:latin typeface="Calibri" panose="020F0502020204030204" pitchFamily="34" charset="0"/>
                <a:cs typeface="Calibri" panose="020F0502020204030204" pitchFamily="34" charset="0"/>
              </a:rPr>
              <a:t>		// statements inside the body of loop </a:t>
            </a:r>
          </a:p>
          <a:p>
            <a:pPr marL="0" indent="0" algn="just">
              <a:buNone/>
            </a:pPr>
            <a:r>
              <a:rPr lang="en-US" sz="2000" dirty="0">
                <a:solidFill>
                  <a:srgbClr val="00B0F0"/>
                </a:solidFill>
                <a:latin typeface="Calibri" panose="020F0502020204030204" pitchFamily="34" charset="0"/>
                <a:cs typeface="Calibri" panose="020F0502020204030204" pitchFamily="34" charset="0"/>
              </a:rPr>
              <a:t>	}</a:t>
            </a:r>
            <a:endParaRPr kumimoji="0" lang="sv-SE" altLang="sv-SE" sz="2000" b="1" i="0" u="none" strike="noStrike" cap="none" normalizeH="0" baseline="0" dirty="0">
              <a:ln>
                <a:noFill/>
              </a:ln>
              <a:solidFill>
                <a:srgbClr val="25265E"/>
              </a:solidFill>
              <a:effectLst/>
              <a:latin typeface="Calibri" panose="020F0502020204030204" pitchFamily="34" charset="0"/>
              <a:cs typeface="Calibri" panose="020F0502020204030204" pitchFamily="34" charset="0"/>
            </a:endParaRPr>
          </a:p>
          <a:p>
            <a:pPr algn="just" eaLnBrk="0" fontAlgn="base" hangingPunct="0">
              <a:lnSpc>
                <a:spcPct val="100000"/>
              </a:lnSpc>
              <a:spcBef>
                <a:spcPct val="0"/>
              </a:spcBef>
              <a:spcAft>
                <a:spcPct val="0"/>
              </a:spcAft>
            </a:pPr>
            <a:r>
              <a:rPr kumimoji="0" lang="en-GB" altLang="sv-SE" sz="2200" b="1" i="0" u="none" strike="noStrike" cap="none" normalizeH="0" baseline="0" dirty="0">
                <a:ln>
                  <a:noFill/>
                </a:ln>
                <a:effectLst/>
                <a:latin typeface="Calibri" panose="020F0502020204030204" pitchFamily="34" charset="0"/>
                <a:cs typeface="Calibri" panose="020F0502020204030204" pitchFamily="34" charset="0"/>
              </a:rPr>
              <a:t>How </a:t>
            </a:r>
            <a:r>
              <a:rPr kumimoji="0" lang="en-GB" altLang="sv-SE" sz="2200" b="1" i="0" u="sng" strike="noStrike" cap="none" normalizeH="0" baseline="0" dirty="0">
                <a:ln>
                  <a:noFill/>
                </a:ln>
                <a:effectLst/>
                <a:latin typeface="Calibri" panose="020F0502020204030204" pitchFamily="34" charset="0"/>
                <a:cs typeface="Calibri" panose="020F0502020204030204" pitchFamily="34" charset="0"/>
              </a:rPr>
              <a:t>for</a:t>
            </a:r>
            <a:r>
              <a:rPr kumimoji="0" lang="en-GB" altLang="sv-SE" sz="2200" b="1" i="0" u="none" strike="noStrike" cap="none" normalizeH="0" baseline="0" dirty="0">
                <a:ln>
                  <a:noFill/>
                </a:ln>
                <a:effectLst/>
                <a:latin typeface="Calibri" panose="020F0502020204030204" pitchFamily="34" charset="0"/>
                <a:cs typeface="Calibri" panose="020F0502020204030204" pitchFamily="34" charset="0"/>
              </a:rPr>
              <a:t> loop works?</a:t>
            </a:r>
          </a:p>
          <a:p>
            <a:pPr lvl="1" algn="just" eaLnBrk="0" fontAlgn="base" hangingPunct="0">
              <a:lnSpc>
                <a:spcPct val="100000"/>
              </a:lnSpc>
              <a:spcBef>
                <a:spcPct val="0"/>
              </a:spcBef>
              <a:spcAft>
                <a:spcPct val="0"/>
              </a:spcAft>
            </a:pPr>
            <a:r>
              <a:rPr kumimoji="0" lang="en-GB" altLang="sv-SE"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initialization statement is executed only once.</a:t>
            </a:r>
          </a:p>
          <a:p>
            <a:pPr lvl="1" algn="just" eaLnBrk="0" fontAlgn="base" hangingPunct="0">
              <a:lnSpc>
                <a:spcPct val="100000"/>
              </a:lnSpc>
              <a:spcBef>
                <a:spcPct val="0"/>
              </a:spcBef>
              <a:spcAft>
                <a:spcPct val="0"/>
              </a:spcAft>
            </a:pPr>
            <a:r>
              <a:rPr kumimoji="0" lang="en-GB" altLang="sv-SE"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Then, the test expression is evaluated. </a:t>
            </a:r>
          </a:p>
          <a:p>
            <a:pPr lvl="2" algn="just" eaLnBrk="0" fontAlgn="base" hangingPunct="0">
              <a:lnSpc>
                <a:spcPct val="100000"/>
              </a:lnSpc>
              <a:spcBef>
                <a:spcPct val="0"/>
              </a:spcBef>
              <a:spcAft>
                <a:spcPct val="0"/>
              </a:spcAft>
            </a:pPr>
            <a:r>
              <a:rPr kumimoji="0" lang="en-GB" altLang="sv-SE"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If the test expression is evaluated to false, the for loop is terminated. </a:t>
            </a:r>
          </a:p>
          <a:p>
            <a:pPr lvl="2" algn="just" eaLnBrk="0" fontAlgn="base" hangingPunct="0">
              <a:lnSpc>
                <a:spcPct val="100000"/>
              </a:lnSpc>
              <a:spcBef>
                <a:spcPct val="0"/>
              </a:spcBef>
              <a:spcAft>
                <a:spcPct val="0"/>
              </a:spcAft>
            </a:pPr>
            <a:r>
              <a:rPr kumimoji="0" lang="en-GB" altLang="sv-SE"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If the test expression is evaluated to true, statements inside the body of the for loop are executed, and the update expression is updated.</a:t>
            </a:r>
          </a:p>
          <a:p>
            <a:pPr lvl="1" algn="just" eaLnBrk="0" fontAlgn="base" hangingPunct="0">
              <a:lnSpc>
                <a:spcPct val="100000"/>
              </a:lnSpc>
              <a:spcBef>
                <a:spcPct val="0"/>
              </a:spcBef>
              <a:spcAft>
                <a:spcPct val="0"/>
              </a:spcAft>
            </a:pPr>
            <a:r>
              <a:rPr kumimoji="0" lang="en-GB" altLang="sv-SE"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process goes on until the test expression is false. </a:t>
            </a:r>
          </a:p>
          <a:p>
            <a:pPr lvl="1" algn="just" eaLnBrk="0" fontAlgn="base" hangingPunct="0">
              <a:lnSpc>
                <a:spcPct val="100000"/>
              </a:lnSpc>
              <a:spcBef>
                <a:spcPct val="0"/>
              </a:spcBef>
              <a:spcAft>
                <a:spcPct val="0"/>
              </a:spcAft>
            </a:pPr>
            <a:r>
              <a:rPr kumimoji="0" lang="en-GB" altLang="sv-SE" sz="2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When the test expression is false, the loop terminates.</a:t>
            </a:r>
          </a:p>
        </p:txBody>
      </p:sp>
    </p:spTree>
    <p:extLst>
      <p:ext uri="{BB962C8B-B14F-4D97-AF65-F5344CB8AC3E}">
        <p14:creationId xmlns:p14="http://schemas.microsoft.com/office/powerpoint/2010/main" val="3392068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4: for Loop</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that calculates the factorial of a number entered by the user using a for loop. The program should ask the user to enter a non-negative integer, calculate the factorial, and then print the result.</a:t>
            </a:r>
            <a:endParaRPr lang="en-GB" sz="2200" dirty="0">
              <a:latin typeface="Calibri" panose="020F0502020204030204" pitchFamily="34" charset="0"/>
              <a:cs typeface="Calibri" panose="020F0502020204030204" pitchFamily="34" charset="0"/>
            </a:endParaRPr>
          </a:p>
        </p:txBody>
      </p:sp>
      <p:pic>
        <p:nvPicPr>
          <p:cNvPr id="6" name="Picture 5" descr="A screenshot of a computer&#10;&#10;Description automatically generated">
            <a:extLst>
              <a:ext uri="{FF2B5EF4-FFF2-40B4-BE49-F238E27FC236}">
                <a16:creationId xmlns:a16="http://schemas.microsoft.com/office/drawing/2014/main" id="{D7B0FAF2-1B21-8492-33C8-B274E633E0B7}"/>
              </a:ext>
            </a:extLst>
          </p:cNvPr>
          <p:cNvPicPr>
            <a:picLocks noChangeAspect="1"/>
          </p:cNvPicPr>
          <p:nvPr/>
        </p:nvPicPr>
        <p:blipFill rotWithShape="1">
          <a:blip r:embed="rId2">
            <a:extLst>
              <a:ext uri="{28A0092B-C50C-407E-A947-70E740481C1C}">
                <a14:useLocalDpi xmlns:a14="http://schemas.microsoft.com/office/drawing/2010/main" val="0"/>
              </a:ext>
            </a:extLst>
          </a:blip>
          <a:srcRect l="2730" t="2795" r="21906" b="59972"/>
          <a:stretch/>
        </p:blipFill>
        <p:spPr>
          <a:xfrm>
            <a:off x="274610" y="4270656"/>
            <a:ext cx="6216625" cy="2230734"/>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EE87FE7F-0DCD-5577-1D68-C57D3F26D710}"/>
              </a:ext>
            </a:extLst>
          </p:cNvPr>
          <p:cNvPicPr>
            <a:picLocks noChangeAspect="1"/>
          </p:cNvPicPr>
          <p:nvPr/>
        </p:nvPicPr>
        <p:blipFill rotWithShape="1">
          <a:blip r:embed="rId3">
            <a:extLst>
              <a:ext uri="{28A0092B-C50C-407E-A947-70E740481C1C}">
                <a14:useLocalDpi xmlns:a14="http://schemas.microsoft.com/office/drawing/2010/main" val="0"/>
              </a:ext>
            </a:extLst>
          </a:blip>
          <a:srcRect l="6614" t="9018" r="21734" b="38201"/>
          <a:stretch/>
        </p:blipFill>
        <p:spPr>
          <a:xfrm>
            <a:off x="6580353" y="579323"/>
            <a:ext cx="5611647" cy="4756352"/>
          </a:xfrm>
          <a:prstGeom prst="rect">
            <a:avLst/>
          </a:prstGeom>
        </p:spPr>
      </p:pic>
    </p:spTree>
    <p:extLst>
      <p:ext uri="{BB962C8B-B14F-4D97-AF65-F5344CB8AC3E}">
        <p14:creationId xmlns:p14="http://schemas.microsoft.com/office/powerpoint/2010/main" val="1019901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4: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Declare variables: num to store the user input, and factorial (of type unsigned long </a:t>
                </a:r>
                <a:r>
                  <a:rPr lang="en-US" sz="2200" dirty="0" err="1">
                    <a:latin typeface="Calibri" panose="020F0502020204030204" pitchFamily="34" charset="0"/>
                    <a:cs typeface="Calibri" panose="020F0502020204030204" pitchFamily="34" charset="0"/>
                  </a:rPr>
                  <a:t>long</a:t>
                </a:r>
                <a:r>
                  <a:rPr lang="en-US" sz="2200" dirty="0">
                    <a:latin typeface="Calibri" panose="020F0502020204030204" pitchFamily="34" charset="0"/>
                    <a:cs typeface="Calibri" panose="020F0502020204030204" pitchFamily="34" charset="0"/>
                  </a:rPr>
                  <a:t> to handle large values) initialized to 1.</a:t>
                </a:r>
              </a:p>
              <a:p>
                <a:pPr lvl="1" algn="just"/>
                <a:r>
                  <a:rPr lang="en-US" sz="2000" b="1" dirty="0">
                    <a:latin typeface="Calibri" panose="020F0502020204030204" pitchFamily="34" charset="0"/>
                    <a:cs typeface="Calibri" panose="020F0502020204030204" pitchFamily="34" charset="0"/>
                  </a:rPr>
                  <a:t>Unsigned: </a:t>
                </a:r>
                <a:r>
                  <a:rPr lang="en-US" sz="2000" dirty="0">
                    <a:latin typeface="Calibri" panose="020F0502020204030204" pitchFamily="34" charset="0"/>
                    <a:cs typeface="Calibri" panose="020F0502020204030204" pitchFamily="34" charset="0"/>
                  </a:rPr>
                  <a:t>The unsigned keyword specifies that the variable can only hold non-negative values (i.e., zero and positive values). This effectively doubles the maximum value the variable can store because it does not need to accommodate negative numbers.</a:t>
                </a:r>
              </a:p>
              <a:p>
                <a:pPr lvl="1" algn="just"/>
                <a:r>
                  <a:rPr lang="en-US" sz="2000" b="1" dirty="0">
                    <a:latin typeface="Calibri" panose="020F0502020204030204" pitchFamily="34" charset="0"/>
                    <a:cs typeface="Calibri" panose="020F0502020204030204" pitchFamily="34" charset="0"/>
                  </a:rPr>
                  <a:t>unsigned long </a:t>
                </a:r>
                <a:r>
                  <a:rPr lang="en-US" sz="2000" b="1" dirty="0" err="1">
                    <a:latin typeface="Calibri" panose="020F0502020204030204" pitchFamily="34" charset="0"/>
                    <a:cs typeface="Calibri" panose="020F0502020204030204" pitchFamily="34" charset="0"/>
                  </a:rPr>
                  <a:t>long</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can typically store values from 0 to </a:t>
                </a:r>
                <a14:m>
                  <m:oMath xmlns:m="http://schemas.openxmlformats.org/officeDocument/2006/math">
                    <m:sSup>
                      <m:sSupPr>
                        <m:ctrlPr>
                          <a:rPr lang="en-US" sz="2000" i="1" dirty="0" smtClean="0">
                            <a:latin typeface="Cambria Math" panose="02040503050406030204" pitchFamily="18" charset="0"/>
                            <a:cs typeface="Calibri" panose="020F0502020204030204" pitchFamily="34" charset="0"/>
                          </a:rPr>
                        </m:ctrlPr>
                      </m:sSupPr>
                      <m:e>
                        <m:r>
                          <a:rPr lang="en-US" sz="2000" i="1" dirty="0" smtClean="0">
                            <a:latin typeface="Cambria Math" panose="02040503050406030204" pitchFamily="18" charset="0"/>
                            <a:cs typeface="Calibri" panose="020F0502020204030204" pitchFamily="34" charset="0"/>
                          </a:rPr>
                          <m:t>2</m:t>
                        </m:r>
                      </m:e>
                      <m:sup>
                        <m:r>
                          <a:rPr lang="en-US" sz="2000" i="1" dirty="0" smtClean="0">
                            <a:latin typeface="Cambria Math" panose="02040503050406030204" pitchFamily="18" charset="0"/>
                            <a:cs typeface="Calibri" panose="020F0502020204030204" pitchFamily="34" charset="0"/>
                          </a:rPr>
                          <m:t>64</m:t>
                        </m:r>
                      </m:sup>
                    </m:sSup>
                    <m:r>
                      <a:rPr lang="en-US" sz="2000" i="1" dirty="0" smtClean="0">
                        <a:latin typeface="Cambria Math" panose="02040503050406030204" pitchFamily="18" charset="0"/>
                        <a:cs typeface="Calibri" panose="020F0502020204030204" pitchFamily="34" charset="0"/>
                      </a:rPr>
                      <m:t>− 1</m:t>
                    </m:r>
                  </m:oMath>
                </a14:m>
                <a:endParaRPr lang="en-US" sz="20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Ask the user to enter a non-negative integer.</a:t>
                </a:r>
              </a:p>
              <a:p>
                <a:pPr algn="just"/>
                <a:r>
                  <a:rPr lang="en-US" sz="2200" dirty="0">
                    <a:latin typeface="Calibri" panose="020F0502020204030204" pitchFamily="34" charset="0"/>
                    <a:cs typeface="Calibri" panose="020F0502020204030204" pitchFamily="34" charset="0"/>
                  </a:rPr>
                  <a:t>Validate the input to ensure the user enters a non-negative integer. </a:t>
                </a:r>
              </a:p>
              <a:p>
                <a:pPr lvl="1" algn="just"/>
                <a:r>
                  <a:rPr lang="en-US" sz="2000" dirty="0">
                    <a:latin typeface="Calibri" panose="020F0502020204030204" pitchFamily="34" charset="0"/>
                    <a:cs typeface="Calibri" panose="020F0502020204030204" pitchFamily="34" charset="0"/>
                  </a:rPr>
                  <a:t>If the input is negative, ask the user again until a valid input is provided.</a:t>
                </a:r>
              </a:p>
              <a:p>
                <a:pPr algn="just"/>
                <a:r>
                  <a:rPr lang="en-US" sz="2200" dirty="0">
                    <a:latin typeface="Calibri" panose="020F0502020204030204" pitchFamily="34" charset="0"/>
                    <a:cs typeface="Calibri" panose="020F0502020204030204" pitchFamily="34" charset="0"/>
                  </a:rPr>
                  <a:t>Use a for loop to calculate the factorial:</a:t>
                </a:r>
              </a:p>
              <a:p>
                <a:pPr lvl="1" algn="just"/>
                <a:r>
                  <a:rPr lang="en-US" sz="2000" dirty="0">
                    <a:latin typeface="Calibri" panose="020F0502020204030204" pitchFamily="34" charset="0"/>
                    <a:cs typeface="Calibri" panose="020F0502020204030204" pitchFamily="34" charset="0"/>
                  </a:rPr>
                  <a:t>The loop starts with </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 1 and runs until </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is less than or equal to num.</a:t>
                </a:r>
              </a:p>
              <a:p>
                <a:pPr lvl="1" algn="just"/>
                <a:r>
                  <a:rPr lang="en-US" sz="2000" dirty="0">
                    <a:latin typeface="Calibri" panose="020F0502020204030204" pitchFamily="34" charset="0"/>
                    <a:cs typeface="Calibri" panose="020F0502020204030204" pitchFamily="34" charset="0"/>
                  </a:rPr>
                  <a:t>Multiply factorial by </a:t>
                </a:r>
                <a:r>
                  <a:rPr lang="en-US" sz="2000" dirty="0" err="1">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in each iteration to calculate the factorial.</a:t>
                </a:r>
              </a:p>
              <a:p>
                <a:pPr algn="just"/>
                <a:r>
                  <a:rPr lang="en-US" sz="2200" dirty="0">
                    <a:latin typeface="Calibri" panose="020F0502020204030204" pitchFamily="34" charset="0"/>
                    <a:cs typeface="Calibri" panose="020F0502020204030204" pitchFamily="34" charset="0"/>
                  </a:rPr>
                  <a:t>Print the result showing the factorial of the entered number.</a:t>
                </a:r>
                <a:endParaRPr lang="en-GB" sz="22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EDE8814D-DFC5-7897-AC60-F024A61A560B}"/>
                  </a:ext>
                </a:extLst>
              </p:cNvPr>
              <p:cNvSpPr>
                <a:spLocks noGrp="1" noRot="1" noChangeAspect="1" noMove="1" noResize="1" noEditPoints="1" noAdjustHandles="1" noChangeArrowheads="1" noChangeShapeType="1" noTextEdit="1"/>
              </p:cNvSpPr>
              <p:nvPr>
                <p:ph idx="1"/>
              </p:nvPr>
            </p:nvSpPr>
            <p:spPr>
              <a:blipFill>
                <a:blip r:embed="rId2"/>
                <a:stretch>
                  <a:fillRect l="-696" t="-1681" r="-696" b="-9664"/>
                </a:stretch>
              </a:blipFill>
            </p:spPr>
            <p:txBody>
              <a:bodyPr/>
              <a:lstStyle/>
              <a:p>
                <a:r>
                  <a:rPr lang="en-GB">
                    <a:noFill/>
                  </a:rPr>
                  <a:t> </a:t>
                </a:r>
              </a:p>
            </p:txBody>
          </p:sp>
        </mc:Fallback>
      </mc:AlternateContent>
    </p:spTree>
    <p:extLst>
      <p:ext uri="{BB962C8B-B14F-4D97-AF65-F5344CB8AC3E}">
        <p14:creationId xmlns:p14="http://schemas.microsoft.com/office/powerpoint/2010/main" val="2685228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5: for Loop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dirty="0">
                    <a:latin typeface="Calibri" panose="020F0502020204030204" pitchFamily="34" charset="0"/>
                    <a:cs typeface="Calibri" panose="020F0502020204030204" pitchFamily="34" charset="0"/>
                  </a:rPr>
                  <a:t>Write a C program that calculates the displacement of an object under constant acceleration over multiple time intervals. The program should:</a:t>
                </a:r>
              </a:p>
              <a:p>
                <a:pPr lvl="1" algn="just"/>
                <a:r>
                  <a:rPr lang="en-US" sz="2000" dirty="0">
                    <a:latin typeface="Calibri" panose="020F0502020204030204" pitchFamily="34" charset="0"/>
                    <a:cs typeface="Calibri" panose="020F0502020204030204" pitchFamily="34" charset="0"/>
                  </a:rPr>
                  <a:t>Read the initial velocity, constant acceleration, and number of time intervals from the user.</a:t>
                </a:r>
              </a:p>
              <a:p>
                <a:pPr lvl="1" algn="just"/>
                <a:r>
                  <a:rPr lang="en-US" sz="2000" dirty="0">
                    <a:latin typeface="Calibri" panose="020F0502020204030204" pitchFamily="34" charset="0"/>
                    <a:cs typeface="Calibri" panose="020F0502020204030204" pitchFamily="34" charset="0"/>
                  </a:rPr>
                  <a:t>Use a for loop to calculate the displacement at each time interval and print it.</a:t>
                </a:r>
              </a:p>
              <a:p>
                <a:pPr lvl="1" algn="just"/>
                <a:r>
                  <a:rPr lang="en-US" sz="2000" dirty="0">
                    <a:latin typeface="Calibri" panose="020F0502020204030204" pitchFamily="34" charset="0"/>
                    <a:cs typeface="Calibri" panose="020F0502020204030204" pitchFamily="34" charset="0"/>
                  </a:rPr>
                  <a:t>Use the kinematic equation for displacement:</a:t>
                </a:r>
                <a14:m>
                  <m:oMath xmlns:m="http://schemas.openxmlformats.org/officeDocument/2006/math">
                    <m:r>
                      <a:rPr lang="en-GB" sz="2000" b="0" i="0" smtClean="0">
                        <a:latin typeface="Cambria Math" panose="02040503050406030204" pitchFamily="18" charset="0"/>
                        <a:cs typeface="Calibri" panose="020F0502020204030204" pitchFamily="34" charset="0"/>
                      </a:rPr>
                      <m:t> </m:t>
                    </m:r>
                  </m:oMath>
                </a14:m>
                <a:endParaRPr lang="en-GB" sz="2000" b="0" i="0" dirty="0">
                  <a:latin typeface="Calibri" panose="020F0502020204030204" pitchFamily="34" charset="0"/>
                  <a:cs typeface="Calibri" panose="020F0502020204030204" pitchFamily="34" charset="0"/>
                </a:endParaRPr>
              </a:p>
              <a:p>
                <a:pPr marL="457200" lvl="1" indent="0" algn="just">
                  <a:buNone/>
                </a:pPr>
                <a14:m>
                  <m:oMathPara xmlns:m="http://schemas.openxmlformats.org/officeDocument/2006/math">
                    <m:oMathParaPr>
                      <m:jc m:val="centerGroup"/>
                    </m:oMathParaPr>
                    <m:oMath xmlns:m="http://schemas.openxmlformats.org/officeDocument/2006/math">
                      <m:r>
                        <a:rPr lang="en-GB" sz="1500" b="0" i="1" smtClean="0">
                          <a:latin typeface="Cambria Math" panose="02040503050406030204" pitchFamily="18" charset="0"/>
                          <a:cs typeface="Calibri" panose="020F0502020204030204" pitchFamily="34" charset="0"/>
                        </a:rPr>
                        <m:t>𝑥</m:t>
                      </m:r>
                      <m:r>
                        <a:rPr lang="en-GB" sz="1500" b="0" i="1" smtClean="0">
                          <a:latin typeface="Cambria Math" panose="02040503050406030204" pitchFamily="18" charset="0"/>
                          <a:cs typeface="Calibri" panose="020F0502020204030204" pitchFamily="34" charset="0"/>
                        </a:rPr>
                        <m:t>=</m:t>
                      </m:r>
                      <m:sSub>
                        <m:sSubPr>
                          <m:ctrlPr>
                            <a:rPr lang="en-GB" sz="1500" b="0" i="1" smtClean="0">
                              <a:latin typeface="Cambria Math" panose="02040503050406030204" pitchFamily="18" charset="0"/>
                              <a:cs typeface="Calibri" panose="020F0502020204030204" pitchFamily="34" charset="0"/>
                            </a:rPr>
                          </m:ctrlPr>
                        </m:sSubPr>
                        <m:e>
                          <m:r>
                            <a:rPr lang="en-GB" sz="1500" b="0" i="1" smtClean="0">
                              <a:latin typeface="Cambria Math" panose="02040503050406030204" pitchFamily="18" charset="0"/>
                              <a:cs typeface="Calibri" panose="020F0502020204030204" pitchFamily="34" charset="0"/>
                            </a:rPr>
                            <m:t>𝑣</m:t>
                          </m:r>
                        </m:e>
                        <m:sub>
                          <m:r>
                            <a:rPr lang="en-GB" sz="1500" b="0" i="1" smtClean="0">
                              <a:latin typeface="Cambria Math" panose="02040503050406030204" pitchFamily="18" charset="0"/>
                              <a:cs typeface="Calibri" panose="020F0502020204030204" pitchFamily="34" charset="0"/>
                            </a:rPr>
                            <m:t>𝑖</m:t>
                          </m:r>
                        </m:sub>
                      </m:sSub>
                      <m:r>
                        <a:rPr lang="en-GB" sz="1500" b="0" i="1" smtClean="0">
                          <a:latin typeface="Cambria Math" panose="02040503050406030204" pitchFamily="18" charset="0"/>
                          <a:cs typeface="Calibri" panose="020F0502020204030204" pitchFamily="34" charset="0"/>
                        </a:rPr>
                        <m:t>𝑡</m:t>
                      </m:r>
                      <m:r>
                        <a:rPr lang="en-GB" sz="1500" b="0" i="1" smtClean="0">
                          <a:latin typeface="Cambria Math" panose="02040503050406030204" pitchFamily="18" charset="0"/>
                          <a:cs typeface="Calibri" panose="020F0502020204030204" pitchFamily="34" charset="0"/>
                        </a:rPr>
                        <m:t>+</m:t>
                      </m:r>
                      <m:f>
                        <m:fPr>
                          <m:ctrlPr>
                            <a:rPr lang="en-GB" sz="1500" b="0" i="1" smtClean="0">
                              <a:latin typeface="Cambria Math" panose="02040503050406030204" pitchFamily="18" charset="0"/>
                              <a:cs typeface="Calibri" panose="020F0502020204030204" pitchFamily="34" charset="0"/>
                            </a:rPr>
                          </m:ctrlPr>
                        </m:fPr>
                        <m:num>
                          <m:r>
                            <a:rPr lang="en-GB" sz="1500" b="0" i="1" smtClean="0">
                              <a:latin typeface="Cambria Math" panose="02040503050406030204" pitchFamily="18" charset="0"/>
                              <a:cs typeface="Calibri" panose="020F0502020204030204" pitchFamily="34" charset="0"/>
                            </a:rPr>
                            <m:t>1</m:t>
                          </m:r>
                        </m:num>
                        <m:den>
                          <m:r>
                            <a:rPr lang="en-GB" sz="1500" b="0" i="1" smtClean="0">
                              <a:latin typeface="Cambria Math" panose="02040503050406030204" pitchFamily="18" charset="0"/>
                              <a:cs typeface="Calibri" panose="020F0502020204030204" pitchFamily="34" charset="0"/>
                            </a:rPr>
                            <m:t>2</m:t>
                          </m:r>
                        </m:den>
                      </m:f>
                      <m:r>
                        <a:rPr lang="en-GB" sz="1500" b="0" i="1" smtClean="0">
                          <a:latin typeface="Cambria Math" panose="02040503050406030204" pitchFamily="18" charset="0"/>
                          <a:cs typeface="Calibri" panose="020F0502020204030204" pitchFamily="34" charset="0"/>
                        </a:rPr>
                        <m:t>𝑎</m:t>
                      </m:r>
                      <m:sSup>
                        <m:sSupPr>
                          <m:ctrlPr>
                            <a:rPr lang="en-GB" sz="1500" b="0" i="1" smtClean="0">
                              <a:latin typeface="Cambria Math" panose="02040503050406030204" pitchFamily="18" charset="0"/>
                              <a:cs typeface="Calibri" panose="020F0502020204030204" pitchFamily="34" charset="0"/>
                            </a:rPr>
                          </m:ctrlPr>
                        </m:sSupPr>
                        <m:e>
                          <m:r>
                            <a:rPr lang="en-GB" sz="1500" b="0" i="1" smtClean="0">
                              <a:latin typeface="Cambria Math" panose="02040503050406030204" pitchFamily="18" charset="0"/>
                              <a:cs typeface="Calibri" panose="020F0502020204030204" pitchFamily="34" charset="0"/>
                            </a:rPr>
                            <m:t>𝑡</m:t>
                          </m:r>
                        </m:e>
                        <m:sup>
                          <m:r>
                            <a:rPr lang="en-GB" sz="1500" b="0" i="1" smtClean="0">
                              <a:latin typeface="Cambria Math" panose="02040503050406030204" pitchFamily="18" charset="0"/>
                              <a:cs typeface="Calibri" panose="020F0502020204030204" pitchFamily="34" charset="0"/>
                            </a:rPr>
                            <m:t>2</m:t>
                          </m:r>
                        </m:sup>
                      </m:sSup>
                    </m:oMath>
                  </m:oMathPara>
                </a14:m>
                <a:endParaRPr lang="en-GB" sz="1500" dirty="0">
                  <a:latin typeface="Calibri" panose="020F0502020204030204" pitchFamily="34" charset="0"/>
                  <a:cs typeface="Calibri" panose="020F0502020204030204" pitchFamily="34" charset="0"/>
                </a:endParaRPr>
              </a:p>
              <a:p>
                <a:pPr marL="457200" lvl="1" indent="0" algn="just">
                  <a:buNone/>
                </a:pPr>
                <a:r>
                  <a:rPr lang="en-US" sz="1500" dirty="0">
                    <a:latin typeface="Calibri" panose="020F0502020204030204" pitchFamily="34" charset="0"/>
                    <a:cs typeface="Calibri" panose="020F0502020204030204" pitchFamily="34" charset="0"/>
                  </a:rPr>
                  <a:t> </a:t>
                </a:r>
                <a14:m>
                  <m:oMath xmlns:m="http://schemas.openxmlformats.org/officeDocument/2006/math">
                    <m:r>
                      <a:rPr lang="en-GB" sz="1500" b="0" i="1" smtClean="0">
                        <a:latin typeface="Cambria Math" panose="02040503050406030204" pitchFamily="18" charset="0"/>
                        <a:cs typeface="Calibri" panose="020F0502020204030204" pitchFamily="34" charset="0"/>
                      </a:rPr>
                      <m:t>𝑥</m:t>
                    </m:r>
                    <m:r>
                      <a:rPr lang="en-GB" sz="1500" b="0" i="1" smtClean="0">
                        <a:latin typeface="Cambria Math" panose="02040503050406030204" pitchFamily="18" charset="0"/>
                        <a:cs typeface="Calibri" panose="020F0502020204030204" pitchFamily="34" charset="0"/>
                      </a:rPr>
                      <m:t>: </m:t>
                    </m:r>
                  </m:oMath>
                </a14:m>
                <a:r>
                  <a:rPr lang="en-US" sz="1500" dirty="0">
                    <a:latin typeface="Calibri" panose="020F0502020204030204" pitchFamily="34" charset="0"/>
                    <a:cs typeface="Calibri" panose="020F0502020204030204" pitchFamily="34" charset="0"/>
                  </a:rPr>
                  <a:t>is the displacement, </a:t>
                </a:r>
                <a14:m>
                  <m:oMath xmlns:m="http://schemas.openxmlformats.org/officeDocument/2006/math">
                    <m:sSub>
                      <m:sSubPr>
                        <m:ctrlPr>
                          <a:rPr lang="en-GB" sz="1500" b="0" i="1" dirty="0" smtClean="0">
                            <a:latin typeface="Cambria Math" panose="02040503050406030204" pitchFamily="18" charset="0"/>
                            <a:cs typeface="Calibri" panose="020F0502020204030204" pitchFamily="34" charset="0"/>
                          </a:rPr>
                        </m:ctrlPr>
                      </m:sSubPr>
                      <m:e>
                        <m:r>
                          <a:rPr lang="en-US" sz="1500" i="1" dirty="0" smtClean="0">
                            <a:latin typeface="Cambria Math" panose="02040503050406030204" pitchFamily="18" charset="0"/>
                            <a:cs typeface="Calibri" panose="020F0502020204030204" pitchFamily="34" charset="0"/>
                          </a:rPr>
                          <m:t>𝑣</m:t>
                        </m:r>
                      </m:e>
                      <m:sub>
                        <m:r>
                          <a:rPr lang="en-GB" sz="1500" b="0" i="1" dirty="0" smtClean="0">
                            <a:latin typeface="Cambria Math" panose="02040503050406030204" pitchFamily="18" charset="0"/>
                            <a:cs typeface="Calibri" panose="020F0502020204030204" pitchFamily="34" charset="0"/>
                          </a:rPr>
                          <m:t>𝑖</m:t>
                        </m:r>
                      </m:sub>
                    </m:sSub>
                    <m:r>
                      <a:rPr lang="en-GB" sz="1500" b="0" i="1" dirty="0" smtClean="0">
                        <a:latin typeface="Cambria Math" panose="02040503050406030204" pitchFamily="18" charset="0"/>
                        <a:cs typeface="Calibri" panose="020F0502020204030204" pitchFamily="34" charset="0"/>
                      </a:rPr>
                      <m:t>:</m:t>
                    </m:r>
                  </m:oMath>
                </a14:m>
                <a:r>
                  <a:rPr lang="en-US" sz="1500" dirty="0">
                    <a:latin typeface="Calibri" panose="020F0502020204030204" pitchFamily="34" charset="0"/>
                    <a:cs typeface="Calibri" panose="020F0502020204030204" pitchFamily="34" charset="0"/>
                  </a:rPr>
                  <a:t>  is the initial velocity</a:t>
                </a:r>
                <a:endParaRPr lang="en-GB" sz="1500" i="1" dirty="0">
                  <a:latin typeface="Cambria Math" panose="02040503050406030204" pitchFamily="18" charset="0"/>
                  <a:cs typeface="Calibri" panose="020F0502020204030204" pitchFamily="34" charset="0"/>
                </a:endParaRPr>
              </a:p>
              <a:p>
                <a:pPr marL="457200" lvl="1" indent="0" algn="just">
                  <a:buNone/>
                </a:pPr>
                <a14:m>
                  <m:oMath xmlns:m="http://schemas.openxmlformats.org/officeDocument/2006/math">
                    <m:r>
                      <a:rPr lang="en-US" sz="1500" i="1" dirty="0" smtClean="0">
                        <a:latin typeface="Cambria Math" panose="02040503050406030204" pitchFamily="18" charset="0"/>
                        <a:cs typeface="Calibri" panose="020F0502020204030204" pitchFamily="34" charset="0"/>
                      </a:rPr>
                      <m:t>𝑎</m:t>
                    </m:r>
                  </m:oMath>
                </a14:m>
                <a:r>
                  <a:rPr lang="en-US" sz="1500" dirty="0">
                    <a:latin typeface="Calibri" panose="020F0502020204030204" pitchFamily="34" charset="0"/>
                    <a:cs typeface="Calibri" panose="020F0502020204030204" pitchFamily="34" charset="0"/>
                  </a:rPr>
                  <a:t>: is the constant acceleration, </a:t>
                </a:r>
                <a14:m>
                  <m:oMath xmlns:m="http://schemas.openxmlformats.org/officeDocument/2006/math">
                    <m:r>
                      <a:rPr lang="en-GB" sz="1500" b="0" i="1" dirty="0" smtClean="0">
                        <a:latin typeface="Cambria Math" panose="02040503050406030204" pitchFamily="18" charset="0"/>
                        <a:cs typeface="Calibri" panose="020F0502020204030204" pitchFamily="34" charset="0"/>
                      </a:rPr>
                      <m:t>𝑡</m:t>
                    </m:r>
                    <m:r>
                      <a:rPr lang="en-GB" sz="1500" b="0" i="1" dirty="0" smtClean="0">
                        <a:latin typeface="Cambria Math" panose="02040503050406030204" pitchFamily="18" charset="0"/>
                        <a:cs typeface="Calibri" panose="020F0502020204030204" pitchFamily="34" charset="0"/>
                      </a:rPr>
                      <m:t>:</m:t>
                    </m:r>
                  </m:oMath>
                </a14:m>
                <a:r>
                  <a:rPr lang="en-US" sz="1500" dirty="0">
                    <a:latin typeface="Calibri" panose="020F0502020204030204" pitchFamily="34" charset="0"/>
                    <a:cs typeface="Calibri" panose="020F0502020204030204" pitchFamily="34" charset="0"/>
                  </a:rPr>
                  <a:t> is the time</a:t>
                </a:r>
                <a:endParaRPr lang="en-GB" sz="15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BB9C824B-2565-A317-1DE9-FD2BCF749D39}"/>
                  </a:ext>
                </a:extLst>
              </p:cNvPr>
              <p:cNvSpPr>
                <a:spLocks noGrp="1" noRot="1" noChangeAspect="1" noMove="1" noResize="1" noEditPoints="1" noAdjustHandles="1" noChangeArrowheads="1" noChangeShapeType="1" noTextEdit="1"/>
              </p:cNvSpPr>
              <p:nvPr>
                <p:ph idx="1"/>
              </p:nvPr>
            </p:nvSpPr>
            <p:spPr>
              <a:xfrm>
                <a:off x="838201" y="1825625"/>
                <a:ext cx="5257800" cy="4351338"/>
              </a:xfrm>
              <a:blipFill>
                <a:blip r:embed="rId2"/>
                <a:stretch>
                  <a:fillRect l="-1392" t="-1681" r="-1392" b="-7563"/>
                </a:stretch>
              </a:blipFill>
            </p:spPr>
            <p:txBody>
              <a:bodyPr/>
              <a:lstStyle/>
              <a:p>
                <a:r>
                  <a:rPr lang="en-GB">
                    <a:noFill/>
                  </a:rPr>
                  <a:t> </a:t>
                </a:r>
              </a:p>
            </p:txBody>
          </p:sp>
        </mc:Fallback>
      </mc:AlternateContent>
      <p:pic>
        <p:nvPicPr>
          <p:cNvPr id="7" name="Picture 6" descr="A screenshot of a computer screen&#10;&#10;Description automatically generated">
            <a:extLst>
              <a:ext uri="{FF2B5EF4-FFF2-40B4-BE49-F238E27FC236}">
                <a16:creationId xmlns:a16="http://schemas.microsoft.com/office/drawing/2014/main" id="{96BE9C2C-E540-154F-0D7C-465EAEE320C9}"/>
              </a:ext>
            </a:extLst>
          </p:cNvPr>
          <p:cNvPicPr>
            <a:picLocks noChangeAspect="1"/>
          </p:cNvPicPr>
          <p:nvPr/>
        </p:nvPicPr>
        <p:blipFill rotWithShape="1">
          <a:blip r:embed="rId3">
            <a:extLst>
              <a:ext uri="{28A0092B-C50C-407E-A947-70E740481C1C}">
                <a14:useLocalDpi xmlns:a14="http://schemas.microsoft.com/office/drawing/2010/main" val="0"/>
              </a:ext>
            </a:extLst>
          </a:blip>
          <a:srcRect l="6462" t="9931" r="18348" b="33694"/>
          <a:stretch/>
        </p:blipFill>
        <p:spPr>
          <a:xfrm>
            <a:off x="6779741" y="365124"/>
            <a:ext cx="5165124" cy="4456137"/>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97F2232B-2FC2-52E4-281D-A27E9DF58B2C}"/>
              </a:ext>
            </a:extLst>
          </p:cNvPr>
          <p:cNvPicPr>
            <a:picLocks noChangeAspect="1"/>
          </p:cNvPicPr>
          <p:nvPr/>
        </p:nvPicPr>
        <p:blipFill rotWithShape="1">
          <a:blip r:embed="rId4">
            <a:extLst>
              <a:ext uri="{28A0092B-C50C-407E-A947-70E740481C1C}">
                <a14:useLocalDpi xmlns:a14="http://schemas.microsoft.com/office/drawing/2010/main" val="0"/>
              </a:ext>
            </a:extLst>
          </a:blip>
          <a:srcRect l="2962" t="4134" r="17243" b="57596"/>
          <a:stretch/>
        </p:blipFill>
        <p:spPr>
          <a:xfrm>
            <a:off x="6813145" y="4942702"/>
            <a:ext cx="5131720" cy="1787612"/>
          </a:xfrm>
          <a:prstGeom prst="rect">
            <a:avLst/>
          </a:prstGeom>
        </p:spPr>
      </p:pic>
    </p:spTree>
    <p:extLst>
      <p:ext uri="{BB962C8B-B14F-4D97-AF65-F5344CB8AC3E}">
        <p14:creationId xmlns:p14="http://schemas.microsoft.com/office/powerpoint/2010/main" val="1183049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5: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Declare variables: </a:t>
            </a:r>
            <a:r>
              <a:rPr lang="en-US" sz="2200" dirty="0" err="1">
                <a:latin typeface="Calibri" panose="020F0502020204030204" pitchFamily="34" charset="0"/>
                <a:cs typeface="Calibri" panose="020F0502020204030204" pitchFamily="34" charset="0"/>
              </a:rPr>
              <a:t>initial_velocity</a:t>
            </a:r>
            <a:r>
              <a:rPr lang="en-US" sz="2200" dirty="0">
                <a:latin typeface="Calibri" panose="020F0502020204030204" pitchFamily="34" charset="0"/>
                <a:cs typeface="Calibri" panose="020F0502020204030204" pitchFamily="34" charset="0"/>
              </a:rPr>
              <a:t>, acceleration, and </a:t>
            </a:r>
            <a:r>
              <a:rPr lang="en-US" sz="2200" dirty="0" err="1">
                <a:latin typeface="Calibri" panose="020F0502020204030204" pitchFamily="34" charset="0"/>
                <a:cs typeface="Calibri" panose="020F0502020204030204" pitchFamily="34" charset="0"/>
              </a:rPr>
              <a:t>time_intervals</a:t>
            </a:r>
            <a:r>
              <a:rPr lang="en-US" sz="2200" dirty="0">
                <a:latin typeface="Calibri" panose="020F0502020204030204" pitchFamily="34" charset="0"/>
                <a:cs typeface="Calibri" panose="020F0502020204030204" pitchFamily="34" charset="0"/>
              </a:rPr>
              <a:t> to store the respective values.</a:t>
            </a:r>
          </a:p>
          <a:p>
            <a:pPr algn="just"/>
            <a:r>
              <a:rPr lang="en-US" sz="2200" dirty="0">
                <a:latin typeface="Calibri" panose="020F0502020204030204" pitchFamily="34" charset="0"/>
                <a:cs typeface="Calibri" panose="020F0502020204030204" pitchFamily="34" charset="0"/>
              </a:rPr>
              <a:t>Ask the user to enter the initial velocity, constant acceleration, and number of time intervals.</a:t>
            </a:r>
          </a:p>
          <a:p>
            <a:pPr algn="just"/>
            <a:r>
              <a:rPr lang="en-US" sz="2200" dirty="0">
                <a:latin typeface="Calibri" panose="020F0502020204030204" pitchFamily="34" charset="0"/>
                <a:cs typeface="Calibri" panose="020F0502020204030204" pitchFamily="34" charset="0"/>
              </a:rPr>
              <a:t>Use a for loop to iterate through each time interval:</a:t>
            </a:r>
          </a:p>
          <a:p>
            <a:pPr lvl="1" algn="just"/>
            <a:r>
              <a:rPr lang="en-US" sz="2000" dirty="0">
                <a:latin typeface="Calibri" panose="020F0502020204030204" pitchFamily="34" charset="0"/>
                <a:cs typeface="Calibri" panose="020F0502020204030204" pitchFamily="34" charset="0"/>
              </a:rPr>
              <a:t>Calculate the displacement using the kinematic equation.</a:t>
            </a:r>
          </a:p>
          <a:p>
            <a:pPr lvl="1" algn="just"/>
            <a:r>
              <a:rPr lang="en-US" sz="2000" dirty="0">
                <a:latin typeface="Calibri" panose="020F0502020204030204" pitchFamily="34" charset="0"/>
                <a:cs typeface="Calibri" panose="020F0502020204030204" pitchFamily="34" charset="0"/>
              </a:rPr>
              <a:t>Print the displacement for each time interval.</a:t>
            </a: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5104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6: for Loop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dirty="0">
                    <a:latin typeface="Calibri" panose="020F0502020204030204" pitchFamily="34" charset="0"/>
                    <a:cs typeface="Calibri" panose="020F0502020204030204" pitchFamily="34" charset="0"/>
                  </a:rPr>
                  <a:t>Write a C program that calculates and prints the values of a sinusoidal function over a specified range of angles using a for loop. The program should:</a:t>
                </a:r>
              </a:p>
              <a:p>
                <a:pPr lvl="1" algn="just"/>
                <a:r>
                  <a:rPr lang="en-US" sz="2000" dirty="0">
                    <a:latin typeface="Calibri" panose="020F0502020204030204" pitchFamily="34" charset="0"/>
                    <a:cs typeface="Calibri" panose="020F0502020204030204" pitchFamily="34" charset="0"/>
                  </a:rPr>
                  <a:t>Read the starting angle, ending angle, and the step size from the user</a:t>
                </a:r>
              </a:p>
              <a:p>
                <a:pPr lvl="1" algn="just"/>
                <a:r>
                  <a:rPr lang="en-US" sz="2000" dirty="0">
                    <a:latin typeface="Calibri" panose="020F0502020204030204" pitchFamily="34" charset="0"/>
                    <a:cs typeface="Calibri" panose="020F0502020204030204" pitchFamily="34" charset="0"/>
                  </a:rPr>
                  <a:t>Use a for loop to calculate the sine of each angle in the specified range</a:t>
                </a:r>
              </a:p>
              <a:p>
                <a:pPr lvl="1" algn="just"/>
                <a:r>
                  <a:rPr lang="en-US" sz="2000" dirty="0">
                    <a:latin typeface="Calibri" panose="020F0502020204030204" pitchFamily="34" charset="0"/>
                    <a:cs typeface="Calibri" panose="020F0502020204030204" pitchFamily="34" charset="0"/>
                  </a:rPr>
                  <a:t>Print the angle and its sine value.</a:t>
                </a:r>
              </a:p>
              <a:p>
                <a:pPr marL="457200" lvl="1" indent="0" algn="just">
                  <a:buNone/>
                </a:pPr>
                <a:r>
                  <a:rPr lang="en-US" sz="2000" dirty="0">
                    <a:latin typeface="Calibri" panose="020F0502020204030204" pitchFamily="34" charset="0"/>
                    <a:cs typeface="Calibri" panose="020F0502020204030204" pitchFamily="34" charset="0"/>
                  </a:rPr>
                  <a:t>Use the following formula for the sine function:</a:t>
                </a:r>
              </a:p>
              <a:p>
                <a:pPr marL="457200" lvl="1" indent="0" algn="just">
                  <a:buNone/>
                </a:pPr>
                <a14:m>
                  <m:oMath xmlns:m="http://schemas.openxmlformats.org/officeDocument/2006/math">
                    <m:r>
                      <a:rPr lang="en-GB" sz="2000" b="0" i="1" smtClean="0">
                        <a:latin typeface="Cambria Math" panose="02040503050406030204" pitchFamily="18" charset="0"/>
                        <a:cs typeface="Calibri" panose="020F0502020204030204" pitchFamily="34" charset="0"/>
                      </a:rPr>
                      <m:t>𝑦</m:t>
                    </m:r>
                    <m:r>
                      <a:rPr lang="en-GB" sz="2000" b="0" i="1" smtClean="0">
                        <a:latin typeface="Cambria Math" panose="02040503050406030204" pitchFamily="18" charset="0"/>
                        <a:cs typeface="Calibri" panose="020F0502020204030204" pitchFamily="34" charset="0"/>
                      </a:rPr>
                      <m:t>=</m:t>
                    </m:r>
                    <m:r>
                      <m:rPr>
                        <m:sty m:val="p"/>
                      </m:rPr>
                      <a:rPr lang="en-GB" sz="2000" b="0" i="0" smtClean="0">
                        <a:latin typeface="Cambria Math" panose="02040503050406030204" pitchFamily="18" charset="0"/>
                        <a:cs typeface="Calibri" panose="020F0502020204030204" pitchFamily="34" charset="0"/>
                      </a:rPr>
                      <m:t>sin</m:t>
                    </m:r>
                    <m:r>
                      <a:rPr lang="en-GB" sz="2000" b="0" i="1" smtClean="0">
                        <a:latin typeface="Cambria Math" panose="02040503050406030204" pitchFamily="18" charset="0"/>
                        <a:cs typeface="Calibri" panose="020F0502020204030204" pitchFamily="34" charset="0"/>
                      </a:rPr>
                      <m:t>⁡(</m:t>
                    </m:r>
                    <m:r>
                      <a:rPr lang="en-GB" sz="2000" b="0" i="1" smtClean="0">
                        <a:latin typeface="Cambria Math" panose="02040503050406030204" pitchFamily="18" charset="0"/>
                        <a:cs typeface="Calibri" panose="020F0502020204030204" pitchFamily="34" charset="0"/>
                      </a:rPr>
                      <m:t>𝜃</m:t>
                    </m:r>
                    <m:r>
                      <a:rPr lang="en-GB" sz="2000" b="0" i="1" smtClean="0">
                        <a:latin typeface="Cambria Math" panose="02040503050406030204" pitchFamily="18" charset="0"/>
                        <a:cs typeface="Calibri" panose="020F0502020204030204" pitchFamily="34" charset="0"/>
                      </a:rPr>
                      <m:t>)</m:t>
                    </m:r>
                  </m:oMath>
                </a14:m>
                <a:r>
                  <a:rPr lang="en-US" sz="2000" dirty="0">
                    <a:latin typeface="Calibri" panose="020F0502020204030204" pitchFamily="34" charset="0"/>
                    <a:cs typeface="Calibri" panose="020F0502020204030204" pitchFamily="34" charset="0"/>
                  </a:rPr>
                  <a:t>, where </a:t>
                </a:r>
                <a14:m>
                  <m:oMath xmlns:m="http://schemas.openxmlformats.org/officeDocument/2006/math">
                    <m:r>
                      <a:rPr lang="en-GB" sz="2000" b="0" i="1" smtClean="0">
                        <a:latin typeface="Cambria Math" panose="02040503050406030204" pitchFamily="18" charset="0"/>
                        <a:cs typeface="Calibri" panose="020F0502020204030204" pitchFamily="34" charset="0"/>
                      </a:rPr>
                      <m:t>𝜃</m:t>
                    </m:r>
                  </m:oMath>
                </a14:m>
                <a:r>
                  <a:rPr lang="en-US" sz="2000" dirty="0">
                    <a:latin typeface="Calibri" panose="020F0502020204030204" pitchFamily="34" charset="0"/>
                    <a:cs typeface="Calibri" panose="020F0502020204030204" pitchFamily="34" charset="0"/>
                  </a:rPr>
                  <a:t> is the angle in radians</a:t>
                </a:r>
                <a:endParaRPr lang="en-GB" sz="20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BB9C824B-2565-A317-1DE9-FD2BCF749D39}"/>
                  </a:ext>
                </a:extLst>
              </p:cNvPr>
              <p:cNvSpPr>
                <a:spLocks noGrp="1" noRot="1" noChangeAspect="1" noMove="1" noResize="1" noEditPoints="1" noAdjustHandles="1" noChangeArrowheads="1" noChangeShapeType="1" noTextEdit="1"/>
              </p:cNvSpPr>
              <p:nvPr>
                <p:ph idx="1"/>
              </p:nvPr>
            </p:nvSpPr>
            <p:spPr>
              <a:xfrm>
                <a:off x="838201" y="1825625"/>
                <a:ext cx="5257800" cy="4351338"/>
              </a:xfrm>
              <a:blipFill>
                <a:blip r:embed="rId2"/>
                <a:stretch>
                  <a:fillRect l="-1392" t="-1681" r="-1392"/>
                </a:stretch>
              </a:blipFill>
            </p:spPr>
            <p:txBody>
              <a:bodyPr/>
              <a:lstStyle/>
              <a:p>
                <a:r>
                  <a:rPr lang="en-GB">
                    <a:noFill/>
                  </a:rPr>
                  <a:t> </a:t>
                </a:r>
              </a:p>
            </p:txBody>
          </p:sp>
        </mc:Fallback>
      </mc:AlternateContent>
      <p:pic>
        <p:nvPicPr>
          <p:cNvPr id="6" name="Picture 5" descr="A screenshot of a computer&#10;&#10;Description automatically generated">
            <a:extLst>
              <a:ext uri="{FF2B5EF4-FFF2-40B4-BE49-F238E27FC236}">
                <a16:creationId xmlns:a16="http://schemas.microsoft.com/office/drawing/2014/main" id="{ACC60B9D-DA9E-7C05-BBFD-46D1A3A2C7D4}"/>
              </a:ext>
            </a:extLst>
          </p:cNvPr>
          <p:cNvPicPr>
            <a:picLocks noChangeAspect="1"/>
          </p:cNvPicPr>
          <p:nvPr/>
        </p:nvPicPr>
        <p:blipFill rotWithShape="1">
          <a:blip r:embed="rId3">
            <a:extLst>
              <a:ext uri="{28A0092B-C50C-407E-A947-70E740481C1C}">
                <a14:useLocalDpi xmlns:a14="http://schemas.microsoft.com/office/drawing/2010/main" val="0"/>
              </a:ext>
            </a:extLst>
          </a:blip>
          <a:srcRect l="2845" t="4489" r="18032" b="46167"/>
          <a:stretch/>
        </p:blipFill>
        <p:spPr>
          <a:xfrm>
            <a:off x="7585971" y="4741151"/>
            <a:ext cx="4399326" cy="1992706"/>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7749C286-86E9-EAD1-4241-F8BCD6907354}"/>
              </a:ext>
            </a:extLst>
          </p:cNvPr>
          <p:cNvPicPr>
            <a:picLocks noChangeAspect="1"/>
          </p:cNvPicPr>
          <p:nvPr/>
        </p:nvPicPr>
        <p:blipFill rotWithShape="1">
          <a:blip r:embed="rId4">
            <a:extLst>
              <a:ext uri="{28A0092B-C50C-407E-A947-70E740481C1C}">
                <a14:useLocalDpi xmlns:a14="http://schemas.microsoft.com/office/drawing/2010/main" val="0"/>
              </a:ext>
            </a:extLst>
          </a:blip>
          <a:srcRect l="6324" t="9931" r="14617" b="22642"/>
          <a:stretch/>
        </p:blipFill>
        <p:spPr>
          <a:xfrm>
            <a:off x="7273254" y="365125"/>
            <a:ext cx="4712043" cy="4624131"/>
          </a:xfrm>
          <a:prstGeom prst="rect">
            <a:avLst/>
          </a:prstGeom>
        </p:spPr>
      </p:pic>
    </p:spTree>
    <p:extLst>
      <p:ext uri="{BB962C8B-B14F-4D97-AF65-F5344CB8AC3E}">
        <p14:creationId xmlns:p14="http://schemas.microsoft.com/office/powerpoint/2010/main" val="2680435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6: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Include the math library: Include &lt;</a:t>
                </a:r>
                <a:r>
                  <a:rPr lang="en-US" sz="2200" dirty="0" err="1">
                    <a:latin typeface="Calibri" panose="020F0502020204030204" pitchFamily="34" charset="0"/>
                    <a:cs typeface="Calibri" panose="020F0502020204030204" pitchFamily="34" charset="0"/>
                  </a:rPr>
                  <a:t>math.h</a:t>
                </a:r>
                <a:r>
                  <a:rPr lang="en-US" sz="2200" dirty="0">
                    <a:latin typeface="Calibri" panose="020F0502020204030204" pitchFamily="34" charset="0"/>
                    <a:cs typeface="Calibri" panose="020F0502020204030204" pitchFamily="34" charset="0"/>
                  </a:rPr>
                  <a:t>&gt; to use the sin function and define PI for converting degrees to radians.</a:t>
                </a:r>
              </a:p>
              <a:p>
                <a:pPr algn="just"/>
                <a:r>
                  <a:rPr lang="en-US" sz="2200" dirty="0">
                    <a:latin typeface="Calibri" panose="020F0502020204030204" pitchFamily="34" charset="0"/>
                    <a:cs typeface="Calibri" panose="020F0502020204030204" pitchFamily="34" charset="0"/>
                  </a:rPr>
                  <a:t>Declare variables: </a:t>
                </a:r>
                <a:r>
                  <a:rPr lang="en-US" sz="2200" dirty="0" err="1">
                    <a:latin typeface="Calibri" panose="020F0502020204030204" pitchFamily="34" charset="0"/>
                    <a:cs typeface="Calibri" panose="020F0502020204030204" pitchFamily="34" charset="0"/>
                  </a:rPr>
                  <a:t>start_angle</a:t>
                </a:r>
                <a:r>
                  <a:rPr lang="en-US" sz="2200" dirty="0">
                    <a:latin typeface="Calibri" panose="020F0502020204030204" pitchFamily="34" charset="0"/>
                    <a:cs typeface="Calibri" panose="020F0502020204030204" pitchFamily="34" charset="0"/>
                  </a:rPr>
                  <a:t>, </a:t>
                </a:r>
                <a:r>
                  <a:rPr lang="en-US" sz="2200" dirty="0" err="1">
                    <a:latin typeface="Calibri" panose="020F0502020204030204" pitchFamily="34" charset="0"/>
                    <a:cs typeface="Calibri" panose="020F0502020204030204" pitchFamily="34" charset="0"/>
                  </a:rPr>
                  <a:t>end_angle</a:t>
                </a:r>
                <a:r>
                  <a:rPr lang="en-US" sz="2200" dirty="0">
                    <a:latin typeface="Calibri" panose="020F0502020204030204" pitchFamily="34" charset="0"/>
                    <a:cs typeface="Calibri" panose="020F0502020204030204" pitchFamily="34" charset="0"/>
                  </a:rPr>
                  <a:t>, and </a:t>
                </a:r>
                <a:r>
                  <a:rPr lang="en-US" sz="2200" dirty="0" err="1">
                    <a:latin typeface="Calibri" panose="020F0502020204030204" pitchFamily="34" charset="0"/>
                    <a:cs typeface="Calibri" panose="020F0502020204030204" pitchFamily="34" charset="0"/>
                  </a:rPr>
                  <a:t>step_size</a:t>
                </a:r>
                <a:r>
                  <a:rPr lang="en-US" sz="2200" dirty="0">
                    <a:latin typeface="Calibri" panose="020F0502020204030204" pitchFamily="34" charset="0"/>
                    <a:cs typeface="Calibri" panose="020F0502020204030204" pitchFamily="34" charset="0"/>
                  </a:rPr>
                  <a:t> to store the respective user inputs.</a:t>
                </a:r>
              </a:p>
              <a:p>
                <a:pPr algn="just"/>
                <a:r>
                  <a:rPr lang="en-US" sz="2200" dirty="0">
                    <a:latin typeface="Calibri" panose="020F0502020204030204" pitchFamily="34" charset="0"/>
                    <a:cs typeface="Calibri" panose="020F0502020204030204" pitchFamily="34" charset="0"/>
                  </a:rPr>
                  <a:t>Ask the user: Get the starting angle, ending angle, and step size from the user.</a:t>
                </a:r>
              </a:p>
              <a:p>
                <a:pPr algn="just"/>
                <a:r>
                  <a:rPr lang="en-US" sz="2200" dirty="0">
                    <a:latin typeface="Calibri" panose="020F0502020204030204" pitchFamily="34" charset="0"/>
                    <a:cs typeface="Calibri" panose="020F0502020204030204" pitchFamily="34" charset="0"/>
                  </a:rPr>
                  <a:t>Use a for loop to iterate through the angles from </a:t>
                </a:r>
                <a:r>
                  <a:rPr lang="en-US" sz="2200" dirty="0" err="1">
                    <a:latin typeface="Calibri" panose="020F0502020204030204" pitchFamily="34" charset="0"/>
                    <a:cs typeface="Calibri" panose="020F0502020204030204" pitchFamily="34" charset="0"/>
                  </a:rPr>
                  <a:t>start_angle</a:t>
                </a:r>
                <a:r>
                  <a:rPr lang="en-US" sz="2200" dirty="0">
                    <a:latin typeface="Calibri" panose="020F0502020204030204" pitchFamily="34" charset="0"/>
                    <a:cs typeface="Calibri" panose="020F0502020204030204" pitchFamily="34" charset="0"/>
                  </a:rPr>
                  <a:t> to </a:t>
                </a:r>
                <a:r>
                  <a:rPr lang="en-US" sz="2200" dirty="0" err="1">
                    <a:latin typeface="Calibri" panose="020F0502020204030204" pitchFamily="34" charset="0"/>
                    <a:cs typeface="Calibri" panose="020F0502020204030204" pitchFamily="34" charset="0"/>
                  </a:rPr>
                  <a:t>end_angle</a:t>
                </a:r>
                <a:r>
                  <a:rPr lang="en-US" sz="2200" dirty="0">
                    <a:latin typeface="Calibri" panose="020F0502020204030204" pitchFamily="34" charset="0"/>
                    <a:cs typeface="Calibri" panose="020F0502020204030204" pitchFamily="34" charset="0"/>
                  </a:rPr>
                  <a:t> with a step size of </a:t>
                </a:r>
                <a:r>
                  <a:rPr lang="en-US" sz="2200" dirty="0" err="1">
                    <a:latin typeface="Calibri" panose="020F0502020204030204" pitchFamily="34" charset="0"/>
                    <a:cs typeface="Calibri" panose="020F0502020204030204" pitchFamily="34" charset="0"/>
                  </a:rPr>
                  <a:t>step_size</a:t>
                </a:r>
                <a:r>
                  <a:rPr lang="en-US" sz="2200" dirty="0">
                    <a:latin typeface="Calibri" panose="020F0502020204030204" pitchFamily="34" charset="0"/>
                    <a:cs typeface="Calibri" panose="020F0502020204030204" pitchFamily="34" charset="0"/>
                  </a:rPr>
                  <a:t>:</a:t>
                </a:r>
              </a:p>
              <a:p>
                <a:pPr lvl="1" algn="just"/>
                <a:r>
                  <a:rPr lang="en-US" sz="2000" dirty="0">
                    <a:latin typeface="Calibri" panose="020F0502020204030204" pitchFamily="34" charset="0"/>
                    <a:cs typeface="Calibri" panose="020F0502020204030204" pitchFamily="34" charset="0"/>
                  </a:rPr>
                  <a:t>Convert each angle from degrees to radians using the formula</a:t>
                </a:r>
              </a:p>
              <a:p>
                <a:pPr marL="457200" lvl="1" indent="0" algn="ctr">
                  <a:buNone/>
                </a:pPr>
                <a:r>
                  <a:rPr lang="en-US" sz="2000" dirty="0">
                    <a:latin typeface="Calibri" panose="020F0502020204030204" pitchFamily="34" charset="0"/>
                    <a:cs typeface="Calibri" panose="020F0502020204030204" pitchFamily="34" charset="0"/>
                  </a:rPr>
                  <a:t> </a:t>
                </a:r>
                <a14:m>
                  <m:oMath xmlns:m="http://schemas.openxmlformats.org/officeDocument/2006/math">
                    <m:r>
                      <a:rPr lang="en-US" sz="2000" i="1" dirty="0" smtClean="0">
                        <a:latin typeface="Cambria Math" panose="02040503050406030204" pitchFamily="18" charset="0"/>
                        <a:cs typeface="Calibri" panose="020F0502020204030204" pitchFamily="34" charset="0"/>
                      </a:rPr>
                      <m:t>𝑟𝑎𝑑𝑖𝑎𝑛𝑠</m:t>
                    </m:r>
                    <m:r>
                      <a:rPr lang="en-US" sz="2000" i="1" dirty="0" smtClean="0">
                        <a:latin typeface="Cambria Math" panose="02040503050406030204" pitchFamily="18" charset="0"/>
                        <a:cs typeface="Calibri" panose="020F0502020204030204" pitchFamily="34" charset="0"/>
                      </a:rPr>
                      <m:t> = </m:t>
                    </m:r>
                    <m:r>
                      <a:rPr lang="en-US" sz="2000" i="1" dirty="0" smtClean="0">
                        <a:latin typeface="Cambria Math" panose="02040503050406030204" pitchFamily="18" charset="0"/>
                        <a:cs typeface="Calibri" panose="020F0502020204030204" pitchFamily="34" charset="0"/>
                      </a:rPr>
                      <m:t>𝑎𝑛𝑔𝑙𝑒</m:t>
                    </m:r>
                    <m:r>
                      <a:rPr lang="en-GB" sz="2000" b="0" i="1" dirty="0" smtClean="0">
                        <a:latin typeface="Cambria Math" panose="02040503050406030204" pitchFamily="18" charset="0"/>
                        <a:cs typeface="Calibri" panose="020F0502020204030204" pitchFamily="34" charset="0"/>
                      </a:rPr>
                      <m:t>×</m:t>
                    </m:r>
                    <m:r>
                      <a:rPr lang="en-US" sz="2000" i="1" dirty="0" smtClean="0">
                        <a:latin typeface="Cambria Math" panose="02040503050406030204" pitchFamily="18" charset="0"/>
                        <a:cs typeface="Calibri" panose="020F0502020204030204" pitchFamily="34" charset="0"/>
                      </a:rPr>
                      <m:t> </m:t>
                    </m:r>
                    <m:f>
                      <m:fPr>
                        <m:ctrlPr>
                          <a:rPr lang="en-US" sz="2000" i="1" dirty="0" smtClean="0">
                            <a:latin typeface="Cambria Math" panose="02040503050406030204" pitchFamily="18" charset="0"/>
                            <a:cs typeface="Calibri" panose="020F0502020204030204" pitchFamily="34" charset="0"/>
                          </a:rPr>
                        </m:ctrlPr>
                      </m:fPr>
                      <m:num>
                        <m:r>
                          <a:rPr lang="en-GB" sz="2000" b="0" i="1" dirty="0" smtClean="0">
                            <a:latin typeface="Cambria Math" panose="02040503050406030204" pitchFamily="18" charset="0"/>
                            <a:cs typeface="Calibri" panose="020F0502020204030204" pitchFamily="34" charset="0"/>
                          </a:rPr>
                          <m:t>𝜋</m:t>
                        </m:r>
                      </m:num>
                      <m:den>
                        <m:r>
                          <a:rPr lang="en-GB" sz="2000" b="0" i="1" dirty="0" smtClean="0">
                            <a:latin typeface="Cambria Math" panose="02040503050406030204" pitchFamily="18" charset="0"/>
                            <a:cs typeface="Calibri" panose="020F0502020204030204" pitchFamily="34" charset="0"/>
                          </a:rPr>
                          <m:t>180</m:t>
                        </m:r>
                      </m:den>
                    </m:f>
                  </m:oMath>
                </a14:m>
                <a:endParaRPr lang="en-US" sz="20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Calculate the sine of the angle in radians using the sin function.</a:t>
                </a:r>
              </a:p>
              <a:p>
                <a:pPr lvl="1" algn="just"/>
                <a:r>
                  <a:rPr lang="en-US" sz="2000" dirty="0">
                    <a:latin typeface="Calibri" panose="020F0502020204030204" pitchFamily="34" charset="0"/>
                    <a:cs typeface="Calibri" panose="020F0502020204030204" pitchFamily="34" charset="0"/>
                  </a:rPr>
                  <a:t>Print the angle (in degrees) and its sine value.</a:t>
                </a:r>
              </a:p>
            </p:txBody>
          </p:sp>
        </mc:Choice>
        <mc:Fallback xmlns="">
          <p:sp>
            <p:nvSpPr>
              <p:cNvPr id="3" name="Content Placeholder 2">
                <a:extLst>
                  <a:ext uri="{FF2B5EF4-FFF2-40B4-BE49-F238E27FC236}">
                    <a16:creationId xmlns:a16="http://schemas.microsoft.com/office/drawing/2014/main" id="{EDE8814D-DFC5-7897-AC60-F024A61A560B}"/>
                  </a:ext>
                </a:extLst>
              </p:cNvPr>
              <p:cNvSpPr>
                <a:spLocks noGrp="1" noRot="1" noChangeAspect="1" noMove="1" noResize="1" noEditPoints="1" noAdjustHandles="1" noChangeArrowheads="1" noChangeShapeType="1" noTextEdit="1"/>
              </p:cNvSpPr>
              <p:nvPr>
                <p:ph idx="1"/>
              </p:nvPr>
            </p:nvSpPr>
            <p:spPr>
              <a:blipFill>
                <a:blip r:embed="rId2"/>
                <a:stretch>
                  <a:fillRect l="-696" t="-1681" r="-696"/>
                </a:stretch>
              </a:blipFill>
            </p:spPr>
            <p:txBody>
              <a:bodyPr/>
              <a:lstStyle/>
              <a:p>
                <a:r>
                  <a:rPr lang="en-GB">
                    <a:noFill/>
                  </a:rPr>
                  <a:t> </a:t>
                </a:r>
              </a:p>
            </p:txBody>
          </p:sp>
        </mc:Fallback>
      </mc:AlternateContent>
    </p:spTree>
    <p:extLst>
      <p:ext uri="{BB962C8B-B14F-4D97-AF65-F5344CB8AC3E}">
        <p14:creationId xmlns:p14="http://schemas.microsoft.com/office/powerpoint/2010/main" val="3384749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Understanding Bit Models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A bit is a binary valued variable and is </a:t>
            </a:r>
            <a:r>
              <a:rPr lang="en-US" sz="2200" dirty="0">
                <a:latin typeface="Calibri" panose="020F0502020204030204" pitchFamily="34" charset="0"/>
                <a:cs typeface="Calibri" panose="020F0502020204030204" pitchFamily="34" charset="0"/>
              </a:rPr>
              <a:t>the smallest unit of data in a computer</a:t>
            </a:r>
            <a:r>
              <a:rPr lang="en-US" sz="2200" b="0" i="0" u="none" strike="noStrike" baseline="0" dirty="0">
                <a:latin typeface="Calibri" panose="020F0502020204030204" pitchFamily="34" charset="0"/>
                <a:cs typeface="Calibri" panose="020F0502020204030204" pitchFamily="34" charset="0"/>
              </a:rPr>
              <a:t>. </a:t>
            </a:r>
          </a:p>
          <a:p>
            <a:pPr algn="just"/>
            <a:r>
              <a:rPr lang="en-US" sz="2200" b="0" i="0" u="none" strike="noStrike" baseline="0" dirty="0">
                <a:latin typeface="Calibri" panose="020F0502020204030204" pitchFamily="34" charset="0"/>
                <a:cs typeface="Calibri" panose="020F0502020204030204" pitchFamily="34" charset="0"/>
              </a:rPr>
              <a:t>The two possible values are typically written as 1 and 0, or true and false.</a:t>
            </a:r>
          </a:p>
          <a:p>
            <a:pPr algn="just"/>
            <a:r>
              <a:rPr lang="en-US" sz="2200" b="0" i="0" u="none" strike="noStrike" baseline="0" dirty="0">
                <a:latin typeface="Calibri" panose="020F0502020204030204" pitchFamily="34" charset="0"/>
                <a:cs typeface="Calibri" panose="020F0502020204030204" pitchFamily="34" charset="0"/>
              </a:rPr>
              <a:t>Since a single bit can only represent only two values, we must group bits together to:</a:t>
            </a:r>
          </a:p>
          <a:p>
            <a:pPr lvl="1" algn="just"/>
            <a:r>
              <a:rPr lang="en-US" sz="2000" b="0" i="0" u="none" strike="noStrike" baseline="0" dirty="0">
                <a:latin typeface="Calibri" panose="020F0502020204030204" pitchFamily="34" charset="0"/>
                <a:cs typeface="Calibri" panose="020F0502020204030204" pitchFamily="34" charset="0"/>
              </a:rPr>
              <a:t>represent a wider range of numbers and</a:t>
            </a:r>
            <a:endParaRPr lang="en-US" sz="20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manipulate data at the binary level </a:t>
            </a:r>
          </a:p>
          <a:p>
            <a:pPr marL="0" indent="0" algn="just">
              <a:buNone/>
            </a:pPr>
            <a:r>
              <a:rPr lang="en-US" sz="2200" dirty="0">
                <a:latin typeface="Calibri" panose="020F0502020204030204" pitchFamily="34" charset="0"/>
                <a:cs typeface="Calibri" panose="020F0502020204030204" pitchFamily="34" charset="0"/>
              </a:rPr>
              <a:t>within computing systems.</a:t>
            </a:r>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The most common grouping is a byte, which is 8 bits grouped in sequence. </a:t>
            </a:r>
          </a:p>
          <a:p>
            <a:pPr lvl="1" algn="just"/>
            <a:r>
              <a:rPr lang="en-US" sz="2000" b="0" i="0" u="none" strike="noStrike" baseline="0" dirty="0">
                <a:latin typeface="Calibri" panose="020F0502020204030204" pitchFamily="34" charset="0"/>
                <a:cs typeface="Calibri" panose="020F0502020204030204" pitchFamily="34" charset="0"/>
              </a:rPr>
              <a:t>For example, the following is a byte:</a:t>
            </a:r>
          </a:p>
          <a:p>
            <a:pPr lvl="1" algn="just"/>
            <a:endParaRPr lang="en-US" sz="2000" dirty="0">
              <a:latin typeface="Calibri" panose="020F0502020204030204" pitchFamily="34" charset="0"/>
              <a:cs typeface="Calibri" panose="020F0502020204030204" pitchFamily="34" charset="0"/>
            </a:endParaRPr>
          </a:p>
          <a:p>
            <a:pPr lvl="1" algn="just"/>
            <a:endParaRPr lang="en-US" sz="220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When bits are grouped, there are a variety of methods for interpreting them collectively. </a:t>
            </a:r>
          </a:p>
          <a:p>
            <a:pPr algn="just"/>
            <a:r>
              <a:rPr lang="en-US" sz="2200" b="0" i="0" u="none" strike="noStrike" baseline="0" dirty="0">
                <a:latin typeface="Calibri" panose="020F0502020204030204" pitchFamily="34" charset="0"/>
                <a:cs typeface="Calibri" panose="020F0502020204030204" pitchFamily="34" charset="0"/>
              </a:rPr>
              <a:t>Each method of interpretation is called a </a:t>
            </a:r>
            <a:r>
              <a:rPr lang="en-US" sz="2200" b="0" i="1" u="none" strike="noStrike" baseline="0" dirty="0">
                <a:latin typeface="Calibri" panose="020F0502020204030204" pitchFamily="34" charset="0"/>
                <a:cs typeface="Calibri" panose="020F0502020204030204" pitchFamily="34" charset="0"/>
              </a:rPr>
              <a:t>bit model</a:t>
            </a:r>
            <a:r>
              <a:rPr lang="en-US" sz="2200" b="0" i="0" u="none" strike="noStrike" baseline="0" dirty="0">
                <a:latin typeface="Calibri" panose="020F0502020204030204" pitchFamily="34" charset="0"/>
                <a:cs typeface="Calibri" panose="020F0502020204030204" pitchFamily="34" charset="0"/>
              </a:rPr>
              <a:t>.</a:t>
            </a:r>
            <a:endParaRPr lang="en-US" sz="22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70AC852-AD8D-54A4-DD66-C910C04BE95A}"/>
              </a:ext>
            </a:extLst>
          </p:cNvPr>
          <p:cNvPicPr>
            <a:picLocks noChangeAspect="1"/>
          </p:cNvPicPr>
          <p:nvPr/>
        </p:nvPicPr>
        <p:blipFill rotWithShape="1">
          <a:blip r:embed="rId2"/>
          <a:srcRect l="46607" t="45568" r="39176" b="50000"/>
          <a:stretch/>
        </p:blipFill>
        <p:spPr>
          <a:xfrm>
            <a:off x="4436174" y="4940997"/>
            <a:ext cx="3319652" cy="619876"/>
          </a:xfrm>
          <a:prstGeom prst="rect">
            <a:avLst/>
          </a:prstGeom>
        </p:spPr>
      </p:pic>
    </p:spTree>
    <p:extLst>
      <p:ext uri="{BB962C8B-B14F-4D97-AF65-F5344CB8AC3E}">
        <p14:creationId xmlns:p14="http://schemas.microsoft.com/office/powerpoint/2010/main" val="4075061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Magnitude-only Bit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simplest bit model is for nonnegative whole numbers.</a:t>
                </a:r>
              </a:p>
              <a:p>
                <a:pPr algn="just"/>
                <a:r>
                  <a:rPr lang="en-US" sz="2200" b="0" i="0" u="none" strike="noStrike" baseline="0" dirty="0">
                    <a:latin typeface="Calibri" panose="020F0502020204030204" pitchFamily="34" charset="0"/>
                    <a:cs typeface="Calibri" panose="020F0502020204030204" pitchFamily="34" charset="0"/>
                  </a:rPr>
                  <a:t>It does not include information about the sign (positive or negative).</a:t>
                </a:r>
              </a:p>
              <a:p>
                <a:pPr algn="just"/>
                <a:r>
                  <a:rPr lang="en-US" sz="2200" b="0" i="0" u="none" strike="noStrike" baseline="0" dirty="0">
                    <a:latin typeface="Calibri" panose="020F0502020204030204" pitchFamily="34" charset="0"/>
                    <a:cs typeface="Calibri" panose="020F0502020204030204" pitchFamily="34" charset="0"/>
                  </a:rPr>
                  <a:t>Range: </a:t>
                </a:r>
              </a:p>
              <a:p>
                <a:pPr lvl="1" algn="just"/>
                <a:r>
                  <a:rPr lang="en-US" sz="2000" b="0" i="0" u="none" strike="noStrike" baseline="0" dirty="0">
                    <a:latin typeface="Calibri" panose="020F0502020204030204" pitchFamily="34" charset="0"/>
                    <a:cs typeface="Calibri" panose="020F0502020204030204" pitchFamily="34" charset="0"/>
                  </a:rPr>
                  <a:t>For an n-bit model, the range is from 0 to </a:t>
                </a:r>
                <a14:m>
                  <m:oMath xmlns:m="http://schemas.openxmlformats.org/officeDocument/2006/math">
                    <m:sSup>
                      <m:sSupPr>
                        <m:ctrlPr>
                          <a:rPr lang="en-GB" sz="2000" b="0" i="1" u="none" strike="noStrike" baseline="0" dirty="0" smtClean="0">
                            <a:latin typeface="Cambria Math" panose="02040503050406030204" pitchFamily="18" charset="0"/>
                            <a:cs typeface="Calibri" panose="020F0502020204030204" pitchFamily="34" charset="0"/>
                          </a:rPr>
                        </m:ctrlPr>
                      </m:sSupPr>
                      <m:e>
                        <m:r>
                          <a:rPr lang="en-US" sz="2000" b="0" i="1" u="none" strike="noStrike" baseline="0" dirty="0" smtClean="0">
                            <a:latin typeface="Cambria Math" panose="02040503050406030204" pitchFamily="18" charset="0"/>
                            <a:cs typeface="Calibri" panose="020F0502020204030204" pitchFamily="34" charset="0"/>
                          </a:rPr>
                          <m:t>2</m:t>
                        </m:r>
                      </m:e>
                      <m:sup>
                        <m:r>
                          <a:rPr lang="en-GB" sz="2000" b="0" i="1" u="none" strike="noStrike" baseline="0" dirty="0" smtClean="0">
                            <a:latin typeface="Cambria Math" panose="02040503050406030204" pitchFamily="18" charset="0"/>
                            <a:cs typeface="Calibri" panose="020F0502020204030204" pitchFamily="34" charset="0"/>
                          </a:rPr>
                          <m:t>𝑛</m:t>
                        </m:r>
                      </m:sup>
                    </m:sSup>
                    <m:r>
                      <a:rPr lang="en-GB" sz="2000" b="0" i="1" u="none" strike="noStrike" baseline="0" dirty="0" smtClean="0">
                        <a:latin typeface="Cambria Math" panose="02040503050406030204" pitchFamily="18" charset="0"/>
                        <a:cs typeface="Calibri" panose="020F0502020204030204" pitchFamily="34" charset="0"/>
                      </a:rPr>
                      <m:t>−1</m:t>
                    </m:r>
                  </m:oMath>
                </a14:m>
                <a:r>
                  <a:rPr lang="en-US" sz="2000" b="0" i="0" u="none" strike="noStrike" baseline="0" dirty="0">
                    <a:latin typeface="Calibri" panose="020F0502020204030204" pitchFamily="34" charset="0"/>
                    <a:cs typeface="Calibri" panose="020F0502020204030204" pitchFamily="34" charset="0"/>
                  </a:rPr>
                  <a:t>. </a:t>
                </a:r>
              </a:p>
              <a:p>
                <a:pPr lvl="1" algn="just"/>
                <a:r>
                  <a:rPr lang="en-US" sz="2000" b="0" i="0" u="none" strike="noStrike" baseline="0" dirty="0">
                    <a:latin typeface="Calibri" panose="020F0502020204030204" pitchFamily="34" charset="0"/>
                    <a:cs typeface="Calibri" panose="020F0502020204030204" pitchFamily="34" charset="0"/>
                  </a:rPr>
                  <a:t>Example: An 8-bit magnitude-only model ranges from 0 to 255.</a:t>
                </a:r>
              </a:p>
              <a:p>
                <a:pPr algn="just"/>
                <a:r>
                  <a:rPr lang="en-US" sz="2200" b="0" i="0" u="none" strike="noStrike" baseline="0" dirty="0">
                    <a:latin typeface="Calibri" panose="020F0502020204030204" pitchFamily="34" charset="0"/>
                    <a:cs typeface="Calibri" panose="020F0502020204030204" pitchFamily="34" charset="0"/>
                  </a:rPr>
                  <a:t>The place values of the bits are as follows:</a:t>
                </a:r>
              </a:p>
              <a:p>
                <a:pPr algn="just"/>
                <a:endParaRPr lang="en-US" sz="2400" dirty="0">
                  <a:latin typeface="Calibri" panose="020F0502020204030204" pitchFamily="34" charset="0"/>
                  <a:cs typeface="Calibri" panose="020F0502020204030204" pitchFamily="34" charset="0"/>
                </a:endParaRPr>
              </a:p>
              <a:p>
                <a:pPr algn="just"/>
                <a:endParaRPr lang="en-US" sz="2400" b="0" i="0" u="none" strike="noStrike" baseline="0" dirty="0">
                  <a:latin typeface="Calibri" panose="020F0502020204030204" pitchFamily="34" charset="0"/>
                  <a:cs typeface="Calibri" panose="020F0502020204030204" pitchFamily="34" charset="0"/>
                </a:endParaRPr>
              </a:p>
              <a:p>
                <a:pPr algn="just"/>
                <a:endParaRPr lang="en-US" sz="240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In this example, the value represented in the 8 bits (1 byte) is:</a:t>
                </a:r>
              </a:p>
              <a:p>
                <a:pPr marL="0" indent="0" algn="just">
                  <a:buNone/>
                </a:pPr>
                <a14:m>
                  <m:oMathPara xmlns:m="http://schemas.openxmlformats.org/officeDocument/2006/math">
                    <m:oMathParaPr>
                      <m:jc m:val="centerGroup"/>
                    </m:oMathParaPr>
                    <m:oMath xmlns:m="http://schemas.openxmlformats.org/officeDocument/2006/math">
                      <m:r>
                        <m:rPr>
                          <m:nor/>
                        </m:rPr>
                        <a:rPr lang="en-GB" sz="2000">
                          <a:latin typeface="Calibri" panose="020F0502020204030204" pitchFamily="34" charset="0"/>
                          <a:cs typeface="Calibri" panose="020F0502020204030204" pitchFamily="34" charset="0"/>
                        </a:rPr>
                        <m:t>0 + 0 + 0 + 16 + 0 + 0 + 2 + 1= 19</m:t>
                      </m:r>
                    </m:oMath>
                  </m:oMathPara>
                </a14:m>
                <a:endParaRPr lang="en-US" sz="2000" b="0" i="0" u="none" strike="noStrike" baseline="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EDE8814D-DFC5-7897-AC60-F024A61A560B}"/>
                  </a:ext>
                </a:extLst>
              </p:cNvPr>
              <p:cNvSpPr>
                <a:spLocks noGrp="1" noRot="1" noChangeAspect="1" noMove="1" noResize="1" noEditPoints="1" noAdjustHandles="1" noChangeArrowheads="1" noChangeShapeType="1" noTextEdit="1"/>
              </p:cNvSpPr>
              <p:nvPr>
                <p:ph idx="1"/>
              </p:nvPr>
            </p:nvSpPr>
            <p:spPr>
              <a:blipFill>
                <a:blip r:embed="rId2"/>
                <a:stretch>
                  <a:fillRect l="-696" t="-1681" b="-126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C8E4DD07-19F4-80E2-C269-C9AFA06B86BE}"/>
              </a:ext>
            </a:extLst>
          </p:cNvPr>
          <p:cNvPicPr>
            <a:picLocks noChangeAspect="1"/>
          </p:cNvPicPr>
          <p:nvPr/>
        </p:nvPicPr>
        <p:blipFill>
          <a:blip r:embed="rId3"/>
          <a:stretch>
            <a:fillRect/>
          </a:stretch>
        </p:blipFill>
        <p:spPr>
          <a:xfrm>
            <a:off x="2284160" y="4362777"/>
            <a:ext cx="5994867" cy="1074783"/>
          </a:xfrm>
          <a:prstGeom prst="rect">
            <a:avLst/>
          </a:prstGeom>
        </p:spPr>
      </p:pic>
    </p:spTree>
    <p:extLst>
      <p:ext uri="{BB962C8B-B14F-4D97-AF65-F5344CB8AC3E}">
        <p14:creationId xmlns:p14="http://schemas.microsoft.com/office/powerpoint/2010/main" val="4068340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Sign-Magnitude Bit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A bit model that represents both the magnitude and the sign of a number.</a:t>
                </a:r>
              </a:p>
              <a:p>
                <a:pPr algn="just"/>
                <a:r>
                  <a:rPr lang="en-US" sz="2200" dirty="0">
                    <a:latin typeface="Calibri" panose="020F0502020204030204" pitchFamily="34" charset="0"/>
                    <a:cs typeface="Calibri" panose="020F0502020204030204" pitchFamily="34" charset="0"/>
                  </a:rPr>
                  <a:t>It uses the most significant bit to indicate the sign: 0 for positive and 1 for negative.</a:t>
                </a:r>
              </a:p>
              <a:p>
                <a:pPr algn="just"/>
                <a:endParaRPr lang="en-US" sz="2200" dirty="0">
                  <a:latin typeface="Calibri" panose="020F0502020204030204" pitchFamily="34" charset="0"/>
                  <a:cs typeface="Calibri" panose="020F0502020204030204" pitchFamily="34" charset="0"/>
                </a:endParaRPr>
              </a:p>
              <a:p>
                <a:pPr marL="0" indent="0" algn="just">
                  <a:buNone/>
                </a:pPr>
                <a:endParaRPr lang="en-US" sz="2200" b="0" i="0" u="none" strike="noStrike" baseline="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In this example, the decimal value represented using the 8 bits is −19.</a:t>
                </a:r>
              </a:p>
              <a:p>
                <a:pPr algn="just"/>
                <a:r>
                  <a:rPr lang="en-US" sz="2200" b="0" i="0" u="none" strike="noStrike" baseline="0" dirty="0">
                    <a:latin typeface="Calibri" panose="020F0502020204030204" pitchFamily="34" charset="0"/>
                    <a:cs typeface="Calibri" panose="020F0502020204030204" pitchFamily="34" charset="0"/>
                  </a:rPr>
                  <a:t>Range: </a:t>
                </a:r>
              </a:p>
              <a:p>
                <a:pPr lvl="1" algn="just"/>
                <a:r>
                  <a:rPr lang="en-US" sz="2000" b="0" i="0" u="none" strike="noStrike" baseline="0" dirty="0">
                    <a:latin typeface="Calibri" panose="020F0502020204030204" pitchFamily="34" charset="0"/>
                    <a:cs typeface="Calibri" panose="020F0502020204030204" pitchFamily="34" charset="0"/>
                  </a:rPr>
                  <a:t>For an n-bit model, the range is from -(</a:t>
                </a:r>
                <a14:m>
                  <m:oMath xmlns:m="http://schemas.openxmlformats.org/officeDocument/2006/math">
                    <m:sSup>
                      <m:sSupPr>
                        <m:ctrlPr>
                          <a:rPr lang="en-GB" sz="2000" i="1" dirty="0">
                            <a:latin typeface="Cambria Math" panose="02040503050406030204" pitchFamily="18" charset="0"/>
                            <a:cs typeface="Calibri" panose="020F0502020204030204" pitchFamily="34" charset="0"/>
                          </a:rPr>
                        </m:ctrlPr>
                      </m:sSupPr>
                      <m:e>
                        <m:r>
                          <a:rPr lang="en-US" sz="2000" i="1" dirty="0">
                            <a:latin typeface="Cambria Math" panose="02040503050406030204" pitchFamily="18" charset="0"/>
                            <a:cs typeface="Calibri" panose="020F0502020204030204" pitchFamily="34" charset="0"/>
                          </a:rPr>
                          <m:t>2</m:t>
                        </m:r>
                      </m:e>
                      <m:sup>
                        <m:r>
                          <a:rPr lang="en-GB" sz="2000" i="1" dirty="0">
                            <a:latin typeface="Cambria Math" panose="02040503050406030204" pitchFamily="18" charset="0"/>
                            <a:cs typeface="Calibri" panose="020F0502020204030204" pitchFamily="34" charset="0"/>
                          </a:rPr>
                          <m:t>𝑛</m:t>
                        </m:r>
                        <m:r>
                          <a:rPr lang="en-GB" sz="2000" b="0" i="1" dirty="0" smtClean="0">
                            <a:latin typeface="Cambria Math" panose="02040503050406030204" pitchFamily="18" charset="0"/>
                            <a:cs typeface="Calibri" panose="020F0502020204030204" pitchFamily="34" charset="0"/>
                          </a:rPr>
                          <m:t>−1</m:t>
                        </m:r>
                      </m:sup>
                    </m:sSup>
                    <m:r>
                      <a:rPr lang="en-GB" sz="2000" i="1" dirty="0">
                        <a:latin typeface="Cambria Math" panose="02040503050406030204" pitchFamily="18" charset="0"/>
                        <a:cs typeface="Calibri" panose="020F0502020204030204" pitchFamily="34" charset="0"/>
                      </a:rPr>
                      <m:t>−1</m:t>
                    </m:r>
                  </m:oMath>
                </a14:m>
                <a:r>
                  <a:rPr lang="en-US" sz="2000" b="0" i="0" u="none" strike="noStrike" baseline="0" dirty="0">
                    <a:latin typeface="Calibri" panose="020F0502020204030204" pitchFamily="34" charset="0"/>
                    <a:cs typeface="Calibri" panose="020F0502020204030204" pitchFamily="34" charset="0"/>
                  </a:rPr>
                  <a:t>) to </a:t>
                </a:r>
                <a14:m>
                  <m:oMath xmlns:m="http://schemas.openxmlformats.org/officeDocument/2006/math">
                    <m:sSup>
                      <m:sSupPr>
                        <m:ctrlPr>
                          <a:rPr lang="en-GB" sz="2000" b="0" i="1" u="none" strike="noStrike" baseline="0" dirty="0" smtClean="0">
                            <a:latin typeface="Cambria Math" panose="02040503050406030204" pitchFamily="18" charset="0"/>
                            <a:cs typeface="Calibri" panose="020F0502020204030204" pitchFamily="34" charset="0"/>
                          </a:rPr>
                        </m:ctrlPr>
                      </m:sSupPr>
                      <m:e>
                        <m:r>
                          <a:rPr lang="en-US" sz="2000" b="0" i="1" u="none" strike="noStrike" baseline="0" dirty="0" smtClean="0">
                            <a:latin typeface="Cambria Math" panose="02040503050406030204" pitchFamily="18" charset="0"/>
                            <a:cs typeface="Calibri" panose="020F0502020204030204" pitchFamily="34" charset="0"/>
                          </a:rPr>
                          <m:t>2</m:t>
                        </m:r>
                      </m:e>
                      <m:sup>
                        <m:r>
                          <a:rPr lang="en-GB" sz="2000" b="0" i="1" u="none" strike="noStrike" baseline="0" dirty="0" smtClean="0">
                            <a:latin typeface="Cambria Math" panose="02040503050406030204" pitchFamily="18" charset="0"/>
                            <a:cs typeface="Calibri" panose="020F0502020204030204" pitchFamily="34" charset="0"/>
                          </a:rPr>
                          <m:t>𝑛</m:t>
                        </m:r>
                        <m:r>
                          <a:rPr lang="en-GB" sz="2000" b="0" i="1" u="none" strike="noStrike" baseline="0" dirty="0" smtClean="0">
                            <a:latin typeface="Cambria Math" panose="02040503050406030204" pitchFamily="18" charset="0"/>
                            <a:cs typeface="Calibri" panose="020F0502020204030204" pitchFamily="34" charset="0"/>
                          </a:rPr>
                          <m:t>−1</m:t>
                        </m:r>
                      </m:sup>
                    </m:sSup>
                    <m:r>
                      <a:rPr lang="en-GB" sz="2000" b="0" i="1" u="none" strike="noStrike" baseline="0" dirty="0" smtClean="0">
                        <a:latin typeface="Cambria Math" panose="02040503050406030204" pitchFamily="18" charset="0"/>
                        <a:cs typeface="Calibri" panose="020F0502020204030204" pitchFamily="34" charset="0"/>
                      </a:rPr>
                      <m:t>−1</m:t>
                    </m:r>
                  </m:oMath>
                </a14:m>
                <a:r>
                  <a:rPr lang="en-US" sz="2000" b="0" i="0" u="none" strike="noStrike" baseline="0" dirty="0">
                    <a:latin typeface="Calibri" panose="020F0502020204030204" pitchFamily="34" charset="0"/>
                    <a:cs typeface="Calibri" panose="020F0502020204030204" pitchFamily="34" charset="0"/>
                  </a:rPr>
                  <a:t>. </a:t>
                </a:r>
              </a:p>
              <a:p>
                <a:pPr lvl="1" algn="just"/>
                <a:r>
                  <a:rPr lang="en-US" sz="2000" b="0" i="0" u="none" strike="noStrike" baseline="0" dirty="0">
                    <a:latin typeface="Calibri" panose="020F0502020204030204" pitchFamily="34" charset="0"/>
                    <a:cs typeface="Calibri" panose="020F0502020204030204" pitchFamily="34" charset="0"/>
                  </a:rPr>
                  <a:t>Example: An 8-bit magnitude-only model ranges from -127 to 127.</a:t>
                </a:r>
              </a:p>
              <a:p>
                <a:pPr algn="just"/>
                <a:r>
                  <a:rPr lang="en-US" sz="2200" dirty="0">
                    <a:latin typeface="Calibri" panose="020F0502020204030204" pitchFamily="34" charset="0"/>
                    <a:cs typeface="Calibri" panose="020F0502020204030204" pitchFamily="34" charset="0"/>
                  </a:rPr>
                  <a:t>Bit Representation Example:</a:t>
                </a:r>
              </a:p>
              <a:p>
                <a:pPr lvl="1" algn="just"/>
                <a:r>
                  <a:rPr lang="en-US" sz="2000" dirty="0">
                    <a:latin typeface="Calibri" panose="020F0502020204030204" pitchFamily="34" charset="0"/>
                    <a:cs typeface="Calibri" panose="020F0502020204030204" pitchFamily="34" charset="0"/>
                  </a:rPr>
                  <a:t>Positive   5: 0000 0101</a:t>
                </a:r>
              </a:p>
              <a:p>
                <a:pPr lvl="1" algn="just"/>
                <a:r>
                  <a:rPr lang="en-US" sz="2000" dirty="0">
                    <a:latin typeface="Calibri" panose="020F0502020204030204" pitchFamily="34" charset="0"/>
                    <a:cs typeface="Calibri" panose="020F0502020204030204" pitchFamily="34" charset="0"/>
                  </a:rPr>
                  <a:t>Negative 5: 1000 0101</a:t>
                </a:r>
              </a:p>
            </p:txBody>
          </p:sp>
        </mc:Choice>
        <mc:Fallback xmlns="">
          <p:sp>
            <p:nvSpPr>
              <p:cNvPr id="3" name="Content Placeholder 2">
                <a:extLst>
                  <a:ext uri="{FF2B5EF4-FFF2-40B4-BE49-F238E27FC236}">
                    <a16:creationId xmlns:a16="http://schemas.microsoft.com/office/drawing/2014/main" id="{EDE8814D-DFC5-7897-AC60-F024A61A560B}"/>
                  </a:ext>
                </a:extLst>
              </p:cNvPr>
              <p:cNvSpPr>
                <a:spLocks noGrp="1" noRot="1" noChangeAspect="1" noMove="1" noResize="1" noEditPoints="1" noAdjustHandles="1" noChangeArrowheads="1" noChangeShapeType="1" noTextEdit="1"/>
              </p:cNvSpPr>
              <p:nvPr>
                <p:ph idx="1"/>
              </p:nvPr>
            </p:nvSpPr>
            <p:spPr>
              <a:blipFill>
                <a:blip r:embed="rId2"/>
                <a:stretch>
                  <a:fillRect l="-696" t="-1681" b="-1681"/>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5C84A762-9611-A16A-B0BE-5526E8E870DE}"/>
              </a:ext>
            </a:extLst>
          </p:cNvPr>
          <p:cNvPicPr>
            <a:picLocks noChangeAspect="1"/>
          </p:cNvPicPr>
          <p:nvPr/>
        </p:nvPicPr>
        <p:blipFill>
          <a:blip r:embed="rId3"/>
          <a:stretch>
            <a:fillRect/>
          </a:stretch>
        </p:blipFill>
        <p:spPr>
          <a:xfrm>
            <a:off x="4215319" y="2593961"/>
            <a:ext cx="4615308" cy="963969"/>
          </a:xfrm>
          <a:prstGeom prst="rect">
            <a:avLst/>
          </a:prstGeom>
        </p:spPr>
      </p:pic>
    </p:spTree>
    <p:extLst>
      <p:ext uri="{BB962C8B-B14F-4D97-AF65-F5344CB8AC3E}">
        <p14:creationId xmlns:p14="http://schemas.microsoft.com/office/powerpoint/2010/main" val="2897019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Sign-Magnitude Bit Model</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sign-magnitude model suffers from two drawbacks. </a:t>
            </a:r>
          </a:p>
          <a:p>
            <a:pPr lvl="1" algn="just"/>
            <a:r>
              <a:rPr lang="en-US" sz="2000" b="0" i="0" u="none" strike="noStrike" baseline="0" dirty="0">
                <a:latin typeface="Calibri" panose="020F0502020204030204" pitchFamily="34" charset="0"/>
                <a:cs typeface="Calibri" panose="020F0502020204030204" pitchFamily="34" charset="0"/>
              </a:rPr>
              <a:t>First, notice that there are two possible bit values for zero: 00000000 can be interpreted as positive zero, while 10000000 is interpreted as negative zero.</a:t>
            </a:r>
          </a:p>
          <a:p>
            <a:pPr lvl="1" algn="just"/>
            <a:r>
              <a:rPr lang="en-US" sz="2000" dirty="0">
                <a:latin typeface="Calibri" panose="020F0502020204030204" pitchFamily="34" charset="0"/>
                <a:cs typeface="Calibri" panose="020F0502020204030204" pitchFamily="34" charset="0"/>
              </a:rPr>
              <a:t>This bit model makes binary addition complicated. Specifically, if we have one negative number and one positive number, we need to perform subtraction, but it would be easier if we could apply binary addition no matter the sign is.</a:t>
            </a:r>
          </a:p>
          <a:p>
            <a:pPr lvl="1" algn="just"/>
            <a:endParaRPr lang="en-US" sz="20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Because of these two drawbacks, no data types in C use the sign-magnitude bit model.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It is usually seen only in simple computing circuits, or in design problems where these drawbacks do not present any difficulty.</a:t>
            </a:r>
          </a:p>
        </p:txBody>
      </p:sp>
    </p:spTree>
    <p:extLst>
      <p:ext uri="{BB962C8B-B14F-4D97-AF65-F5344CB8AC3E}">
        <p14:creationId xmlns:p14="http://schemas.microsoft.com/office/powerpoint/2010/main" val="172737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Two’s Complement Bit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Using the two’s complement bit model, positive integers (and zero) are represented the same as they are in the magnitude-only bit model. </a:t>
                </a:r>
              </a:p>
              <a:p>
                <a:pPr algn="just"/>
                <a:r>
                  <a:rPr lang="en-US" sz="2200" b="0" i="0" u="none" strike="noStrike" baseline="0" dirty="0">
                    <a:latin typeface="Calibri" panose="020F0502020204030204" pitchFamily="34" charset="0"/>
                    <a:cs typeface="Calibri" panose="020F0502020204030204" pitchFamily="34" charset="0"/>
                  </a:rPr>
                  <a:t>Negative</a:t>
                </a:r>
                <a:r>
                  <a:rPr lang="en-US" sz="2200" dirty="0">
                    <a:latin typeface="Calibri" panose="020F0502020204030204" pitchFamily="34" charset="0"/>
                    <a:cs typeface="Calibri" panose="020F0502020204030204" pitchFamily="34" charset="0"/>
                  </a:rPr>
                  <a:t> </a:t>
                </a:r>
                <a:r>
                  <a:rPr lang="en-US" sz="2200" b="0" i="0" u="none" strike="noStrike" baseline="0" dirty="0">
                    <a:latin typeface="Calibri" panose="020F0502020204030204" pitchFamily="34" charset="0"/>
                    <a:cs typeface="Calibri" panose="020F0502020204030204" pitchFamily="34" charset="0"/>
                  </a:rPr>
                  <a:t>numbers are represented by applying the following sequence of steps:</a:t>
                </a:r>
              </a:p>
              <a:p>
                <a:pPr lvl="1" algn="just"/>
                <a:r>
                  <a:rPr lang="en-US" sz="2000" b="0" i="0" u="none" strike="noStrike" baseline="0" dirty="0">
                    <a:latin typeface="Calibri" panose="020F0502020204030204" pitchFamily="34" charset="0"/>
                    <a:cs typeface="Calibri" panose="020F0502020204030204" pitchFamily="34" charset="0"/>
                  </a:rPr>
                  <a:t>Write the bits for the positive version of the number.</a:t>
                </a:r>
                <a:endParaRPr lang="en-US" sz="2000" dirty="0">
                  <a:latin typeface="Calibri" panose="020F0502020204030204" pitchFamily="34" charset="0"/>
                  <a:cs typeface="Calibri" panose="020F0502020204030204" pitchFamily="34" charset="0"/>
                </a:endParaRPr>
              </a:p>
              <a:p>
                <a:pPr lvl="1" algn="just"/>
                <a:r>
                  <a:rPr lang="en-US" sz="2000" b="0" i="0" u="none" strike="noStrike" baseline="0" dirty="0">
                    <a:latin typeface="Calibri" panose="020F0502020204030204" pitchFamily="34" charset="0"/>
                    <a:cs typeface="Calibri" panose="020F0502020204030204" pitchFamily="34" charset="0"/>
                  </a:rPr>
                  <a:t>Invert (flip) all the bits.</a:t>
                </a:r>
              </a:p>
              <a:p>
                <a:pPr lvl="1" algn="just"/>
                <a:r>
                  <a:rPr lang="en-US" sz="2000" dirty="0">
                    <a:latin typeface="Calibri" panose="020F0502020204030204" pitchFamily="34" charset="0"/>
                    <a:cs typeface="Calibri" panose="020F0502020204030204" pitchFamily="34" charset="0"/>
                  </a:rPr>
                  <a:t>Add 1.</a:t>
                </a:r>
              </a:p>
              <a:p>
                <a:pPr algn="just"/>
                <a:r>
                  <a:rPr lang="en-US" sz="2200" b="0" i="0" u="none" strike="noStrike" baseline="0" dirty="0">
                    <a:latin typeface="Calibri" panose="020F0502020204030204" pitchFamily="34" charset="0"/>
                    <a:cs typeface="Calibri" panose="020F0502020204030204" pitchFamily="34" charset="0"/>
                  </a:rPr>
                  <a:t>For example, to represent −7, we proceed through the following steps:</a:t>
                </a:r>
              </a:p>
              <a:p>
                <a:pPr marL="0" indent="0" algn="just">
                  <a:buNone/>
                </a:pPr>
                <a:endParaRPr lang="en-US" sz="1800" dirty="0">
                  <a:latin typeface="Minion-Regular"/>
                  <a:cs typeface="Calibri" panose="020F0502020204030204" pitchFamily="34" charset="0"/>
                </a:endParaRPr>
              </a:p>
              <a:p>
                <a:pPr marL="0" indent="0" algn="just">
                  <a:buNone/>
                </a:pPr>
                <a:endParaRPr lang="en-US" sz="2400" dirty="0">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Range: </a:t>
                </a:r>
              </a:p>
              <a:p>
                <a:pPr lvl="1" algn="just"/>
                <a:r>
                  <a:rPr lang="en-US" sz="2000" b="0" i="0" u="none" strike="noStrike" baseline="0" dirty="0">
                    <a:latin typeface="Calibri" panose="020F0502020204030204" pitchFamily="34" charset="0"/>
                    <a:cs typeface="Calibri" panose="020F0502020204030204" pitchFamily="34" charset="0"/>
                  </a:rPr>
                  <a:t>For an n-bit model, the range is from -(</a:t>
                </a:r>
                <a14:m>
                  <m:oMath xmlns:m="http://schemas.openxmlformats.org/officeDocument/2006/math">
                    <m:sSup>
                      <m:sSupPr>
                        <m:ctrlPr>
                          <a:rPr lang="en-GB" sz="2000" i="1" dirty="0">
                            <a:latin typeface="Cambria Math" panose="02040503050406030204" pitchFamily="18" charset="0"/>
                            <a:cs typeface="Calibri" panose="020F0502020204030204" pitchFamily="34" charset="0"/>
                          </a:rPr>
                        </m:ctrlPr>
                      </m:sSupPr>
                      <m:e>
                        <m:r>
                          <a:rPr lang="en-US" sz="2000" i="1" dirty="0">
                            <a:latin typeface="Cambria Math" panose="02040503050406030204" pitchFamily="18" charset="0"/>
                            <a:cs typeface="Calibri" panose="020F0502020204030204" pitchFamily="34" charset="0"/>
                          </a:rPr>
                          <m:t>2</m:t>
                        </m:r>
                      </m:e>
                      <m:sup>
                        <m:r>
                          <a:rPr lang="en-GB" sz="2000" i="1" dirty="0">
                            <a:latin typeface="Cambria Math" panose="02040503050406030204" pitchFamily="18" charset="0"/>
                            <a:cs typeface="Calibri" panose="020F0502020204030204" pitchFamily="34" charset="0"/>
                          </a:rPr>
                          <m:t>𝑛</m:t>
                        </m:r>
                        <m:r>
                          <a:rPr lang="en-GB" sz="2000" b="0" i="1" dirty="0" smtClean="0">
                            <a:latin typeface="Cambria Math" panose="02040503050406030204" pitchFamily="18" charset="0"/>
                            <a:cs typeface="Calibri" panose="020F0502020204030204" pitchFamily="34" charset="0"/>
                          </a:rPr>
                          <m:t>−1</m:t>
                        </m:r>
                      </m:sup>
                    </m:sSup>
                  </m:oMath>
                </a14:m>
                <a:r>
                  <a:rPr lang="en-US" sz="2000" b="0" i="0" u="none" strike="noStrike" baseline="0" dirty="0">
                    <a:latin typeface="Calibri" panose="020F0502020204030204" pitchFamily="34" charset="0"/>
                    <a:cs typeface="Calibri" panose="020F0502020204030204" pitchFamily="34" charset="0"/>
                  </a:rPr>
                  <a:t>) to </a:t>
                </a:r>
                <a14:m>
                  <m:oMath xmlns:m="http://schemas.openxmlformats.org/officeDocument/2006/math">
                    <m:sSup>
                      <m:sSupPr>
                        <m:ctrlPr>
                          <a:rPr lang="en-GB" sz="2000" b="0" i="1" u="none" strike="noStrike" baseline="0" dirty="0" smtClean="0">
                            <a:latin typeface="Cambria Math" panose="02040503050406030204" pitchFamily="18" charset="0"/>
                            <a:cs typeface="Calibri" panose="020F0502020204030204" pitchFamily="34" charset="0"/>
                          </a:rPr>
                        </m:ctrlPr>
                      </m:sSupPr>
                      <m:e>
                        <m:r>
                          <a:rPr lang="en-US" sz="2000" b="0" i="1" u="none" strike="noStrike" baseline="0" dirty="0" smtClean="0">
                            <a:latin typeface="Cambria Math" panose="02040503050406030204" pitchFamily="18" charset="0"/>
                            <a:cs typeface="Calibri" panose="020F0502020204030204" pitchFamily="34" charset="0"/>
                          </a:rPr>
                          <m:t>2</m:t>
                        </m:r>
                      </m:e>
                      <m:sup>
                        <m:r>
                          <a:rPr lang="en-GB" sz="2000" b="0" i="1" u="none" strike="noStrike" baseline="0" dirty="0" smtClean="0">
                            <a:latin typeface="Cambria Math" panose="02040503050406030204" pitchFamily="18" charset="0"/>
                            <a:cs typeface="Calibri" panose="020F0502020204030204" pitchFamily="34" charset="0"/>
                          </a:rPr>
                          <m:t>𝑛</m:t>
                        </m:r>
                        <m:r>
                          <a:rPr lang="en-GB" sz="2000" b="0" i="1" u="none" strike="noStrike" baseline="0" dirty="0" smtClean="0">
                            <a:latin typeface="Cambria Math" panose="02040503050406030204" pitchFamily="18" charset="0"/>
                            <a:cs typeface="Calibri" panose="020F0502020204030204" pitchFamily="34" charset="0"/>
                          </a:rPr>
                          <m:t>−1</m:t>
                        </m:r>
                      </m:sup>
                    </m:sSup>
                    <m:r>
                      <a:rPr lang="en-GB" sz="2000" b="0" i="1" u="none" strike="noStrike" baseline="0" dirty="0" smtClean="0">
                        <a:latin typeface="Cambria Math" panose="02040503050406030204" pitchFamily="18" charset="0"/>
                        <a:cs typeface="Calibri" panose="020F0502020204030204" pitchFamily="34" charset="0"/>
                      </a:rPr>
                      <m:t>−1</m:t>
                    </m:r>
                  </m:oMath>
                </a14:m>
                <a:r>
                  <a:rPr lang="en-US" sz="2000" b="0" i="0" u="none" strike="noStrike" baseline="0" dirty="0">
                    <a:latin typeface="Calibri" panose="020F0502020204030204" pitchFamily="34" charset="0"/>
                    <a:cs typeface="Calibri" panose="020F0502020204030204" pitchFamily="34" charset="0"/>
                  </a:rPr>
                  <a:t>. </a:t>
                </a:r>
              </a:p>
              <a:p>
                <a:pPr lvl="1" algn="just"/>
                <a:r>
                  <a:rPr lang="en-US" sz="2000" b="0" i="0" u="none" strike="noStrike" baseline="0" dirty="0">
                    <a:latin typeface="Calibri" panose="020F0502020204030204" pitchFamily="34" charset="0"/>
                    <a:cs typeface="Calibri" panose="020F0502020204030204" pitchFamily="34" charset="0"/>
                  </a:rPr>
                  <a:t>Example: An 8-bit magnitude-only model ranges from -128 to 127.</a:t>
                </a:r>
              </a:p>
              <a:p>
                <a:pPr algn="just"/>
                <a:endParaRPr lang="en-US" sz="24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EDE8814D-DFC5-7897-AC60-F024A61A560B}"/>
                  </a:ext>
                </a:extLst>
              </p:cNvPr>
              <p:cNvSpPr>
                <a:spLocks noGrp="1" noRot="1" noChangeAspect="1" noMove="1" noResize="1" noEditPoints="1" noAdjustHandles="1" noChangeArrowheads="1" noChangeShapeType="1" noTextEdit="1"/>
              </p:cNvSpPr>
              <p:nvPr>
                <p:ph idx="1"/>
              </p:nvPr>
            </p:nvSpPr>
            <p:spPr>
              <a:blipFill>
                <a:blip r:embed="rId3"/>
                <a:stretch>
                  <a:fillRect l="-696" t="-1681" r="-696" b="-588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4C575403-14ED-651A-DEB0-7732411EC1AF}"/>
              </a:ext>
            </a:extLst>
          </p:cNvPr>
          <p:cNvPicPr>
            <a:picLocks noChangeAspect="1"/>
          </p:cNvPicPr>
          <p:nvPr/>
        </p:nvPicPr>
        <p:blipFill>
          <a:blip r:embed="rId4"/>
          <a:stretch>
            <a:fillRect/>
          </a:stretch>
        </p:blipFill>
        <p:spPr>
          <a:xfrm>
            <a:off x="4187450" y="4443329"/>
            <a:ext cx="3817100" cy="784451"/>
          </a:xfrm>
          <a:prstGeom prst="rect">
            <a:avLst/>
          </a:prstGeom>
        </p:spPr>
      </p:pic>
      <p:sp>
        <p:nvSpPr>
          <p:cNvPr id="8" name="TextBox 7">
            <a:extLst>
              <a:ext uri="{FF2B5EF4-FFF2-40B4-BE49-F238E27FC236}">
                <a16:creationId xmlns:a16="http://schemas.microsoft.com/office/drawing/2014/main" id="{6DFADA1B-4EEE-906E-5A37-34C356BCF151}"/>
              </a:ext>
            </a:extLst>
          </p:cNvPr>
          <p:cNvSpPr txBox="1"/>
          <p:nvPr/>
        </p:nvSpPr>
        <p:spPr>
          <a:xfrm>
            <a:off x="9134763" y="4627615"/>
            <a:ext cx="1745673" cy="1200329"/>
          </a:xfrm>
          <a:prstGeom prst="rect">
            <a:avLst/>
          </a:prstGeom>
          <a:noFill/>
        </p:spPr>
        <p:txBody>
          <a:bodyPr wrap="square">
            <a:spAutoFit/>
          </a:bodyPr>
          <a:lstStyle/>
          <a:p>
            <a:r>
              <a:rPr lang="en-GB" dirty="0"/>
              <a:t>1111 1000</a:t>
            </a:r>
          </a:p>
          <a:p>
            <a:r>
              <a:rPr lang="en-GB" dirty="0"/>
              <a:t>+                 1</a:t>
            </a:r>
          </a:p>
          <a:p>
            <a:r>
              <a:rPr lang="en-GB" dirty="0"/>
              <a:t>--------------</a:t>
            </a:r>
          </a:p>
          <a:p>
            <a:r>
              <a:rPr lang="en-GB" dirty="0"/>
              <a:t> 1111 1001</a:t>
            </a:r>
          </a:p>
        </p:txBody>
      </p:sp>
    </p:spTree>
    <p:extLst>
      <p:ext uri="{BB962C8B-B14F-4D97-AF65-F5344CB8AC3E}">
        <p14:creationId xmlns:p14="http://schemas.microsoft.com/office/powerpoint/2010/main" val="336449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Two’s Complement Bit Model</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Two’s complement also makes addition and subtraction easier to implement because, regardless of the signs of the two numbers, they can always be added.</a:t>
            </a:r>
          </a:p>
          <a:p>
            <a:pPr algn="just"/>
            <a:r>
              <a:rPr lang="en-US" sz="2200" dirty="0">
                <a:latin typeface="Calibri" panose="020F0502020204030204" pitchFamily="34" charset="0"/>
                <a:cs typeface="Calibri" panose="020F0502020204030204" pitchFamily="34" charset="0"/>
              </a:rPr>
              <a:t>For example, consider 7 + (−5):</a:t>
            </a:r>
          </a:p>
          <a:p>
            <a:pPr lvl="1" algn="just"/>
            <a:r>
              <a:rPr lang="en-US" sz="2000" dirty="0">
                <a:latin typeface="Calibri" panose="020F0502020204030204" pitchFamily="34" charset="0"/>
                <a:cs typeface="Calibri" panose="020F0502020204030204" pitchFamily="34" charset="0"/>
              </a:rPr>
              <a:t>+5 = 00000101; inverted it becomes 11111010; and after adding 1 it be</a:t>
            </a:r>
            <a:r>
              <a:rPr lang="en-GB" sz="2000" b="0" i="0" u="none" strike="noStrike" baseline="0" dirty="0">
                <a:latin typeface="Calibri" panose="020F0502020204030204" pitchFamily="34" charset="0"/>
                <a:cs typeface="Calibri" panose="020F0502020204030204" pitchFamily="34" charset="0"/>
              </a:rPr>
              <a:t>comes 11111011.</a:t>
            </a:r>
          </a:p>
          <a:p>
            <a:pPr lvl="1" algn="just"/>
            <a:endParaRPr lang="en-GB" sz="1800" dirty="0">
              <a:latin typeface="Minion-Regular"/>
            </a:endParaRPr>
          </a:p>
          <a:p>
            <a:pPr lvl="1" algn="just"/>
            <a:endParaRPr lang="en-GB" sz="1800" b="0" i="0" u="none" strike="noStrike" baseline="0" dirty="0">
              <a:latin typeface="Minion-Regular"/>
            </a:endParaRPr>
          </a:p>
          <a:p>
            <a:pPr lvl="1" algn="just"/>
            <a:endParaRPr lang="en-GB" sz="1800" dirty="0">
              <a:latin typeface="Minion-Regular"/>
            </a:endParaRPr>
          </a:p>
          <a:p>
            <a:pPr marL="457200" lvl="1" indent="0" algn="just">
              <a:buNone/>
            </a:pPr>
            <a:endParaRPr lang="en-GB" sz="1800" b="0" i="0" u="none" strike="noStrike" baseline="0" dirty="0">
              <a:latin typeface="Minion-Regular"/>
            </a:endParaRPr>
          </a:p>
          <a:p>
            <a:pPr algn="just"/>
            <a:r>
              <a:rPr lang="en-US" sz="2200" b="0" i="0" u="none" strike="noStrike" baseline="0" dirty="0">
                <a:latin typeface="Calibri" panose="020F0502020204030204" pitchFamily="34" charset="0"/>
                <a:cs typeface="Calibri" panose="020F0502020204030204" pitchFamily="34" charset="0"/>
              </a:rPr>
              <a:t>Several C data types use the two’s complement bit model: </a:t>
            </a:r>
          </a:p>
          <a:p>
            <a:pPr lvl="1" algn="just"/>
            <a:r>
              <a:rPr lang="en-US" sz="2000" b="0" i="0" u="none" strike="noStrike" baseline="0" dirty="0">
                <a:latin typeface="Calibri" panose="020F0502020204030204" pitchFamily="34" charset="0"/>
                <a:cs typeface="Calibri" panose="020F0502020204030204" pitchFamily="34" charset="0"/>
              </a:rPr>
              <a:t>a `char` uses 1 byte (8 bits) for the range -128 to 127, </a:t>
            </a:r>
          </a:p>
          <a:p>
            <a:pPr lvl="1" algn="just"/>
            <a:r>
              <a:rPr lang="en-US" sz="2000" b="0" i="0" u="none" strike="noStrike" baseline="0" dirty="0">
                <a:latin typeface="Calibri" panose="020F0502020204030204" pitchFamily="34" charset="0"/>
                <a:cs typeface="Calibri" panose="020F0502020204030204" pitchFamily="34" charset="0"/>
              </a:rPr>
              <a:t>an `int` uses 4 bytes (32 bits) for -2,147,483,648 to 2,147,483,647, and </a:t>
            </a:r>
          </a:p>
          <a:p>
            <a:pPr lvl="1" algn="just"/>
            <a:r>
              <a:rPr lang="en-US" sz="2000" b="0" i="0" u="none" strike="noStrike" baseline="0" dirty="0">
                <a:latin typeface="Calibri" panose="020F0502020204030204" pitchFamily="34" charset="0"/>
                <a:cs typeface="Calibri" panose="020F0502020204030204" pitchFamily="34" charset="0"/>
              </a:rPr>
              <a:t>a `short int` uses 2 bytes (16 bits) for -32,768 to 32,767. </a:t>
            </a:r>
          </a:p>
          <a:p>
            <a:pPr algn="just"/>
            <a:r>
              <a:rPr lang="en-US" sz="2200" b="0" i="0" u="none" strike="noStrike" baseline="0" dirty="0">
                <a:latin typeface="Calibri" panose="020F0502020204030204" pitchFamily="34" charset="0"/>
                <a:cs typeface="Calibri" panose="020F0502020204030204" pitchFamily="34" charset="0"/>
              </a:rPr>
              <a:t>This model is the most common for representing signed whole numbers in computing systems.</a:t>
            </a:r>
            <a:endParaRPr lang="en-GB" sz="2200" b="0" i="0" u="none" strike="noStrike" baseline="0" dirty="0">
              <a:latin typeface="Calibri" panose="020F0502020204030204" pitchFamily="34" charset="0"/>
              <a:cs typeface="Calibri" panose="020F0502020204030204" pitchFamily="34" charset="0"/>
            </a:endParaRPr>
          </a:p>
          <a:p>
            <a:pPr marL="457200" lvl="1" indent="0" algn="just">
              <a:buNone/>
            </a:pPr>
            <a:endParaRPr lang="en-US" sz="2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D95F9C07-E9EE-913C-60EC-C73940AF2DEA}"/>
              </a:ext>
            </a:extLst>
          </p:cNvPr>
          <p:cNvPicPr>
            <a:picLocks noChangeAspect="1"/>
          </p:cNvPicPr>
          <p:nvPr/>
        </p:nvPicPr>
        <p:blipFill>
          <a:blip r:embed="rId2"/>
          <a:stretch>
            <a:fillRect/>
          </a:stretch>
        </p:blipFill>
        <p:spPr>
          <a:xfrm>
            <a:off x="7929046" y="3358068"/>
            <a:ext cx="2888982" cy="1286451"/>
          </a:xfrm>
          <a:prstGeom prst="rect">
            <a:avLst/>
          </a:prstGeom>
        </p:spPr>
      </p:pic>
    </p:spTree>
    <p:extLst>
      <p:ext uri="{BB962C8B-B14F-4D97-AF65-F5344CB8AC3E}">
        <p14:creationId xmlns:p14="http://schemas.microsoft.com/office/powerpoint/2010/main" val="2836794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Other Bit Models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1" i="0" u="none" strike="noStrike" baseline="0" dirty="0">
                <a:latin typeface="Calibri" panose="020F0502020204030204" pitchFamily="34" charset="0"/>
                <a:cs typeface="Calibri" panose="020F0502020204030204" pitchFamily="34" charset="0"/>
              </a:rPr>
              <a:t>Floating Point bit model: </a:t>
            </a:r>
            <a:r>
              <a:rPr lang="en-US" sz="2200" b="0" i="0" u="none" strike="noStrike" baseline="0" dirty="0">
                <a:latin typeface="Calibri" panose="020F0502020204030204" pitchFamily="34" charset="0"/>
                <a:cs typeface="Calibri" panose="020F0502020204030204" pitchFamily="34" charset="0"/>
              </a:rPr>
              <a:t>A bit model used to represent real numbers (numbers with fractions) in computing.</a:t>
            </a: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The float data type uses 4 bytes to store a real number, </a:t>
            </a:r>
          </a:p>
          <a:p>
            <a:pPr lvl="1" algn="just"/>
            <a:r>
              <a:rPr lang="en-US" sz="2000" dirty="0">
                <a:latin typeface="Calibri" panose="020F0502020204030204" pitchFamily="34" charset="0"/>
                <a:cs typeface="Calibri" panose="020F0502020204030204" pitchFamily="34" charset="0"/>
              </a:rPr>
              <a:t>the double data type uses 8 bytes to store a real number. The double still uses 1 bit for sign, but it uses 11 bits to store the exponent and 52 bits to store the fraction, so that it can represent a wider range of numbers.</a:t>
            </a:r>
          </a:p>
          <a:p>
            <a:pPr algn="just"/>
            <a:r>
              <a:rPr lang="en-GB" sz="2200" b="1" i="0" u="none" strike="noStrike" baseline="0" dirty="0">
                <a:latin typeface="Calibri" panose="020F0502020204030204" pitchFamily="34" charset="0"/>
                <a:cs typeface="Calibri" panose="020F0502020204030204" pitchFamily="34" charset="0"/>
              </a:rPr>
              <a:t>ASCII and Unicode Bit Models: </a:t>
            </a:r>
            <a:r>
              <a:rPr lang="en-US" sz="2200" b="0" i="0" u="none" strike="noStrike" baseline="0" dirty="0">
                <a:latin typeface="Calibri" panose="020F0502020204030204" pitchFamily="34" charset="0"/>
                <a:cs typeface="Calibri" panose="020F0502020204030204" pitchFamily="34" charset="0"/>
              </a:rPr>
              <a:t>In order to represent nonnumeric data, another bit model must be used. </a:t>
            </a:r>
          </a:p>
          <a:p>
            <a:pPr lvl="1" algn="just"/>
            <a:r>
              <a:rPr lang="en-US" sz="2000" b="0" i="0" u="none" strike="noStrike" baseline="0" dirty="0">
                <a:latin typeface="Calibri" panose="020F0502020204030204" pitchFamily="34" charset="0"/>
                <a:cs typeface="Calibri" panose="020F0502020204030204" pitchFamily="34" charset="0"/>
              </a:rPr>
              <a:t>The ASCII (American Standard Code for Information Interchange) bit model was developed to represent English text symbols, along with control characters necessary to print English text.</a:t>
            </a:r>
            <a:endParaRPr lang="en-US" sz="20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2FABA7F-299A-0CEB-23B5-C7A00C258DD5}"/>
              </a:ext>
            </a:extLst>
          </p:cNvPr>
          <p:cNvPicPr>
            <a:picLocks noChangeAspect="1"/>
          </p:cNvPicPr>
          <p:nvPr/>
        </p:nvPicPr>
        <p:blipFill>
          <a:blip r:embed="rId2"/>
          <a:stretch>
            <a:fillRect/>
          </a:stretch>
        </p:blipFill>
        <p:spPr>
          <a:xfrm>
            <a:off x="4215319" y="2460212"/>
            <a:ext cx="3761362" cy="701899"/>
          </a:xfrm>
          <a:prstGeom prst="rect">
            <a:avLst/>
          </a:prstGeom>
        </p:spPr>
      </p:pic>
    </p:spTree>
    <p:extLst>
      <p:ext uri="{BB962C8B-B14F-4D97-AF65-F5344CB8AC3E}">
        <p14:creationId xmlns:p14="http://schemas.microsoft.com/office/powerpoint/2010/main" val="2596275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Bitwise Operators in C</a:t>
            </a:r>
            <a:endParaRPr lang="en-GB" sz="4000" b="1" dirty="0"/>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6C878A3B-8897-8175-A6C9-2D66C10466A1}"/>
                  </a:ext>
                </a:extLst>
              </p:cNvPr>
              <p:cNvGraphicFramePr>
                <a:graphicFrameLocks noGrp="1"/>
              </p:cNvGraphicFramePr>
              <p:nvPr>
                <p:ph idx="1"/>
                <p:extLst>
                  <p:ext uri="{D42A27DB-BD31-4B8C-83A1-F6EECF244321}">
                    <p14:modId xmlns:p14="http://schemas.microsoft.com/office/powerpoint/2010/main" val="113895440"/>
                  </p:ext>
                </p:extLst>
              </p:nvPr>
            </p:nvGraphicFramePr>
            <p:xfrm>
              <a:off x="838200" y="1690688"/>
              <a:ext cx="10515600" cy="4765040"/>
            </p:xfrm>
            <a:graphic>
              <a:graphicData uri="http://schemas.openxmlformats.org/drawingml/2006/table">
                <a:tbl>
                  <a:tblPr firstRow="1" bandRow="1">
                    <a:tableStyleId>{5C22544A-7EE6-4342-B048-85BDC9FD1C3A}</a:tableStyleId>
                  </a:tblPr>
                  <a:tblGrid>
                    <a:gridCol w="2937753">
                      <a:extLst>
                        <a:ext uri="{9D8B030D-6E8A-4147-A177-3AD203B41FA5}">
                          <a16:colId xmlns:a16="http://schemas.microsoft.com/office/drawing/2014/main" val="4129139056"/>
                        </a:ext>
                      </a:extLst>
                    </a:gridCol>
                    <a:gridCol w="7577847">
                      <a:extLst>
                        <a:ext uri="{9D8B030D-6E8A-4147-A177-3AD203B41FA5}">
                          <a16:colId xmlns:a16="http://schemas.microsoft.com/office/drawing/2014/main" val="2588524043"/>
                        </a:ext>
                      </a:extLst>
                    </a:gridCol>
                  </a:tblGrid>
                  <a:tr h="370840">
                    <a:tc>
                      <a:txBody>
                        <a:bodyPr/>
                        <a:lstStyle/>
                        <a:p>
                          <a:r>
                            <a:rPr lang="en-GB" dirty="0"/>
                            <a:t>Bitwise Operator</a:t>
                          </a:r>
                        </a:p>
                      </a:txBody>
                      <a:tcPr/>
                    </a:tc>
                    <a:tc>
                      <a:txBody>
                        <a:bodyPr/>
                        <a:lstStyle/>
                        <a:p>
                          <a:r>
                            <a:rPr lang="en-GB" dirty="0"/>
                            <a:t>Meaning</a:t>
                          </a:r>
                        </a:p>
                      </a:txBody>
                      <a:tcPr/>
                    </a:tc>
                    <a:extLst>
                      <a:ext uri="{0D108BD9-81ED-4DB2-BD59-A6C34878D82A}">
                        <a16:rowId xmlns:a16="http://schemas.microsoft.com/office/drawing/2014/main" val="2400999072"/>
                      </a:ext>
                    </a:extLst>
                  </a:tr>
                  <a:tr h="370840">
                    <a:tc>
                      <a:txBody>
                        <a:bodyPr/>
                        <a:lstStyle/>
                        <a:p>
                          <a:r>
                            <a:rPr lang="en-GB" dirty="0"/>
                            <a:t>|</a:t>
                          </a:r>
                        </a:p>
                      </a:txBody>
                      <a:tcPr/>
                    </a:tc>
                    <a:tc>
                      <a:txBody>
                        <a:bodyPr/>
                        <a:lstStyle/>
                        <a:p>
                          <a:r>
                            <a:rPr lang="en-GB" dirty="0"/>
                            <a:t>Bitwise OR. </a:t>
                          </a:r>
                          <a:r>
                            <a:rPr lang="en-US" dirty="0"/>
                            <a:t>Compares each bit of two numbers. Returns 1 if at least one of the bits is 1. Used to set specific bits or combine flags. </a:t>
                          </a:r>
                        </a:p>
                        <a:p>
                          <a:r>
                            <a:rPr lang="sv-SE" b="1" dirty="0" err="1"/>
                            <a:t>Example</a:t>
                          </a:r>
                          <a:r>
                            <a:rPr lang="sv-SE" dirty="0"/>
                            <a:t>: 1010 | 1100 = 1110</a:t>
                          </a:r>
                          <a:endParaRPr lang="en-GB" dirty="0"/>
                        </a:p>
                      </a:txBody>
                      <a:tcPr/>
                    </a:tc>
                    <a:extLst>
                      <a:ext uri="{0D108BD9-81ED-4DB2-BD59-A6C34878D82A}">
                        <a16:rowId xmlns:a16="http://schemas.microsoft.com/office/drawing/2014/main" val="2836216639"/>
                      </a:ext>
                    </a:extLst>
                  </a:tr>
                  <a:tr h="370840">
                    <a:tc>
                      <a:txBody>
                        <a:bodyPr/>
                        <a:lstStyle/>
                        <a:p>
                          <a:r>
                            <a:rPr lang="en-GB" dirty="0"/>
                            <a:t>&amp;</a:t>
                          </a:r>
                        </a:p>
                      </a:txBody>
                      <a:tcPr/>
                    </a:tc>
                    <a:tc>
                      <a:txBody>
                        <a:bodyPr/>
                        <a:lstStyle/>
                        <a:p>
                          <a:r>
                            <a:rPr lang="en-GB" dirty="0"/>
                            <a:t>Bitwise AND. </a:t>
                          </a:r>
                          <a:r>
                            <a:rPr lang="en-US" dirty="0"/>
                            <a:t>Compares each bit of two numbers. Returns 1 only if both bits are 1; otherwise, 0. Useful for masking bits or checking if specific bits are set. </a:t>
                          </a:r>
                          <a:r>
                            <a:rPr lang="sv-SE" b="1" dirty="0" err="1"/>
                            <a:t>Example</a:t>
                          </a:r>
                          <a:r>
                            <a:rPr lang="sv-SE" dirty="0"/>
                            <a:t>: 1010 &amp; 1100 = 1000</a:t>
                          </a:r>
                          <a:endParaRPr lang="en-GB" dirty="0"/>
                        </a:p>
                      </a:txBody>
                      <a:tcPr/>
                    </a:tc>
                    <a:extLst>
                      <a:ext uri="{0D108BD9-81ED-4DB2-BD59-A6C34878D82A}">
                        <a16:rowId xmlns:a16="http://schemas.microsoft.com/office/drawing/2014/main" val="3599836134"/>
                      </a:ext>
                    </a:extLst>
                  </a:tr>
                  <a:tr h="370840">
                    <a:tc>
                      <a:txBody>
                        <a:bodyPr/>
                        <a:lstStyle/>
                        <a:p>
                          <a:r>
                            <a:rPr lang="en-GB" dirty="0"/>
                            <a:t>^</a:t>
                          </a:r>
                        </a:p>
                      </a:txBody>
                      <a:tcPr/>
                    </a:tc>
                    <a:tc>
                      <a:txBody>
                        <a:bodyPr/>
                        <a:lstStyle/>
                        <a:p>
                          <a:r>
                            <a:rPr lang="en-GB" dirty="0"/>
                            <a:t>Bitwise exclusive OR. </a:t>
                          </a:r>
                          <a:r>
                            <a:rPr lang="en-US" dirty="0"/>
                            <a:t>Compares each bit of two numbers. Returns 1 if the bits are different; otherwise, 0. Useful for toggling bits or checking differences. </a:t>
                          </a:r>
                          <a:r>
                            <a:rPr lang="sv-SE" b="1" dirty="0" err="1"/>
                            <a:t>Example</a:t>
                          </a:r>
                          <a:r>
                            <a:rPr lang="sv-SE" dirty="0"/>
                            <a:t>: 1010 ^ 1100 = 0110</a:t>
                          </a:r>
                          <a:endParaRPr lang="en-GB" dirty="0"/>
                        </a:p>
                      </a:txBody>
                      <a:tcPr/>
                    </a:tc>
                    <a:extLst>
                      <a:ext uri="{0D108BD9-81ED-4DB2-BD59-A6C34878D82A}">
                        <a16:rowId xmlns:a16="http://schemas.microsoft.com/office/drawing/2014/main" val="1469892206"/>
                      </a:ext>
                    </a:extLst>
                  </a:tr>
                  <a:tr h="370840">
                    <a:tc>
                      <a:txBody>
                        <a:bodyPr/>
                        <a:lstStyle/>
                        <a:p>
                          <a:r>
                            <a:rPr lang="en-GB" dirty="0"/>
                            <a:t>&gt;&gt;</a:t>
                          </a:r>
                        </a:p>
                      </a:txBody>
                      <a:tcPr/>
                    </a:tc>
                    <a:tc>
                      <a:txBody>
                        <a:bodyPr/>
                        <a:lstStyle/>
                        <a:p>
                          <a:r>
                            <a:rPr lang="en-GB" dirty="0"/>
                            <a:t>Bitwise Right Shift. </a:t>
                          </a:r>
                          <a:r>
                            <a:rPr lang="en-US" dirty="0"/>
                            <a:t>Each right shift effectively divides the number by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𝑛</m:t>
                                  </m:r>
                                </m:sup>
                              </m:sSup>
                            </m:oMath>
                          </a14:m>
                          <a:r>
                            <a:rPr lang="en-US" dirty="0"/>
                            <a:t>, where n is the number of positions we shift. </a:t>
                          </a:r>
                          <a:r>
                            <a:rPr lang="sv-SE" b="1" dirty="0" err="1"/>
                            <a:t>Example</a:t>
                          </a:r>
                          <a:r>
                            <a:rPr lang="sv-SE" dirty="0"/>
                            <a:t>: 1010 &gt;&gt; 2 = 10</a:t>
                          </a:r>
                          <a:endParaRPr lang="en-GB" dirty="0"/>
                        </a:p>
                      </a:txBody>
                      <a:tcPr/>
                    </a:tc>
                    <a:extLst>
                      <a:ext uri="{0D108BD9-81ED-4DB2-BD59-A6C34878D82A}">
                        <a16:rowId xmlns:a16="http://schemas.microsoft.com/office/drawing/2014/main" val="2419065099"/>
                      </a:ext>
                    </a:extLst>
                  </a:tr>
                  <a:tr h="370840">
                    <a:tc>
                      <a:txBody>
                        <a:bodyPr/>
                        <a:lstStyle/>
                        <a:p>
                          <a:r>
                            <a:rPr lang="en-GB" dirty="0"/>
                            <a:t>&lt;&lt;</a:t>
                          </a:r>
                        </a:p>
                      </a:txBody>
                      <a:tcPr/>
                    </a:tc>
                    <a:tc>
                      <a:txBody>
                        <a:bodyPr/>
                        <a:lstStyle/>
                        <a:p>
                          <a:r>
                            <a:rPr lang="en-GB" dirty="0"/>
                            <a:t>Bitwise Left Shift. </a:t>
                          </a:r>
                          <a:r>
                            <a:rPr lang="en-US" dirty="0"/>
                            <a:t>Each left shift effectively multiplies the number by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𝑛</m:t>
                                  </m:r>
                                </m:sup>
                              </m:sSup>
                            </m:oMath>
                          </a14:m>
                          <a:r>
                            <a:rPr lang="en-US" dirty="0"/>
                            <a:t>, where n is the number of positions we shift. </a:t>
                          </a:r>
                          <a:r>
                            <a:rPr lang="sv-SE" b="1" dirty="0" err="1"/>
                            <a:t>Example</a:t>
                          </a:r>
                          <a:r>
                            <a:rPr lang="sv-SE" dirty="0"/>
                            <a:t>: 1010 &lt;&lt; 2 = 101000</a:t>
                          </a:r>
                          <a:endParaRPr lang="en-GB" dirty="0"/>
                        </a:p>
                      </a:txBody>
                      <a:tcPr/>
                    </a:tc>
                    <a:extLst>
                      <a:ext uri="{0D108BD9-81ED-4DB2-BD59-A6C34878D82A}">
                        <a16:rowId xmlns:a16="http://schemas.microsoft.com/office/drawing/2014/main" val="3815123557"/>
                      </a:ext>
                    </a:extLst>
                  </a:tr>
                  <a:tr h="370840">
                    <a:tc>
                      <a:txBody>
                        <a:bodyPr/>
                        <a:lstStyle/>
                        <a:p>
                          <a:r>
                            <a:rPr lang="en-GB" dirty="0"/>
                            <a:t>~</a:t>
                          </a:r>
                        </a:p>
                      </a:txBody>
                      <a:tcPr/>
                    </a:tc>
                    <a:tc>
                      <a:txBody>
                        <a:bodyPr/>
                        <a:lstStyle/>
                        <a:p>
                          <a:r>
                            <a:rPr lang="en-GB" dirty="0"/>
                            <a:t>Bitwise NOT. </a:t>
                          </a:r>
                          <a:r>
                            <a:rPr lang="sv-SE" b="1" dirty="0" err="1"/>
                            <a:t>Example</a:t>
                          </a:r>
                          <a:r>
                            <a:rPr lang="sv-SE" dirty="0"/>
                            <a:t>: </a:t>
                          </a:r>
                          <a:r>
                            <a:rPr lang="pt-BR" dirty="0"/>
                            <a:t>a=17  </a:t>
                          </a:r>
                          <a:r>
                            <a:rPr lang="pt-BR" dirty="0">
                              <a:sym typeface="Wingdings" panose="05000000000000000000" pitchFamily="2" charset="2"/>
                            </a:rPr>
                            <a:t></a:t>
                          </a:r>
                          <a:r>
                            <a:rPr lang="pt-BR" dirty="0"/>
                            <a:t>  0 0 0 1 0 0 0 1    ~a </a:t>
                          </a:r>
                          <a:r>
                            <a:rPr lang="pt-BR" dirty="0">
                              <a:sym typeface="Wingdings" panose="05000000000000000000" pitchFamily="2" charset="2"/>
                            </a:rPr>
                            <a:t></a:t>
                          </a:r>
                          <a:r>
                            <a:rPr lang="pt-BR" dirty="0"/>
                            <a:t> 1 1 1 0 1 1 1 0 </a:t>
                          </a:r>
                          <a:r>
                            <a:rPr lang="pt-BR" dirty="0">
                              <a:sym typeface="Wingdings" panose="05000000000000000000" pitchFamily="2" charset="2"/>
                            </a:rPr>
                            <a:t></a:t>
                          </a:r>
                          <a:r>
                            <a:rPr lang="pt-BR" dirty="0"/>
                            <a:t>  238</a:t>
                          </a:r>
                          <a:endParaRPr lang="en-GB" dirty="0"/>
                        </a:p>
                      </a:txBody>
                      <a:tcPr/>
                    </a:tc>
                    <a:extLst>
                      <a:ext uri="{0D108BD9-81ED-4DB2-BD59-A6C34878D82A}">
                        <a16:rowId xmlns:a16="http://schemas.microsoft.com/office/drawing/2014/main" val="973189156"/>
                      </a:ext>
                    </a:extLst>
                  </a:tr>
                </a:tbl>
              </a:graphicData>
            </a:graphic>
          </p:graphicFrame>
        </mc:Choice>
        <mc:Fallback xmlns="">
          <p:graphicFrame>
            <p:nvGraphicFramePr>
              <p:cNvPr id="7" name="Content Placeholder 6">
                <a:extLst>
                  <a:ext uri="{FF2B5EF4-FFF2-40B4-BE49-F238E27FC236}">
                    <a16:creationId xmlns:a16="http://schemas.microsoft.com/office/drawing/2014/main" id="{6C878A3B-8897-8175-A6C9-2D66C10466A1}"/>
                  </a:ext>
                </a:extLst>
              </p:cNvPr>
              <p:cNvGraphicFramePr>
                <a:graphicFrameLocks noGrp="1"/>
              </p:cNvGraphicFramePr>
              <p:nvPr>
                <p:ph idx="1"/>
                <p:extLst>
                  <p:ext uri="{D42A27DB-BD31-4B8C-83A1-F6EECF244321}">
                    <p14:modId xmlns:p14="http://schemas.microsoft.com/office/powerpoint/2010/main" val="113895440"/>
                  </p:ext>
                </p:extLst>
              </p:nvPr>
            </p:nvGraphicFramePr>
            <p:xfrm>
              <a:off x="838200" y="1690688"/>
              <a:ext cx="10515600" cy="4765040"/>
            </p:xfrm>
            <a:graphic>
              <a:graphicData uri="http://schemas.openxmlformats.org/drawingml/2006/table">
                <a:tbl>
                  <a:tblPr firstRow="1" bandRow="1">
                    <a:tableStyleId>{5C22544A-7EE6-4342-B048-85BDC9FD1C3A}</a:tableStyleId>
                  </a:tblPr>
                  <a:tblGrid>
                    <a:gridCol w="2937753">
                      <a:extLst>
                        <a:ext uri="{9D8B030D-6E8A-4147-A177-3AD203B41FA5}">
                          <a16:colId xmlns:a16="http://schemas.microsoft.com/office/drawing/2014/main" val="4129139056"/>
                        </a:ext>
                      </a:extLst>
                    </a:gridCol>
                    <a:gridCol w="7577847">
                      <a:extLst>
                        <a:ext uri="{9D8B030D-6E8A-4147-A177-3AD203B41FA5}">
                          <a16:colId xmlns:a16="http://schemas.microsoft.com/office/drawing/2014/main" val="2588524043"/>
                        </a:ext>
                      </a:extLst>
                    </a:gridCol>
                  </a:tblGrid>
                  <a:tr h="370840">
                    <a:tc>
                      <a:txBody>
                        <a:bodyPr/>
                        <a:lstStyle/>
                        <a:p>
                          <a:r>
                            <a:rPr lang="en-GB" dirty="0"/>
                            <a:t>Bitwise Operator</a:t>
                          </a:r>
                        </a:p>
                      </a:txBody>
                      <a:tcPr/>
                    </a:tc>
                    <a:tc>
                      <a:txBody>
                        <a:bodyPr/>
                        <a:lstStyle/>
                        <a:p>
                          <a:r>
                            <a:rPr lang="en-GB" dirty="0"/>
                            <a:t>Meaning</a:t>
                          </a:r>
                        </a:p>
                      </a:txBody>
                      <a:tcPr/>
                    </a:tc>
                    <a:extLst>
                      <a:ext uri="{0D108BD9-81ED-4DB2-BD59-A6C34878D82A}">
                        <a16:rowId xmlns:a16="http://schemas.microsoft.com/office/drawing/2014/main" val="2400999072"/>
                      </a:ext>
                    </a:extLst>
                  </a:tr>
                  <a:tr h="914400">
                    <a:tc>
                      <a:txBody>
                        <a:bodyPr/>
                        <a:lstStyle/>
                        <a:p>
                          <a:r>
                            <a:rPr lang="en-GB" dirty="0"/>
                            <a:t>|</a:t>
                          </a:r>
                        </a:p>
                      </a:txBody>
                      <a:tcPr/>
                    </a:tc>
                    <a:tc>
                      <a:txBody>
                        <a:bodyPr/>
                        <a:lstStyle/>
                        <a:p>
                          <a:r>
                            <a:rPr lang="en-GB" dirty="0"/>
                            <a:t>Bitwise OR. </a:t>
                          </a:r>
                          <a:r>
                            <a:rPr lang="en-US" dirty="0"/>
                            <a:t>Compares each bit of two numbers. Returns 1 if at least one of the bits is 1. Used to set specific bits or combine flags. </a:t>
                          </a:r>
                        </a:p>
                        <a:p>
                          <a:r>
                            <a:rPr lang="sv-SE" b="1" dirty="0" err="1"/>
                            <a:t>Example</a:t>
                          </a:r>
                          <a:r>
                            <a:rPr lang="sv-SE" dirty="0"/>
                            <a:t>: 1010 | 1100 = 1110</a:t>
                          </a:r>
                          <a:endParaRPr lang="en-GB" dirty="0"/>
                        </a:p>
                      </a:txBody>
                      <a:tcPr/>
                    </a:tc>
                    <a:extLst>
                      <a:ext uri="{0D108BD9-81ED-4DB2-BD59-A6C34878D82A}">
                        <a16:rowId xmlns:a16="http://schemas.microsoft.com/office/drawing/2014/main" val="2836216639"/>
                      </a:ext>
                    </a:extLst>
                  </a:tr>
                  <a:tr h="914400">
                    <a:tc>
                      <a:txBody>
                        <a:bodyPr/>
                        <a:lstStyle/>
                        <a:p>
                          <a:r>
                            <a:rPr lang="en-GB" dirty="0"/>
                            <a:t>&amp;</a:t>
                          </a:r>
                        </a:p>
                      </a:txBody>
                      <a:tcPr/>
                    </a:tc>
                    <a:tc>
                      <a:txBody>
                        <a:bodyPr/>
                        <a:lstStyle/>
                        <a:p>
                          <a:r>
                            <a:rPr lang="en-GB" dirty="0"/>
                            <a:t>Bitwise AND. </a:t>
                          </a:r>
                          <a:r>
                            <a:rPr lang="en-US" dirty="0"/>
                            <a:t>Compares each bit of two numbers. Returns 1 only if both bits are 1; otherwise, 0. Useful for masking bits or checking if specific bits are set. </a:t>
                          </a:r>
                          <a:r>
                            <a:rPr lang="sv-SE" b="1" dirty="0" err="1"/>
                            <a:t>Example</a:t>
                          </a:r>
                          <a:r>
                            <a:rPr lang="sv-SE" dirty="0"/>
                            <a:t>: 1010 &amp; 1100 = 1000</a:t>
                          </a:r>
                          <a:endParaRPr lang="en-GB" dirty="0"/>
                        </a:p>
                      </a:txBody>
                      <a:tcPr/>
                    </a:tc>
                    <a:extLst>
                      <a:ext uri="{0D108BD9-81ED-4DB2-BD59-A6C34878D82A}">
                        <a16:rowId xmlns:a16="http://schemas.microsoft.com/office/drawing/2014/main" val="3599836134"/>
                      </a:ext>
                    </a:extLst>
                  </a:tr>
                  <a:tr h="914400">
                    <a:tc>
                      <a:txBody>
                        <a:bodyPr/>
                        <a:lstStyle/>
                        <a:p>
                          <a:r>
                            <a:rPr lang="en-GB" dirty="0"/>
                            <a:t>^</a:t>
                          </a:r>
                        </a:p>
                      </a:txBody>
                      <a:tcPr/>
                    </a:tc>
                    <a:tc>
                      <a:txBody>
                        <a:bodyPr/>
                        <a:lstStyle/>
                        <a:p>
                          <a:r>
                            <a:rPr lang="en-GB" dirty="0"/>
                            <a:t>Bitwise exclusive OR. </a:t>
                          </a:r>
                          <a:r>
                            <a:rPr lang="en-US" dirty="0"/>
                            <a:t>Compares each bit of two numbers. Returns 1 if the bits are different; otherwise, 0. Useful for toggling bits or checking differences. </a:t>
                          </a:r>
                          <a:r>
                            <a:rPr lang="sv-SE" b="1" dirty="0" err="1"/>
                            <a:t>Example</a:t>
                          </a:r>
                          <a:r>
                            <a:rPr lang="sv-SE" dirty="0"/>
                            <a:t>: 1010 ^ 1100 = 0110</a:t>
                          </a:r>
                          <a:endParaRPr lang="en-GB" dirty="0"/>
                        </a:p>
                      </a:txBody>
                      <a:tcPr/>
                    </a:tc>
                    <a:extLst>
                      <a:ext uri="{0D108BD9-81ED-4DB2-BD59-A6C34878D82A}">
                        <a16:rowId xmlns:a16="http://schemas.microsoft.com/office/drawing/2014/main" val="1469892206"/>
                      </a:ext>
                    </a:extLst>
                  </a:tr>
                  <a:tr h="640080">
                    <a:tc>
                      <a:txBody>
                        <a:bodyPr/>
                        <a:lstStyle/>
                        <a:p>
                          <a:r>
                            <a:rPr lang="en-GB" dirty="0"/>
                            <a:t>&gt;&gt;</a:t>
                          </a:r>
                        </a:p>
                      </a:txBody>
                      <a:tcPr/>
                    </a:tc>
                    <a:tc>
                      <a:txBody>
                        <a:bodyPr/>
                        <a:lstStyle/>
                        <a:p>
                          <a:endParaRPr lang="sv-SE"/>
                        </a:p>
                      </a:txBody>
                      <a:tcPr>
                        <a:blipFill>
                          <a:blip r:embed="rId3"/>
                          <a:stretch>
                            <a:fillRect l="-38826" t="-491429" r="-322" b="-172381"/>
                          </a:stretch>
                        </a:blipFill>
                      </a:tcPr>
                    </a:tc>
                    <a:extLst>
                      <a:ext uri="{0D108BD9-81ED-4DB2-BD59-A6C34878D82A}">
                        <a16:rowId xmlns:a16="http://schemas.microsoft.com/office/drawing/2014/main" val="2419065099"/>
                      </a:ext>
                    </a:extLst>
                  </a:tr>
                  <a:tr h="640080">
                    <a:tc>
                      <a:txBody>
                        <a:bodyPr/>
                        <a:lstStyle/>
                        <a:p>
                          <a:r>
                            <a:rPr lang="en-GB" dirty="0"/>
                            <a:t>&lt;&lt;</a:t>
                          </a:r>
                        </a:p>
                      </a:txBody>
                      <a:tcPr/>
                    </a:tc>
                    <a:tc>
                      <a:txBody>
                        <a:bodyPr/>
                        <a:lstStyle/>
                        <a:p>
                          <a:endParaRPr lang="sv-SE"/>
                        </a:p>
                      </a:txBody>
                      <a:tcPr>
                        <a:blipFill>
                          <a:blip r:embed="rId3"/>
                          <a:stretch>
                            <a:fillRect l="-38826" t="-591429" r="-322" b="-72381"/>
                          </a:stretch>
                        </a:blipFill>
                      </a:tcPr>
                    </a:tc>
                    <a:extLst>
                      <a:ext uri="{0D108BD9-81ED-4DB2-BD59-A6C34878D82A}">
                        <a16:rowId xmlns:a16="http://schemas.microsoft.com/office/drawing/2014/main" val="3815123557"/>
                      </a:ext>
                    </a:extLst>
                  </a:tr>
                  <a:tr h="370840">
                    <a:tc>
                      <a:txBody>
                        <a:bodyPr/>
                        <a:lstStyle/>
                        <a:p>
                          <a:r>
                            <a:rPr lang="en-GB" dirty="0"/>
                            <a:t>~</a:t>
                          </a:r>
                        </a:p>
                      </a:txBody>
                      <a:tcPr/>
                    </a:tc>
                    <a:tc>
                      <a:txBody>
                        <a:bodyPr/>
                        <a:lstStyle/>
                        <a:p>
                          <a:r>
                            <a:rPr lang="en-GB" dirty="0"/>
                            <a:t>Bitwise NOT. </a:t>
                          </a:r>
                          <a:r>
                            <a:rPr lang="sv-SE" b="1" dirty="0" err="1"/>
                            <a:t>Example</a:t>
                          </a:r>
                          <a:r>
                            <a:rPr lang="sv-SE" dirty="0"/>
                            <a:t>: </a:t>
                          </a:r>
                          <a:r>
                            <a:rPr lang="pt-BR" dirty="0"/>
                            <a:t>a=17  </a:t>
                          </a:r>
                          <a:r>
                            <a:rPr lang="pt-BR" dirty="0">
                              <a:sym typeface="Wingdings" panose="05000000000000000000" pitchFamily="2" charset="2"/>
                            </a:rPr>
                            <a:t></a:t>
                          </a:r>
                          <a:r>
                            <a:rPr lang="pt-BR" dirty="0"/>
                            <a:t>  0 0 0 1 0 0 0 1    ~a </a:t>
                          </a:r>
                          <a:r>
                            <a:rPr lang="pt-BR" dirty="0">
                              <a:sym typeface="Wingdings" panose="05000000000000000000" pitchFamily="2" charset="2"/>
                            </a:rPr>
                            <a:t></a:t>
                          </a:r>
                          <a:r>
                            <a:rPr lang="pt-BR" dirty="0"/>
                            <a:t> 1 1 1 0 1 1 1 0 </a:t>
                          </a:r>
                          <a:r>
                            <a:rPr lang="pt-BR" dirty="0">
                              <a:sym typeface="Wingdings" panose="05000000000000000000" pitchFamily="2" charset="2"/>
                            </a:rPr>
                            <a:t></a:t>
                          </a:r>
                          <a:r>
                            <a:rPr lang="pt-BR" dirty="0"/>
                            <a:t>  238</a:t>
                          </a:r>
                          <a:endParaRPr lang="en-GB" dirty="0"/>
                        </a:p>
                      </a:txBody>
                      <a:tcPr/>
                    </a:tc>
                    <a:extLst>
                      <a:ext uri="{0D108BD9-81ED-4DB2-BD59-A6C34878D82A}">
                        <a16:rowId xmlns:a16="http://schemas.microsoft.com/office/drawing/2014/main" val="973189156"/>
                      </a:ext>
                    </a:extLst>
                  </a:tr>
                </a:tbl>
              </a:graphicData>
            </a:graphic>
          </p:graphicFrame>
        </mc:Fallback>
      </mc:AlternateContent>
    </p:spTree>
    <p:extLst>
      <p:ext uri="{BB962C8B-B14F-4D97-AF65-F5344CB8AC3E}">
        <p14:creationId xmlns:p14="http://schemas.microsoft.com/office/powerpoint/2010/main" val="3091559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7: Bitwise NOT Operator</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dirty="0">
                <a:latin typeface="Calibri" panose="020F0502020204030204" pitchFamily="34" charset="0"/>
                <a:cs typeface="Calibri" panose="020F0502020204030204" pitchFamily="34" charset="0"/>
              </a:rPr>
              <a:t>The bitwise NOT operator inverts every bit in a variable. It is written using the tilde symbol (~). For example:</a:t>
            </a:r>
            <a:endParaRPr lang="en-GB" sz="2000" dirty="0">
              <a:latin typeface="Calibri" panose="020F0502020204030204" pitchFamily="34" charset="0"/>
              <a:cs typeface="Calibri" panose="020F0502020204030204" pitchFamily="34" charset="0"/>
            </a:endParaRPr>
          </a:p>
        </p:txBody>
      </p:sp>
      <p:pic>
        <p:nvPicPr>
          <p:cNvPr id="5" name="Picture 4" descr="A screen shot of a computer&#10;&#10;Description automatically generated">
            <a:extLst>
              <a:ext uri="{FF2B5EF4-FFF2-40B4-BE49-F238E27FC236}">
                <a16:creationId xmlns:a16="http://schemas.microsoft.com/office/drawing/2014/main" id="{221727E4-0CFF-24EC-300F-1C61ED92FC90}"/>
              </a:ext>
            </a:extLst>
          </p:cNvPr>
          <p:cNvPicPr>
            <a:picLocks noChangeAspect="1"/>
          </p:cNvPicPr>
          <p:nvPr/>
        </p:nvPicPr>
        <p:blipFill rotWithShape="1">
          <a:blip r:embed="rId2">
            <a:extLst>
              <a:ext uri="{28A0092B-C50C-407E-A947-70E740481C1C}">
                <a14:useLocalDpi xmlns:a14="http://schemas.microsoft.com/office/drawing/2010/main" val="0"/>
              </a:ext>
            </a:extLst>
          </a:blip>
          <a:srcRect l="5909" t="12253" r="66243" b="65165"/>
          <a:stretch/>
        </p:blipFill>
        <p:spPr>
          <a:xfrm>
            <a:off x="8009894" y="1690688"/>
            <a:ext cx="3343905" cy="3120209"/>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85234B76-7BB3-04C0-E4CC-ADCF3F81ADC5}"/>
              </a:ext>
            </a:extLst>
          </p:cNvPr>
          <p:cNvPicPr>
            <a:picLocks noChangeAspect="1"/>
          </p:cNvPicPr>
          <p:nvPr/>
        </p:nvPicPr>
        <p:blipFill rotWithShape="1">
          <a:blip r:embed="rId3">
            <a:extLst>
              <a:ext uri="{28A0092B-C50C-407E-A947-70E740481C1C}">
                <a14:useLocalDpi xmlns:a14="http://schemas.microsoft.com/office/drawing/2010/main" val="0"/>
              </a:ext>
            </a:extLst>
          </a:blip>
          <a:srcRect l="2563" t="2804" r="2961" b="70522"/>
          <a:stretch/>
        </p:blipFill>
        <p:spPr>
          <a:xfrm>
            <a:off x="216899" y="4945834"/>
            <a:ext cx="7792995" cy="1598141"/>
          </a:xfrm>
          <a:prstGeom prst="rect">
            <a:avLst/>
          </a:prstGeom>
        </p:spPr>
      </p:pic>
    </p:spTree>
    <p:extLst>
      <p:ext uri="{BB962C8B-B14F-4D97-AF65-F5344CB8AC3E}">
        <p14:creationId xmlns:p14="http://schemas.microsoft.com/office/powerpoint/2010/main" val="3431257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8: Bitwise AND Operator</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bitwise AND operator performs an AND between two variables, independently at every bit. It is written using the ampersand symbol (&amp;). For example:</a:t>
            </a:r>
            <a:endParaRPr lang="en-GB" sz="2200" dirty="0">
              <a:latin typeface="Calibri" panose="020F0502020204030204" pitchFamily="34" charset="0"/>
              <a:cs typeface="Calibri" panose="020F0502020204030204" pitchFamily="34" charset="0"/>
            </a:endParaRPr>
          </a:p>
        </p:txBody>
      </p:sp>
      <p:pic>
        <p:nvPicPr>
          <p:cNvPr id="13" name="Picture 12" descr="A screenshot of a computer&#10;&#10;Description automatically generated">
            <a:extLst>
              <a:ext uri="{FF2B5EF4-FFF2-40B4-BE49-F238E27FC236}">
                <a16:creationId xmlns:a16="http://schemas.microsoft.com/office/drawing/2014/main" id="{DC7DB6A7-A36D-3F43-3CB1-3AB0982A1289}"/>
              </a:ext>
            </a:extLst>
          </p:cNvPr>
          <p:cNvPicPr>
            <a:picLocks noChangeAspect="1"/>
          </p:cNvPicPr>
          <p:nvPr/>
        </p:nvPicPr>
        <p:blipFill rotWithShape="1">
          <a:blip r:embed="rId2">
            <a:extLst>
              <a:ext uri="{28A0092B-C50C-407E-A947-70E740481C1C}">
                <a14:useLocalDpi xmlns:a14="http://schemas.microsoft.com/office/drawing/2010/main" val="0"/>
              </a:ext>
            </a:extLst>
          </a:blip>
          <a:srcRect l="2662" t="3078" r="2862" b="70247"/>
          <a:stretch/>
        </p:blipFill>
        <p:spPr>
          <a:xfrm>
            <a:off x="216898" y="4894734"/>
            <a:ext cx="7792996" cy="1598141"/>
          </a:xfrm>
          <a:prstGeom prst="rect">
            <a:avLst/>
          </a:prstGeom>
        </p:spPr>
      </p:pic>
      <p:pic>
        <p:nvPicPr>
          <p:cNvPr id="15" name="Picture 14" descr="A screen shot of a computer&#10;&#10;Description automatically generated">
            <a:extLst>
              <a:ext uri="{FF2B5EF4-FFF2-40B4-BE49-F238E27FC236}">
                <a16:creationId xmlns:a16="http://schemas.microsoft.com/office/drawing/2014/main" id="{10C23837-2C64-74F1-D2DA-59F8F0CA0CCF}"/>
              </a:ext>
            </a:extLst>
          </p:cNvPr>
          <p:cNvPicPr>
            <a:picLocks noChangeAspect="1"/>
          </p:cNvPicPr>
          <p:nvPr/>
        </p:nvPicPr>
        <p:blipFill rotWithShape="1">
          <a:blip r:embed="rId3">
            <a:extLst>
              <a:ext uri="{28A0092B-C50C-407E-A947-70E740481C1C}">
                <a14:useLocalDpi xmlns:a14="http://schemas.microsoft.com/office/drawing/2010/main" val="0"/>
              </a:ext>
            </a:extLst>
          </a:blip>
          <a:srcRect l="6186" t="12639" r="52903" b="61801"/>
          <a:stretch/>
        </p:blipFill>
        <p:spPr>
          <a:xfrm>
            <a:off x="8009894" y="1690688"/>
            <a:ext cx="4036483" cy="2901649"/>
          </a:xfrm>
          <a:prstGeom prst="rect">
            <a:avLst/>
          </a:prstGeom>
        </p:spPr>
      </p:pic>
      <p:pic>
        <p:nvPicPr>
          <p:cNvPr id="17" name="Picture 16">
            <a:extLst>
              <a:ext uri="{FF2B5EF4-FFF2-40B4-BE49-F238E27FC236}">
                <a16:creationId xmlns:a16="http://schemas.microsoft.com/office/drawing/2014/main" id="{362ECD87-1391-670D-5D17-A0872356EFC0}"/>
              </a:ext>
            </a:extLst>
          </p:cNvPr>
          <p:cNvPicPr>
            <a:picLocks noChangeAspect="1"/>
          </p:cNvPicPr>
          <p:nvPr/>
        </p:nvPicPr>
        <p:blipFill>
          <a:blip r:embed="rId4"/>
          <a:stretch>
            <a:fillRect/>
          </a:stretch>
        </p:blipFill>
        <p:spPr>
          <a:xfrm>
            <a:off x="8631197" y="4894734"/>
            <a:ext cx="2568102" cy="927279"/>
          </a:xfrm>
          <a:prstGeom prst="rect">
            <a:avLst/>
          </a:prstGeom>
        </p:spPr>
      </p:pic>
    </p:spTree>
    <p:extLst>
      <p:ext uri="{BB962C8B-B14F-4D97-AF65-F5344CB8AC3E}">
        <p14:creationId xmlns:p14="http://schemas.microsoft.com/office/powerpoint/2010/main" val="3634245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9: Bitwise OR Operator</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The bitwise OR operator performs an OR between two variables, independently at every bit. It is written using the vertical bar symbol (|). For example:</a:t>
            </a:r>
            <a:endParaRPr lang="en-GB" sz="2200" dirty="0">
              <a:latin typeface="Calibri" panose="020F0502020204030204" pitchFamily="34" charset="0"/>
              <a:cs typeface="Calibri" panose="020F0502020204030204" pitchFamily="34" charset="0"/>
            </a:endParaRPr>
          </a:p>
        </p:txBody>
      </p:sp>
      <p:pic>
        <p:nvPicPr>
          <p:cNvPr id="5" name="Picture 4" descr="A screen shot of a computer&#10;&#10;Description automatically generated">
            <a:extLst>
              <a:ext uri="{FF2B5EF4-FFF2-40B4-BE49-F238E27FC236}">
                <a16:creationId xmlns:a16="http://schemas.microsoft.com/office/drawing/2014/main" id="{C2D74F8A-1AF1-CE9F-E279-4E2C6A4175F0}"/>
              </a:ext>
            </a:extLst>
          </p:cNvPr>
          <p:cNvPicPr>
            <a:picLocks noChangeAspect="1"/>
          </p:cNvPicPr>
          <p:nvPr/>
        </p:nvPicPr>
        <p:blipFill rotWithShape="1">
          <a:blip r:embed="rId2">
            <a:extLst>
              <a:ext uri="{28A0092B-C50C-407E-A947-70E740481C1C}">
                <a14:useLocalDpi xmlns:a14="http://schemas.microsoft.com/office/drawing/2010/main" val="0"/>
              </a:ext>
            </a:extLst>
          </a:blip>
          <a:srcRect l="6458" t="9073" r="51703" b="66528"/>
          <a:stretch/>
        </p:blipFill>
        <p:spPr>
          <a:xfrm>
            <a:off x="8089557" y="1675128"/>
            <a:ext cx="4006582" cy="268863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08C4E679-857C-F7A8-310F-C8EF58967E0D}"/>
              </a:ext>
            </a:extLst>
          </p:cNvPr>
          <p:cNvPicPr>
            <a:picLocks noChangeAspect="1"/>
          </p:cNvPicPr>
          <p:nvPr/>
        </p:nvPicPr>
        <p:blipFill rotWithShape="1">
          <a:blip r:embed="rId3">
            <a:extLst>
              <a:ext uri="{28A0092B-C50C-407E-A947-70E740481C1C}">
                <a14:useLocalDpi xmlns:a14="http://schemas.microsoft.com/office/drawing/2010/main" val="0"/>
              </a:ext>
            </a:extLst>
          </a:blip>
          <a:srcRect l="2563" t="3354" r="2861" b="70797"/>
          <a:stretch/>
        </p:blipFill>
        <p:spPr>
          <a:xfrm>
            <a:off x="288324" y="4944162"/>
            <a:ext cx="7801233" cy="1548713"/>
          </a:xfrm>
          <a:prstGeom prst="rect">
            <a:avLst/>
          </a:prstGeom>
        </p:spPr>
      </p:pic>
      <p:pic>
        <p:nvPicPr>
          <p:cNvPr id="12" name="Picture 11">
            <a:extLst>
              <a:ext uri="{FF2B5EF4-FFF2-40B4-BE49-F238E27FC236}">
                <a16:creationId xmlns:a16="http://schemas.microsoft.com/office/drawing/2014/main" id="{2846A462-70F9-3550-C058-CF7701E077F3}"/>
              </a:ext>
            </a:extLst>
          </p:cNvPr>
          <p:cNvPicPr>
            <a:picLocks noChangeAspect="1"/>
          </p:cNvPicPr>
          <p:nvPr/>
        </p:nvPicPr>
        <p:blipFill>
          <a:blip r:embed="rId4"/>
          <a:stretch>
            <a:fillRect/>
          </a:stretch>
        </p:blipFill>
        <p:spPr>
          <a:xfrm>
            <a:off x="8837578" y="4944162"/>
            <a:ext cx="2516221" cy="933718"/>
          </a:xfrm>
          <a:prstGeom prst="rect">
            <a:avLst/>
          </a:prstGeom>
        </p:spPr>
      </p:pic>
    </p:spTree>
    <p:extLst>
      <p:ext uri="{BB962C8B-B14F-4D97-AF65-F5344CB8AC3E}">
        <p14:creationId xmlns:p14="http://schemas.microsoft.com/office/powerpoint/2010/main" val="4250026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E005-FCED-A016-EA2B-A38C0DA4677B}"/>
              </a:ext>
            </a:extLst>
          </p:cNvPr>
          <p:cNvSpPr>
            <a:spLocks noGrp="1"/>
          </p:cNvSpPr>
          <p:nvPr>
            <p:ph type="title"/>
          </p:nvPr>
        </p:nvSpPr>
        <p:spPr/>
        <p:txBody>
          <a:bodyPr/>
          <a:lstStyle/>
          <a:p>
            <a:r>
              <a:rPr lang="en-GB" sz="4000" b="1" dirty="0"/>
              <a:t>Example 10: Bitwise Operators</a:t>
            </a:r>
          </a:p>
        </p:txBody>
      </p:sp>
      <p:sp>
        <p:nvSpPr>
          <p:cNvPr id="3" name="Content Placeholder 2">
            <a:extLst>
              <a:ext uri="{FF2B5EF4-FFF2-40B4-BE49-F238E27FC236}">
                <a16:creationId xmlns:a16="http://schemas.microsoft.com/office/drawing/2014/main" id="{E5320016-03DA-53E2-9A69-0538500434A6}"/>
              </a:ext>
            </a:extLst>
          </p:cNvPr>
          <p:cNvSpPr>
            <a:spLocks noGrp="1"/>
          </p:cNvSpPr>
          <p:nvPr>
            <p:ph idx="1"/>
          </p:nvPr>
        </p:nvSpPr>
        <p:spPr/>
        <p:txBody>
          <a:bodyPr/>
          <a:lstStyle/>
          <a:p>
            <a:pPr algn="just"/>
            <a:r>
              <a:rPr lang="en-US" sz="2200" dirty="0">
                <a:latin typeface="Calibri" panose="020F0502020204030204" pitchFamily="34" charset="0"/>
                <a:cs typeface="Calibri" panose="020F0502020204030204" pitchFamily="34" charset="0"/>
              </a:rPr>
              <a:t>Write a C program that asks the user to enter two integers (each integer has 4 bytes/32 bits). The program should then perform the following bitwise operations on these integers and print the results:</a:t>
            </a:r>
          </a:p>
          <a:p>
            <a:pPr lvl="1"/>
            <a:endParaRPr lang="en-GB" dirty="0"/>
          </a:p>
          <a:p>
            <a:endParaRPr lang="en-GB" dirty="0"/>
          </a:p>
        </p:txBody>
      </p:sp>
      <p:graphicFrame>
        <p:nvGraphicFramePr>
          <p:cNvPr id="7" name="Table 6">
            <a:extLst>
              <a:ext uri="{FF2B5EF4-FFF2-40B4-BE49-F238E27FC236}">
                <a16:creationId xmlns:a16="http://schemas.microsoft.com/office/drawing/2014/main" id="{D7D23C6C-1F23-D309-4DAA-E4536B15E94C}"/>
              </a:ext>
            </a:extLst>
          </p:cNvPr>
          <p:cNvGraphicFramePr>
            <a:graphicFrameLocks noGrp="1"/>
          </p:cNvGraphicFramePr>
          <p:nvPr>
            <p:extLst>
              <p:ext uri="{D42A27DB-BD31-4B8C-83A1-F6EECF244321}">
                <p14:modId xmlns:p14="http://schemas.microsoft.com/office/powerpoint/2010/main" val="2119617333"/>
              </p:ext>
            </p:extLst>
          </p:nvPr>
        </p:nvGraphicFramePr>
        <p:xfrm>
          <a:off x="651752" y="3429000"/>
          <a:ext cx="10888495" cy="2103120"/>
        </p:xfrm>
        <a:graphic>
          <a:graphicData uri="http://schemas.openxmlformats.org/drawingml/2006/table">
            <a:tbl>
              <a:tblPr firstRow="1" bandRow="1">
                <a:tableStyleId>{5C22544A-7EE6-4342-B048-85BDC9FD1C3A}</a:tableStyleId>
              </a:tblPr>
              <a:tblGrid>
                <a:gridCol w="2177699">
                  <a:extLst>
                    <a:ext uri="{9D8B030D-6E8A-4147-A177-3AD203B41FA5}">
                      <a16:colId xmlns:a16="http://schemas.microsoft.com/office/drawing/2014/main" val="2428429479"/>
                    </a:ext>
                  </a:extLst>
                </a:gridCol>
                <a:gridCol w="2177699">
                  <a:extLst>
                    <a:ext uri="{9D8B030D-6E8A-4147-A177-3AD203B41FA5}">
                      <a16:colId xmlns:a16="http://schemas.microsoft.com/office/drawing/2014/main" val="2397319058"/>
                    </a:ext>
                  </a:extLst>
                </a:gridCol>
                <a:gridCol w="2177699">
                  <a:extLst>
                    <a:ext uri="{9D8B030D-6E8A-4147-A177-3AD203B41FA5}">
                      <a16:colId xmlns:a16="http://schemas.microsoft.com/office/drawing/2014/main" val="3419127009"/>
                    </a:ext>
                  </a:extLst>
                </a:gridCol>
                <a:gridCol w="2177699">
                  <a:extLst>
                    <a:ext uri="{9D8B030D-6E8A-4147-A177-3AD203B41FA5}">
                      <a16:colId xmlns:a16="http://schemas.microsoft.com/office/drawing/2014/main" val="1882768667"/>
                    </a:ext>
                  </a:extLst>
                </a:gridCol>
                <a:gridCol w="2177699">
                  <a:extLst>
                    <a:ext uri="{9D8B030D-6E8A-4147-A177-3AD203B41FA5}">
                      <a16:colId xmlns:a16="http://schemas.microsoft.com/office/drawing/2014/main" val="65735668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latin typeface="Calibri" panose="020F0502020204030204" pitchFamily="34" charset="0"/>
                          <a:cs typeface="Calibri" panose="020F0502020204030204" pitchFamily="34" charset="0"/>
                        </a:rPr>
                        <a:t>AND (‘&amp;’)</a:t>
                      </a:r>
                    </a:p>
                    <a:p>
                      <a:endParaRPr lang="en-GB" sz="1800" dirty="0">
                        <a:latin typeface="Calibri" panose="020F0502020204030204" pitchFamily="34" charset="0"/>
                        <a:cs typeface="Calibri" panose="020F0502020204030204" pitchFamily="34" charset="0"/>
                      </a:endParaRPr>
                    </a:p>
                  </a:txBody>
                  <a:tcPr/>
                </a:tc>
                <a:tc>
                  <a:txBody>
                    <a:bodyPr/>
                    <a:lstStyle/>
                    <a:p>
                      <a:pPr lvl="1"/>
                      <a:r>
                        <a:rPr lang="en-GB" sz="1800" dirty="0">
                          <a:latin typeface="Calibri" panose="020F0502020204030204" pitchFamily="34" charset="0"/>
                          <a:cs typeface="Calibri" panose="020F0502020204030204" pitchFamily="34" charset="0"/>
                        </a:rPr>
                        <a:t>OR (‘|’)</a:t>
                      </a:r>
                    </a:p>
                    <a:p>
                      <a:endParaRPr lang="en-GB" sz="18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latin typeface="Calibri" panose="020F0502020204030204" pitchFamily="34" charset="0"/>
                          <a:cs typeface="Calibri" panose="020F0502020204030204" pitchFamily="34" charset="0"/>
                        </a:rPr>
                        <a:t>XOR (‘^’)</a:t>
                      </a:r>
                    </a:p>
                    <a:p>
                      <a:endParaRPr lang="en-GB" sz="18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latin typeface="Calibri" panose="020F0502020204030204" pitchFamily="34" charset="0"/>
                          <a:cs typeface="Calibri" panose="020F0502020204030204" pitchFamily="34" charset="0"/>
                        </a:rPr>
                        <a:t>Left Shift (‘&lt;&lt;’) by 1</a:t>
                      </a:r>
                    </a:p>
                    <a:p>
                      <a:endParaRPr lang="en-GB" sz="1800" dirty="0">
                        <a:latin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latin typeface="Calibri" panose="020F0502020204030204" pitchFamily="34" charset="0"/>
                          <a:cs typeface="Calibri" panose="020F0502020204030204" pitchFamily="34" charset="0"/>
                        </a:rPr>
                        <a:t>Right Shift (‘&gt;&gt;’) by 1</a:t>
                      </a:r>
                    </a:p>
                    <a:p>
                      <a:endParaRPr lang="en-GB" sz="18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17403128"/>
                  </a:ext>
                </a:extLst>
              </a:tr>
              <a:tr h="370840">
                <a:tc>
                  <a:txBody>
                    <a:bodyPr/>
                    <a:lstStyle/>
                    <a:p>
                      <a:r>
                        <a:rPr lang="en-GB" sz="1800" dirty="0">
                          <a:latin typeface="Calibri" panose="020F0502020204030204" pitchFamily="34" charset="0"/>
                          <a:cs typeface="Calibri" panose="020F0502020204030204" pitchFamily="34" charset="0"/>
                        </a:rPr>
                        <a:t> 1100   (12)</a:t>
                      </a:r>
                    </a:p>
                    <a:p>
                      <a:r>
                        <a:rPr lang="en-GB" sz="1800" dirty="0">
                          <a:latin typeface="Calibri" panose="020F0502020204030204" pitchFamily="34" charset="0"/>
                          <a:cs typeface="Calibri" panose="020F0502020204030204" pitchFamily="34" charset="0"/>
                        </a:rPr>
                        <a:t>&amp; 1010   (10)</a:t>
                      </a:r>
                    </a:p>
                    <a:p>
                      <a:r>
                        <a:rPr lang="en-GB" sz="1800" dirty="0">
                          <a:latin typeface="Calibri" panose="020F0502020204030204" pitchFamily="34" charset="0"/>
                          <a:cs typeface="Calibri" panose="020F0502020204030204" pitchFamily="34" charset="0"/>
                        </a:rPr>
                        <a:t>  ----</a:t>
                      </a:r>
                    </a:p>
                    <a:p>
                      <a:r>
                        <a:rPr lang="en-GB" sz="1800" dirty="0">
                          <a:latin typeface="Calibri" panose="020F0502020204030204" pitchFamily="34" charset="0"/>
                          <a:cs typeface="Calibri" panose="020F0502020204030204" pitchFamily="34" charset="0"/>
                        </a:rPr>
                        <a:t>  1000   (8)</a:t>
                      </a:r>
                    </a:p>
                    <a:p>
                      <a:endParaRPr lang="en-GB" sz="1800" dirty="0">
                        <a:latin typeface="Calibri" panose="020F0502020204030204" pitchFamily="34" charset="0"/>
                        <a:cs typeface="Calibri" panose="020F0502020204030204" pitchFamily="34" charset="0"/>
                      </a:endParaRPr>
                    </a:p>
                  </a:txBody>
                  <a:tcPr/>
                </a:tc>
                <a:tc>
                  <a:txBody>
                    <a:bodyPr/>
                    <a:lstStyle/>
                    <a:p>
                      <a:r>
                        <a:rPr lang="en-US" sz="1800" dirty="0">
                          <a:latin typeface="Calibri" panose="020F0502020204030204" pitchFamily="34" charset="0"/>
                          <a:cs typeface="Calibri" panose="020F0502020204030204" pitchFamily="34" charset="0"/>
                        </a:rPr>
                        <a:t> 1100   (12)</a:t>
                      </a:r>
                    </a:p>
                    <a:p>
                      <a:r>
                        <a:rPr lang="en-US" sz="1800" dirty="0">
                          <a:latin typeface="Calibri" panose="020F0502020204030204" pitchFamily="34" charset="0"/>
                          <a:cs typeface="Calibri" panose="020F0502020204030204" pitchFamily="34" charset="0"/>
                        </a:rPr>
                        <a:t>| 1010   (10)</a:t>
                      </a:r>
                    </a:p>
                    <a:p>
                      <a:r>
                        <a:rPr lang="en-US" sz="1800" dirty="0">
                          <a:latin typeface="Calibri" panose="020F0502020204030204" pitchFamily="34" charset="0"/>
                          <a:cs typeface="Calibri" panose="020F0502020204030204" pitchFamily="34" charset="0"/>
                        </a:rPr>
                        <a:t>  ----</a:t>
                      </a:r>
                    </a:p>
                    <a:p>
                      <a:r>
                        <a:rPr lang="en-US" sz="1800" dirty="0">
                          <a:latin typeface="Calibri" panose="020F0502020204030204" pitchFamily="34" charset="0"/>
                          <a:cs typeface="Calibri" panose="020F0502020204030204" pitchFamily="34" charset="0"/>
                        </a:rPr>
                        <a:t>  1110   (14)</a:t>
                      </a:r>
                      <a:endParaRPr lang="en-GB" sz="1800" dirty="0">
                        <a:latin typeface="Calibri" panose="020F0502020204030204" pitchFamily="34" charset="0"/>
                        <a:cs typeface="Calibri" panose="020F0502020204030204" pitchFamily="34" charset="0"/>
                      </a:endParaRPr>
                    </a:p>
                  </a:txBody>
                  <a:tcPr/>
                </a:tc>
                <a:tc>
                  <a:txBody>
                    <a:bodyPr/>
                    <a:lstStyle/>
                    <a:p>
                      <a:r>
                        <a:rPr lang="en-US" sz="1800" dirty="0">
                          <a:latin typeface="Calibri" panose="020F0502020204030204" pitchFamily="34" charset="0"/>
                          <a:cs typeface="Calibri" panose="020F0502020204030204" pitchFamily="34" charset="0"/>
                        </a:rPr>
                        <a:t> 1100   (12)</a:t>
                      </a:r>
                    </a:p>
                    <a:p>
                      <a:r>
                        <a:rPr lang="en-US" sz="1800" dirty="0">
                          <a:latin typeface="Calibri" panose="020F0502020204030204" pitchFamily="34" charset="0"/>
                          <a:cs typeface="Calibri" panose="020F0502020204030204" pitchFamily="34" charset="0"/>
                        </a:rPr>
                        <a:t>^ 1010   (10)</a:t>
                      </a:r>
                    </a:p>
                    <a:p>
                      <a:r>
                        <a:rPr lang="en-US" sz="1800" dirty="0">
                          <a:latin typeface="Calibri" panose="020F0502020204030204" pitchFamily="34" charset="0"/>
                          <a:cs typeface="Calibri" panose="020F0502020204030204" pitchFamily="34" charset="0"/>
                        </a:rPr>
                        <a:t>  ----</a:t>
                      </a:r>
                    </a:p>
                    <a:p>
                      <a:r>
                        <a:rPr lang="en-US" sz="1800" dirty="0">
                          <a:latin typeface="Calibri" panose="020F0502020204030204" pitchFamily="34" charset="0"/>
                          <a:cs typeface="Calibri" panose="020F0502020204030204" pitchFamily="34" charset="0"/>
                        </a:rPr>
                        <a:t>  0110   (6)</a:t>
                      </a:r>
                      <a:endParaRPr lang="en-GB" sz="1800" dirty="0">
                        <a:latin typeface="Calibri" panose="020F0502020204030204" pitchFamily="34" charset="0"/>
                        <a:cs typeface="Calibri" panose="020F0502020204030204" pitchFamily="34" charset="0"/>
                      </a:endParaRPr>
                    </a:p>
                  </a:txBody>
                  <a:tcPr/>
                </a:tc>
                <a:tc>
                  <a:txBody>
                    <a:bodyPr/>
                    <a:lstStyle/>
                    <a:p>
                      <a:r>
                        <a:rPr lang="en-US" sz="1800" dirty="0">
                          <a:latin typeface="Calibri" panose="020F0502020204030204" pitchFamily="34" charset="0"/>
                          <a:cs typeface="Calibri" panose="020F0502020204030204" pitchFamily="34" charset="0"/>
                        </a:rPr>
                        <a:t>1010 &lt;&lt; 1</a:t>
                      </a:r>
                    </a:p>
                    <a:p>
                      <a:r>
                        <a:rPr lang="en-US" sz="1800" dirty="0">
                          <a:latin typeface="Calibri" panose="020F0502020204030204" pitchFamily="34" charset="0"/>
                          <a:cs typeface="Calibri" panose="020F0502020204030204" pitchFamily="34" charset="0"/>
                        </a:rPr>
                        <a:t>----</a:t>
                      </a:r>
                    </a:p>
                    <a:p>
                      <a:r>
                        <a:rPr lang="en-US" sz="1800" dirty="0">
                          <a:latin typeface="Calibri" panose="020F0502020204030204" pitchFamily="34" charset="0"/>
                          <a:cs typeface="Calibri" panose="020F0502020204030204" pitchFamily="34" charset="0"/>
                        </a:rPr>
                        <a:t>00010100 (20)</a:t>
                      </a:r>
                      <a:endParaRPr lang="en-GB" sz="1800" dirty="0">
                        <a:latin typeface="Calibri" panose="020F0502020204030204" pitchFamily="34" charset="0"/>
                        <a:cs typeface="Calibri" panose="020F0502020204030204" pitchFamily="34" charset="0"/>
                      </a:endParaRPr>
                    </a:p>
                  </a:txBody>
                  <a:tcPr/>
                </a:tc>
                <a:tc>
                  <a:txBody>
                    <a:bodyPr/>
                    <a:lstStyle/>
                    <a:p>
                      <a:r>
                        <a:rPr lang="en-US" sz="1800" dirty="0">
                          <a:latin typeface="Calibri" panose="020F0502020204030204" pitchFamily="34" charset="0"/>
                          <a:cs typeface="Calibri" panose="020F0502020204030204" pitchFamily="34" charset="0"/>
                        </a:rPr>
                        <a:t>1010 &gt;&gt; 1</a:t>
                      </a:r>
                    </a:p>
                    <a:p>
                      <a:r>
                        <a:rPr lang="en-US" sz="1800" dirty="0">
                          <a:latin typeface="Calibri" panose="020F0502020204030204" pitchFamily="34" charset="0"/>
                          <a:cs typeface="Calibri" panose="020F0502020204030204" pitchFamily="34" charset="0"/>
                        </a:rPr>
                        <a:t>----</a:t>
                      </a:r>
                    </a:p>
                    <a:p>
                      <a:r>
                        <a:rPr lang="en-US" sz="1800" dirty="0">
                          <a:latin typeface="Calibri" panose="020F0502020204030204" pitchFamily="34" charset="0"/>
                          <a:cs typeface="Calibri" panose="020F0502020204030204" pitchFamily="34" charset="0"/>
                        </a:rPr>
                        <a:t>0000 0101 (5)</a:t>
                      </a:r>
                      <a:endParaRPr lang="en-GB" sz="1800" dirty="0">
                        <a:latin typeface="Calibri" panose="020F0502020204030204" pitchFamily="34" charset="0"/>
                        <a:cs typeface="Calibri" panose="020F0502020204030204" pitchFamily="34" charset="0"/>
                      </a:endParaRPr>
                    </a:p>
                    <a:p>
                      <a:endParaRPr lang="en-GB" sz="18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05365530"/>
                  </a:ext>
                </a:extLst>
              </a:tr>
            </a:tbl>
          </a:graphicData>
        </a:graphic>
      </p:graphicFrame>
    </p:spTree>
    <p:extLst>
      <p:ext uri="{BB962C8B-B14F-4D97-AF65-F5344CB8AC3E}">
        <p14:creationId xmlns:p14="http://schemas.microsoft.com/office/powerpoint/2010/main" val="2615633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E005-FCED-A016-EA2B-A38C0DA4677B}"/>
              </a:ext>
            </a:extLst>
          </p:cNvPr>
          <p:cNvSpPr>
            <a:spLocks noGrp="1"/>
          </p:cNvSpPr>
          <p:nvPr>
            <p:ph type="title"/>
          </p:nvPr>
        </p:nvSpPr>
        <p:spPr/>
        <p:txBody>
          <a:bodyPr/>
          <a:lstStyle/>
          <a:p>
            <a:r>
              <a:rPr lang="en-GB" sz="4000" b="1" dirty="0"/>
              <a:t>Example 10: Bitwise Operators</a:t>
            </a:r>
          </a:p>
        </p:txBody>
      </p:sp>
      <p:pic>
        <p:nvPicPr>
          <p:cNvPr id="8" name="Picture 7" descr="A screenshot of a computer screen&#10;&#10;Description automatically generated">
            <a:extLst>
              <a:ext uri="{FF2B5EF4-FFF2-40B4-BE49-F238E27FC236}">
                <a16:creationId xmlns:a16="http://schemas.microsoft.com/office/drawing/2014/main" id="{2EAAAD86-4CE2-F17E-4AD1-D8B1E2FD8B56}"/>
              </a:ext>
            </a:extLst>
          </p:cNvPr>
          <p:cNvPicPr>
            <a:picLocks noChangeAspect="1"/>
          </p:cNvPicPr>
          <p:nvPr/>
        </p:nvPicPr>
        <p:blipFill rotWithShape="1">
          <a:blip r:embed="rId2">
            <a:extLst>
              <a:ext uri="{28A0092B-C50C-407E-A947-70E740481C1C}">
                <a14:useLocalDpi xmlns:a14="http://schemas.microsoft.com/office/drawing/2010/main" val="0"/>
              </a:ext>
            </a:extLst>
          </a:blip>
          <a:srcRect l="6287" t="8544" r="23043" b="6425"/>
          <a:stretch/>
        </p:blipFill>
        <p:spPr>
          <a:xfrm>
            <a:off x="7304333" y="365125"/>
            <a:ext cx="4689872" cy="6492875"/>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97DA49D6-3886-4577-5344-12172C3E03FD}"/>
              </a:ext>
            </a:extLst>
          </p:cNvPr>
          <p:cNvPicPr>
            <a:picLocks noChangeAspect="1"/>
          </p:cNvPicPr>
          <p:nvPr/>
        </p:nvPicPr>
        <p:blipFill rotWithShape="1">
          <a:blip r:embed="rId3">
            <a:extLst>
              <a:ext uri="{28A0092B-C50C-407E-A947-70E740481C1C}">
                <a14:useLocalDpi xmlns:a14="http://schemas.microsoft.com/office/drawing/2010/main" val="0"/>
              </a:ext>
            </a:extLst>
          </a:blip>
          <a:srcRect l="2867" t="3645" r="12931" b="42450"/>
          <a:stretch/>
        </p:blipFill>
        <p:spPr>
          <a:xfrm>
            <a:off x="197795" y="3263292"/>
            <a:ext cx="6945549" cy="3229583"/>
          </a:xfrm>
          <a:prstGeom prst="rect">
            <a:avLst/>
          </a:prstGeom>
        </p:spPr>
      </p:pic>
    </p:spTree>
    <p:extLst>
      <p:ext uri="{BB962C8B-B14F-4D97-AF65-F5344CB8AC3E}">
        <p14:creationId xmlns:p14="http://schemas.microsoft.com/office/powerpoint/2010/main" val="1398760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Bitmask Operations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b="0" i="0" u="none" strike="noStrike" baseline="0" dirty="0" err="1">
                <a:latin typeface="Calibri" panose="020F0502020204030204" pitchFamily="34" charset="0"/>
                <a:cs typeface="Calibri" panose="020F0502020204030204" pitchFamily="34" charset="0"/>
              </a:rPr>
              <a:t>Bitmasking</a:t>
            </a:r>
            <a:r>
              <a:rPr lang="en-US" sz="2200" b="0" i="0" u="none" strike="noStrike" baseline="0" dirty="0">
                <a:latin typeface="Calibri" panose="020F0502020204030204" pitchFamily="34" charset="0"/>
                <a:cs typeface="Calibri" panose="020F0502020204030204" pitchFamily="34" charset="0"/>
              </a:rPr>
              <a:t> is perhaps the most common type of bitwise operation. </a:t>
            </a:r>
          </a:p>
          <a:p>
            <a:pPr algn="just"/>
            <a:r>
              <a:rPr lang="en-US" sz="2200" b="0" i="0" u="none" strike="noStrike" baseline="0" dirty="0" err="1">
                <a:latin typeface="Calibri" panose="020F0502020204030204" pitchFamily="34" charset="0"/>
                <a:cs typeface="Calibri" panose="020F0502020204030204" pitchFamily="34" charset="0"/>
              </a:rPr>
              <a:t>Bitmasking</a:t>
            </a:r>
            <a:r>
              <a:rPr lang="en-US" sz="2200" b="0" i="0" u="none" strike="noStrike" baseline="0" dirty="0">
                <a:latin typeface="Calibri" panose="020F0502020204030204" pitchFamily="34" charset="0"/>
                <a:cs typeface="Calibri" panose="020F0502020204030204" pitchFamily="34" charset="0"/>
              </a:rPr>
              <a:t> involves using bitwise operators to selectively change specific bits within a variable.</a:t>
            </a:r>
          </a:p>
          <a:p>
            <a:pPr algn="l"/>
            <a:r>
              <a:rPr lang="en-GB" sz="2200" b="0" i="0" u="none" strike="noStrike" baseline="0" dirty="0">
                <a:latin typeface="Calibri" panose="020F0502020204030204" pitchFamily="34" charset="0"/>
                <a:cs typeface="Calibri" panose="020F0502020204030204" pitchFamily="34" charset="0"/>
              </a:rPr>
              <a:t>The three most common bitmask operations are:</a:t>
            </a:r>
            <a:endParaRPr lang="en-US" sz="22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B668DD38-7D10-2A02-5F93-E2308FDD87CD}"/>
              </a:ext>
            </a:extLst>
          </p:cNvPr>
          <p:cNvPicPr>
            <a:picLocks noChangeAspect="1"/>
          </p:cNvPicPr>
          <p:nvPr/>
        </p:nvPicPr>
        <p:blipFill>
          <a:blip r:embed="rId2"/>
          <a:stretch>
            <a:fillRect/>
          </a:stretch>
        </p:blipFill>
        <p:spPr>
          <a:xfrm>
            <a:off x="1057217" y="3537746"/>
            <a:ext cx="3223686" cy="1569714"/>
          </a:xfrm>
          <a:prstGeom prst="rect">
            <a:avLst/>
          </a:prstGeom>
        </p:spPr>
      </p:pic>
      <p:sp>
        <p:nvSpPr>
          <p:cNvPr id="8" name="TextBox 7">
            <a:extLst>
              <a:ext uri="{FF2B5EF4-FFF2-40B4-BE49-F238E27FC236}">
                <a16:creationId xmlns:a16="http://schemas.microsoft.com/office/drawing/2014/main" id="{4356EE72-C413-4D31-9B15-D568EE159A61}"/>
              </a:ext>
            </a:extLst>
          </p:cNvPr>
          <p:cNvSpPr txBox="1"/>
          <p:nvPr/>
        </p:nvSpPr>
        <p:spPr>
          <a:xfrm>
            <a:off x="4399005" y="4001294"/>
            <a:ext cx="5256567" cy="369332"/>
          </a:xfrm>
          <a:prstGeom prst="rect">
            <a:avLst/>
          </a:prstGeom>
          <a:noFill/>
        </p:spPr>
        <p:txBody>
          <a:bodyPr wrap="none" rtlCol="0">
            <a:spAutoFit/>
          </a:bodyPr>
          <a:lstStyle/>
          <a:p>
            <a:r>
              <a:rPr lang="en-US" dirty="0"/>
              <a:t>Use bitwise OR to set specific bits to 1 in a variable.</a:t>
            </a:r>
            <a:endParaRPr lang="en-GB" dirty="0"/>
          </a:p>
        </p:txBody>
      </p:sp>
      <p:sp>
        <p:nvSpPr>
          <p:cNvPr id="10" name="TextBox 9">
            <a:extLst>
              <a:ext uri="{FF2B5EF4-FFF2-40B4-BE49-F238E27FC236}">
                <a16:creationId xmlns:a16="http://schemas.microsoft.com/office/drawing/2014/main" id="{ED37B9A2-A6FC-536E-40B9-4C44805F77AB}"/>
              </a:ext>
            </a:extLst>
          </p:cNvPr>
          <p:cNvSpPr txBox="1"/>
          <p:nvPr/>
        </p:nvSpPr>
        <p:spPr>
          <a:xfrm>
            <a:off x="4398101" y="4354150"/>
            <a:ext cx="6953891" cy="369332"/>
          </a:xfrm>
          <a:prstGeom prst="rect">
            <a:avLst/>
          </a:prstGeom>
          <a:noFill/>
        </p:spPr>
        <p:txBody>
          <a:bodyPr wrap="none" rtlCol="0">
            <a:spAutoFit/>
          </a:bodyPr>
          <a:lstStyle/>
          <a:p>
            <a:r>
              <a:rPr lang="en-US" dirty="0"/>
              <a:t>Use bitwise AND with a complemented bitmask to clear specific bits.</a:t>
            </a:r>
            <a:endParaRPr lang="en-GB" dirty="0"/>
          </a:p>
        </p:txBody>
      </p:sp>
      <p:sp>
        <p:nvSpPr>
          <p:cNvPr id="12" name="TextBox 11">
            <a:extLst>
              <a:ext uri="{FF2B5EF4-FFF2-40B4-BE49-F238E27FC236}">
                <a16:creationId xmlns:a16="http://schemas.microsoft.com/office/drawing/2014/main" id="{9384FBFA-13D8-CB05-9136-DF89F4609A18}"/>
              </a:ext>
            </a:extLst>
          </p:cNvPr>
          <p:cNvSpPr txBox="1"/>
          <p:nvPr/>
        </p:nvSpPr>
        <p:spPr>
          <a:xfrm>
            <a:off x="4396293" y="4703320"/>
            <a:ext cx="6096000" cy="369332"/>
          </a:xfrm>
          <a:prstGeom prst="rect">
            <a:avLst/>
          </a:prstGeom>
          <a:noFill/>
        </p:spPr>
        <p:txBody>
          <a:bodyPr wrap="square">
            <a:spAutoFit/>
          </a:bodyPr>
          <a:lstStyle/>
          <a:p>
            <a:r>
              <a:rPr lang="en-GB" dirty="0"/>
              <a:t>Extract and interpret the value of the Nth bit from a number</a:t>
            </a:r>
          </a:p>
        </p:txBody>
      </p:sp>
    </p:spTree>
    <p:extLst>
      <p:ext uri="{BB962C8B-B14F-4D97-AF65-F5344CB8AC3E}">
        <p14:creationId xmlns:p14="http://schemas.microsoft.com/office/powerpoint/2010/main" val="2362999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BFBD-BF3A-1666-966B-CBA3BDFB14E8}"/>
              </a:ext>
            </a:extLst>
          </p:cNvPr>
          <p:cNvSpPr>
            <a:spLocks noGrp="1"/>
          </p:cNvSpPr>
          <p:nvPr>
            <p:ph type="title"/>
          </p:nvPr>
        </p:nvSpPr>
        <p:spPr/>
        <p:txBody>
          <a:bodyPr/>
          <a:lstStyle/>
          <a:p>
            <a:r>
              <a:rPr lang="en-GB" b="1" dirty="0"/>
              <a:t>Example 11: Bitmask Operations</a:t>
            </a:r>
          </a:p>
        </p:txBody>
      </p:sp>
      <p:sp>
        <p:nvSpPr>
          <p:cNvPr id="3" name="Content Placeholder 2">
            <a:extLst>
              <a:ext uri="{FF2B5EF4-FFF2-40B4-BE49-F238E27FC236}">
                <a16:creationId xmlns:a16="http://schemas.microsoft.com/office/drawing/2014/main" id="{BB9C824B-2565-A317-1DE9-FD2BCF749D39}"/>
              </a:ext>
            </a:extLst>
          </p:cNvPr>
          <p:cNvSpPr>
            <a:spLocks noGrp="1"/>
          </p:cNvSpPr>
          <p:nvPr>
            <p:ph idx="1"/>
          </p:nvPr>
        </p:nvSpPr>
        <p:spPr>
          <a:xfrm>
            <a:off x="838201" y="1825625"/>
            <a:ext cx="5257800" cy="4351338"/>
          </a:xfrm>
        </p:spPr>
        <p:txBody>
          <a:bodyPr>
            <a:noAutofit/>
          </a:bodyPr>
          <a:lstStyle/>
          <a:p>
            <a:pPr algn="just"/>
            <a:r>
              <a:rPr lang="en-US" sz="2200" b="0" i="0" u="none" strike="noStrike" baseline="0" dirty="0">
                <a:latin typeface="Calibri" panose="020F0502020204030204" pitchFamily="34" charset="0"/>
                <a:cs typeface="Calibri" panose="020F0502020204030204" pitchFamily="34" charset="0"/>
              </a:rPr>
              <a:t>Write a C program that demonstrates setting, clearing, and reading bits in a variable a of type char. Perform the following operations:</a:t>
            </a:r>
          </a:p>
          <a:p>
            <a:pPr lvl="1" algn="just"/>
            <a:r>
              <a:rPr lang="en-US" sz="2000" b="0" i="0" u="none" strike="noStrike" baseline="0" dirty="0">
                <a:latin typeface="Calibri" panose="020F0502020204030204" pitchFamily="34" charset="0"/>
                <a:cs typeface="Calibri" panose="020F0502020204030204" pitchFamily="34" charset="0"/>
              </a:rPr>
              <a:t>Set the 3rd bit of a.</a:t>
            </a:r>
          </a:p>
          <a:p>
            <a:pPr lvl="1" algn="just"/>
            <a:r>
              <a:rPr lang="en-US" sz="2000" b="0" i="0" u="none" strike="noStrike" baseline="0" dirty="0">
                <a:latin typeface="Calibri" panose="020F0502020204030204" pitchFamily="34" charset="0"/>
                <a:cs typeface="Calibri" panose="020F0502020204030204" pitchFamily="34" charset="0"/>
              </a:rPr>
              <a:t>Clear the 4th bit of a.</a:t>
            </a:r>
          </a:p>
          <a:p>
            <a:pPr lvl="1" algn="just"/>
            <a:r>
              <a:rPr lang="en-US" sz="2000" b="0" i="0" u="none" strike="noStrike" baseline="0" dirty="0">
                <a:latin typeface="Calibri" panose="020F0502020204030204" pitchFamily="34" charset="0"/>
                <a:cs typeface="Calibri" panose="020F0502020204030204" pitchFamily="34" charset="0"/>
              </a:rPr>
              <a:t>Print the binary representation of a after performing the above operations.</a:t>
            </a:r>
            <a:endParaRPr lang="en-GB" sz="2000" dirty="0">
              <a:latin typeface="Calibri" panose="020F0502020204030204" pitchFamily="34" charset="0"/>
              <a:cs typeface="Calibri" panose="020F0502020204030204" pitchFamily="34" charset="0"/>
            </a:endParaRPr>
          </a:p>
        </p:txBody>
      </p:sp>
      <p:pic>
        <p:nvPicPr>
          <p:cNvPr id="5" name="Picture 4" descr="A screenshot of a computer&#10;&#10;Description automatically generated">
            <a:extLst>
              <a:ext uri="{FF2B5EF4-FFF2-40B4-BE49-F238E27FC236}">
                <a16:creationId xmlns:a16="http://schemas.microsoft.com/office/drawing/2014/main" id="{407E1ABA-935B-267D-DF8E-A8956786E0E6}"/>
              </a:ext>
            </a:extLst>
          </p:cNvPr>
          <p:cNvPicPr>
            <a:picLocks noChangeAspect="1"/>
          </p:cNvPicPr>
          <p:nvPr/>
        </p:nvPicPr>
        <p:blipFill rotWithShape="1">
          <a:blip r:embed="rId2">
            <a:extLst>
              <a:ext uri="{28A0092B-C50C-407E-A947-70E740481C1C}">
                <a14:useLocalDpi xmlns:a14="http://schemas.microsoft.com/office/drawing/2010/main" val="0"/>
              </a:ext>
            </a:extLst>
          </a:blip>
          <a:srcRect l="6186" t="12253" r="11784" b="32132"/>
          <a:stretch/>
        </p:blipFill>
        <p:spPr>
          <a:xfrm>
            <a:off x="6470050" y="1521939"/>
            <a:ext cx="5577756" cy="4351337"/>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585DCED1-97DD-8CCA-3193-4B541D61D02C}"/>
              </a:ext>
            </a:extLst>
          </p:cNvPr>
          <p:cNvPicPr>
            <a:picLocks noChangeAspect="1"/>
          </p:cNvPicPr>
          <p:nvPr/>
        </p:nvPicPr>
        <p:blipFill rotWithShape="1">
          <a:blip r:embed="rId3">
            <a:extLst>
              <a:ext uri="{28A0092B-C50C-407E-A947-70E740481C1C}">
                <a14:useLocalDpi xmlns:a14="http://schemas.microsoft.com/office/drawing/2010/main" val="0"/>
              </a:ext>
            </a:extLst>
          </a:blip>
          <a:srcRect l="2662" t="2941" r="13848" b="63234"/>
          <a:stretch/>
        </p:blipFill>
        <p:spPr>
          <a:xfrm>
            <a:off x="210709" y="4651011"/>
            <a:ext cx="6259341" cy="1841864"/>
          </a:xfrm>
          <a:prstGeom prst="rect">
            <a:avLst/>
          </a:prstGeom>
        </p:spPr>
      </p:pic>
    </p:spTree>
    <p:extLst>
      <p:ext uri="{BB962C8B-B14F-4D97-AF65-F5344CB8AC3E}">
        <p14:creationId xmlns:p14="http://schemas.microsoft.com/office/powerpoint/2010/main" val="1561524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Example 11: Explanation</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Setting 3rd bit: a | (1 &lt;&lt; 3) sets the 3rd bit of variable a by performing a bitwise OR operation with a bitmask where only the 3rd bit is 1.</a:t>
            </a:r>
          </a:p>
          <a:p>
            <a:pPr lvl="1" algn="just"/>
            <a:r>
              <a:rPr lang="en-US" sz="2000" dirty="0">
                <a:latin typeface="Calibri" panose="020F0502020204030204" pitchFamily="34" charset="0"/>
                <a:cs typeface="Calibri" panose="020F0502020204030204" pitchFamily="34" charset="0"/>
              </a:rPr>
              <a:t>1 &lt;&lt; 3 shifts 0000 0001 to become 0000 1000.</a:t>
            </a:r>
          </a:p>
          <a:p>
            <a:pPr algn="just"/>
            <a:r>
              <a:rPr lang="en-US" sz="2200" dirty="0">
                <a:latin typeface="Calibri" panose="020F0502020204030204" pitchFamily="34" charset="0"/>
                <a:cs typeface="Calibri" panose="020F0502020204030204" pitchFamily="34" charset="0"/>
              </a:rPr>
              <a:t>Clearing 4th bit: a &amp; (~(1 &lt;&lt; 4)) clears the 4th bit of variable a by first creating a bitmask where only the 4th bit is 0 (using bitwise NOT and </a:t>
            </a:r>
            <a:r>
              <a:rPr lang="en-US" sz="2200" dirty="0" err="1">
                <a:latin typeface="Calibri" panose="020F0502020204030204" pitchFamily="34" charset="0"/>
                <a:cs typeface="Calibri" panose="020F0502020204030204" pitchFamily="34" charset="0"/>
              </a:rPr>
              <a:t>AND</a:t>
            </a:r>
            <a:r>
              <a:rPr lang="en-US" sz="2200" dirty="0">
                <a:latin typeface="Calibri" panose="020F0502020204030204" pitchFamily="34" charset="0"/>
                <a:cs typeface="Calibri" panose="020F0502020204030204" pitchFamily="34" charset="0"/>
              </a:rPr>
              <a:t> operations).</a:t>
            </a:r>
          </a:p>
          <a:p>
            <a:pPr lvl="1" algn="just"/>
            <a:r>
              <a:rPr lang="en-US" sz="2000" dirty="0">
                <a:latin typeface="Calibri" panose="020F0502020204030204" pitchFamily="34" charset="0"/>
                <a:cs typeface="Calibri" panose="020F0502020204030204" pitchFamily="34" charset="0"/>
              </a:rPr>
              <a:t>The expression 1 &lt;&lt; 4 in C is a bitwise left shift operation, where 1 (0000 0001) is shifted to the left by 4 positions and becomes. This operation effectively multiplies 1 by 2 four times, resulting in 16 (0001 0000).</a:t>
            </a:r>
          </a:p>
          <a:p>
            <a:pPr algn="just"/>
            <a:r>
              <a:rPr lang="en-US" sz="2200" dirty="0">
                <a:latin typeface="Calibri" panose="020F0502020204030204" pitchFamily="34" charset="0"/>
                <a:cs typeface="Calibri" panose="020F0502020204030204" pitchFamily="34" charset="0"/>
              </a:rPr>
              <a:t>Reading bits: The for loop iterates from the most significant bit (bit 7) to the least significant bit (bit 0), printing each bit of a using a bitwise AND operation with a bitmask for each bit position.</a:t>
            </a:r>
            <a:endParaRPr lang="en-US" sz="20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493021D-52D6-F99B-8904-A8E62B6B121D}"/>
              </a:ext>
            </a:extLst>
          </p:cNvPr>
          <p:cNvPicPr>
            <a:picLocks noChangeAspect="1"/>
          </p:cNvPicPr>
          <p:nvPr/>
        </p:nvPicPr>
        <p:blipFill>
          <a:blip r:embed="rId2"/>
          <a:stretch>
            <a:fillRect/>
          </a:stretch>
        </p:blipFill>
        <p:spPr>
          <a:xfrm>
            <a:off x="3963452" y="5533399"/>
            <a:ext cx="3787302" cy="959476"/>
          </a:xfrm>
          <a:prstGeom prst="rect">
            <a:avLst/>
          </a:prstGeom>
        </p:spPr>
      </p:pic>
    </p:spTree>
    <p:extLst>
      <p:ext uri="{BB962C8B-B14F-4D97-AF65-F5344CB8AC3E}">
        <p14:creationId xmlns:p14="http://schemas.microsoft.com/office/powerpoint/2010/main" val="1394322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GB" sz="2200" b="0" i="0" u="none" strike="noStrike" baseline="0" dirty="0">
                <a:latin typeface="Calibri" panose="020F0502020204030204" pitchFamily="34" charset="0"/>
                <a:cs typeface="Calibri" panose="020F0502020204030204" pitchFamily="34" charset="0"/>
              </a:rPr>
              <a:t>Beyond </a:t>
            </a:r>
            <a:r>
              <a:rPr lang="en-US" sz="2200" b="0" i="0" u="none" strike="noStrike" baseline="0" dirty="0">
                <a:latin typeface="Calibri" panose="020F0502020204030204" pitchFamily="34" charset="0"/>
                <a:cs typeface="Calibri" panose="020F0502020204030204" pitchFamily="34" charset="0"/>
              </a:rPr>
              <a:t>the four basic data types (char, int, float, double), the C language supports some advanced data constructs. </a:t>
            </a:r>
          </a:p>
          <a:p>
            <a:pPr algn="just"/>
            <a:r>
              <a:rPr lang="en-US" sz="2200" b="0" i="0" u="none" strike="noStrike" baseline="0" dirty="0">
                <a:latin typeface="Calibri" panose="020F0502020204030204" pitchFamily="34" charset="0"/>
                <a:cs typeface="Calibri" panose="020F0502020204030204" pitchFamily="34" charset="0"/>
              </a:rPr>
              <a:t>These include </a:t>
            </a:r>
          </a:p>
          <a:p>
            <a:pPr lvl="1" algn="just"/>
            <a:r>
              <a:rPr lang="en-US" sz="2000" b="1" i="0" u="none" strike="noStrike" baseline="0" dirty="0">
                <a:solidFill>
                  <a:srgbClr val="FF0000"/>
                </a:solidFill>
                <a:latin typeface="Calibri" panose="020F0502020204030204" pitchFamily="34" charset="0"/>
                <a:cs typeface="Calibri" panose="020F0502020204030204" pitchFamily="34" charset="0"/>
              </a:rPr>
              <a:t>Arrays,</a:t>
            </a:r>
            <a:endParaRPr lang="en-US" sz="1800" b="1" i="0" u="none" strike="noStrike" baseline="0" dirty="0">
              <a:solidFill>
                <a:srgbClr val="FF0000"/>
              </a:solidFill>
              <a:latin typeface="Calibri" panose="020F0502020204030204" pitchFamily="34" charset="0"/>
              <a:cs typeface="Calibri" panose="020F0502020204030204" pitchFamily="34" charset="0"/>
            </a:endParaRPr>
          </a:p>
          <a:p>
            <a:pPr lvl="1" algn="just"/>
            <a:r>
              <a:rPr lang="en-US" sz="2000" b="0" i="0" u="none" strike="noStrike" baseline="0" dirty="0">
                <a:latin typeface="Calibri" panose="020F0502020204030204" pitchFamily="34" charset="0"/>
                <a:cs typeface="Calibri" panose="020F0502020204030204" pitchFamily="34" charset="0"/>
              </a:rPr>
              <a:t>strings, </a:t>
            </a:r>
          </a:p>
          <a:p>
            <a:pPr lvl="1" algn="just"/>
            <a:r>
              <a:rPr lang="en-US" sz="2000" b="0" i="0" u="none" strike="noStrike" baseline="0" dirty="0">
                <a:latin typeface="Calibri" panose="020F0502020204030204" pitchFamily="34" charset="0"/>
                <a:cs typeface="Calibri" panose="020F0502020204030204" pitchFamily="34" charset="0"/>
              </a:rPr>
              <a:t>pointers and </a:t>
            </a:r>
          </a:p>
          <a:p>
            <a:pPr lvl="1" algn="just"/>
            <a:r>
              <a:rPr lang="en-US" sz="2000" b="0" i="0" u="none" strike="noStrike" baseline="0" dirty="0">
                <a:latin typeface="Calibri" panose="020F0502020204030204" pitchFamily="34" charset="0"/>
                <a:cs typeface="Calibri" panose="020F0502020204030204" pitchFamily="34" charset="0"/>
              </a:rPr>
              <a:t>structures. </a:t>
            </a:r>
          </a:p>
          <a:p>
            <a:pPr marL="0" indent="0" algn="just">
              <a:buNone/>
            </a:pPr>
            <a:r>
              <a:rPr lang="en-US" sz="2200" b="0" i="0" u="none" strike="noStrike" baseline="0" dirty="0">
                <a:latin typeface="Calibri" panose="020F0502020204030204" pitchFamily="34" charset="0"/>
                <a:cs typeface="Calibri" panose="020F0502020204030204" pitchFamily="34" charset="0"/>
              </a:rPr>
              <a:t>Like the basic data types, each of these advanced data constructs is intended to store something different.</a:t>
            </a:r>
            <a:endParaRPr lang="en-US" sz="22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2E5B89A-868F-75E6-CD86-09FB8DDA8A69}"/>
              </a:ext>
            </a:extLst>
          </p:cNvPr>
          <p:cNvPicPr>
            <a:picLocks noChangeAspect="1"/>
          </p:cNvPicPr>
          <p:nvPr/>
        </p:nvPicPr>
        <p:blipFill>
          <a:blip r:embed="rId2"/>
          <a:stretch>
            <a:fillRect/>
          </a:stretch>
        </p:blipFill>
        <p:spPr>
          <a:xfrm>
            <a:off x="4101967" y="4903354"/>
            <a:ext cx="3988066" cy="1743253"/>
          </a:xfrm>
          <a:prstGeom prst="rect">
            <a:avLst/>
          </a:prstGeom>
        </p:spPr>
      </p:pic>
    </p:spTree>
    <p:extLst>
      <p:ext uri="{BB962C8B-B14F-4D97-AF65-F5344CB8AC3E}">
        <p14:creationId xmlns:p14="http://schemas.microsoft.com/office/powerpoint/2010/main" val="3031497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i="0" u="none" strike="noStrike" baseline="0" dirty="0">
                <a:latin typeface="Calibri" panose="020F0502020204030204" pitchFamily="34" charset="0"/>
                <a:cs typeface="Calibri" panose="020F0502020204030204" pitchFamily="34" charset="0"/>
              </a:rPr>
              <a:t>Arrays are intended to group together a list of values, all of the same type, under one variable name.</a:t>
            </a:r>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Instead of declaring individual variables, such as number0, number1, ..., and number99, you declare one array variable such as numbers and use numbers[0], numbers[1], and ..., numbers[99] to represent individual variables.</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For instance:</a:t>
            </a:r>
          </a:p>
        </p:txBody>
      </p:sp>
      <p:sp>
        <p:nvSpPr>
          <p:cNvPr id="6" name="TextBox 5">
            <a:extLst>
              <a:ext uri="{FF2B5EF4-FFF2-40B4-BE49-F238E27FC236}">
                <a16:creationId xmlns:a16="http://schemas.microsoft.com/office/drawing/2014/main" id="{1102C439-ABA4-90F0-E3A9-8B76DD01F89F}"/>
              </a:ext>
            </a:extLst>
          </p:cNvPr>
          <p:cNvSpPr txBox="1"/>
          <p:nvPr/>
        </p:nvSpPr>
        <p:spPr>
          <a:xfrm>
            <a:off x="1063373" y="5111571"/>
            <a:ext cx="4837471" cy="1200329"/>
          </a:xfrm>
          <a:prstGeom prst="rect">
            <a:avLst/>
          </a:prstGeom>
          <a:noFill/>
        </p:spPr>
        <p:txBody>
          <a:bodyPr wrap="square">
            <a:spAutoFit/>
          </a:bodyPr>
          <a:lstStyle/>
          <a:p>
            <a:pPr algn="l"/>
            <a:r>
              <a:rPr lang="nn-NO" sz="1800" b="0" i="0" u="none" strike="noStrike" baseline="0" dirty="0">
                <a:solidFill>
                  <a:schemeClr val="tx2">
                    <a:lumMod val="75000"/>
                    <a:lumOff val="25000"/>
                  </a:schemeClr>
                </a:solidFill>
                <a:latin typeface="ZztexMono-Regular"/>
              </a:rPr>
              <a:t>for (i=0; i&lt;100; i++) /* array coding */</a:t>
            </a:r>
          </a:p>
          <a:p>
            <a:pPr algn="l"/>
            <a:r>
              <a:rPr lang="en-GB" sz="1800" b="0" i="0" u="none" strike="noStrike" baseline="0" dirty="0">
                <a:solidFill>
                  <a:schemeClr val="tx2">
                    <a:lumMod val="75000"/>
                    <a:lumOff val="25000"/>
                  </a:schemeClr>
                </a:solidFill>
                <a:latin typeface="ZztexMono-Regular"/>
              </a:rPr>
              <a:t>sum=</a:t>
            </a:r>
            <a:r>
              <a:rPr lang="en-GB" sz="1800" b="0" i="0" u="none" strike="noStrike" baseline="0" dirty="0" err="1">
                <a:solidFill>
                  <a:schemeClr val="tx2">
                    <a:lumMod val="75000"/>
                    <a:lumOff val="25000"/>
                  </a:schemeClr>
                </a:solidFill>
                <a:latin typeface="ZztexMono-Regular"/>
              </a:rPr>
              <a:t>sum+qty</a:t>
            </a:r>
            <a:r>
              <a:rPr lang="en-GB" sz="1800" b="0" i="0" u="none" strike="noStrike" baseline="0" dirty="0">
                <a:solidFill>
                  <a:schemeClr val="tx2">
                    <a:lumMod val="75000"/>
                    <a:lumOff val="25000"/>
                  </a:schemeClr>
                </a:solidFill>
                <a:latin typeface="ZztexMono-Regular"/>
              </a:rPr>
              <a:t>[</a:t>
            </a:r>
            <a:r>
              <a:rPr lang="en-GB" sz="1800" b="0" i="0" u="none" strike="noStrike" baseline="0" dirty="0" err="1">
                <a:solidFill>
                  <a:schemeClr val="tx2">
                    <a:lumMod val="75000"/>
                    <a:lumOff val="25000"/>
                  </a:schemeClr>
                </a:solidFill>
                <a:latin typeface="ZztexMono-Regular"/>
              </a:rPr>
              <a:t>i</a:t>
            </a:r>
            <a:r>
              <a:rPr lang="en-GB" sz="1800" b="0" i="0" u="none" strike="noStrike" baseline="0" dirty="0">
                <a:solidFill>
                  <a:schemeClr val="tx2">
                    <a:lumMod val="75000"/>
                    <a:lumOff val="25000"/>
                  </a:schemeClr>
                </a:solidFill>
                <a:latin typeface="ZztexMono-Regular"/>
              </a:rPr>
              <a:t>];</a:t>
            </a:r>
          </a:p>
          <a:p>
            <a:pPr algn="l"/>
            <a:endParaRPr lang="en-US" sz="1800" b="0" i="0" u="none" strike="noStrike" baseline="0" dirty="0">
              <a:solidFill>
                <a:schemeClr val="tx2">
                  <a:lumMod val="75000"/>
                  <a:lumOff val="25000"/>
                </a:schemeClr>
              </a:solidFill>
              <a:latin typeface="ZztexMono-Regular"/>
            </a:endParaRPr>
          </a:p>
          <a:p>
            <a:pPr algn="l"/>
            <a:r>
              <a:rPr lang="en-US" sz="1800" b="0" i="0" u="none" strike="noStrike" baseline="0" dirty="0">
                <a:solidFill>
                  <a:schemeClr val="tx2">
                    <a:lumMod val="75000"/>
                    <a:lumOff val="25000"/>
                  </a:schemeClr>
                </a:solidFill>
                <a:latin typeface="ZztexMono-Regular"/>
              </a:rPr>
              <a:t>sum=qty1+qty2+qty3+... /* without an array */</a:t>
            </a:r>
            <a:endParaRPr lang="en-GB" dirty="0">
              <a:solidFill>
                <a:schemeClr val="tx2">
                  <a:lumMod val="75000"/>
                  <a:lumOff val="25000"/>
                </a:schemeClr>
              </a:solidFill>
            </a:endParaRPr>
          </a:p>
        </p:txBody>
      </p:sp>
    </p:spTree>
    <p:extLst>
      <p:ext uri="{BB962C8B-B14F-4D97-AF65-F5344CB8AC3E}">
        <p14:creationId xmlns:p14="http://schemas.microsoft.com/office/powerpoint/2010/main" val="1450626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All arrays consist of contiguous memory locations.</a:t>
            </a:r>
          </a:p>
          <a:p>
            <a:pPr lvl="1" algn="just"/>
            <a:r>
              <a:rPr lang="en-US" sz="2000" dirty="0">
                <a:latin typeface="Calibri" panose="020F0502020204030204" pitchFamily="34" charset="0"/>
                <a:cs typeface="Calibri" panose="020F0502020204030204" pitchFamily="34" charset="0"/>
              </a:rPr>
              <a:t>The lowest address corresponds to the first element and the highest address to the last element.</a:t>
            </a:r>
          </a:p>
          <a:p>
            <a:pPr lvl="1" algn="just"/>
            <a:endParaRPr lang="en-US" sz="2000" dirty="0">
              <a:latin typeface="Calibri" panose="020F0502020204030204" pitchFamily="34" charset="0"/>
              <a:cs typeface="Calibri" panose="020F0502020204030204" pitchFamily="34" charset="0"/>
            </a:endParaRPr>
          </a:p>
          <a:p>
            <a:pPr lvl="1" algn="just"/>
            <a:endParaRPr lang="en-US" sz="2000" dirty="0">
              <a:latin typeface="Calibri" panose="020F0502020204030204" pitchFamily="34" charset="0"/>
              <a:cs typeface="Calibri" panose="020F0502020204030204" pitchFamily="34" charset="0"/>
            </a:endParaRPr>
          </a:p>
          <a:p>
            <a:pPr lvl="1" algn="just"/>
            <a:endParaRPr lang="en-US" sz="2000" dirty="0">
              <a:latin typeface="Calibri" panose="020F0502020204030204" pitchFamily="34" charset="0"/>
              <a:cs typeface="Calibri" panose="020F0502020204030204" pitchFamily="34" charset="0"/>
            </a:endParaRPr>
          </a:p>
          <a:p>
            <a:pPr lvl="1" algn="just"/>
            <a:endParaRPr lang="en-US" sz="20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The size of each cell is dictated by the data type:</a:t>
            </a:r>
          </a:p>
          <a:p>
            <a:pPr marL="0" indent="0" algn="l">
              <a:buNone/>
            </a:pPr>
            <a:r>
              <a:rPr lang="en-US" sz="1800" b="0" i="0" u="none" strike="noStrike" baseline="0" dirty="0">
                <a:latin typeface="ZztexMono-Regular"/>
              </a:rPr>
              <a:t>	</a:t>
            </a:r>
            <a:r>
              <a:rPr lang="en-US" sz="1800" b="0" i="0" u="none" strike="noStrike" baseline="0" dirty="0">
                <a:solidFill>
                  <a:schemeClr val="tx2">
                    <a:lumMod val="75000"/>
                    <a:lumOff val="25000"/>
                  </a:schemeClr>
                </a:solidFill>
                <a:latin typeface="ZztexMono-Regular"/>
              </a:rPr>
              <a:t>int a[2]; /* 2 cells, each cell 4 bytes (32 bits) */</a:t>
            </a:r>
          </a:p>
          <a:p>
            <a:pPr marL="0" indent="0" algn="l">
              <a:buNone/>
            </a:pPr>
            <a:r>
              <a:rPr lang="en-US" sz="1800" b="0" i="0" u="none" strike="noStrike" baseline="0" dirty="0">
                <a:solidFill>
                  <a:schemeClr val="tx2">
                    <a:lumMod val="75000"/>
                    <a:lumOff val="25000"/>
                  </a:schemeClr>
                </a:solidFill>
                <a:latin typeface="ZztexMono-Regular"/>
              </a:rPr>
              <a:t>	float b[3]; /* 3 cells, each cell 4 bytes (32 bits) */</a:t>
            </a:r>
          </a:p>
          <a:p>
            <a:pPr marL="0" indent="0" algn="l">
              <a:buNone/>
            </a:pPr>
            <a:r>
              <a:rPr lang="en-US" sz="1800" b="0" i="0" u="none" strike="noStrike" baseline="0" dirty="0">
                <a:solidFill>
                  <a:schemeClr val="tx2">
                    <a:lumMod val="75000"/>
                    <a:lumOff val="25000"/>
                  </a:schemeClr>
                </a:solidFill>
                <a:latin typeface="ZztexMono-Regular"/>
              </a:rPr>
              <a:t>	double c[4]; /* 4 cells, each cell 8 bytes (64 bits) */</a:t>
            </a:r>
          </a:p>
          <a:p>
            <a:pPr marL="0" indent="0" algn="l">
              <a:buNone/>
            </a:pPr>
            <a:r>
              <a:rPr lang="en-US" sz="1800" b="0" i="0" u="none" strike="noStrike" baseline="0" dirty="0">
                <a:solidFill>
                  <a:schemeClr val="tx2">
                    <a:lumMod val="75000"/>
                    <a:lumOff val="25000"/>
                  </a:schemeClr>
                </a:solidFill>
                <a:latin typeface="ZztexMono-Regular"/>
              </a:rPr>
              <a:t>	char d[5]; /* 5 cells, each cell 1 bytes (8 bits) */</a:t>
            </a:r>
            <a:endParaRPr lang="en-US" sz="1800" dirty="0">
              <a:solidFill>
                <a:schemeClr val="tx2">
                  <a:lumMod val="75000"/>
                  <a:lumOff val="25000"/>
                </a:schemeClr>
              </a:solidFill>
              <a:latin typeface="Calibri" panose="020F0502020204030204" pitchFamily="34" charset="0"/>
              <a:cs typeface="Calibri" panose="020F0502020204030204" pitchFamily="34" charset="0"/>
            </a:endParaRPr>
          </a:p>
        </p:txBody>
      </p:sp>
      <p:pic>
        <p:nvPicPr>
          <p:cNvPr id="1026" name="Picture 2" descr="Getting Started with Array Data Structure | by Vikash Kumar | Medium">
            <a:extLst>
              <a:ext uri="{FF2B5EF4-FFF2-40B4-BE49-F238E27FC236}">
                <a16:creationId xmlns:a16="http://schemas.microsoft.com/office/drawing/2014/main" id="{336DDF46-6FD7-FF35-B430-83CEE74562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979"/>
          <a:stretch/>
        </p:blipFill>
        <p:spPr bwMode="auto">
          <a:xfrm>
            <a:off x="4523990" y="2676478"/>
            <a:ext cx="3144019" cy="151698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FCA3C41-C3B6-D350-F817-A62684BFFA3B}"/>
              </a:ext>
            </a:extLst>
          </p:cNvPr>
          <p:cNvSpPr txBox="1"/>
          <p:nvPr/>
        </p:nvSpPr>
        <p:spPr>
          <a:xfrm>
            <a:off x="3541433" y="3668274"/>
            <a:ext cx="1023037" cy="369332"/>
          </a:xfrm>
          <a:prstGeom prst="rect">
            <a:avLst/>
          </a:prstGeom>
          <a:noFill/>
        </p:spPr>
        <p:txBody>
          <a:bodyPr wrap="none" rtlCol="0">
            <a:spAutoFit/>
          </a:bodyPr>
          <a:lstStyle/>
          <a:p>
            <a:r>
              <a:rPr lang="en-GB" dirty="0"/>
              <a:t>int </a:t>
            </a:r>
            <a:r>
              <a:rPr lang="en-GB" dirty="0" err="1"/>
              <a:t>arr</a:t>
            </a:r>
            <a:r>
              <a:rPr lang="en-GB" dirty="0"/>
              <a:t>[5]</a:t>
            </a:r>
          </a:p>
        </p:txBody>
      </p:sp>
    </p:spTree>
    <p:extLst>
      <p:ext uri="{BB962C8B-B14F-4D97-AF65-F5344CB8AC3E}">
        <p14:creationId xmlns:p14="http://schemas.microsoft.com/office/powerpoint/2010/main" val="1185684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a:xfrm>
            <a:off x="838200" y="1825625"/>
            <a:ext cx="10636045" cy="4351338"/>
          </a:xfrm>
        </p:spPr>
        <p:txBody>
          <a:bodyPr>
            <a:noAutofit/>
          </a:bodyPr>
          <a:lstStyle/>
          <a:p>
            <a:pPr algn="just"/>
            <a:r>
              <a:rPr lang="en-US" sz="2200" dirty="0">
                <a:latin typeface="Calibri" panose="020F0502020204030204" pitchFamily="34" charset="0"/>
                <a:cs typeface="Calibri" panose="020F0502020204030204" pitchFamily="34" charset="0"/>
              </a:rPr>
              <a:t>Format:</a:t>
            </a:r>
          </a:p>
          <a:p>
            <a:pPr marL="0" indent="0" algn="just">
              <a:buNone/>
            </a:pPr>
            <a:r>
              <a:rPr lang="en-US" sz="2000" dirty="0">
                <a:latin typeface="Calibri" panose="020F0502020204030204" pitchFamily="34" charset="0"/>
                <a:cs typeface="Calibri" panose="020F0502020204030204" pitchFamily="34" charset="0"/>
              </a:rPr>
              <a:t>	</a:t>
            </a:r>
            <a:r>
              <a:rPr lang="en-US" sz="2000" dirty="0" err="1">
                <a:solidFill>
                  <a:schemeClr val="tx2">
                    <a:lumMod val="75000"/>
                    <a:lumOff val="25000"/>
                  </a:schemeClr>
                </a:solidFill>
                <a:latin typeface="Calibri" panose="020F0502020204030204" pitchFamily="34" charset="0"/>
                <a:cs typeface="Calibri" panose="020F0502020204030204" pitchFamily="34" charset="0"/>
              </a:rPr>
              <a:t>arrayname</a:t>
            </a:r>
            <a:r>
              <a:rPr lang="en-US" sz="2000" dirty="0">
                <a:solidFill>
                  <a:schemeClr val="tx2">
                    <a:lumMod val="75000"/>
                    <a:lumOff val="25000"/>
                  </a:schemeClr>
                </a:solidFill>
                <a:latin typeface="Calibri" panose="020F0502020204030204" pitchFamily="34" charset="0"/>
                <a:cs typeface="Calibri" panose="020F0502020204030204" pitchFamily="34" charset="0"/>
              </a:rPr>
              <a:t>[ position number ]</a:t>
            </a:r>
          </a:p>
          <a:p>
            <a:pPr marL="0" indent="0" algn="just">
              <a:buNone/>
            </a:pP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First</a:t>
            </a:r>
            <a:r>
              <a:rPr lang="en-US" sz="2000" dirty="0">
                <a:latin typeface="Calibri" panose="020F0502020204030204" pitchFamily="34" charset="0"/>
                <a:cs typeface="Calibri" panose="020F0502020204030204" pitchFamily="34" charset="0"/>
              </a:rPr>
              <a:t> element at position 0</a:t>
            </a:r>
          </a:p>
          <a:p>
            <a:pPr marL="0" indent="0" algn="just">
              <a:buNone/>
            </a:pP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n</a:t>
            </a:r>
            <a:r>
              <a:rPr lang="en-US" sz="2000" dirty="0">
                <a:latin typeface="Calibri" panose="020F0502020204030204" pitchFamily="34" charset="0"/>
                <a:cs typeface="Calibri" panose="020F0502020204030204" pitchFamily="34" charset="0"/>
              </a:rPr>
              <a:t> element at position n-1</a:t>
            </a:r>
          </a:p>
          <a:p>
            <a:pPr algn="just"/>
            <a:r>
              <a:rPr lang="en-US" sz="2200" dirty="0">
                <a:latin typeface="Calibri" panose="020F0502020204030204" pitchFamily="34" charset="0"/>
                <a:cs typeface="Calibri" panose="020F0502020204030204" pitchFamily="34" charset="0"/>
              </a:rPr>
              <a:t>Example: array named c:</a:t>
            </a:r>
          </a:p>
          <a:p>
            <a:pPr marL="0" indent="0" algn="just">
              <a:buNone/>
            </a:pPr>
            <a:r>
              <a:rPr lang="en-US" sz="2000" dirty="0">
                <a:latin typeface="Calibri" panose="020F0502020204030204" pitchFamily="34" charset="0"/>
                <a:cs typeface="Calibri" panose="020F0502020204030204" pitchFamily="34" charset="0"/>
              </a:rPr>
              <a:t>	</a:t>
            </a:r>
            <a:r>
              <a:rPr lang="en-US" sz="2000" dirty="0">
                <a:solidFill>
                  <a:schemeClr val="tx2">
                    <a:lumMod val="75000"/>
                    <a:lumOff val="25000"/>
                  </a:schemeClr>
                </a:solidFill>
                <a:latin typeface="Calibri" panose="020F0502020204030204" pitchFamily="34" charset="0"/>
                <a:cs typeface="Calibri" panose="020F0502020204030204" pitchFamily="34" charset="0"/>
              </a:rPr>
              <a:t>c[ 0 ], c[ 1 ]...c[ n – 1 ]</a:t>
            </a:r>
          </a:p>
          <a:p>
            <a:pPr algn="just"/>
            <a:r>
              <a:rPr lang="en-US" sz="2200" dirty="0">
                <a:latin typeface="Calibri" panose="020F0502020204030204" pitchFamily="34" charset="0"/>
                <a:cs typeface="Calibri" panose="020F0502020204030204" pitchFamily="34" charset="0"/>
              </a:rPr>
              <a:t>Cells are accessed using indices:</a:t>
            </a:r>
          </a:p>
          <a:p>
            <a:pPr marL="0" indent="0" algn="l">
              <a:buNone/>
            </a:pPr>
            <a:r>
              <a:rPr lang="en-GB" sz="1800" b="0" i="0" u="none" strike="noStrike" baseline="0" dirty="0">
                <a:latin typeface="ZztexMono-Regular"/>
              </a:rPr>
              <a:t>			</a:t>
            </a:r>
            <a:r>
              <a:rPr lang="en-GB" sz="1800" b="0" i="0" u="none" strike="noStrike" baseline="0" dirty="0">
                <a:solidFill>
                  <a:schemeClr val="tx2">
                    <a:lumMod val="75000"/>
                    <a:lumOff val="25000"/>
                  </a:schemeClr>
                </a:solidFill>
                <a:latin typeface="ZztexMono-Regular"/>
              </a:rPr>
              <a:t>a[0]=5;</a:t>
            </a:r>
          </a:p>
          <a:p>
            <a:pPr marL="0" indent="0" algn="l">
              <a:buNone/>
            </a:pPr>
            <a:r>
              <a:rPr lang="en-GB" sz="1800" b="0" i="0" u="none" strike="noStrike" baseline="0" dirty="0">
                <a:solidFill>
                  <a:schemeClr val="tx2">
                    <a:lumMod val="75000"/>
                    <a:lumOff val="25000"/>
                  </a:schemeClr>
                </a:solidFill>
                <a:latin typeface="ZztexMono-Regular"/>
              </a:rPr>
              <a:t>			b[1]=4.0;</a:t>
            </a:r>
          </a:p>
          <a:p>
            <a:pPr marL="0" indent="0" algn="l">
              <a:buNone/>
            </a:pPr>
            <a:r>
              <a:rPr lang="en-GB" sz="1800" b="0" i="0" u="none" strike="noStrike" baseline="0" dirty="0">
                <a:solidFill>
                  <a:schemeClr val="tx2">
                    <a:lumMod val="75000"/>
                    <a:lumOff val="25000"/>
                  </a:schemeClr>
                </a:solidFill>
                <a:latin typeface="ZztexMono-Regular"/>
              </a:rPr>
              <a:t>			c[2]=14.7;</a:t>
            </a:r>
          </a:p>
          <a:p>
            <a:pPr marL="0" indent="0" algn="l">
              <a:buNone/>
            </a:pPr>
            <a:r>
              <a:rPr lang="en-GB" sz="1800" b="0" i="0" u="none" strike="noStrike" baseline="0" dirty="0">
                <a:solidFill>
                  <a:schemeClr val="tx2">
                    <a:lumMod val="75000"/>
                    <a:lumOff val="25000"/>
                  </a:schemeClr>
                </a:solidFill>
                <a:latin typeface="ZztexMono-Regular"/>
              </a:rPr>
              <a:t>			d[4]=‘a</a:t>
            </a:r>
            <a:r>
              <a:rPr lang="en-GB" sz="1800" dirty="0">
                <a:solidFill>
                  <a:schemeClr val="tx2">
                    <a:lumMod val="75000"/>
                    <a:lumOff val="25000"/>
                  </a:schemeClr>
                </a:solidFill>
                <a:latin typeface="ZztexMono-Regular"/>
              </a:rPr>
              <a:t>’</a:t>
            </a:r>
            <a:r>
              <a:rPr lang="en-GB" sz="1800" b="0" i="0" u="none" strike="noStrike" baseline="0" dirty="0">
                <a:solidFill>
                  <a:schemeClr val="tx2">
                    <a:lumMod val="75000"/>
                    <a:lumOff val="25000"/>
                  </a:schemeClr>
                </a:solidFill>
                <a:latin typeface="ZztexMono-Regular"/>
              </a:rPr>
              <a:t>;</a:t>
            </a:r>
            <a:endParaRPr lang="en-US" sz="2200" dirty="0">
              <a:solidFill>
                <a:schemeClr val="tx2">
                  <a:lumMod val="75000"/>
                  <a:lumOff val="25000"/>
                </a:schemeClr>
              </a:solidFill>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0F1F1AB0-91AA-47B9-C420-0A6193EF0A48}"/>
              </a:ext>
            </a:extLst>
          </p:cNvPr>
          <p:cNvPicPr>
            <a:picLocks noChangeAspect="1"/>
          </p:cNvPicPr>
          <p:nvPr/>
        </p:nvPicPr>
        <p:blipFill>
          <a:blip r:embed="rId2"/>
          <a:stretch>
            <a:fillRect/>
          </a:stretch>
        </p:blipFill>
        <p:spPr>
          <a:xfrm>
            <a:off x="7030066" y="1693586"/>
            <a:ext cx="2890684" cy="5164414"/>
          </a:xfrm>
          <a:prstGeom prst="rect">
            <a:avLst/>
          </a:prstGeom>
        </p:spPr>
      </p:pic>
    </p:spTree>
    <p:extLst>
      <p:ext uri="{BB962C8B-B14F-4D97-AF65-F5344CB8AC3E}">
        <p14:creationId xmlns:p14="http://schemas.microsoft.com/office/powerpoint/2010/main" val="4283043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To declare an array in C, a programmer specifies the type of the elements and the number of elements required by an array as follows:</a:t>
            </a:r>
          </a:p>
          <a:p>
            <a:pPr marL="0" indent="0" algn="just">
              <a:buNone/>
            </a:pPr>
            <a:r>
              <a:rPr lang="en-US" sz="2200" i="1" dirty="0">
                <a:latin typeface="Calibri" panose="020F0502020204030204" pitchFamily="34" charset="0"/>
                <a:cs typeface="Calibri" panose="020F0502020204030204" pitchFamily="34" charset="0"/>
              </a:rPr>
              <a:t>				</a:t>
            </a:r>
            <a:r>
              <a:rPr lang="en-US" sz="2200" i="1" dirty="0">
                <a:solidFill>
                  <a:schemeClr val="tx2">
                    <a:lumMod val="75000"/>
                    <a:lumOff val="25000"/>
                  </a:schemeClr>
                </a:solidFill>
                <a:latin typeface="Calibri" panose="020F0502020204030204" pitchFamily="34" charset="0"/>
                <a:cs typeface="Calibri" panose="020F0502020204030204" pitchFamily="34" charset="0"/>
              </a:rPr>
              <a:t>type </a:t>
            </a:r>
            <a:r>
              <a:rPr lang="en-US" sz="2200" i="1" dirty="0" err="1">
                <a:solidFill>
                  <a:schemeClr val="tx2">
                    <a:lumMod val="75000"/>
                    <a:lumOff val="25000"/>
                  </a:schemeClr>
                </a:solidFill>
                <a:latin typeface="Calibri" panose="020F0502020204030204" pitchFamily="34" charset="0"/>
                <a:cs typeface="Calibri" panose="020F0502020204030204" pitchFamily="34" charset="0"/>
              </a:rPr>
              <a:t>arrayName</a:t>
            </a:r>
            <a:r>
              <a:rPr lang="en-US" sz="2200" i="1" dirty="0">
                <a:solidFill>
                  <a:schemeClr val="tx2">
                    <a:lumMod val="75000"/>
                    <a:lumOff val="25000"/>
                  </a:schemeClr>
                </a:solidFill>
                <a:latin typeface="Calibri" panose="020F0502020204030204" pitchFamily="34" charset="0"/>
                <a:cs typeface="Calibri" panose="020F0502020204030204" pitchFamily="34" charset="0"/>
              </a:rPr>
              <a:t> [ </a:t>
            </a:r>
            <a:r>
              <a:rPr lang="en-US" sz="2200" i="1" dirty="0" err="1">
                <a:solidFill>
                  <a:schemeClr val="tx2">
                    <a:lumMod val="75000"/>
                    <a:lumOff val="25000"/>
                  </a:schemeClr>
                </a:solidFill>
                <a:latin typeface="Calibri" panose="020F0502020204030204" pitchFamily="34" charset="0"/>
                <a:cs typeface="Calibri" panose="020F0502020204030204" pitchFamily="34" charset="0"/>
              </a:rPr>
              <a:t>arraySize</a:t>
            </a:r>
            <a:r>
              <a:rPr lang="en-US" sz="2200" i="1" dirty="0">
                <a:solidFill>
                  <a:schemeClr val="tx2">
                    <a:lumMod val="75000"/>
                    <a:lumOff val="25000"/>
                  </a:schemeClr>
                </a:solidFill>
                <a:latin typeface="Calibri" panose="020F0502020204030204" pitchFamily="34" charset="0"/>
                <a:cs typeface="Calibri" panose="020F0502020204030204" pitchFamily="34" charset="0"/>
              </a:rPr>
              <a:t>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This is called a single-dimensional array.</a:t>
            </a:r>
          </a:p>
          <a:p>
            <a:pPr algn="just"/>
            <a:endParaRPr lang="en-US" sz="20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The </a:t>
            </a:r>
            <a:r>
              <a:rPr lang="en-US" sz="2200" dirty="0" err="1">
                <a:latin typeface="Calibri" panose="020F0502020204030204" pitchFamily="34" charset="0"/>
                <a:cs typeface="Calibri" panose="020F0502020204030204" pitchFamily="34" charset="0"/>
              </a:rPr>
              <a:t>arraySize</a:t>
            </a:r>
            <a:r>
              <a:rPr lang="en-US" sz="2200" dirty="0">
                <a:latin typeface="Calibri" panose="020F0502020204030204" pitchFamily="34" charset="0"/>
                <a:cs typeface="Calibri" panose="020F0502020204030204" pitchFamily="34" charset="0"/>
              </a:rPr>
              <a:t> must be an integer constant greater than zero and type can be any valid C data type.</a:t>
            </a:r>
          </a:p>
          <a:p>
            <a:pPr marL="0" indent="0">
              <a:buNone/>
            </a:pPr>
            <a:r>
              <a:rPr lang="en-US" sz="2000" dirty="0">
                <a:latin typeface="Calibri" panose="020F0502020204030204" pitchFamily="34" charset="0"/>
                <a:cs typeface="Calibri" panose="020F0502020204030204" pitchFamily="34" charset="0"/>
              </a:rPr>
              <a:t>					</a:t>
            </a:r>
            <a:r>
              <a:rPr lang="en-US" sz="2000" i="1" dirty="0">
                <a:solidFill>
                  <a:schemeClr val="tx2">
                    <a:lumMod val="75000"/>
                    <a:lumOff val="25000"/>
                  </a:schemeClr>
                </a:solidFill>
                <a:latin typeface="Calibri" panose="020F0502020204030204" pitchFamily="34" charset="0"/>
                <a:cs typeface="Calibri" panose="020F0502020204030204" pitchFamily="34" charset="0"/>
              </a:rPr>
              <a:t>double balance[10];</a:t>
            </a:r>
          </a:p>
          <a:p>
            <a:endParaRPr lang="en-US" sz="20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Here balance is a variable array which is sufficient to hold up to 10 double numbers.</a:t>
            </a:r>
          </a:p>
        </p:txBody>
      </p:sp>
    </p:spTree>
    <p:extLst>
      <p:ext uri="{BB962C8B-B14F-4D97-AF65-F5344CB8AC3E}">
        <p14:creationId xmlns:p14="http://schemas.microsoft.com/office/powerpoint/2010/main" val="2298229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Array elements can be initialized like normal variables</a:t>
            </a:r>
          </a:p>
          <a:p>
            <a:pPr marL="0" indent="0" algn="just">
              <a:buNone/>
            </a:pPr>
            <a:r>
              <a:rPr lang="en-US" sz="2200" dirty="0">
                <a:latin typeface="Calibri" panose="020F0502020204030204" pitchFamily="34" charset="0"/>
                <a:cs typeface="Calibri" panose="020F0502020204030204" pitchFamily="34" charset="0"/>
              </a:rPr>
              <a:t>				</a:t>
            </a:r>
            <a:r>
              <a:rPr lang="en-US" sz="2200" dirty="0">
                <a:solidFill>
                  <a:schemeClr val="tx2">
                    <a:lumMod val="75000"/>
                    <a:lumOff val="25000"/>
                  </a:schemeClr>
                </a:solidFill>
                <a:latin typeface="Calibri" panose="020F0502020204030204" pitchFamily="34" charset="0"/>
                <a:cs typeface="Calibri" panose="020F0502020204030204" pitchFamily="34" charset="0"/>
              </a:rPr>
              <a:t>c[ 0 ] = 3;</a:t>
            </a:r>
          </a:p>
          <a:p>
            <a:pPr marL="0" indent="0" algn="just">
              <a:buNone/>
            </a:pPr>
            <a:r>
              <a:rPr lang="en-US" sz="2200" dirty="0">
                <a:solidFill>
                  <a:schemeClr val="tx2">
                    <a:lumMod val="75000"/>
                    <a:lumOff val="25000"/>
                  </a:schemeClr>
                </a:solidFill>
                <a:latin typeface="Calibri" panose="020F0502020204030204" pitchFamily="34" charset="0"/>
                <a:cs typeface="Calibri" panose="020F0502020204030204" pitchFamily="34" charset="0"/>
              </a:rPr>
              <a:t>				</a:t>
            </a:r>
            <a:r>
              <a:rPr lang="en-US" sz="220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2200" dirty="0">
                <a:solidFill>
                  <a:schemeClr val="tx2">
                    <a:lumMod val="75000"/>
                    <a:lumOff val="25000"/>
                  </a:schemeClr>
                </a:solidFill>
                <a:latin typeface="Calibri" panose="020F0502020204030204" pitchFamily="34" charset="0"/>
                <a:cs typeface="Calibri" panose="020F0502020204030204" pitchFamily="34" charset="0"/>
              </a:rPr>
              <a:t>( "%d", c[ 0 ] );</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As you see you can initialize an array in C one by one.</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Another way is to use a single statement as follows:</a:t>
            </a:r>
          </a:p>
          <a:p>
            <a:pPr marL="0" indent="0" algn="just">
              <a:buNone/>
            </a:pPr>
            <a:r>
              <a:rPr lang="en-US" sz="2200" dirty="0">
                <a:latin typeface="Calibri" panose="020F0502020204030204" pitchFamily="34" charset="0"/>
                <a:cs typeface="Calibri" panose="020F0502020204030204" pitchFamily="34" charset="0"/>
              </a:rPr>
              <a:t>			</a:t>
            </a:r>
            <a:r>
              <a:rPr lang="en-US" sz="2200" dirty="0">
                <a:solidFill>
                  <a:schemeClr val="tx2">
                    <a:lumMod val="75000"/>
                    <a:lumOff val="25000"/>
                  </a:schemeClr>
                </a:solidFill>
                <a:latin typeface="Calibri" panose="020F0502020204030204" pitchFamily="34" charset="0"/>
                <a:cs typeface="Calibri" panose="020F0502020204030204" pitchFamily="34" charset="0"/>
              </a:rPr>
              <a:t>double balance[5] = {1000.0, 2.0, 3.4, 7.0, 50.0};</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The number of values between braces { } cannot be larger than the number of elements that we declare for the array between square brackets [ ].</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9430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If you omit the size of the array, an array just big enough to hold the initialization is created. Therefore, if you write:</a:t>
            </a:r>
          </a:p>
          <a:p>
            <a:pPr marL="0" indent="0" algn="just">
              <a:buNone/>
            </a:pPr>
            <a:r>
              <a:rPr lang="en-US" sz="2200" i="1" dirty="0">
                <a:latin typeface="Calibri" panose="020F0502020204030204" pitchFamily="34" charset="0"/>
                <a:cs typeface="Calibri" panose="020F0502020204030204" pitchFamily="34" charset="0"/>
              </a:rPr>
              <a:t>			</a:t>
            </a:r>
            <a:r>
              <a:rPr lang="en-US" sz="2200" i="1" dirty="0">
                <a:solidFill>
                  <a:schemeClr val="tx2">
                    <a:lumMod val="75000"/>
                    <a:lumOff val="25000"/>
                  </a:schemeClr>
                </a:solidFill>
                <a:latin typeface="Calibri" panose="020F0502020204030204" pitchFamily="34" charset="0"/>
                <a:cs typeface="Calibri" panose="020F0502020204030204" pitchFamily="34" charset="0"/>
              </a:rPr>
              <a:t>double balance[] = {1000.0, 2.0, 3.4, 7.0, 50.0};</a:t>
            </a:r>
          </a:p>
          <a:p>
            <a:pPr marL="0" indent="0" algn="just">
              <a:buNone/>
            </a:pPr>
            <a:endParaRPr lang="en-US" sz="2200" dirty="0">
              <a:latin typeface="Calibri" panose="020F0502020204030204" pitchFamily="34" charset="0"/>
              <a:cs typeface="Calibri" panose="020F0502020204030204" pitchFamily="34" charset="0"/>
            </a:endParaRPr>
          </a:p>
          <a:p>
            <a:pPr marL="0" indent="0" algn="just">
              <a:buNone/>
            </a:pPr>
            <a:r>
              <a:rPr lang="en-US" sz="2200" dirty="0">
                <a:latin typeface="Calibri" panose="020F0502020204030204" pitchFamily="34" charset="0"/>
                <a:cs typeface="Calibri" panose="020F0502020204030204" pitchFamily="34" charset="0"/>
              </a:rPr>
              <a:t>You will create exactly the same array as you did in the previous example.</a:t>
            </a:r>
          </a:p>
          <a:p>
            <a:pPr algn="just"/>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If you want to change one of the elements (e.g. 5th element) of your array you can write as follows: </a:t>
            </a:r>
            <a:r>
              <a:rPr lang="en-US" sz="2200" i="1" dirty="0">
                <a:solidFill>
                  <a:schemeClr val="tx2">
                    <a:lumMod val="75000"/>
                    <a:lumOff val="25000"/>
                  </a:schemeClr>
                </a:solidFill>
                <a:latin typeface="Calibri" panose="020F0502020204030204" pitchFamily="34" charset="0"/>
                <a:cs typeface="Calibri" panose="020F0502020204030204" pitchFamily="34" charset="0"/>
              </a:rPr>
              <a:t>balance[4] = 40.0;</a:t>
            </a:r>
          </a:p>
          <a:p>
            <a:pPr marL="0" indent="0" algn="just">
              <a:buNone/>
            </a:pPr>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Assume that: </a:t>
            </a:r>
            <a:r>
              <a:rPr lang="en-US" sz="2200" i="1" dirty="0">
                <a:solidFill>
                  <a:schemeClr val="tx2">
                    <a:lumMod val="75000"/>
                    <a:lumOff val="25000"/>
                  </a:schemeClr>
                </a:solidFill>
                <a:latin typeface="Calibri" panose="020F0502020204030204" pitchFamily="34" charset="0"/>
                <a:cs typeface="Calibri" panose="020F0502020204030204" pitchFamily="34" charset="0"/>
              </a:rPr>
              <a:t>int n[ 5 ] = { 1, 2, 3, 4 }; </a:t>
            </a:r>
            <a:r>
              <a:rPr lang="en-US" sz="2200" dirty="0">
                <a:latin typeface="Calibri" panose="020F0502020204030204" pitchFamily="34" charset="0"/>
                <a:cs typeface="Calibri" panose="020F0502020204030204" pitchFamily="34" charset="0"/>
              </a:rPr>
              <a:t>Since there is not enough initializers, rightmost elements become 0. </a:t>
            </a:r>
          </a:p>
          <a:p>
            <a:pPr algn="just"/>
            <a:r>
              <a:rPr lang="en-US" sz="2200" dirty="0">
                <a:latin typeface="Calibri" panose="020F0502020204030204" pitchFamily="34" charset="0"/>
                <a:cs typeface="Calibri" panose="020F0502020204030204" pitchFamily="34" charset="0"/>
              </a:rPr>
              <a:t>If too many initializers, a syntax error occurs.</a:t>
            </a:r>
          </a:p>
        </p:txBody>
      </p:sp>
    </p:spTree>
    <p:extLst>
      <p:ext uri="{BB962C8B-B14F-4D97-AF65-F5344CB8AC3E}">
        <p14:creationId xmlns:p14="http://schemas.microsoft.com/office/powerpoint/2010/main" val="2160937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12: </a:t>
            </a:r>
            <a:r>
              <a:rPr lang="en-US" b="1" dirty="0"/>
              <a:t>Basic array Operations</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to perform the following operations on a single-dimension array of integers:</a:t>
            </a:r>
          </a:p>
          <a:p>
            <a:pPr lvl="1" algn="just">
              <a:buFont typeface="+mj-lt"/>
              <a:buAutoNum type="arabicPeriod"/>
            </a:pPr>
            <a:r>
              <a:rPr lang="en-US" sz="2000" b="1" dirty="0">
                <a:latin typeface="Calibri" panose="020F0502020204030204" pitchFamily="34" charset="0"/>
                <a:cs typeface="Calibri" panose="020F0502020204030204" pitchFamily="34" charset="0"/>
              </a:rPr>
              <a:t>Input Array Elements</a:t>
            </a:r>
            <a:r>
              <a:rPr lang="en-US" sz="2000" dirty="0">
                <a:latin typeface="Calibri" panose="020F0502020204030204" pitchFamily="34" charset="0"/>
                <a:cs typeface="Calibri" panose="020F0502020204030204" pitchFamily="34" charset="0"/>
              </a:rPr>
              <a:t>: Prompt the user to enter the number of elements in the array and then input the elements.</a:t>
            </a:r>
          </a:p>
          <a:p>
            <a:pPr lvl="1" algn="just">
              <a:buFont typeface="+mj-lt"/>
              <a:buAutoNum type="arabicPeriod"/>
            </a:pPr>
            <a:r>
              <a:rPr lang="en-US" sz="2000" b="1" dirty="0">
                <a:latin typeface="Calibri" panose="020F0502020204030204" pitchFamily="34" charset="0"/>
                <a:cs typeface="Calibri" panose="020F0502020204030204" pitchFamily="34" charset="0"/>
              </a:rPr>
              <a:t>Find the Maximum and Minimum Values</a:t>
            </a:r>
            <a:r>
              <a:rPr lang="en-US" sz="2000" dirty="0">
                <a:latin typeface="Calibri" panose="020F0502020204030204" pitchFamily="34" charset="0"/>
                <a:cs typeface="Calibri" panose="020F0502020204030204" pitchFamily="34" charset="0"/>
              </a:rPr>
              <a:t>: Determine and display the maximum and minimum values in the array.</a:t>
            </a:r>
          </a:p>
          <a:p>
            <a:pPr lvl="1" algn="just">
              <a:buFont typeface="+mj-lt"/>
              <a:buAutoNum type="arabicPeriod"/>
            </a:pPr>
            <a:r>
              <a:rPr lang="en-US" sz="2000" b="1" dirty="0">
                <a:latin typeface="Calibri" panose="020F0502020204030204" pitchFamily="34" charset="0"/>
                <a:cs typeface="Calibri" panose="020F0502020204030204" pitchFamily="34" charset="0"/>
              </a:rPr>
              <a:t>Compute the Average</a:t>
            </a:r>
            <a:r>
              <a:rPr lang="en-US" sz="2000" dirty="0">
                <a:latin typeface="Calibri" panose="020F0502020204030204" pitchFamily="34" charset="0"/>
                <a:cs typeface="Calibri" panose="020F0502020204030204" pitchFamily="34" charset="0"/>
              </a:rPr>
              <a:t>: Calculate and display the average of the array elements.</a:t>
            </a:r>
          </a:p>
          <a:p>
            <a:pPr lvl="1" algn="just">
              <a:buFont typeface="+mj-lt"/>
              <a:buAutoNum type="arabicPeriod"/>
            </a:pPr>
            <a:r>
              <a:rPr lang="en-US" sz="2000" b="1" dirty="0">
                <a:latin typeface="Calibri" panose="020F0502020204030204" pitchFamily="34" charset="0"/>
                <a:cs typeface="Calibri" panose="020F0502020204030204" pitchFamily="34" charset="0"/>
              </a:rPr>
              <a:t>Reverse the Array</a:t>
            </a:r>
            <a:r>
              <a:rPr lang="en-US" sz="2000" dirty="0">
                <a:latin typeface="Calibri" panose="020F0502020204030204" pitchFamily="34" charset="0"/>
                <a:cs typeface="Calibri" panose="020F0502020204030204" pitchFamily="34" charset="0"/>
              </a:rPr>
              <a:t>: Reverse the order of elements in the array and display the reversed array.</a:t>
            </a:r>
          </a:p>
          <a:p>
            <a:pPr algn="just"/>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056241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12: </a:t>
            </a:r>
            <a:r>
              <a:rPr lang="en-US" b="1" dirty="0"/>
              <a:t>Basic array Operations</a:t>
            </a:r>
            <a:endParaRPr lang="en-GB" b="1" dirty="0"/>
          </a:p>
        </p:txBody>
      </p:sp>
      <p:pic>
        <p:nvPicPr>
          <p:cNvPr id="7" name="Picture 6" descr="A screenshot of a computer screen&#10;&#10;Description automatically generated">
            <a:extLst>
              <a:ext uri="{FF2B5EF4-FFF2-40B4-BE49-F238E27FC236}">
                <a16:creationId xmlns:a16="http://schemas.microsoft.com/office/drawing/2014/main" id="{9B074397-B7F6-2920-F4FA-4EF076773B19}"/>
              </a:ext>
            </a:extLst>
          </p:cNvPr>
          <p:cNvPicPr>
            <a:picLocks noChangeAspect="1"/>
          </p:cNvPicPr>
          <p:nvPr/>
        </p:nvPicPr>
        <p:blipFill rotWithShape="1">
          <a:blip r:embed="rId2">
            <a:extLst>
              <a:ext uri="{28A0092B-C50C-407E-A947-70E740481C1C}">
                <a14:useLocalDpi xmlns:a14="http://schemas.microsoft.com/office/drawing/2010/main" val="0"/>
              </a:ext>
            </a:extLst>
          </a:blip>
          <a:srcRect l="5887" t="8485" r="7418" b="11516"/>
          <a:stretch/>
        </p:blipFill>
        <p:spPr>
          <a:xfrm>
            <a:off x="150925" y="1465118"/>
            <a:ext cx="5975067" cy="5392882"/>
          </a:xfrm>
          <a:prstGeom prst="rect">
            <a:avLst/>
          </a:prstGeom>
        </p:spPr>
      </p:pic>
      <p:pic>
        <p:nvPicPr>
          <p:cNvPr id="9" name="Picture 8" descr="A screen shot of a computer&#10;&#10;Description automatically generated">
            <a:extLst>
              <a:ext uri="{FF2B5EF4-FFF2-40B4-BE49-F238E27FC236}">
                <a16:creationId xmlns:a16="http://schemas.microsoft.com/office/drawing/2014/main" id="{AFAC62B9-03DB-A8A7-09BB-ABD58A01A2E7}"/>
              </a:ext>
            </a:extLst>
          </p:cNvPr>
          <p:cNvPicPr>
            <a:picLocks noChangeAspect="1"/>
          </p:cNvPicPr>
          <p:nvPr/>
        </p:nvPicPr>
        <p:blipFill rotWithShape="1">
          <a:blip r:embed="rId3">
            <a:extLst>
              <a:ext uri="{28A0092B-C50C-407E-A947-70E740481C1C}">
                <a14:useLocalDpi xmlns:a14="http://schemas.microsoft.com/office/drawing/2010/main" val="0"/>
              </a:ext>
            </a:extLst>
          </a:blip>
          <a:srcRect l="5887" t="36818" r="49777" b="28334"/>
          <a:stretch/>
        </p:blipFill>
        <p:spPr>
          <a:xfrm>
            <a:off x="6125992" y="1465118"/>
            <a:ext cx="4665084" cy="3586483"/>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2D8DAE5E-7B27-66F1-F73E-5EE2D4EF9486}"/>
              </a:ext>
            </a:extLst>
          </p:cNvPr>
          <p:cNvPicPr>
            <a:picLocks noChangeAspect="1"/>
          </p:cNvPicPr>
          <p:nvPr/>
        </p:nvPicPr>
        <p:blipFill rotWithShape="1">
          <a:blip r:embed="rId4">
            <a:extLst>
              <a:ext uri="{28A0092B-C50C-407E-A947-70E740481C1C}">
                <a14:useLocalDpi xmlns:a14="http://schemas.microsoft.com/office/drawing/2010/main" val="0"/>
              </a:ext>
            </a:extLst>
          </a:blip>
          <a:srcRect l="2677" t="3743" r="14997" b="49256"/>
          <a:stretch/>
        </p:blipFill>
        <p:spPr>
          <a:xfrm>
            <a:off x="6509274" y="4850094"/>
            <a:ext cx="4842164" cy="2007906"/>
          </a:xfrm>
          <a:prstGeom prst="rect">
            <a:avLst/>
          </a:prstGeom>
        </p:spPr>
      </p:pic>
    </p:spTree>
    <p:extLst>
      <p:ext uri="{BB962C8B-B14F-4D97-AF65-F5344CB8AC3E}">
        <p14:creationId xmlns:p14="http://schemas.microsoft.com/office/powerpoint/2010/main" val="2258024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12: </a:t>
            </a:r>
            <a:r>
              <a:rPr lang="en-US" b="1" dirty="0"/>
              <a:t>Explanation</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b="1" dirty="0">
                <a:latin typeface="Calibri" panose="020F0502020204030204" pitchFamily="34" charset="0"/>
                <a:cs typeface="Calibri" panose="020F0502020204030204" pitchFamily="34" charset="0"/>
              </a:rPr>
              <a:t>Array Initialization: </a:t>
            </a:r>
            <a:r>
              <a:rPr lang="en-US" sz="2200" dirty="0">
                <a:latin typeface="Calibri" panose="020F0502020204030204" pitchFamily="34" charset="0"/>
                <a:cs typeface="Calibri" panose="020F0502020204030204" pitchFamily="34" charset="0"/>
              </a:rPr>
              <a:t>The program initializes an array with a fixed maximum size (MAX_SIZE), which is a common practice in system programming to avoid dynamic memory allocation for simplicity.</a:t>
            </a:r>
          </a:p>
          <a:p>
            <a:pPr algn="just"/>
            <a:r>
              <a:rPr lang="en-US" sz="2200" b="1" dirty="0">
                <a:latin typeface="Calibri" panose="020F0502020204030204" pitchFamily="34" charset="0"/>
                <a:cs typeface="Calibri" panose="020F0502020204030204" pitchFamily="34" charset="0"/>
              </a:rPr>
              <a:t>Input Handling: </a:t>
            </a:r>
            <a:r>
              <a:rPr lang="en-US" sz="2200" dirty="0">
                <a:latin typeface="Calibri" panose="020F0502020204030204" pitchFamily="34" charset="0"/>
                <a:cs typeface="Calibri" panose="020F0502020204030204" pitchFamily="34" charset="0"/>
              </a:rPr>
              <a:t>The user is prompted to enter the number of elements and then the elements themselves.</a:t>
            </a:r>
          </a:p>
          <a:p>
            <a:pPr algn="just"/>
            <a:r>
              <a:rPr lang="en-US" sz="2200" b="1" dirty="0">
                <a:latin typeface="Calibri" panose="020F0502020204030204" pitchFamily="34" charset="0"/>
                <a:cs typeface="Calibri" panose="020F0502020204030204" pitchFamily="34" charset="0"/>
              </a:rPr>
              <a:t>Find Max and Min: </a:t>
            </a:r>
            <a:r>
              <a:rPr lang="en-US" sz="2200" dirty="0">
                <a:latin typeface="Calibri" panose="020F0502020204030204" pitchFamily="34" charset="0"/>
                <a:cs typeface="Calibri" panose="020F0502020204030204" pitchFamily="34" charset="0"/>
              </a:rPr>
              <a:t>The maximum and minimum values are determined by iterating over the array.</a:t>
            </a:r>
          </a:p>
          <a:p>
            <a:pPr algn="just"/>
            <a:r>
              <a:rPr lang="en-US" sz="2200" b="1" dirty="0">
                <a:latin typeface="Calibri" panose="020F0502020204030204" pitchFamily="34" charset="0"/>
                <a:cs typeface="Calibri" panose="020F0502020204030204" pitchFamily="34" charset="0"/>
              </a:rPr>
              <a:t>Compute Average: </a:t>
            </a:r>
            <a:r>
              <a:rPr lang="en-US" sz="2200" dirty="0">
                <a:latin typeface="Calibri" panose="020F0502020204030204" pitchFamily="34" charset="0"/>
                <a:cs typeface="Calibri" panose="020F0502020204030204" pitchFamily="34" charset="0"/>
              </a:rPr>
              <a:t>The average of the array elements is calculated by summing the elements and dividing by the number of elements.</a:t>
            </a:r>
          </a:p>
          <a:p>
            <a:pPr algn="just"/>
            <a:r>
              <a:rPr lang="en-US" sz="2200" b="1" dirty="0">
                <a:latin typeface="Calibri" panose="020F0502020204030204" pitchFamily="34" charset="0"/>
                <a:cs typeface="Calibri" panose="020F0502020204030204" pitchFamily="34" charset="0"/>
              </a:rPr>
              <a:t>Reverse Array: </a:t>
            </a:r>
            <a:r>
              <a:rPr lang="en-US" sz="2200" dirty="0">
                <a:latin typeface="Calibri" panose="020F0502020204030204" pitchFamily="34" charset="0"/>
                <a:cs typeface="Calibri" panose="020F0502020204030204" pitchFamily="34" charset="0"/>
              </a:rPr>
              <a:t>The array is reversed by iterating from the end to the beginning and displaying the reversed elements.</a:t>
            </a:r>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7002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13: </a:t>
            </a:r>
            <a:r>
              <a:rPr lang="en-US" b="1" dirty="0"/>
              <a:t>Sorting array</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to perform the following operations on a single-dimension array of integers:</a:t>
            </a:r>
          </a:p>
          <a:p>
            <a:pPr lvl="1" algn="just">
              <a:buFont typeface="+mj-lt"/>
              <a:buAutoNum type="arabicPeriod"/>
            </a:pPr>
            <a:r>
              <a:rPr lang="en-US" sz="2000" b="1" dirty="0">
                <a:latin typeface="Calibri" panose="020F0502020204030204" pitchFamily="34" charset="0"/>
                <a:cs typeface="Calibri" panose="020F0502020204030204" pitchFamily="34" charset="0"/>
              </a:rPr>
              <a:t>Input Array Elements</a:t>
            </a:r>
            <a:r>
              <a:rPr lang="en-US" sz="2000" dirty="0">
                <a:latin typeface="Calibri" panose="020F0502020204030204" pitchFamily="34" charset="0"/>
                <a:cs typeface="Calibri" panose="020F0502020204030204" pitchFamily="34" charset="0"/>
              </a:rPr>
              <a:t>: Prompt the user to enter the number of elements in the array and then input the elements.</a:t>
            </a:r>
          </a:p>
          <a:p>
            <a:pPr lvl="1" algn="just">
              <a:buFont typeface="+mj-lt"/>
              <a:buAutoNum type="arabicPeriod"/>
            </a:pPr>
            <a:r>
              <a:rPr lang="en-US" sz="2000" b="1" dirty="0">
                <a:latin typeface="Calibri" panose="020F0502020204030204" pitchFamily="34" charset="0"/>
                <a:cs typeface="Calibri" panose="020F0502020204030204" pitchFamily="34" charset="0"/>
              </a:rPr>
              <a:t>Sort the Array</a:t>
            </a:r>
            <a:r>
              <a:rPr lang="en-US" sz="2000" dirty="0">
                <a:latin typeface="Calibri" panose="020F0502020204030204" pitchFamily="34" charset="0"/>
                <a:cs typeface="Calibri" panose="020F0502020204030204" pitchFamily="34" charset="0"/>
              </a:rPr>
              <a:t>: Sort the array in ascending order using the Bubble Sort algorithm.</a:t>
            </a:r>
          </a:p>
          <a:p>
            <a:pPr lvl="1" algn="just">
              <a:buFont typeface="+mj-lt"/>
              <a:buAutoNum type="arabicPeriod"/>
            </a:pPr>
            <a:r>
              <a:rPr lang="en-US" sz="2000" b="1" dirty="0">
                <a:latin typeface="Calibri" panose="020F0502020204030204" pitchFamily="34" charset="0"/>
                <a:cs typeface="Calibri" panose="020F0502020204030204" pitchFamily="34" charset="0"/>
              </a:rPr>
              <a:t>Display the Array</a:t>
            </a:r>
            <a:r>
              <a:rPr lang="en-US" sz="2000" dirty="0">
                <a:latin typeface="Calibri" panose="020F0502020204030204" pitchFamily="34" charset="0"/>
                <a:cs typeface="Calibri" panose="020F0502020204030204" pitchFamily="34" charset="0"/>
              </a:rPr>
              <a:t>: Print the sorted array.</a:t>
            </a:r>
          </a:p>
          <a:p>
            <a:pPr algn="just"/>
            <a:endParaRPr lang="en-GB"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73442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13: </a:t>
            </a:r>
            <a:r>
              <a:rPr lang="en-US" b="1" dirty="0"/>
              <a:t>Sorting array</a:t>
            </a:r>
            <a:endParaRPr lang="en-GB" b="1" dirty="0"/>
          </a:p>
        </p:txBody>
      </p:sp>
      <p:pic>
        <p:nvPicPr>
          <p:cNvPr id="11" name="Picture 10" descr="A screenshot of a computer screen&#10;&#10;Description automatically generated">
            <a:extLst>
              <a:ext uri="{FF2B5EF4-FFF2-40B4-BE49-F238E27FC236}">
                <a16:creationId xmlns:a16="http://schemas.microsoft.com/office/drawing/2014/main" id="{892963BC-9CB2-CFE1-8EAA-23CA68D41A84}"/>
              </a:ext>
            </a:extLst>
          </p:cNvPr>
          <p:cNvPicPr>
            <a:picLocks noChangeAspect="1"/>
          </p:cNvPicPr>
          <p:nvPr/>
        </p:nvPicPr>
        <p:blipFill rotWithShape="1">
          <a:blip r:embed="rId2">
            <a:extLst>
              <a:ext uri="{28A0092B-C50C-407E-A947-70E740481C1C}">
                <a14:useLocalDpi xmlns:a14="http://schemas.microsoft.com/office/drawing/2010/main" val="0"/>
              </a:ext>
            </a:extLst>
          </a:blip>
          <a:srcRect l="5262" t="9329" r="7895" b="20862"/>
          <a:stretch/>
        </p:blipFill>
        <p:spPr>
          <a:xfrm>
            <a:off x="124690" y="1374709"/>
            <a:ext cx="6908015" cy="5431413"/>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CEC5B674-300B-7367-0C2F-3D0DD179A3C7}"/>
              </a:ext>
            </a:extLst>
          </p:cNvPr>
          <p:cNvPicPr>
            <a:picLocks noChangeAspect="1"/>
          </p:cNvPicPr>
          <p:nvPr/>
        </p:nvPicPr>
        <p:blipFill rotWithShape="1">
          <a:blip r:embed="rId3">
            <a:extLst>
              <a:ext uri="{28A0092B-C50C-407E-A947-70E740481C1C}">
                <a14:useLocalDpi xmlns:a14="http://schemas.microsoft.com/office/drawing/2010/main" val="0"/>
              </a:ext>
            </a:extLst>
          </a:blip>
          <a:srcRect l="734" t="3955" r="14831" b="56393"/>
          <a:stretch/>
        </p:blipFill>
        <p:spPr>
          <a:xfrm>
            <a:off x="5382489" y="4334405"/>
            <a:ext cx="6328063" cy="2158470"/>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656ED666-5314-6357-2D0A-D261AFABB10D}"/>
              </a:ext>
            </a:extLst>
          </p:cNvPr>
          <p:cNvPicPr>
            <a:picLocks noChangeAspect="1"/>
          </p:cNvPicPr>
          <p:nvPr/>
        </p:nvPicPr>
        <p:blipFill rotWithShape="1">
          <a:blip r:embed="rId4">
            <a:extLst>
              <a:ext uri="{28A0092B-C50C-407E-A947-70E740481C1C}">
                <a14:useLocalDpi xmlns:a14="http://schemas.microsoft.com/office/drawing/2010/main" val="0"/>
              </a:ext>
            </a:extLst>
          </a:blip>
          <a:srcRect l="4899" t="62221" r="61460" b="19459"/>
          <a:stretch/>
        </p:blipFill>
        <p:spPr>
          <a:xfrm>
            <a:off x="7422573" y="1690688"/>
            <a:ext cx="3730336" cy="1986975"/>
          </a:xfrm>
          <a:prstGeom prst="rect">
            <a:avLst/>
          </a:prstGeom>
        </p:spPr>
      </p:pic>
    </p:spTree>
    <p:extLst>
      <p:ext uri="{BB962C8B-B14F-4D97-AF65-F5344CB8AC3E}">
        <p14:creationId xmlns:p14="http://schemas.microsoft.com/office/powerpoint/2010/main" val="3551146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13: </a:t>
            </a:r>
            <a:r>
              <a:rPr lang="en-US" b="1" dirty="0"/>
              <a:t>Explanation</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5257800" cy="4351338"/>
          </a:xfrm>
        </p:spPr>
        <p:txBody>
          <a:bodyPr>
            <a:noAutofit/>
          </a:bodyPr>
          <a:lstStyle/>
          <a:p>
            <a:pPr algn="just"/>
            <a:r>
              <a:rPr lang="en-US" sz="1800" b="1" dirty="0">
                <a:latin typeface="Calibri" panose="020F0502020204030204" pitchFamily="34" charset="0"/>
                <a:cs typeface="Calibri" panose="020F0502020204030204" pitchFamily="34" charset="0"/>
              </a:rPr>
              <a:t>Array Declaration and Initialization:</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#define MAX_SIZE 100: </a:t>
            </a:r>
            <a:r>
              <a:rPr lang="en-US" sz="1800" dirty="0">
                <a:latin typeface="Calibri" panose="020F0502020204030204" pitchFamily="34" charset="0"/>
                <a:cs typeface="Calibri" panose="020F0502020204030204" pitchFamily="34" charset="0"/>
              </a:rPr>
              <a:t>Sets the maximum size of the array.</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int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[MAX_SIZE];:</a:t>
            </a:r>
            <a:r>
              <a:rPr lang="en-US" sz="1800" dirty="0">
                <a:latin typeface="Calibri" panose="020F0502020204030204" pitchFamily="34" charset="0"/>
                <a:cs typeface="Calibri" panose="020F0502020204030204" pitchFamily="34" charset="0"/>
              </a:rPr>
              <a:t> Declares an array with a maximum of 100 elements.</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int size,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j, temp;: </a:t>
            </a:r>
            <a:r>
              <a:rPr lang="en-US" sz="1800" dirty="0">
                <a:latin typeface="Calibri" panose="020F0502020204030204" pitchFamily="34" charset="0"/>
                <a:cs typeface="Calibri" panose="020F0502020204030204" pitchFamily="34" charset="0"/>
              </a:rPr>
              <a:t>Declares variables for the number of elements, loop indices, and a temporary variable for swapping.</a:t>
            </a:r>
          </a:p>
          <a:p>
            <a:pPr algn="just"/>
            <a:r>
              <a:rPr lang="en-US" sz="1800" b="1" dirty="0">
                <a:latin typeface="Calibri" panose="020F0502020204030204" pitchFamily="34" charset="0"/>
                <a:cs typeface="Calibri" panose="020F0502020204030204" pitchFamily="34" charset="0"/>
              </a:rPr>
              <a:t>Input Array Elements:</a:t>
            </a:r>
          </a:p>
          <a:p>
            <a:pPr lvl="1" algn="just"/>
            <a:r>
              <a:rPr lang="en-US" sz="180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800" dirty="0">
                <a:solidFill>
                  <a:schemeClr val="tx2">
                    <a:lumMod val="75000"/>
                    <a:lumOff val="25000"/>
                  </a:schemeClr>
                </a:solidFill>
                <a:latin typeface="Calibri" panose="020F0502020204030204" pitchFamily="34" charset="0"/>
                <a:cs typeface="Calibri" panose="020F0502020204030204" pitchFamily="34" charset="0"/>
              </a:rPr>
              <a:t>("Enter the number of elements (up to %d): ", MAX_SIZE); </a:t>
            </a:r>
            <a:r>
              <a:rPr lang="en-US" sz="1800" dirty="0" err="1">
                <a:solidFill>
                  <a:schemeClr val="tx2">
                    <a:lumMod val="75000"/>
                    <a:lumOff val="25000"/>
                  </a:schemeClr>
                </a:solidFill>
                <a:latin typeface="Calibri" panose="020F0502020204030204" pitchFamily="34" charset="0"/>
                <a:cs typeface="Calibri" panose="020F0502020204030204" pitchFamily="34" charset="0"/>
              </a:rPr>
              <a:t>scanf</a:t>
            </a:r>
            <a:r>
              <a:rPr lang="en-US" sz="1800" dirty="0">
                <a:solidFill>
                  <a:schemeClr val="tx2">
                    <a:lumMod val="75000"/>
                    <a:lumOff val="25000"/>
                  </a:schemeClr>
                </a:solidFill>
                <a:latin typeface="Calibri" panose="020F0502020204030204" pitchFamily="34" charset="0"/>
                <a:cs typeface="Calibri" panose="020F0502020204030204" pitchFamily="34" charset="0"/>
              </a:rPr>
              <a:t>("%d", &amp;size);: </a:t>
            </a:r>
            <a:r>
              <a:rPr lang="en-US" sz="1800" dirty="0">
                <a:latin typeface="Calibri" panose="020F0502020204030204" pitchFamily="34" charset="0"/>
                <a:cs typeface="Calibri" panose="020F0502020204030204" pitchFamily="34" charset="0"/>
              </a:rPr>
              <a:t>Asks and reads the number of elements.</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if (size &gt; MAX_SIZE) size = MAX_SIZE;: </a:t>
            </a:r>
            <a:r>
              <a:rPr lang="en-US" sz="1800" dirty="0">
                <a:latin typeface="Calibri" panose="020F0502020204030204" pitchFamily="34" charset="0"/>
                <a:cs typeface="Calibri" panose="020F0502020204030204" pitchFamily="34" charset="0"/>
              </a:rPr>
              <a:t>Adjusts size if it exceeds the maximum allowed.</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for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 0;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&lt; size;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err="1">
                <a:solidFill>
                  <a:schemeClr val="tx2">
                    <a:lumMod val="75000"/>
                    <a:lumOff val="25000"/>
                  </a:schemeClr>
                </a:solidFill>
                <a:latin typeface="Calibri" panose="020F0502020204030204" pitchFamily="34" charset="0"/>
                <a:cs typeface="Calibri" panose="020F0502020204030204" pitchFamily="34" charset="0"/>
              </a:rPr>
              <a:t>scanf</a:t>
            </a:r>
            <a:r>
              <a:rPr lang="en-US" sz="1800" dirty="0">
                <a:solidFill>
                  <a:schemeClr val="tx2">
                    <a:lumMod val="75000"/>
                    <a:lumOff val="25000"/>
                  </a:schemeClr>
                </a:solidFill>
                <a:latin typeface="Calibri" panose="020F0502020204030204" pitchFamily="34" charset="0"/>
                <a:cs typeface="Calibri" panose="020F0502020204030204" pitchFamily="34" charset="0"/>
              </a:rPr>
              <a:t>("%d", &amp;</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Reads array elements.</a:t>
            </a:r>
          </a:p>
          <a:p>
            <a:pPr marL="0" indent="0" algn="just">
              <a:buNone/>
            </a:pPr>
            <a:endParaRPr lang="en-US" sz="1800" dirty="0">
              <a:latin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18E4A562-80D4-C8C0-AD3F-C80327D87060}"/>
              </a:ext>
            </a:extLst>
          </p:cNvPr>
          <p:cNvSpPr txBox="1">
            <a:spLocks/>
          </p:cNvSpPr>
          <p:nvPr/>
        </p:nvSpPr>
        <p:spPr>
          <a:xfrm>
            <a:off x="6390968" y="1825624"/>
            <a:ext cx="52578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b="1" dirty="0">
                <a:latin typeface="Calibri" panose="020F0502020204030204" pitchFamily="34" charset="0"/>
                <a:cs typeface="Calibri" panose="020F0502020204030204" pitchFamily="34" charset="0"/>
              </a:rPr>
              <a:t>Sorting the Array (Bubble Sort):</a:t>
            </a:r>
          </a:p>
          <a:p>
            <a:pPr lvl="1" algn="just"/>
            <a:r>
              <a:rPr lang="en-US" sz="1800" dirty="0">
                <a:latin typeface="Calibri" panose="020F0502020204030204" pitchFamily="34" charset="0"/>
                <a:cs typeface="Calibri" panose="020F0502020204030204" pitchFamily="34" charset="0"/>
              </a:rPr>
              <a:t>Outer loop </a:t>
            </a:r>
            <a:r>
              <a:rPr lang="en-US" sz="1800" dirty="0">
                <a:solidFill>
                  <a:schemeClr val="tx2">
                    <a:lumMod val="75000"/>
                    <a:lumOff val="25000"/>
                  </a:schemeClr>
                </a:solidFill>
                <a:latin typeface="Calibri" panose="020F0502020204030204" pitchFamily="34" charset="0"/>
                <a:cs typeface="Calibri" panose="020F0502020204030204" pitchFamily="34" charset="0"/>
              </a:rPr>
              <a:t>for(</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 0;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&lt; size - 1;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iterates through the array.</a:t>
            </a:r>
          </a:p>
          <a:p>
            <a:pPr lvl="1" algn="just"/>
            <a:r>
              <a:rPr lang="en-US" sz="1800" dirty="0">
                <a:latin typeface="Calibri" panose="020F0502020204030204" pitchFamily="34" charset="0"/>
                <a:cs typeface="Calibri" panose="020F0502020204030204" pitchFamily="34" charset="0"/>
              </a:rPr>
              <a:t>Inner loop </a:t>
            </a:r>
            <a:r>
              <a:rPr lang="en-US" sz="1800" dirty="0">
                <a:solidFill>
                  <a:schemeClr val="tx2">
                    <a:lumMod val="75000"/>
                    <a:lumOff val="25000"/>
                  </a:schemeClr>
                </a:solidFill>
                <a:latin typeface="Calibri" panose="020F0502020204030204" pitchFamily="34" charset="0"/>
                <a:cs typeface="Calibri" panose="020F0502020204030204" pitchFamily="34" charset="0"/>
              </a:rPr>
              <a:t>for(j = 0; j &lt; size -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- 1; </a:t>
            </a:r>
            <a:r>
              <a:rPr lang="en-US" sz="1800" dirty="0" err="1">
                <a:solidFill>
                  <a:schemeClr val="tx2">
                    <a:lumMod val="75000"/>
                    <a:lumOff val="25000"/>
                  </a:schemeClr>
                </a:solidFill>
                <a:latin typeface="Calibri" panose="020F0502020204030204" pitchFamily="34" charset="0"/>
                <a:cs typeface="Calibri" panose="020F0502020204030204" pitchFamily="34" charset="0"/>
              </a:rPr>
              <a:t>j++</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compares adjacent elements.</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if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&gt;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+ 1]) { temp =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+ 1];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[j + 1] = temp; }: </a:t>
            </a:r>
            <a:r>
              <a:rPr lang="en-US" sz="1800" dirty="0">
                <a:latin typeface="Calibri" panose="020F0502020204030204" pitchFamily="34" charset="0"/>
                <a:cs typeface="Calibri" panose="020F0502020204030204" pitchFamily="34" charset="0"/>
              </a:rPr>
              <a:t>Swaps elements if needed.</a:t>
            </a:r>
          </a:p>
          <a:p>
            <a:pPr algn="just"/>
            <a:r>
              <a:rPr lang="en-US" sz="1800" b="1" dirty="0">
                <a:latin typeface="Calibri" panose="020F0502020204030204" pitchFamily="34" charset="0"/>
                <a:cs typeface="Calibri" panose="020F0502020204030204" pitchFamily="34" charset="0"/>
              </a:rPr>
              <a:t>Display the Sorted Array:</a:t>
            </a:r>
          </a:p>
          <a:p>
            <a:pPr lvl="1" algn="just"/>
            <a:r>
              <a:rPr lang="en-US" sz="180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800" dirty="0">
                <a:solidFill>
                  <a:schemeClr val="tx2">
                    <a:lumMod val="75000"/>
                    <a:lumOff val="25000"/>
                  </a:schemeClr>
                </a:solidFill>
                <a:latin typeface="Calibri" panose="020F0502020204030204" pitchFamily="34" charset="0"/>
                <a:cs typeface="Calibri" panose="020F0502020204030204" pitchFamily="34" charset="0"/>
              </a:rPr>
              <a:t>("Sorted array: ");: </a:t>
            </a:r>
            <a:r>
              <a:rPr lang="en-US" sz="1800" dirty="0">
                <a:latin typeface="Calibri" panose="020F0502020204030204" pitchFamily="34" charset="0"/>
                <a:cs typeface="Calibri" panose="020F0502020204030204" pitchFamily="34" charset="0"/>
              </a:rPr>
              <a:t>Indicates that the sorted array will follow.</a:t>
            </a:r>
          </a:p>
          <a:p>
            <a:pPr lvl="1" algn="just"/>
            <a:r>
              <a:rPr lang="en-US" sz="1800" dirty="0">
                <a:solidFill>
                  <a:schemeClr val="tx2">
                    <a:lumMod val="75000"/>
                    <a:lumOff val="25000"/>
                  </a:schemeClr>
                </a:solidFill>
                <a:latin typeface="Calibri" panose="020F0502020204030204" pitchFamily="34" charset="0"/>
                <a:cs typeface="Calibri" panose="020F0502020204030204" pitchFamily="34" charset="0"/>
              </a:rPr>
              <a:t>for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 0;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&lt; size; </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800" dirty="0">
                <a:solidFill>
                  <a:schemeClr val="tx2">
                    <a:lumMod val="75000"/>
                    <a:lumOff val="25000"/>
                  </a:schemeClr>
                </a:solidFill>
                <a:latin typeface="Calibri" panose="020F0502020204030204" pitchFamily="34" charset="0"/>
                <a:cs typeface="Calibri" panose="020F0502020204030204" pitchFamily="34" charset="0"/>
              </a:rPr>
              <a:t>("%d ", </a:t>
            </a:r>
            <a:r>
              <a:rPr lang="en-US" sz="1800" dirty="0" err="1">
                <a:solidFill>
                  <a:schemeClr val="tx2">
                    <a:lumMod val="75000"/>
                    <a:lumOff val="25000"/>
                  </a:schemeClr>
                </a:solidFill>
                <a:latin typeface="Calibri" panose="020F0502020204030204" pitchFamily="34" charset="0"/>
                <a:cs typeface="Calibri" panose="020F0502020204030204" pitchFamily="34" charset="0"/>
              </a:rPr>
              <a:t>arr</a:t>
            </a:r>
            <a:r>
              <a:rPr lang="en-US" sz="1800" dirty="0">
                <a:solidFill>
                  <a:schemeClr val="tx2">
                    <a:lumMod val="75000"/>
                    <a:lumOff val="25000"/>
                  </a:schemeClr>
                </a:solidFill>
                <a:latin typeface="Calibri" panose="020F0502020204030204" pitchFamily="34" charset="0"/>
                <a:cs typeface="Calibri" panose="020F0502020204030204" pitchFamily="34" charset="0"/>
              </a:rPr>
              <a:t>[</a:t>
            </a:r>
            <a:r>
              <a:rPr lang="en-US" sz="1800" dirty="0" err="1">
                <a:solidFill>
                  <a:schemeClr val="tx2">
                    <a:lumMod val="75000"/>
                    <a:lumOff val="25000"/>
                  </a:schemeClr>
                </a:solidFill>
                <a:latin typeface="Calibri" panose="020F0502020204030204" pitchFamily="34" charset="0"/>
                <a:cs typeface="Calibri" panose="020F0502020204030204" pitchFamily="34" charset="0"/>
              </a:rPr>
              <a:t>i</a:t>
            </a:r>
            <a:r>
              <a:rPr lang="en-US" sz="1800" dirty="0">
                <a:solidFill>
                  <a:schemeClr val="tx2">
                    <a:lumMod val="75000"/>
                    <a:lumOff val="25000"/>
                  </a:schemeClr>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Prints each element.</a:t>
            </a:r>
          </a:p>
          <a:p>
            <a:pPr lvl="1" algn="just"/>
            <a:r>
              <a:rPr lang="en-US" sz="1800" dirty="0" err="1">
                <a:solidFill>
                  <a:schemeClr val="tx2">
                    <a:lumMod val="75000"/>
                    <a:lumOff val="25000"/>
                  </a:schemeClr>
                </a:solidFill>
                <a:latin typeface="Calibri" panose="020F0502020204030204" pitchFamily="34" charset="0"/>
                <a:cs typeface="Calibri" panose="020F0502020204030204" pitchFamily="34" charset="0"/>
              </a:rPr>
              <a:t>printf</a:t>
            </a:r>
            <a:r>
              <a:rPr lang="en-US" sz="1800" dirty="0">
                <a:solidFill>
                  <a:schemeClr val="tx2">
                    <a:lumMod val="75000"/>
                    <a:lumOff val="25000"/>
                  </a:schemeClr>
                </a:solidFill>
                <a:latin typeface="Calibri" panose="020F0502020204030204" pitchFamily="34" charset="0"/>
                <a:cs typeface="Calibri" panose="020F0502020204030204" pitchFamily="34" charset="0"/>
              </a:rPr>
              <a:t>("\n");: </a:t>
            </a:r>
            <a:r>
              <a:rPr lang="en-US" sz="1800" dirty="0">
                <a:latin typeface="Calibri" panose="020F0502020204030204" pitchFamily="34" charset="0"/>
                <a:cs typeface="Calibri" panose="020F0502020204030204" pitchFamily="34" charset="0"/>
              </a:rPr>
              <a:t>Moves to the next line after printing.</a:t>
            </a:r>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149270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Multi-Dimension 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Arrays in C can have more than one dimension.</a:t>
            </a:r>
          </a:p>
          <a:p>
            <a:pPr algn="just"/>
            <a:r>
              <a:rPr lang="en-US" sz="2200" dirty="0">
                <a:latin typeface="Calibri" panose="020F0502020204030204" pitchFamily="34" charset="0"/>
                <a:cs typeface="Calibri" panose="020F0502020204030204" pitchFamily="34" charset="0"/>
              </a:rPr>
              <a:t>However, computer memory is organized linearly (one-dimensional).</a:t>
            </a:r>
          </a:p>
          <a:p>
            <a:pPr algn="just"/>
            <a:r>
              <a:rPr lang="en-US" sz="2200" dirty="0">
                <a:latin typeface="Calibri" panose="020F0502020204030204" pitchFamily="34" charset="0"/>
                <a:cs typeface="Calibri" panose="020F0502020204030204" pitchFamily="34" charset="0"/>
              </a:rPr>
              <a:t>Multidimensional arrays are stored in one-dimensional order in memory as memory does not have a special multidimensional space.</a:t>
            </a:r>
          </a:p>
          <a:p>
            <a:pPr algn="just"/>
            <a:r>
              <a:rPr lang="en-US" sz="2200" dirty="0">
                <a:latin typeface="Calibri" panose="020F0502020204030204" pitchFamily="34" charset="0"/>
                <a:cs typeface="Calibri" panose="020F0502020204030204" pitchFamily="34" charset="0"/>
              </a:rPr>
              <a:t>Example: 	</a:t>
            </a:r>
            <a:r>
              <a:rPr lang="pt-BR" sz="2200" dirty="0">
                <a:solidFill>
                  <a:schemeClr val="tx2">
                    <a:lumMod val="75000"/>
                    <a:lumOff val="25000"/>
                  </a:schemeClr>
                </a:solidFill>
                <a:latin typeface="Calibri" panose="020F0502020204030204" pitchFamily="34" charset="0"/>
                <a:cs typeface="Calibri" panose="020F0502020204030204" pitchFamily="34" charset="0"/>
              </a:rPr>
              <a:t>int a[3][2];		a[0][1]=7; 	a[1][0]=13;</a:t>
            </a:r>
          </a:p>
          <a:p>
            <a:pPr algn="just"/>
            <a:r>
              <a:rPr lang="en-US" sz="2200" dirty="0">
                <a:latin typeface="Calibri" panose="020F0502020204030204" pitchFamily="34" charset="0"/>
                <a:cs typeface="Calibri" panose="020F0502020204030204" pitchFamily="34" charset="0"/>
              </a:rPr>
              <a:t>The memory map for this code could be written as:</a:t>
            </a:r>
          </a:p>
        </p:txBody>
      </p:sp>
      <p:pic>
        <p:nvPicPr>
          <p:cNvPr id="6" name="Picture 5">
            <a:extLst>
              <a:ext uri="{FF2B5EF4-FFF2-40B4-BE49-F238E27FC236}">
                <a16:creationId xmlns:a16="http://schemas.microsoft.com/office/drawing/2014/main" id="{2289A34A-18F1-FAB2-754A-7B21E6E74DB7}"/>
              </a:ext>
            </a:extLst>
          </p:cNvPr>
          <p:cNvPicPr>
            <a:picLocks noChangeAspect="1"/>
          </p:cNvPicPr>
          <p:nvPr/>
        </p:nvPicPr>
        <p:blipFill>
          <a:blip r:embed="rId2"/>
          <a:stretch>
            <a:fillRect/>
          </a:stretch>
        </p:blipFill>
        <p:spPr>
          <a:xfrm>
            <a:off x="4680673" y="4320964"/>
            <a:ext cx="2830654" cy="2438713"/>
          </a:xfrm>
          <a:prstGeom prst="rect">
            <a:avLst/>
          </a:prstGeom>
        </p:spPr>
      </p:pic>
      <p:sp>
        <p:nvSpPr>
          <p:cNvPr id="8" name="TextBox 7">
            <a:extLst>
              <a:ext uri="{FF2B5EF4-FFF2-40B4-BE49-F238E27FC236}">
                <a16:creationId xmlns:a16="http://schemas.microsoft.com/office/drawing/2014/main" id="{125BCDDF-AAEC-39D2-B380-DD23FB7F3B0D}"/>
              </a:ext>
            </a:extLst>
          </p:cNvPr>
          <p:cNvSpPr txBox="1"/>
          <p:nvPr/>
        </p:nvSpPr>
        <p:spPr>
          <a:xfrm>
            <a:off x="156797" y="5324876"/>
            <a:ext cx="4749499" cy="430887"/>
          </a:xfrm>
          <a:prstGeom prst="rect">
            <a:avLst/>
          </a:prstGeom>
          <a:noFill/>
        </p:spPr>
        <p:txBody>
          <a:bodyPr wrap="square">
            <a:spAutoFit/>
          </a:bodyPr>
          <a:lstStyle/>
          <a:p>
            <a:r>
              <a:rPr lang="en-GB" sz="2200" dirty="0">
                <a:latin typeface="Calibri" panose="020F0502020204030204" pitchFamily="34" charset="0"/>
                <a:cs typeface="Calibri" panose="020F0502020204030204" pitchFamily="34" charset="0"/>
              </a:rPr>
              <a:t>Stored as a single sequence in memory</a:t>
            </a:r>
          </a:p>
        </p:txBody>
      </p:sp>
      <p:sp>
        <p:nvSpPr>
          <p:cNvPr id="5" name="TextBox 4">
            <a:extLst>
              <a:ext uri="{FF2B5EF4-FFF2-40B4-BE49-F238E27FC236}">
                <a16:creationId xmlns:a16="http://schemas.microsoft.com/office/drawing/2014/main" id="{89FF63A6-3BB6-B338-A564-64DB0A1F42C7}"/>
              </a:ext>
            </a:extLst>
          </p:cNvPr>
          <p:cNvSpPr txBox="1"/>
          <p:nvPr/>
        </p:nvSpPr>
        <p:spPr>
          <a:xfrm>
            <a:off x="7511326" y="4878600"/>
            <a:ext cx="4611847" cy="1754326"/>
          </a:xfrm>
          <a:prstGeom prst="rect">
            <a:avLst/>
          </a:prstGeom>
          <a:noFill/>
        </p:spPr>
        <p:txBody>
          <a:bodyPr wrap="square">
            <a:spAutoFit/>
          </a:bodyPr>
          <a:lstStyle/>
          <a:p>
            <a:pPr marL="285750" indent="-285750" algn="just">
              <a:buFont typeface="Arial" panose="020B0604020202020204" pitchFamily="34" charset="0"/>
              <a:buChar char="•"/>
            </a:pPr>
            <a:r>
              <a:rPr lang="en-US" b="0" i="0" u="none" strike="noStrike" baseline="0" dirty="0">
                <a:latin typeface="Calibri" panose="020F0502020204030204" pitchFamily="34" charset="0"/>
                <a:cs typeface="Calibri" panose="020F0502020204030204" pitchFamily="34" charset="0"/>
              </a:rPr>
              <a:t>There are a total of six cells in this array.</a:t>
            </a:r>
          </a:p>
          <a:p>
            <a:pPr marL="285750" indent="-285750" algn="just">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US" b="0" i="0" u="none" strike="noStrike" baseline="0" dirty="0">
                <a:latin typeface="Calibri" panose="020F0502020204030204" pitchFamily="34" charset="0"/>
                <a:cs typeface="Calibri" panose="020F0502020204030204" pitchFamily="34" charset="0"/>
              </a:rPr>
              <a:t>They are listed in order by cycling through the range on the rightmost index, incrementing the next index to the </a:t>
            </a:r>
            <a:r>
              <a:rPr lang="en-GB" b="0" i="0" u="none" strike="noStrike" baseline="0" dirty="0">
                <a:latin typeface="Calibri" panose="020F0502020204030204" pitchFamily="34" charset="0"/>
                <a:cs typeface="Calibri" panose="020F0502020204030204" pitchFamily="34" charset="0"/>
              </a:rPr>
              <a:t>left when done.</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37371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EF7D-3CA1-ABFA-EC80-28D9CBAA0383}"/>
              </a:ext>
            </a:extLst>
          </p:cNvPr>
          <p:cNvSpPr>
            <a:spLocks noGrp="1"/>
          </p:cNvSpPr>
          <p:nvPr>
            <p:ph type="title"/>
          </p:nvPr>
        </p:nvSpPr>
        <p:spPr/>
        <p:txBody>
          <a:bodyPr/>
          <a:lstStyle/>
          <a:p>
            <a:r>
              <a:rPr lang="en-GB" b="1" dirty="0"/>
              <a:t>Multi-Dimension Arrays</a:t>
            </a:r>
          </a:p>
        </p:txBody>
      </p:sp>
      <p:sp>
        <p:nvSpPr>
          <p:cNvPr id="3" name="Content Placeholder 2">
            <a:extLst>
              <a:ext uri="{FF2B5EF4-FFF2-40B4-BE49-F238E27FC236}">
                <a16:creationId xmlns:a16="http://schemas.microsoft.com/office/drawing/2014/main" id="{EDE8814D-DFC5-7897-AC60-F024A61A560B}"/>
              </a:ext>
            </a:extLst>
          </p:cNvPr>
          <p:cNvSpPr>
            <a:spLocks noGrp="1"/>
          </p:cNvSpPr>
          <p:nvPr>
            <p:ph idx="1"/>
          </p:nvPr>
        </p:nvSpPr>
        <p:spPr/>
        <p:txBody>
          <a:bodyPr>
            <a:noAutofit/>
          </a:bodyPr>
          <a:lstStyle/>
          <a:p>
            <a:pPr algn="just"/>
            <a:r>
              <a:rPr lang="en-US" sz="2200" dirty="0">
                <a:latin typeface="Calibri" panose="020F0502020204030204" pitchFamily="34" charset="0"/>
                <a:cs typeface="Calibri" panose="020F0502020204030204" pitchFamily="34" charset="0"/>
              </a:rPr>
              <a:t>The same procedure works for any number of dimensions. </a:t>
            </a:r>
          </a:p>
          <a:p>
            <a:pPr algn="just"/>
            <a:r>
              <a:rPr lang="en-US" sz="2200" dirty="0">
                <a:latin typeface="Calibri" panose="020F0502020204030204" pitchFamily="34" charset="0"/>
                <a:cs typeface="Calibri" panose="020F0502020204030204" pitchFamily="34" charset="0"/>
              </a:rPr>
              <a:t>For example, consider the following code for a three-dimensional array:</a:t>
            </a:r>
          </a:p>
          <a:p>
            <a:pPr marL="0" indent="0" algn="just">
              <a:buNone/>
            </a:pPr>
            <a:r>
              <a:rPr lang="en-GB" sz="2200" b="0" i="0" u="none" strike="noStrike" baseline="0" dirty="0">
                <a:latin typeface="Calibri" panose="020F0502020204030204" pitchFamily="34" charset="0"/>
                <a:cs typeface="Calibri" panose="020F0502020204030204" pitchFamily="34" charset="0"/>
              </a:rPr>
              <a:t>			</a:t>
            </a:r>
            <a:r>
              <a:rPr lang="en-GB" sz="22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int b[2][3][4];	</a:t>
            </a:r>
            <a:r>
              <a:rPr lang="pl-PL" sz="22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b[0][2][0]=7;</a:t>
            </a:r>
            <a:r>
              <a:rPr lang="en-GB" sz="22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	</a:t>
            </a:r>
            <a:r>
              <a:rPr lang="pl-PL" sz="2200" b="0" i="0" u="none" strike="noStrike" baseline="0" dirty="0">
                <a:solidFill>
                  <a:schemeClr val="tx2">
                    <a:lumMod val="75000"/>
                    <a:lumOff val="25000"/>
                  </a:schemeClr>
                </a:solidFill>
                <a:latin typeface="Calibri" panose="020F0502020204030204" pitchFamily="34" charset="0"/>
                <a:cs typeface="Calibri" panose="020F0502020204030204" pitchFamily="34" charset="0"/>
              </a:rPr>
              <a:t>b[1][0][2]=13;</a:t>
            </a:r>
            <a:endParaRPr lang="en-GB" sz="2200" b="0" i="0" u="none" strike="noStrike" baseline="0" dirty="0">
              <a:solidFill>
                <a:schemeClr val="tx2">
                  <a:lumMod val="75000"/>
                  <a:lumOff val="25000"/>
                </a:schemeClr>
              </a:solidFill>
              <a:latin typeface="Calibri" panose="020F0502020204030204" pitchFamily="34" charset="0"/>
              <a:cs typeface="Calibri" panose="020F0502020204030204" pitchFamily="34" charset="0"/>
            </a:endParaRPr>
          </a:p>
          <a:p>
            <a:pPr algn="just"/>
            <a:r>
              <a:rPr lang="en-US" sz="2200" b="0" i="0" u="none" strike="noStrike" baseline="0" dirty="0">
                <a:latin typeface="Calibri" panose="020F0502020204030204" pitchFamily="34" charset="0"/>
                <a:cs typeface="Calibri" panose="020F0502020204030204" pitchFamily="34" charset="0"/>
              </a:rPr>
              <a:t>There are 24 cells in this array, occupying a total of 96 bytes. The memory map for this code could be written as:</a:t>
            </a:r>
            <a:endParaRPr lang="en-US" sz="2200" dirty="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A08AE7B4-DD47-D1AF-F837-676864D1F3D6}"/>
              </a:ext>
            </a:extLst>
          </p:cNvPr>
          <p:cNvPicPr>
            <a:picLocks noChangeAspect="1"/>
          </p:cNvPicPr>
          <p:nvPr/>
        </p:nvPicPr>
        <p:blipFill>
          <a:blip r:embed="rId2"/>
          <a:stretch>
            <a:fillRect/>
          </a:stretch>
        </p:blipFill>
        <p:spPr>
          <a:xfrm>
            <a:off x="1010449" y="3864386"/>
            <a:ext cx="4222771" cy="2875627"/>
          </a:xfrm>
          <a:prstGeom prst="rect">
            <a:avLst/>
          </a:prstGeom>
        </p:spPr>
      </p:pic>
      <p:sp>
        <p:nvSpPr>
          <p:cNvPr id="12" name="TextBox 11">
            <a:extLst>
              <a:ext uri="{FF2B5EF4-FFF2-40B4-BE49-F238E27FC236}">
                <a16:creationId xmlns:a16="http://schemas.microsoft.com/office/drawing/2014/main" id="{2A352734-CCF4-D61C-1938-5CD3CC0F5AA2}"/>
              </a:ext>
            </a:extLst>
          </p:cNvPr>
          <p:cNvSpPr txBox="1"/>
          <p:nvPr/>
        </p:nvSpPr>
        <p:spPr>
          <a:xfrm>
            <a:off x="5397867" y="3864386"/>
            <a:ext cx="6290215" cy="1200329"/>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Calibri" panose="020F0502020204030204" pitchFamily="34" charset="0"/>
                <a:cs typeface="Calibri" panose="020F0502020204030204" pitchFamily="34" charset="0"/>
              </a:rPr>
              <a:t>The order of incrementing dimension indices is similar to how base 10 numbers are counted, cycling through the one’s digit before incrementing the ten’s digit, then cycling through the ten’s digit before incrementing the hundred’s digit, and so on.</a:t>
            </a:r>
            <a:endParaRPr lang="en-GB"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D6745887-CEE9-2795-1715-EE8C19EC5CFE}"/>
              </a:ext>
            </a:extLst>
          </p:cNvPr>
          <p:cNvSpPr txBox="1"/>
          <p:nvPr/>
        </p:nvSpPr>
        <p:spPr>
          <a:xfrm>
            <a:off x="5397867" y="5103674"/>
            <a:ext cx="6120580" cy="1754326"/>
          </a:xfrm>
          <a:prstGeom prst="rect">
            <a:avLst/>
          </a:prstGeom>
          <a:noFill/>
        </p:spPr>
        <p:txBody>
          <a:bodyPr wrap="square">
            <a:spAutoFit/>
          </a:bodyPr>
          <a:lstStyle/>
          <a:p>
            <a:pPr marL="285750" indent="-285750" algn="just">
              <a:buFont typeface="Arial" panose="020B0604020202020204" pitchFamily="34" charset="0"/>
              <a:buChar char="•"/>
            </a:pPr>
            <a:r>
              <a:rPr lang="en-US" sz="1800" b="0" i="0" u="none" strike="noStrike" baseline="0" dirty="0">
                <a:latin typeface="Calibri" panose="020F0502020204030204" pitchFamily="34" charset="0"/>
                <a:cs typeface="Calibri" panose="020F0502020204030204" pitchFamily="34" charset="0"/>
              </a:rPr>
              <a:t>Everything stored in computer memory is somehow stretched out in one-dimensional</a:t>
            </a:r>
            <a:r>
              <a:rPr lang="en-US" dirty="0">
                <a:latin typeface="Calibri" panose="020F0502020204030204" pitchFamily="34" charset="0"/>
                <a:cs typeface="Calibri" panose="020F0502020204030204" pitchFamily="34" charset="0"/>
              </a:rPr>
              <a:t> </a:t>
            </a:r>
            <a:r>
              <a:rPr lang="en-US" sz="1800" b="0" i="0" u="none" strike="noStrike" baseline="0" dirty="0">
                <a:latin typeface="Calibri" panose="020F0502020204030204" pitchFamily="34" charset="0"/>
                <a:cs typeface="Calibri" panose="020F0502020204030204" pitchFamily="34" charset="0"/>
              </a:rPr>
              <a:t>order. </a:t>
            </a:r>
          </a:p>
          <a:p>
            <a:pPr marL="285750" indent="-285750" algn="just">
              <a:buFont typeface="Arial" panose="020B0604020202020204" pitchFamily="34" charset="0"/>
              <a:buChar char="•"/>
            </a:pPr>
            <a:r>
              <a:rPr lang="en-US" sz="1800" b="0" i="0" u="none" strike="noStrike" baseline="0" dirty="0">
                <a:latin typeface="Calibri" panose="020F0502020204030204" pitchFamily="34" charset="0"/>
                <a:cs typeface="Calibri" panose="020F0502020204030204" pitchFamily="34" charset="0"/>
              </a:rPr>
              <a:t>Things not typically viewed as one-dimensional, such as images, video, databases, maps, and three-dimensional models are all actually stored</a:t>
            </a:r>
            <a:r>
              <a:rPr lang="en-US" dirty="0">
                <a:latin typeface="Calibri" panose="020F0502020204030204" pitchFamily="34" charset="0"/>
                <a:cs typeface="Calibri" panose="020F0502020204030204" pitchFamily="34" charset="0"/>
              </a:rPr>
              <a:t> </a:t>
            </a:r>
            <a:r>
              <a:rPr lang="en-US" sz="1800" b="0" i="0" u="none" strike="noStrike" baseline="0" dirty="0">
                <a:latin typeface="Calibri" panose="020F0502020204030204" pitchFamily="34" charset="0"/>
                <a:cs typeface="Calibri" panose="020F0502020204030204" pitchFamily="34" charset="0"/>
              </a:rPr>
              <a:t>by listing out the data in one-dimensional order</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9807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14: </a:t>
            </a:r>
            <a:r>
              <a:rPr lang="en-US" b="1" dirty="0"/>
              <a:t>Two-Dimension Array</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dirty="0">
                <a:latin typeface="Calibri" panose="020F0502020204030204" pitchFamily="34" charset="0"/>
                <a:cs typeface="Calibri" panose="020F0502020204030204" pitchFamily="34" charset="0"/>
              </a:rPr>
              <a:t>Write a C program to perform the following operations on a 2-dimensional array of integers:</a:t>
            </a:r>
          </a:p>
          <a:p>
            <a:pPr algn="just"/>
            <a:r>
              <a:rPr lang="en-US" sz="2200" b="1" dirty="0">
                <a:latin typeface="Calibri" panose="020F0502020204030204" pitchFamily="34" charset="0"/>
                <a:cs typeface="Calibri" panose="020F0502020204030204" pitchFamily="34" charset="0"/>
              </a:rPr>
              <a:t>Input Array Elements:</a:t>
            </a:r>
          </a:p>
          <a:p>
            <a:pPr lvl="1" algn="just"/>
            <a:r>
              <a:rPr lang="en-US" sz="2000" dirty="0">
                <a:latin typeface="Calibri" panose="020F0502020204030204" pitchFamily="34" charset="0"/>
                <a:cs typeface="Calibri" panose="020F0502020204030204" pitchFamily="34" charset="0"/>
              </a:rPr>
              <a:t>Ask the user to enter the number of rows and columns for the array.</a:t>
            </a:r>
          </a:p>
          <a:p>
            <a:pPr lvl="1" algn="just"/>
            <a:r>
              <a:rPr lang="en-US" sz="2000" dirty="0">
                <a:latin typeface="Calibri" panose="020F0502020204030204" pitchFamily="34" charset="0"/>
                <a:cs typeface="Calibri" panose="020F0502020204030204" pitchFamily="34" charset="0"/>
              </a:rPr>
              <a:t>Input the elements of the array from the user.</a:t>
            </a:r>
          </a:p>
          <a:p>
            <a:pPr algn="just"/>
            <a:r>
              <a:rPr lang="en-US" sz="2200" b="1" dirty="0">
                <a:latin typeface="Calibri" panose="020F0502020204030204" pitchFamily="34" charset="0"/>
                <a:cs typeface="Calibri" panose="020F0502020204030204" pitchFamily="34" charset="0"/>
              </a:rPr>
              <a:t>Find Duplicate Values:</a:t>
            </a:r>
          </a:p>
          <a:p>
            <a:pPr lvl="1" algn="just"/>
            <a:r>
              <a:rPr lang="en-US" sz="2000" dirty="0">
                <a:latin typeface="Calibri" panose="020F0502020204030204" pitchFamily="34" charset="0"/>
                <a:cs typeface="Calibri" panose="020F0502020204030204" pitchFamily="34" charset="0"/>
              </a:rPr>
              <a:t>Identify and print duplicate values within the matrix.</a:t>
            </a:r>
          </a:p>
          <a:p>
            <a:pPr lvl="1" algn="just"/>
            <a:r>
              <a:rPr lang="en-US" sz="2000" dirty="0">
                <a:latin typeface="Calibri" panose="020F0502020204030204" pitchFamily="34" charset="0"/>
                <a:cs typeface="Calibri" panose="020F0502020204030204" pitchFamily="34" charset="0"/>
              </a:rPr>
              <a:t>For each duplicate value, print the positions (row and column) where the duplicate values occur.</a:t>
            </a:r>
          </a:p>
        </p:txBody>
      </p:sp>
    </p:spTree>
    <p:extLst>
      <p:ext uri="{BB962C8B-B14F-4D97-AF65-F5344CB8AC3E}">
        <p14:creationId xmlns:p14="http://schemas.microsoft.com/office/powerpoint/2010/main" val="1264050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14: </a:t>
            </a:r>
            <a:r>
              <a:rPr lang="en-US" b="1" dirty="0"/>
              <a:t>Two-Dimension Array</a:t>
            </a:r>
            <a:endParaRPr lang="en-GB" b="1" dirty="0"/>
          </a:p>
        </p:txBody>
      </p:sp>
      <p:pic>
        <p:nvPicPr>
          <p:cNvPr id="9" name="Picture 8" descr="A screenshot of a computer screen&#10;&#10;Description automatically generated">
            <a:extLst>
              <a:ext uri="{FF2B5EF4-FFF2-40B4-BE49-F238E27FC236}">
                <a16:creationId xmlns:a16="http://schemas.microsoft.com/office/drawing/2014/main" id="{94EE764C-88A4-2D8B-0648-3726637D51FC}"/>
              </a:ext>
            </a:extLst>
          </p:cNvPr>
          <p:cNvPicPr>
            <a:picLocks noChangeAspect="1"/>
          </p:cNvPicPr>
          <p:nvPr/>
        </p:nvPicPr>
        <p:blipFill rotWithShape="1">
          <a:blip r:embed="rId2">
            <a:extLst>
              <a:ext uri="{28A0092B-C50C-407E-A947-70E740481C1C}">
                <a14:useLocalDpi xmlns:a14="http://schemas.microsoft.com/office/drawing/2010/main" val="0"/>
              </a:ext>
            </a:extLst>
          </a:blip>
          <a:srcRect l="5739" t="9847" r="32612" b="50000"/>
          <a:stretch/>
        </p:blipFill>
        <p:spPr>
          <a:xfrm>
            <a:off x="838200" y="1413164"/>
            <a:ext cx="5365173" cy="3417718"/>
          </a:xfrm>
          <a:prstGeom prst="rect">
            <a:avLst/>
          </a:prstGeom>
        </p:spPr>
      </p:pic>
      <p:pic>
        <p:nvPicPr>
          <p:cNvPr id="7" name="Picture 6" descr="A screenshot of a computer screen&#10;&#10;Description automatically generated">
            <a:extLst>
              <a:ext uri="{FF2B5EF4-FFF2-40B4-BE49-F238E27FC236}">
                <a16:creationId xmlns:a16="http://schemas.microsoft.com/office/drawing/2014/main" id="{DBB279BD-37ED-E13D-B31F-E2F25338C2C2}"/>
              </a:ext>
            </a:extLst>
          </p:cNvPr>
          <p:cNvPicPr>
            <a:picLocks noChangeAspect="1"/>
          </p:cNvPicPr>
          <p:nvPr/>
        </p:nvPicPr>
        <p:blipFill rotWithShape="1">
          <a:blip r:embed="rId3">
            <a:extLst>
              <a:ext uri="{28A0092B-C50C-407E-A947-70E740481C1C}">
                <a14:useLocalDpi xmlns:a14="http://schemas.microsoft.com/office/drawing/2010/main" val="0"/>
              </a:ext>
            </a:extLst>
          </a:blip>
          <a:srcRect l="5294" t="33030" r="16966" b="12122"/>
          <a:stretch/>
        </p:blipFill>
        <p:spPr>
          <a:xfrm>
            <a:off x="6078863" y="1413164"/>
            <a:ext cx="6068114" cy="4187537"/>
          </a:xfrm>
          <a:prstGeom prst="rect">
            <a:avLst/>
          </a:prstGeom>
        </p:spPr>
      </p:pic>
      <p:pic>
        <p:nvPicPr>
          <p:cNvPr id="11" name="Picture 10" descr="A screenshot of a computer program&#10;&#10;Description automatically generated">
            <a:extLst>
              <a:ext uri="{FF2B5EF4-FFF2-40B4-BE49-F238E27FC236}">
                <a16:creationId xmlns:a16="http://schemas.microsoft.com/office/drawing/2014/main" id="{129FB382-6269-D6DC-9F72-13EC6B7CC034}"/>
              </a:ext>
            </a:extLst>
          </p:cNvPr>
          <p:cNvPicPr>
            <a:picLocks noChangeAspect="1"/>
          </p:cNvPicPr>
          <p:nvPr/>
        </p:nvPicPr>
        <p:blipFill rotWithShape="1">
          <a:blip r:embed="rId4">
            <a:extLst>
              <a:ext uri="{28A0092B-C50C-407E-A947-70E740481C1C}">
                <a14:useLocalDpi xmlns:a14="http://schemas.microsoft.com/office/drawing/2010/main" val="0"/>
              </a:ext>
            </a:extLst>
          </a:blip>
          <a:srcRect l="2551" t="10109" r="16198" b="53123"/>
          <a:stretch/>
        </p:blipFill>
        <p:spPr>
          <a:xfrm>
            <a:off x="394854" y="4830882"/>
            <a:ext cx="5437580" cy="1787236"/>
          </a:xfrm>
          <a:prstGeom prst="rect">
            <a:avLst/>
          </a:prstGeom>
        </p:spPr>
      </p:pic>
    </p:spTree>
    <p:extLst>
      <p:ext uri="{BB962C8B-B14F-4D97-AF65-F5344CB8AC3E}">
        <p14:creationId xmlns:p14="http://schemas.microsoft.com/office/powerpoint/2010/main" val="4197195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14: </a:t>
            </a:r>
            <a:r>
              <a:rPr lang="en-US" b="1" dirty="0"/>
              <a:t>Explanation</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b="1" dirty="0">
                <a:latin typeface="Calibri" panose="020F0502020204030204" pitchFamily="34" charset="0"/>
                <a:cs typeface="Calibri" panose="020F0502020204030204" pitchFamily="34" charset="0"/>
              </a:rPr>
              <a:t>Input Array Elements:</a:t>
            </a:r>
            <a:endParaRPr lang="en-US" sz="20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Prompt the user for the number of rows and columns.</a:t>
            </a:r>
          </a:p>
          <a:p>
            <a:pPr lvl="1" algn="just"/>
            <a:r>
              <a:rPr lang="en-US" sz="2000" dirty="0">
                <a:latin typeface="Calibri" panose="020F0502020204030204" pitchFamily="34" charset="0"/>
                <a:cs typeface="Calibri" panose="020F0502020204030204" pitchFamily="34" charset="0"/>
              </a:rPr>
              <a:t>Read the matrix elements from the user using nested loops.</a:t>
            </a:r>
          </a:p>
          <a:p>
            <a:pPr algn="just"/>
            <a:r>
              <a:rPr lang="en-US" sz="2200" b="1" dirty="0">
                <a:latin typeface="Calibri" panose="020F0502020204030204" pitchFamily="34" charset="0"/>
                <a:cs typeface="Calibri" panose="020F0502020204030204" pitchFamily="34" charset="0"/>
              </a:rPr>
              <a:t>Outer Loops:</a:t>
            </a:r>
          </a:p>
          <a:p>
            <a:pPr lvl="1" algn="just"/>
            <a:r>
              <a:rPr lang="en-US" sz="2000" dirty="0">
                <a:latin typeface="Calibri" panose="020F0502020204030204" pitchFamily="34" charset="0"/>
                <a:cs typeface="Calibri" panose="020F0502020204030204" pitchFamily="34" charset="0"/>
              </a:rPr>
              <a:t>These loops iterate through each element of the matrix. </a:t>
            </a:r>
          </a:p>
          <a:p>
            <a:pPr lvl="1" algn="just"/>
            <a:r>
              <a:rPr lang="en-US" sz="2000" dirty="0" err="1">
                <a:solidFill>
                  <a:schemeClr val="tx2">
                    <a:lumMod val="75000"/>
                    <a:lumOff val="25000"/>
                  </a:schemeClr>
                </a:solidFill>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represents the current row, and j represents the current column.</a:t>
            </a:r>
          </a:p>
          <a:p>
            <a:pPr algn="just"/>
            <a:r>
              <a:rPr lang="en-US" sz="2200" b="1" dirty="0">
                <a:latin typeface="Calibri" panose="020F0502020204030204" pitchFamily="34" charset="0"/>
                <a:cs typeface="Calibri" panose="020F0502020204030204" pitchFamily="34" charset="0"/>
              </a:rPr>
              <a:t>Inner Loops:</a:t>
            </a:r>
          </a:p>
          <a:p>
            <a:pPr lvl="1" algn="just"/>
            <a:r>
              <a:rPr lang="en-US" sz="2000" dirty="0">
                <a:latin typeface="Calibri" panose="020F0502020204030204" pitchFamily="34" charset="0"/>
                <a:cs typeface="Calibri" panose="020F0502020204030204" pitchFamily="34" charset="0"/>
              </a:rPr>
              <a:t>The outer loop </a:t>
            </a:r>
            <a:r>
              <a:rPr lang="en-US" sz="2000" dirty="0">
                <a:solidFill>
                  <a:schemeClr val="tx2">
                    <a:lumMod val="75000"/>
                    <a:lumOff val="25000"/>
                  </a:schemeClr>
                </a:solidFill>
                <a:latin typeface="Calibri" panose="020F0502020204030204" pitchFamily="34" charset="0"/>
                <a:cs typeface="Calibri" panose="020F0502020204030204" pitchFamily="34" charset="0"/>
              </a:rPr>
              <a:t>k</a:t>
            </a:r>
            <a:r>
              <a:rPr lang="en-US" sz="2000" dirty="0">
                <a:latin typeface="Calibri" panose="020F0502020204030204" pitchFamily="34" charset="0"/>
                <a:cs typeface="Calibri" panose="020F0502020204030204" pitchFamily="34" charset="0"/>
              </a:rPr>
              <a:t> starts from the current row </a:t>
            </a:r>
            <a:r>
              <a:rPr lang="en-US" sz="2000" dirty="0" err="1">
                <a:solidFill>
                  <a:schemeClr val="tx2">
                    <a:lumMod val="75000"/>
                    <a:lumOff val="25000"/>
                  </a:schemeClr>
                </a:solidFill>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to the last row. This ensures that we only compare each element with elements that appear later in the matrix.</a:t>
            </a:r>
          </a:p>
          <a:p>
            <a:pPr lvl="1" algn="just"/>
            <a:r>
              <a:rPr lang="en-US" sz="2000" dirty="0">
                <a:latin typeface="Calibri" panose="020F0502020204030204" pitchFamily="34" charset="0"/>
                <a:cs typeface="Calibri" panose="020F0502020204030204" pitchFamily="34" charset="0"/>
              </a:rPr>
              <a:t>The inner loop </a:t>
            </a:r>
            <a:r>
              <a:rPr lang="en-US" sz="2000" dirty="0">
                <a:solidFill>
                  <a:schemeClr val="tx2">
                    <a:lumMod val="75000"/>
                    <a:lumOff val="25000"/>
                  </a:schemeClr>
                </a:solidFill>
                <a:latin typeface="Calibri" panose="020F0502020204030204" pitchFamily="34" charset="0"/>
                <a:cs typeface="Calibri" panose="020F0502020204030204" pitchFamily="34" charset="0"/>
              </a:rPr>
              <a:t>l</a:t>
            </a:r>
            <a:r>
              <a:rPr lang="en-US" sz="2000" dirty="0">
                <a:latin typeface="Calibri" panose="020F0502020204030204" pitchFamily="34" charset="0"/>
                <a:cs typeface="Calibri" panose="020F0502020204030204" pitchFamily="34" charset="0"/>
              </a:rPr>
              <a:t> starts from </a:t>
            </a:r>
            <a:r>
              <a:rPr lang="en-US" sz="2000" dirty="0">
                <a:solidFill>
                  <a:schemeClr val="tx2">
                    <a:lumMod val="75000"/>
                    <a:lumOff val="25000"/>
                  </a:schemeClr>
                </a:solidFill>
                <a:latin typeface="Calibri" panose="020F0502020204030204" pitchFamily="34" charset="0"/>
                <a:cs typeface="Calibri" panose="020F0502020204030204" pitchFamily="34" charset="0"/>
              </a:rPr>
              <a:t>j + 1 </a:t>
            </a:r>
            <a:r>
              <a:rPr lang="en-US" sz="2000" dirty="0">
                <a:latin typeface="Calibri" panose="020F0502020204030204" pitchFamily="34" charset="0"/>
                <a:cs typeface="Calibri" panose="020F0502020204030204" pitchFamily="34" charset="0"/>
              </a:rPr>
              <a:t>if </a:t>
            </a:r>
            <a:r>
              <a:rPr lang="en-US" sz="2000" dirty="0">
                <a:solidFill>
                  <a:schemeClr val="tx2">
                    <a:lumMod val="75000"/>
                    <a:lumOff val="25000"/>
                  </a:schemeClr>
                </a:solidFill>
                <a:latin typeface="Calibri" panose="020F0502020204030204" pitchFamily="34" charset="0"/>
                <a:cs typeface="Calibri" panose="020F0502020204030204" pitchFamily="34" charset="0"/>
              </a:rPr>
              <a:t>k</a:t>
            </a:r>
            <a:r>
              <a:rPr lang="en-US" sz="2000" dirty="0">
                <a:latin typeface="Calibri" panose="020F0502020204030204" pitchFamily="34" charset="0"/>
                <a:cs typeface="Calibri" panose="020F0502020204030204" pitchFamily="34" charset="0"/>
              </a:rPr>
              <a:t> is equal to </a:t>
            </a:r>
            <a:r>
              <a:rPr lang="en-US" sz="2000" dirty="0" err="1">
                <a:solidFill>
                  <a:schemeClr val="tx2">
                    <a:lumMod val="75000"/>
                    <a:lumOff val="25000"/>
                  </a:schemeClr>
                </a:solidFill>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(i.e., when we are still on the same row as </a:t>
            </a:r>
            <a:r>
              <a:rPr lang="en-US" sz="2000" dirty="0" err="1">
                <a:solidFill>
                  <a:schemeClr val="tx2">
                    <a:lumMod val="75000"/>
                    <a:lumOff val="25000"/>
                  </a:schemeClr>
                </a:solidFill>
                <a:latin typeface="Calibri" panose="020F0502020204030204" pitchFamily="34" charset="0"/>
                <a:cs typeface="Calibri" panose="020F0502020204030204" pitchFamily="34" charset="0"/>
              </a:rPr>
              <a:t>i</a:t>
            </a:r>
            <a:r>
              <a:rPr lang="en-US" sz="2000" dirty="0">
                <a:latin typeface="Calibri" panose="020F0502020204030204" pitchFamily="34" charset="0"/>
                <a:cs typeface="Calibri" panose="020F0502020204030204" pitchFamily="34" charset="0"/>
              </a:rPr>
              <a:t>). This prevents comparing the element with itself and ensures we only find duplicates in later columns or rows.</a:t>
            </a:r>
          </a:p>
          <a:p>
            <a:pPr marL="457200" lvl="1" indent="0" algn="just">
              <a:buNone/>
            </a:pPr>
            <a:endParaRPr lang="en-US" sz="2400" dirty="0">
              <a:latin typeface="Calibri" panose="020F0502020204030204" pitchFamily="34" charset="0"/>
              <a:cs typeface="Calibri" panose="020F0502020204030204" pitchFamily="34" charset="0"/>
            </a:endParaRPr>
          </a:p>
          <a:p>
            <a:pPr lvl="1" algn="just"/>
            <a:endParaRPr lang="en-US" sz="1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75424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87FB-6B62-15EF-871C-0940AA551487}"/>
              </a:ext>
            </a:extLst>
          </p:cNvPr>
          <p:cNvSpPr>
            <a:spLocks noGrp="1"/>
          </p:cNvSpPr>
          <p:nvPr>
            <p:ph type="title"/>
          </p:nvPr>
        </p:nvSpPr>
        <p:spPr/>
        <p:txBody>
          <a:bodyPr/>
          <a:lstStyle/>
          <a:p>
            <a:r>
              <a:rPr lang="en-GB" b="1" dirty="0"/>
              <a:t>Example 14: </a:t>
            </a:r>
            <a:r>
              <a:rPr lang="en-US" b="1" dirty="0"/>
              <a:t>Explanation</a:t>
            </a:r>
            <a:endParaRPr lang="en-GB" b="1" dirty="0"/>
          </a:p>
        </p:txBody>
      </p:sp>
      <p:sp>
        <p:nvSpPr>
          <p:cNvPr id="3" name="Content Placeholder 2">
            <a:extLst>
              <a:ext uri="{FF2B5EF4-FFF2-40B4-BE49-F238E27FC236}">
                <a16:creationId xmlns:a16="http://schemas.microsoft.com/office/drawing/2014/main" id="{C0657151-2E30-61E4-ABCA-74541114CFAD}"/>
              </a:ext>
            </a:extLst>
          </p:cNvPr>
          <p:cNvSpPr>
            <a:spLocks noGrp="1"/>
          </p:cNvSpPr>
          <p:nvPr>
            <p:ph idx="1"/>
          </p:nvPr>
        </p:nvSpPr>
        <p:spPr>
          <a:xfrm>
            <a:off x="838200" y="1825625"/>
            <a:ext cx="10515600" cy="4351338"/>
          </a:xfrm>
        </p:spPr>
        <p:txBody>
          <a:bodyPr>
            <a:normAutofit/>
          </a:bodyPr>
          <a:lstStyle/>
          <a:p>
            <a:pPr algn="just"/>
            <a:r>
              <a:rPr lang="en-US" sz="2200" b="1" dirty="0">
                <a:latin typeface="Calibri" panose="020F0502020204030204" pitchFamily="34" charset="0"/>
                <a:cs typeface="Calibri" panose="020F0502020204030204" pitchFamily="34" charset="0"/>
              </a:rPr>
              <a:t>Check for Duplicate:</a:t>
            </a:r>
            <a:endParaRPr lang="en-US" sz="2000" dirty="0">
              <a:latin typeface="Calibri" panose="020F0502020204030204" pitchFamily="34" charset="0"/>
              <a:cs typeface="Calibri" panose="020F0502020204030204" pitchFamily="34" charset="0"/>
            </a:endParaRPr>
          </a:p>
          <a:p>
            <a:pPr lvl="1" algn="just"/>
            <a:r>
              <a:rPr lang="en-US" sz="2000" dirty="0">
                <a:latin typeface="Calibri" panose="020F0502020204030204" pitchFamily="34" charset="0"/>
                <a:cs typeface="Calibri" panose="020F0502020204030204" pitchFamily="34" charset="0"/>
              </a:rPr>
              <a:t>This condition checks if the element at position </a:t>
            </a:r>
            <a:r>
              <a:rPr lang="en-US" sz="2000" dirty="0">
                <a:solidFill>
                  <a:schemeClr val="tx2">
                    <a:lumMod val="75000"/>
                    <a:lumOff val="25000"/>
                  </a:schemeClr>
                </a:solidFill>
                <a:latin typeface="Calibri" panose="020F0502020204030204" pitchFamily="34" charset="0"/>
                <a:cs typeface="Calibri" panose="020F0502020204030204" pitchFamily="34" charset="0"/>
              </a:rPr>
              <a:t>(</a:t>
            </a:r>
            <a:r>
              <a:rPr lang="en-US" sz="2000" dirty="0" err="1">
                <a:solidFill>
                  <a:schemeClr val="tx2">
                    <a:lumMod val="75000"/>
                    <a:lumOff val="25000"/>
                  </a:schemeClr>
                </a:solidFill>
                <a:latin typeface="Calibri" panose="020F0502020204030204" pitchFamily="34" charset="0"/>
                <a:cs typeface="Calibri" panose="020F0502020204030204" pitchFamily="34" charset="0"/>
              </a:rPr>
              <a:t>i</a:t>
            </a:r>
            <a:r>
              <a:rPr lang="en-US" sz="2000" dirty="0">
                <a:solidFill>
                  <a:schemeClr val="tx2">
                    <a:lumMod val="75000"/>
                    <a:lumOff val="25000"/>
                  </a:schemeClr>
                </a:solidFill>
                <a:latin typeface="Calibri" panose="020F0502020204030204" pitchFamily="34" charset="0"/>
                <a:cs typeface="Calibri" panose="020F0502020204030204" pitchFamily="34" charset="0"/>
              </a:rPr>
              <a:t>, j) </a:t>
            </a:r>
            <a:r>
              <a:rPr lang="en-US" sz="2000" dirty="0">
                <a:latin typeface="Calibri" panose="020F0502020204030204" pitchFamily="34" charset="0"/>
                <a:cs typeface="Calibri" panose="020F0502020204030204" pitchFamily="34" charset="0"/>
              </a:rPr>
              <a:t>is equal to the element at position </a:t>
            </a:r>
            <a:r>
              <a:rPr lang="en-US" sz="2000" dirty="0">
                <a:solidFill>
                  <a:schemeClr val="tx2">
                    <a:lumMod val="75000"/>
                    <a:lumOff val="25000"/>
                  </a:schemeClr>
                </a:solidFill>
                <a:latin typeface="Calibri" panose="020F0502020204030204" pitchFamily="34" charset="0"/>
                <a:cs typeface="Calibri" panose="020F0502020204030204" pitchFamily="34" charset="0"/>
              </a:rPr>
              <a:t>(k, l)</a:t>
            </a:r>
            <a:r>
              <a:rPr lang="en-US" sz="2000" dirty="0">
                <a:latin typeface="Calibri" panose="020F0502020204030204" pitchFamily="34" charset="0"/>
                <a:cs typeface="Calibri" panose="020F0502020204030204" pitchFamily="34" charset="0"/>
              </a:rPr>
              <a:t>.</a:t>
            </a:r>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Print Duplicate Information:</a:t>
            </a:r>
          </a:p>
          <a:p>
            <a:pPr lvl="1" algn="just"/>
            <a:r>
              <a:rPr lang="en-US" sz="2000" dirty="0">
                <a:latin typeface="Calibri" panose="020F0502020204030204" pitchFamily="34" charset="0"/>
                <a:cs typeface="Calibri" panose="020F0502020204030204" pitchFamily="34" charset="0"/>
              </a:rPr>
              <a:t>If this is the first time a duplicate value is found (!found), print a message indicating that a duplicate value is found and set found to 1.</a:t>
            </a:r>
          </a:p>
          <a:p>
            <a:pPr lvl="1" algn="just"/>
            <a:r>
              <a:rPr lang="en-US" sz="2000" dirty="0">
                <a:latin typeface="Calibri" panose="020F0502020204030204" pitchFamily="34" charset="0"/>
                <a:cs typeface="Calibri" panose="020F0502020204030204" pitchFamily="34" charset="0"/>
              </a:rPr>
              <a:t>Print the positions of the duplicate values in a 1-based format by adding 1 to the zero-based indices.</a:t>
            </a:r>
            <a:endParaRPr lang="en-US" sz="2200" b="1"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Reset for Next Value:</a:t>
            </a:r>
          </a:p>
          <a:p>
            <a:pPr lvl="1" algn="just"/>
            <a:r>
              <a:rPr lang="en-US" sz="2000" dirty="0">
                <a:latin typeface="Calibri" panose="020F0502020204030204" pitchFamily="34" charset="0"/>
                <a:cs typeface="Calibri" panose="020F0502020204030204" pitchFamily="34" charset="0"/>
              </a:rPr>
              <a:t>After checking all possible positions for duplicates of the current value, if any duplicates were found (found is 1), print a newline for clarity.</a:t>
            </a:r>
          </a:p>
          <a:p>
            <a:pPr lvl="1" algn="just"/>
            <a:r>
              <a:rPr lang="en-US" sz="2000" dirty="0">
                <a:latin typeface="Calibri" panose="020F0502020204030204" pitchFamily="34" charset="0"/>
                <a:cs typeface="Calibri" panose="020F0502020204030204" pitchFamily="34" charset="0"/>
              </a:rPr>
              <a:t>Reset found to 0 for the next unique value.</a:t>
            </a:r>
          </a:p>
        </p:txBody>
      </p:sp>
    </p:spTree>
    <p:extLst>
      <p:ext uri="{BB962C8B-B14F-4D97-AF65-F5344CB8AC3E}">
        <p14:creationId xmlns:p14="http://schemas.microsoft.com/office/powerpoint/2010/main" val="6340509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6C14-235C-CB31-F749-488E6B6D9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62095-F8D0-443B-284D-E0EBB80DC85A}"/>
              </a:ext>
            </a:extLst>
          </p:cNvPr>
          <p:cNvSpPr>
            <a:spLocks noGrp="1"/>
          </p:cNvSpPr>
          <p:nvPr>
            <p:ph type="title"/>
          </p:nvPr>
        </p:nvSpPr>
        <p:spPr>
          <a:xfrm>
            <a:off x="838200" y="2766218"/>
            <a:ext cx="10515600" cy="1325563"/>
          </a:xfrm>
        </p:spPr>
        <p:txBody>
          <a:bodyPr>
            <a:normAutofit/>
          </a:bodyPr>
          <a:lstStyle/>
          <a:p>
            <a:pPr algn="ctr"/>
            <a:r>
              <a:rPr lang="en-US" b="1" dirty="0"/>
              <a:t>Thank you for listening </a:t>
            </a:r>
          </a:p>
        </p:txBody>
      </p:sp>
    </p:spTree>
    <p:extLst>
      <p:ext uri="{BB962C8B-B14F-4D97-AF65-F5344CB8AC3E}">
        <p14:creationId xmlns:p14="http://schemas.microsoft.com/office/powerpoint/2010/main" val="244848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2543</TotalTime>
  <Words>5063</Words>
  <Application>Microsoft Office PowerPoint</Application>
  <PresentationFormat>Widescreen</PresentationFormat>
  <Paragraphs>433</Paragraphs>
  <Slides>54</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Aptos</vt:lpstr>
      <vt:lpstr>Aptos Display</vt:lpstr>
      <vt:lpstr>Arial</vt:lpstr>
      <vt:lpstr>Calibri</vt:lpstr>
      <vt:lpstr>Cambria Math</vt:lpstr>
      <vt:lpstr>Minion-Regular</vt:lpstr>
      <vt:lpstr>Times New Roman</vt:lpstr>
      <vt:lpstr>Wingdings</vt:lpstr>
      <vt:lpstr>ZztexMono-Regular</vt:lpstr>
      <vt:lpstr>Office Theme</vt:lpstr>
      <vt:lpstr>Lecture 2: Fundamentals of C Programming: Loops, Flow Control, Data Types, and Arrays,</vt:lpstr>
      <vt:lpstr>Outline:</vt:lpstr>
      <vt:lpstr>The while Repetition Statement</vt:lpstr>
      <vt:lpstr>Example 1: while Loop</vt:lpstr>
      <vt:lpstr>Example 1: Explanation</vt:lpstr>
      <vt:lpstr>The while Repetition Statement</vt:lpstr>
      <vt:lpstr>break and continue Statements</vt:lpstr>
      <vt:lpstr>Example 2: while Loop</vt:lpstr>
      <vt:lpstr>Example 2: Explanation</vt:lpstr>
      <vt:lpstr>Example 3: while Loop</vt:lpstr>
      <vt:lpstr>Example 3: Explanation</vt:lpstr>
      <vt:lpstr>The for Repetition Statement</vt:lpstr>
      <vt:lpstr>Example 4: for Loop</vt:lpstr>
      <vt:lpstr>Example 4: Explanation</vt:lpstr>
      <vt:lpstr>Example 5: for Loop</vt:lpstr>
      <vt:lpstr>Example 5: Explanation</vt:lpstr>
      <vt:lpstr>Example 6: for Loop</vt:lpstr>
      <vt:lpstr>Example 6: Explanation</vt:lpstr>
      <vt:lpstr>Understanding Bit Models</vt:lpstr>
      <vt:lpstr>Magnitude-only Bit Model</vt:lpstr>
      <vt:lpstr>Sign-Magnitude Bit Model</vt:lpstr>
      <vt:lpstr>Sign-Magnitude Bit Model</vt:lpstr>
      <vt:lpstr>Two’s Complement Bit Model</vt:lpstr>
      <vt:lpstr>Two’s Complement Bit Model</vt:lpstr>
      <vt:lpstr>Other Bit Models</vt:lpstr>
      <vt:lpstr>Bitwise Operators in C</vt:lpstr>
      <vt:lpstr>Example 7: Bitwise NOT Operator</vt:lpstr>
      <vt:lpstr>Example 8: Bitwise AND Operator</vt:lpstr>
      <vt:lpstr>Example 9: Bitwise OR Operator</vt:lpstr>
      <vt:lpstr>Example 10: Bitwise Operators</vt:lpstr>
      <vt:lpstr>Example 10: Bitwise Operators</vt:lpstr>
      <vt:lpstr>Bitmask Operations</vt:lpstr>
      <vt:lpstr>Example 11: Bitmask Operations</vt:lpstr>
      <vt:lpstr>Example 11: Explanation</vt:lpstr>
      <vt:lpstr>Arrays</vt:lpstr>
      <vt:lpstr>Arrays</vt:lpstr>
      <vt:lpstr>Arrays</vt:lpstr>
      <vt:lpstr>Arrays</vt:lpstr>
      <vt:lpstr>Arrays</vt:lpstr>
      <vt:lpstr>Arrays</vt:lpstr>
      <vt:lpstr>Arrays</vt:lpstr>
      <vt:lpstr>Example 12: Basic array Operations</vt:lpstr>
      <vt:lpstr>Example 12: Basic array Operations</vt:lpstr>
      <vt:lpstr>Example 12: Explanation</vt:lpstr>
      <vt:lpstr>Example 13: Sorting array</vt:lpstr>
      <vt:lpstr>Example 13: Sorting array</vt:lpstr>
      <vt:lpstr>Example 13: Explanation</vt:lpstr>
      <vt:lpstr>Multi-Dimension Arrays</vt:lpstr>
      <vt:lpstr>Multi-Dimension Arrays</vt:lpstr>
      <vt:lpstr>Example 14: Two-Dimension Array</vt:lpstr>
      <vt:lpstr>Example 14: Two-Dimension Array</vt:lpstr>
      <vt:lpstr>Example 14: Explanation</vt:lpstr>
      <vt:lpstr>Example 14: Explanation</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Programming with C  </dc:title>
  <dc:creator>Amir  Yavariabdi</dc:creator>
  <cp:lastModifiedBy>Amir  Yavariabdi</cp:lastModifiedBy>
  <cp:revision>74</cp:revision>
  <dcterms:created xsi:type="dcterms:W3CDTF">2024-07-12T15:28:22Z</dcterms:created>
  <dcterms:modified xsi:type="dcterms:W3CDTF">2024-08-31T12:46:21Z</dcterms:modified>
</cp:coreProperties>
</file>