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278" r:id="rId5"/>
    <p:sldId id="290" r:id="rId6"/>
    <p:sldId id="303" r:id="rId7"/>
    <p:sldId id="292" r:id="rId8"/>
    <p:sldId id="291" r:id="rId9"/>
    <p:sldId id="301" r:id="rId10"/>
    <p:sldId id="295" r:id="rId11"/>
    <p:sldId id="304" r:id="rId12"/>
    <p:sldId id="305" r:id="rId13"/>
    <p:sldId id="306" r:id="rId14"/>
    <p:sldId id="29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600878-F2FE-431F-935F-C132A2723C97}" v="216" dt="2025-06-17T07:49:41.4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66567" autoAdjust="0"/>
  </p:normalViewPr>
  <p:slideViewPr>
    <p:cSldViewPr snapToGrid="0">
      <p:cViewPr varScale="1">
        <p:scale>
          <a:sx n="109" d="100"/>
          <a:sy n="109" d="100"/>
        </p:scale>
        <p:origin x="52" y="52"/>
      </p:cViewPr>
      <p:guideLst/>
    </p:cSldViewPr>
  </p:slideViewPr>
  <p:outlineViewPr>
    <p:cViewPr>
      <p:scale>
        <a:sx n="33" d="100"/>
        <a:sy n="33" d="100"/>
      </p:scale>
      <p:origin x="0" y="-2880"/>
    </p:cViewPr>
  </p:outlineViewPr>
  <p:notesTextViewPr>
    <p:cViewPr>
      <p:scale>
        <a:sx n="3" d="2"/>
        <a:sy n="3" d="2"/>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han Arun" userId="32dbc34a3c97686b" providerId="LiveId" clId="{41600878-F2FE-431F-935F-C132A2723C97}"/>
    <pc:docChg chg="undo custSel addSld delSld modSld sldOrd">
      <pc:chgData name="Sohan Arun" userId="32dbc34a3c97686b" providerId="LiveId" clId="{41600878-F2FE-431F-935F-C132A2723C97}" dt="2025-06-17T08:51:09.007" v="1729" actId="2696"/>
      <pc:docMkLst>
        <pc:docMk/>
      </pc:docMkLst>
      <pc:sldChg chg="modSp mod modNotesTx">
        <pc:chgData name="Sohan Arun" userId="32dbc34a3c97686b" providerId="LiveId" clId="{41600878-F2FE-431F-935F-C132A2723C97}" dt="2025-06-17T06:45:41.183" v="1122" actId="6549"/>
        <pc:sldMkLst>
          <pc:docMk/>
          <pc:sldMk cId="608796113" sldId="278"/>
        </pc:sldMkLst>
        <pc:spChg chg="mod">
          <ac:chgData name="Sohan Arun" userId="32dbc34a3c97686b" providerId="LiveId" clId="{41600878-F2FE-431F-935F-C132A2723C97}" dt="2025-06-13T12:58:32.942" v="55" actId="1076"/>
          <ac:spMkLst>
            <pc:docMk/>
            <pc:sldMk cId="608796113" sldId="278"/>
            <ac:spMk id="2" creationId="{9528DBD1-DB29-D44F-FD5A-3071BB37EF37}"/>
          </ac:spMkLst>
        </pc:spChg>
        <pc:spChg chg="mod">
          <ac:chgData name="Sohan Arun" userId="32dbc34a3c97686b" providerId="LiveId" clId="{41600878-F2FE-431F-935F-C132A2723C97}" dt="2025-06-14T12:10:37.935" v="131" actId="20577"/>
          <ac:spMkLst>
            <pc:docMk/>
            <pc:sldMk cId="608796113" sldId="278"/>
            <ac:spMk id="4" creationId="{0688EEA1-0434-038A-F2C2-14B52C4F87F7}"/>
          </ac:spMkLst>
        </pc:spChg>
      </pc:sldChg>
      <pc:sldChg chg="delSp modSp del mod modNotesTx">
        <pc:chgData name="Sohan Arun" userId="32dbc34a3c97686b" providerId="LiveId" clId="{41600878-F2FE-431F-935F-C132A2723C97}" dt="2025-06-17T08:51:09.007" v="1729" actId="2696"/>
        <pc:sldMkLst>
          <pc:docMk/>
          <pc:sldMk cId="2403577982" sldId="284"/>
        </pc:sldMkLst>
        <pc:spChg chg="mod">
          <ac:chgData name="Sohan Arun" userId="32dbc34a3c97686b" providerId="LiveId" clId="{41600878-F2FE-431F-935F-C132A2723C97}" dt="2025-06-17T06:48:58.388" v="1130" actId="20577"/>
          <ac:spMkLst>
            <pc:docMk/>
            <pc:sldMk cId="2403577982" sldId="284"/>
            <ac:spMk id="19" creationId="{8513406A-AC5E-6EFF-0D1D-C6E4747F34CE}"/>
          </ac:spMkLst>
        </pc:spChg>
      </pc:sldChg>
      <pc:sldChg chg="del">
        <pc:chgData name="Sohan Arun" userId="32dbc34a3c97686b" providerId="LiveId" clId="{41600878-F2FE-431F-935F-C132A2723C97}" dt="2025-06-13T13:36:27.384" v="94" actId="2696"/>
        <pc:sldMkLst>
          <pc:docMk/>
          <pc:sldMk cId="67555161" sldId="289"/>
        </pc:sldMkLst>
      </pc:sldChg>
      <pc:sldChg chg="delSp modSp add del mod ord modNotesTx">
        <pc:chgData name="Sohan Arun" userId="32dbc34a3c97686b" providerId="LiveId" clId="{41600878-F2FE-431F-935F-C132A2723C97}" dt="2025-06-17T07:13:52.677" v="1427" actId="20577"/>
        <pc:sldMkLst>
          <pc:docMk/>
          <pc:sldMk cId="2172992872" sldId="290"/>
        </pc:sldMkLst>
        <pc:spChg chg="mod">
          <ac:chgData name="Sohan Arun" userId="32dbc34a3c97686b" providerId="LiveId" clId="{41600878-F2FE-431F-935F-C132A2723C97}" dt="2025-06-17T06:51:41.981" v="1157" actId="20577"/>
          <ac:spMkLst>
            <pc:docMk/>
            <pc:sldMk cId="2172992872" sldId="290"/>
            <ac:spMk id="4" creationId="{85BF4F72-666F-661A-AD7F-1883EDD00198}"/>
          </ac:spMkLst>
        </pc:spChg>
        <pc:spChg chg="mod">
          <ac:chgData name="Sohan Arun" userId="32dbc34a3c97686b" providerId="LiveId" clId="{41600878-F2FE-431F-935F-C132A2723C97}" dt="2025-06-17T07:10:14.338" v="1326" actId="14100"/>
          <ac:spMkLst>
            <pc:docMk/>
            <pc:sldMk cId="2172992872" sldId="290"/>
            <ac:spMk id="8" creationId="{CDF72775-2BFC-AB88-EDBA-25E8D0C93009}"/>
          </ac:spMkLst>
        </pc:spChg>
        <pc:spChg chg="mod">
          <ac:chgData name="Sohan Arun" userId="32dbc34a3c97686b" providerId="LiveId" clId="{41600878-F2FE-431F-935F-C132A2723C97}" dt="2025-06-17T06:51:53.616" v="1168" actId="1076"/>
          <ac:spMkLst>
            <pc:docMk/>
            <pc:sldMk cId="2172992872" sldId="290"/>
            <ac:spMk id="10" creationId="{F1EAF9AD-71A0-50A5-7B48-B376AB84E2FC}"/>
          </ac:spMkLst>
        </pc:spChg>
      </pc:sldChg>
      <pc:sldChg chg="addSp delSp modSp mod modNotesTx">
        <pc:chgData name="Sohan Arun" userId="32dbc34a3c97686b" providerId="LiveId" clId="{41600878-F2FE-431F-935F-C132A2723C97}" dt="2025-06-17T07:20:30.932" v="1440" actId="20577"/>
        <pc:sldMkLst>
          <pc:docMk/>
          <pc:sldMk cId="1736109189" sldId="291"/>
        </pc:sldMkLst>
        <pc:spChg chg="add mod">
          <ac:chgData name="Sohan Arun" userId="32dbc34a3c97686b" providerId="LiveId" clId="{41600878-F2FE-431F-935F-C132A2723C97}" dt="2025-06-16T13:26:24.869" v="674" actId="20577"/>
          <ac:spMkLst>
            <pc:docMk/>
            <pc:sldMk cId="1736109189" sldId="291"/>
            <ac:spMk id="2" creationId="{6258472D-1292-AF82-2BE2-A5BD1920E3D2}"/>
          </ac:spMkLst>
        </pc:spChg>
        <pc:spChg chg="mod">
          <ac:chgData name="Sohan Arun" userId="32dbc34a3c97686b" providerId="LiveId" clId="{41600878-F2FE-431F-935F-C132A2723C97}" dt="2025-06-16T13:24:09.918" v="590" actId="20577"/>
          <ac:spMkLst>
            <pc:docMk/>
            <pc:sldMk cId="1736109189" sldId="291"/>
            <ac:spMk id="3" creationId="{028595DA-9AA0-1D58-AEE0-B224309D3180}"/>
          </ac:spMkLst>
        </pc:spChg>
        <pc:spChg chg="add mod">
          <ac:chgData name="Sohan Arun" userId="32dbc34a3c97686b" providerId="LiveId" clId="{41600878-F2FE-431F-935F-C132A2723C97}" dt="2025-06-16T13:28:11.511" v="716" actId="1076"/>
          <ac:spMkLst>
            <pc:docMk/>
            <pc:sldMk cId="1736109189" sldId="291"/>
            <ac:spMk id="8" creationId="{857EE5F6-3EBF-279A-ED63-D50E85B245A7}"/>
          </ac:spMkLst>
        </pc:spChg>
        <pc:spChg chg="del">
          <ac:chgData name="Sohan Arun" userId="32dbc34a3c97686b" providerId="LiveId" clId="{41600878-F2FE-431F-935F-C132A2723C97}" dt="2025-06-16T13:26:29.022" v="675" actId="478"/>
          <ac:spMkLst>
            <pc:docMk/>
            <pc:sldMk cId="1736109189" sldId="291"/>
            <ac:spMk id="9" creationId="{68D6CF82-5BFD-0720-4D10-7AD1E4713ED6}"/>
          </ac:spMkLst>
        </pc:spChg>
      </pc:sldChg>
      <pc:sldChg chg="addSp delSp modSp mod modNotesTx">
        <pc:chgData name="Sohan Arun" userId="32dbc34a3c97686b" providerId="LiveId" clId="{41600878-F2FE-431F-935F-C132A2723C97}" dt="2025-06-17T07:16:48.849" v="1433" actId="20577"/>
        <pc:sldMkLst>
          <pc:docMk/>
          <pc:sldMk cId="1416645753" sldId="292"/>
        </pc:sldMkLst>
        <pc:spChg chg="mod">
          <ac:chgData name="Sohan Arun" userId="32dbc34a3c97686b" providerId="LiveId" clId="{41600878-F2FE-431F-935F-C132A2723C97}" dt="2025-06-14T12:38:53.652" v="151" actId="1076"/>
          <ac:spMkLst>
            <pc:docMk/>
            <pc:sldMk cId="1416645753" sldId="292"/>
            <ac:spMk id="3" creationId="{717B303C-79D5-0437-21C0-DF5EF5267498}"/>
          </ac:spMkLst>
        </pc:spChg>
        <pc:spChg chg="mod">
          <ac:chgData name="Sohan Arun" userId="32dbc34a3c97686b" providerId="LiveId" clId="{41600878-F2FE-431F-935F-C132A2723C97}" dt="2025-06-16T13:07:11.060" v="473" actId="20577"/>
          <ac:spMkLst>
            <pc:docMk/>
            <pc:sldMk cId="1416645753" sldId="292"/>
            <ac:spMk id="8" creationId="{0BF00E74-2EEE-C026-00D7-6FB54B5AAE30}"/>
          </ac:spMkLst>
        </pc:spChg>
      </pc:sldChg>
      <pc:sldChg chg="del">
        <pc:chgData name="Sohan Arun" userId="32dbc34a3c97686b" providerId="LiveId" clId="{41600878-F2FE-431F-935F-C132A2723C97}" dt="2025-06-14T12:50:41.188" v="330" actId="2696"/>
        <pc:sldMkLst>
          <pc:docMk/>
          <pc:sldMk cId="1333215701" sldId="293"/>
        </pc:sldMkLst>
      </pc:sldChg>
      <pc:sldChg chg="del">
        <pc:chgData name="Sohan Arun" userId="32dbc34a3c97686b" providerId="LiveId" clId="{41600878-F2FE-431F-935F-C132A2723C97}" dt="2025-06-14T12:56:54.080" v="378" actId="2696"/>
        <pc:sldMkLst>
          <pc:docMk/>
          <pc:sldMk cId="3192336968" sldId="294"/>
        </pc:sldMkLst>
      </pc:sldChg>
      <pc:sldChg chg="addSp delSp modSp mod modNotesTx">
        <pc:chgData name="Sohan Arun" userId="32dbc34a3c97686b" providerId="LiveId" clId="{41600878-F2FE-431F-935F-C132A2723C97}" dt="2025-06-17T07:29:28.723" v="1557" actId="20577"/>
        <pc:sldMkLst>
          <pc:docMk/>
          <pc:sldMk cId="416278668" sldId="295"/>
        </pc:sldMkLst>
        <pc:spChg chg="mod">
          <ac:chgData name="Sohan Arun" userId="32dbc34a3c97686b" providerId="LiveId" clId="{41600878-F2FE-431F-935F-C132A2723C97}" dt="2025-06-14T12:57:16.971" v="416" actId="6549"/>
          <ac:spMkLst>
            <pc:docMk/>
            <pc:sldMk cId="416278668" sldId="295"/>
            <ac:spMk id="3" creationId="{72CF8AF8-EC0B-C22D-B7CE-5AE8497A4DD3}"/>
          </ac:spMkLst>
        </pc:spChg>
        <pc:spChg chg="add mod">
          <ac:chgData name="Sohan Arun" userId="32dbc34a3c97686b" providerId="LiveId" clId="{41600878-F2FE-431F-935F-C132A2723C97}" dt="2025-06-17T07:26:40.612" v="1544" actId="1076"/>
          <ac:spMkLst>
            <pc:docMk/>
            <pc:sldMk cId="416278668" sldId="295"/>
            <ac:spMk id="4" creationId="{62522DAD-FFBB-7464-7052-F5582C89D844}"/>
          </ac:spMkLst>
        </pc:spChg>
      </pc:sldChg>
      <pc:sldChg chg="addSp delSp modSp del mod">
        <pc:chgData name="Sohan Arun" userId="32dbc34a3c97686b" providerId="LiveId" clId="{41600878-F2FE-431F-935F-C132A2723C97}" dt="2025-06-17T07:50:19.517" v="1717" actId="2696"/>
        <pc:sldMkLst>
          <pc:docMk/>
          <pc:sldMk cId="2792347618" sldId="296"/>
        </pc:sldMkLst>
        <pc:spChg chg="mod">
          <ac:chgData name="Sohan Arun" userId="32dbc34a3c97686b" providerId="LiveId" clId="{41600878-F2FE-431F-935F-C132A2723C97}" dt="2025-06-16T13:42:04.346" v="769" actId="20577"/>
          <ac:spMkLst>
            <pc:docMk/>
            <pc:sldMk cId="2792347618" sldId="296"/>
            <ac:spMk id="3" creationId="{FF519BBD-E0F7-C223-D946-54E0C94F7691}"/>
          </ac:spMkLst>
        </pc:spChg>
      </pc:sldChg>
      <pc:sldChg chg="del">
        <pc:chgData name="Sohan Arun" userId="32dbc34a3c97686b" providerId="LiveId" clId="{41600878-F2FE-431F-935F-C132A2723C97}" dt="2025-06-14T12:59:15.989" v="435" actId="2696"/>
        <pc:sldMkLst>
          <pc:docMk/>
          <pc:sldMk cId="1661991994" sldId="297"/>
        </pc:sldMkLst>
      </pc:sldChg>
      <pc:sldChg chg="del modNotesTx">
        <pc:chgData name="Sohan Arun" userId="32dbc34a3c97686b" providerId="LiveId" clId="{41600878-F2FE-431F-935F-C132A2723C97}" dt="2025-06-14T13:01:09.708" v="437" actId="2696"/>
        <pc:sldMkLst>
          <pc:docMk/>
          <pc:sldMk cId="4041631419" sldId="298"/>
        </pc:sldMkLst>
      </pc:sldChg>
      <pc:sldChg chg="modSp mod">
        <pc:chgData name="Sohan Arun" userId="32dbc34a3c97686b" providerId="LiveId" clId="{41600878-F2FE-431F-935F-C132A2723C97}" dt="2025-06-17T08:43:11.241" v="1728" actId="14100"/>
        <pc:sldMkLst>
          <pc:docMk/>
          <pc:sldMk cId="3000013249" sldId="299"/>
        </pc:sldMkLst>
        <pc:spChg chg="mod">
          <ac:chgData name="Sohan Arun" userId="32dbc34a3c97686b" providerId="LiveId" clId="{41600878-F2FE-431F-935F-C132A2723C97}" dt="2025-06-17T08:43:11.241" v="1728" actId="14100"/>
          <ac:spMkLst>
            <pc:docMk/>
            <pc:sldMk cId="3000013249" sldId="299"/>
            <ac:spMk id="3" creationId="{54F6911F-7E25-340F-A05B-81126FC097DA}"/>
          </ac:spMkLst>
        </pc:spChg>
      </pc:sldChg>
      <pc:sldChg chg="addSp delSp modSp add del mod">
        <pc:chgData name="Sohan Arun" userId="32dbc34a3c97686b" providerId="LiveId" clId="{41600878-F2FE-431F-935F-C132A2723C97}" dt="2025-06-16T13:30:03.292" v="717" actId="2696"/>
        <pc:sldMkLst>
          <pc:docMk/>
          <pc:sldMk cId="1429437376" sldId="300"/>
        </pc:sldMkLst>
      </pc:sldChg>
      <pc:sldChg chg="addSp delSp modSp add mod modNotesTx">
        <pc:chgData name="Sohan Arun" userId="32dbc34a3c97686b" providerId="LiveId" clId="{41600878-F2FE-431F-935F-C132A2723C97}" dt="2025-06-17T07:26:31.172" v="1543" actId="20577"/>
        <pc:sldMkLst>
          <pc:docMk/>
          <pc:sldMk cId="3193068179" sldId="301"/>
        </pc:sldMkLst>
        <pc:spChg chg="mod">
          <ac:chgData name="Sohan Arun" userId="32dbc34a3c97686b" providerId="LiveId" clId="{41600878-F2FE-431F-935F-C132A2723C97}" dt="2025-06-17T07:20:44.102" v="1441" actId="1076"/>
          <ac:spMkLst>
            <pc:docMk/>
            <pc:sldMk cId="3193068179" sldId="301"/>
            <ac:spMk id="3" creationId="{09BF4446-1FB1-56B8-DE01-29214723E701}"/>
          </ac:spMkLst>
        </pc:spChg>
        <pc:spChg chg="add mod">
          <ac:chgData name="Sohan Arun" userId="32dbc34a3c97686b" providerId="LiveId" clId="{41600878-F2FE-431F-935F-C132A2723C97}" dt="2025-06-16T13:39:24.178" v="762" actId="1076"/>
          <ac:spMkLst>
            <pc:docMk/>
            <pc:sldMk cId="3193068179" sldId="301"/>
            <ac:spMk id="6" creationId="{362547B9-38EE-3F6F-1C5B-1816C8056867}"/>
          </ac:spMkLst>
        </pc:spChg>
        <pc:spChg chg="add mod">
          <ac:chgData name="Sohan Arun" userId="32dbc34a3c97686b" providerId="LiveId" clId="{41600878-F2FE-431F-935F-C132A2723C97}" dt="2025-06-17T07:20:51.417" v="1443" actId="20577"/>
          <ac:spMkLst>
            <pc:docMk/>
            <pc:sldMk cId="3193068179" sldId="301"/>
            <ac:spMk id="7" creationId="{53C2BE05-D70D-289E-2CBA-46DF4CE33A6F}"/>
          </ac:spMkLst>
        </pc:spChg>
      </pc:sldChg>
      <pc:sldChg chg="addSp delSp modSp add del mod">
        <pc:chgData name="Sohan Arun" userId="32dbc34a3c97686b" providerId="LiveId" clId="{41600878-F2FE-431F-935F-C132A2723C97}" dt="2025-06-16T13:39:58.303" v="766" actId="2696"/>
        <pc:sldMkLst>
          <pc:docMk/>
          <pc:sldMk cId="1061506564" sldId="302"/>
        </pc:sldMkLst>
      </pc:sldChg>
      <pc:sldChg chg="modSp add mod modNotesTx">
        <pc:chgData name="Sohan Arun" userId="32dbc34a3c97686b" providerId="LiveId" clId="{41600878-F2FE-431F-935F-C132A2723C97}" dt="2025-06-17T06:59:57.540" v="1275" actId="20577"/>
        <pc:sldMkLst>
          <pc:docMk/>
          <pc:sldMk cId="1167307237" sldId="303"/>
        </pc:sldMkLst>
        <pc:spChg chg="mod">
          <ac:chgData name="Sohan Arun" userId="32dbc34a3c97686b" providerId="LiveId" clId="{41600878-F2FE-431F-935F-C132A2723C97}" dt="2025-06-17T06:52:08.747" v="1172" actId="1076"/>
          <ac:spMkLst>
            <pc:docMk/>
            <pc:sldMk cId="1167307237" sldId="303"/>
            <ac:spMk id="5" creationId="{1F030FC1-DB62-FB3F-A82E-F4A4374779FF}"/>
          </ac:spMkLst>
        </pc:spChg>
        <pc:spChg chg="mod">
          <ac:chgData name="Sohan Arun" userId="32dbc34a3c97686b" providerId="LiveId" clId="{41600878-F2FE-431F-935F-C132A2723C97}" dt="2025-06-17T06:52:12.249" v="1173" actId="1076"/>
          <ac:spMkLst>
            <pc:docMk/>
            <pc:sldMk cId="1167307237" sldId="303"/>
            <ac:spMk id="19" creationId="{2CD3AD24-4908-E8DA-D839-5345E3D248B2}"/>
          </ac:spMkLst>
        </pc:spChg>
      </pc:sldChg>
      <pc:sldChg chg="addSp delSp modSp add mod modNotesTx">
        <pc:chgData name="Sohan Arun" userId="32dbc34a3c97686b" providerId="LiveId" clId="{41600878-F2FE-431F-935F-C132A2723C97}" dt="2025-06-17T07:36:29.251" v="1637" actId="20577"/>
        <pc:sldMkLst>
          <pc:docMk/>
          <pc:sldMk cId="158114637" sldId="304"/>
        </pc:sldMkLst>
        <pc:spChg chg="mod">
          <ac:chgData name="Sohan Arun" userId="32dbc34a3c97686b" providerId="LiveId" clId="{41600878-F2FE-431F-935F-C132A2723C97}" dt="2025-06-16T13:42:15.799" v="777" actId="20577"/>
          <ac:spMkLst>
            <pc:docMk/>
            <pc:sldMk cId="158114637" sldId="304"/>
            <ac:spMk id="3" creationId="{00701739-37F7-6724-6926-543D016423D0}"/>
          </ac:spMkLst>
        </pc:spChg>
        <pc:spChg chg="mod">
          <ac:chgData name="Sohan Arun" userId="32dbc34a3c97686b" providerId="LiveId" clId="{41600878-F2FE-431F-935F-C132A2723C97}" dt="2025-06-16T13:46:50.591" v="837" actId="1076"/>
          <ac:spMkLst>
            <pc:docMk/>
            <pc:sldMk cId="158114637" sldId="304"/>
            <ac:spMk id="4" creationId="{833D47E4-5254-447F-675B-BFBACE740588}"/>
          </ac:spMkLst>
        </pc:spChg>
        <pc:spChg chg="add mod">
          <ac:chgData name="Sohan Arun" userId="32dbc34a3c97686b" providerId="LiveId" clId="{41600878-F2FE-431F-935F-C132A2723C97}" dt="2025-06-16T13:52:38.230" v="940" actId="21"/>
          <ac:spMkLst>
            <pc:docMk/>
            <pc:sldMk cId="158114637" sldId="304"/>
            <ac:spMk id="6" creationId="{80958BA7-C1E6-4381-B314-F2B671A35AF0}"/>
          </ac:spMkLst>
        </pc:spChg>
        <pc:spChg chg="mod">
          <ac:chgData name="Sohan Arun" userId="32dbc34a3c97686b" providerId="LiveId" clId="{41600878-F2FE-431F-935F-C132A2723C97}" dt="2025-06-16T13:53:41.763" v="950" actId="1076"/>
          <ac:spMkLst>
            <pc:docMk/>
            <pc:sldMk cId="158114637" sldId="304"/>
            <ac:spMk id="9" creationId="{D9C651E3-3ADC-D807-A054-8BD698930C56}"/>
          </ac:spMkLst>
        </pc:spChg>
        <pc:graphicFrameChg chg="add mod">
          <ac:chgData name="Sohan Arun" userId="32dbc34a3c97686b" providerId="LiveId" clId="{41600878-F2FE-431F-935F-C132A2723C97}" dt="2025-06-16T13:49:51.298" v="889"/>
          <ac:graphicFrameMkLst>
            <pc:docMk/>
            <pc:sldMk cId="158114637" sldId="304"/>
            <ac:graphicFrameMk id="2" creationId="{16392E6E-07DB-6AE8-93EE-8788608FF8C1}"/>
          </ac:graphicFrameMkLst>
        </pc:graphicFrameChg>
        <pc:graphicFrameChg chg="add mod modGraphic">
          <ac:chgData name="Sohan Arun" userId="32dbc34a3c97686b" providerId="LiveId" clId="{41600878-F2FE-431F-935F-C132A2723C97}" dt="2025-06-17T07:32:22.350" v="1620" actId="20577"/>
          <ac:graphicFrameMkLst>
            <pc:docMk/>
            <pc:sldMk cId="158114637" sldId="304"/>
            <ac:graphicFrameMk id="7" creationId="{9BFF3010-4BF2-6B35-F86B-56E3916B77CE}"/>
          </ac:graphicFrameMkLst>
        </pc:graphicFrameChg>
        <pc:picChg chg="add mod">
          <ac:chgData name="Sohan Arun" userId="32dbc34a3c97686b" providerId="LiveId" clId="{41600878-F2FE-431F-935F-C132A2723C97}" dt="2025-06-17T07:32:41.549" v="1624" actId="1076"/>
          <ac:picMkLst>
            <pc:docMk/>
            <pc:sldMk cId="158114637" sldId="304"/>
            <ac:picMk id="5" creationId="{B67E7E21-6A71-6256-299C-53D335DDFA63}"/>
          </ac:picMkLst>
        </pc:picChg>
        <pc:picChg chg="add del mod">
          <ac:chgData name="Sohan Arun" userId="32dbc34a3c97686b" providerId="LiveId" clId="{41600878-F2FE-431F-935F-C132A2723C97}" dt="2025-06-17T07:32:34.568" v="1621" actId="478"/>
          <ac:picMkLst>
            <pc:docMk/>
            <pc:sldMk cId="158114637" sldId="304"/>
            <ac:picMk id="8" creationId="{45E2A056-EC3F-FC40-16FC-9B98D013B861}"/>
          </ac:picMkLst>
        </pc:picChg>
      </pc:sldChg>
      <pc:sldChg chg="addSp delSp modSp add del mod modNotesTx">
        <pc:chgData name="Sohan Arun" userId="32dbc34a3c97686b" providerId="LiveId" clId="{41600878-F2FE-431F-935F-C132A2723C97}" dt="2025-06-17T07:40:31.733" v="1655" actId="20577"/>
        <pc:sldMkLst>
          <pc:docMk/>
          <pc:sldMk cId="4033357571" sldId="305"/>
        </pc:sldMkLst>
        <pc:spChg chg="mod">
          <ac:chgData name="Sohan Arun" userId="32dbc34a3c97686b" providerId="LiveId" clId="{41600878-F2FE-431F-935F-C132A2723C97}" dt="2025-06-16T13:47:04.954" v="877" actId="20577"/>
          <ac:spMkLst>
            <pc:docMk/>
            <pc:sldMk cId="4033357571" sldId="305"/>
            <ac:spMk id="4" creationId="{DBAA8CAE-5283-663E-7D1F-A2CFDA7BAB05}"/>
          </ac:spMkLst>
        </pc:spChg>
        <pc:graphicFrameChg chg="add mod modGraphic">
          <ac:chgData name="Sohan Arun" userId="32dbc34a3c97686b" providerId="LiveId" clId="{41600878-F2FE-431F-935F-C132A2723C97}" dt="2025-06-17T07:37:33.320" v="1640"/>
          <ac:graphicFrameMkLst>
            <pc:docMk/>
            <pc:sldMk cId="4033357571" sldId="305"/>
            <ac:graphicFrameMk id="2" creationId="{2BDE611E-2B22-D905-26F1-B1DE9A6F7D30}"/>
          </ac:graphicFrameMkLst>
        </pc:graphicFrameChg>
        <pc:picChg chg="add del mod">
          <ac:chgData name="Sohan Arun" userId="32dbc34a3c97686b" providerId="LiveId" clId="{41600878-F2FE-431F-935F-C132A2723C97}" dt="2025-06-16T13:55:26.415" v="958" actId="21"/>
          <ac:picMkLst>
            <pc:docMk/>
            <pc:sldMk cId="4033357571" sldId="305"/>
            <ac:picMk id="6" creationId="{45E2A056-EC3F-FC40-16FC-9B98D013B861}"/>
          </ac:picMkLst>
        </pc:picChg>
        <pc:picChg chg="add mod">
          <ac:chgData name="Sohan Arun" userId="32dbc34a3c97686b" providerId="LiveId" clId="{41600878-F2FE-431F-935F-C132A2723C97}" dt="2025-06-17T07:38:24.490" v="1643" actId="14100"/>
          <ac:picMkLst>
            <pc:docMk/>
            <pc:sldMk cId="4033357571" sldId="305"/>
            <ac:picMk id="8" creationId="{F99093A2-F3CD-A4B8-D4FC-807C9A5D8CB1}"/>
          </ac:picMkLst>
        </pc:picChg>
      </pc:sldChg>
      <pc:sldChg chg="addSp delSp modSp add mod modNotesTx">
        <pc:chgData name="Sohan Arun" userId="32dbc34a3c97686b" providerId="LiveId" clId="{41600878-F2FE-431F-935F-C132A2723C97}" dt="2025-06-17T07:50:08.786" v="1716" actId="20577"/>
        <pc:sldMkLst>
          <pc:docMk/>
          <pc:sldMk cId="2484058261" sldId="306"/>
        </pc:sldMkLst>
        <pc:spChg chg="mod">
          <ac:chgData name="Sohan Arun" userId="32dbc34a3c97686b" providerId="LiveId" clId="{41600878-F2FE-431F-935F-C132A2723C97}" dt="2025-06-16T13:47:41.129" v="888" actId="20577"/>
          <ac:spMkLst>
            <pc:docMk/>
            <pc:sldMk cId="2484058261" sldId="306"/>
            <ac:spMk id="4" creationId="{D153D29F-00DA-EF23-66C0-3A8944CE5897}"/>
          </ac:spMkLst>
        </pc:spChg>
        <pc:graphicFrameChg chg="add mod modGraphic">
          <ac:chgData name="Sohan Arun" userId="32dbc34a3c97686b" providerId="LiveId" clId="{41600878-F2FE-431F-935F-C132A2723C97}" dt="2025-06-17T07:47:05.297" v="1700"/>
          <ac:graphicFrameMkLst>
            <pc:docMk/>
            <pc:sldMk cId="2484058261" sldId="306"/>
            <ac:graphicFrameMk id="2" creationId="{7C1BE982-B3A3-D6AD-C9F5-8691D0C4D108}"/>
          </ac:graphicFrameMkLst>
        </pc:graphicFrameChg>
        <pc:picChg chg="add del mod">
          <ac:chgData name="Sohan Arun" userId="32dbc34a3c97686b" providerId="LiveId" clId="{41600878-F2FE-431F-935F-C132A2723C97}" dt="2025-06-17T07:43:56.322" v="1687" actId="478"/>
          <ac:picMkLst>
            <pc:docMk/>
            <pc:sldMk cId="2484058261" sldId="306"/>
            <ac:picMk id="6" creationId="{51F3291A-C920-A24A-5969-36A9744DDC35}"/>
          </ac:picMkLst>
        </pc:picChg>
        <pc:picChg chg="add del mod">
          <ac:chgData name="Sohan Arun" userId="32dbc34a3c97686b" providerId="LiveId" clId="{41600878-F2FE-431F-935F-C132A2723C97}" dt="2025-06-17T07:43:57.960" v="1688" actId="478"/>
          <ac:picMkLst>
            <pc:docMk/>
            <pc:sldMk cId="2484058261" sldId="306"/>
            <ac:picMk id="8" creationId="{8460E149-20C4-7052-1CD7-3C5F444F6B6A}"/>
          </ac:picMkLst>
        </pc:picChg>
        <pc:picChg chg="add del mod">
          <ac:chgData name="Sohan Arun" userId="32dbc34a3c97686b" providerId="LiveId" clId="{41600878-F2FE-431F-935F-C132A2723C97}" dt="2025-06-17T07:43:48.778" v="1686" actId="478"/>
          <ac:picMkLst>
            <pc:docMk/>
            <pc:sldMk cId="2484058261" sldId="306"/>
            <ac:picMk id="11" creationId="{30455F41-6278-1422-1D8E-459908E1D0DE}"/>
          </ac:picMkLst>
        </pc:picChg>
        <pc:picChg chg="add mod">
          <ac:chgData name="Sohan Arun" userId="32dbc34a3c97686b" providerId="LiveId" clId="{41600878-F2FE-431F-935F-C132A2723C97}" dt="2025-06-17T07:44:09.818" v="1691" actId="1076"/>
          <ac:picMkLst>
            <pc:docMk/>
            <pc:sldMk cId="2484058261" sldId="306"/>
            <ac:picMk id="13" creationId="{6762C155-D6D2-4ECC-03D3-0245696513A6}"/>
          </ac:picMkLst>
        </pc:picChg>
      </pc:sldChg>
    </pc:docChg>
  </pc:docChgLst>
  <pc:docChgLst>
    <pc:chgData name="Sohan Arun" userId="32dbc34a3c97686b" providerId="LiveId" clId="{7850CFD5-E962-4421-B08C-835DAEF35DE2}"/>
    <pc:docChg chg="undo redo custSel addSld delSld modSld sldOrd">
      <pc:chgData name="Sohan Arun" userId="32dbc34a3c97686b" providerId="LiveId" clId="{7850CFD5-E962-4421-B08C-835DAEF35DE2}" dt="2025-05-30T09:13:40.988" v="1149" actId="20577"/>
      <pc:docMkLst>
        <pc:docMk/>
      </pc:docMkLst>
      <pc:sldChg chg="del">
        <pc:chgData name="Sohan Arun" userId="32dbc34a3c97686b" providerId="LiveId" clId="{7850CFD5-E962-4421-B08C-835DAEF35DE2}" dt="2025-05-28T07:49:59.618" v="574" actId="2696"/>
        <pc:sldMkLst>
          <pc:docMk/>
          <pc:sldMk cId="1742861620" sldId="266"/>
        </pc:sldMkLst>
      </pc:sldChg>
      <pc:sldChg chg="del">
        <pc:chgData name="Sohan Arun" userId="32dbc34a3c97686b" providerId="LiveId" clId="{7850CFD5-E962-4421-B08C-835DAEF35DE2}" dt="2025-05-28T07:50:15.126" v="577" actId="2696"/>
        <pc:sldMkLst>
          <pc:docMk/>
          <pc:sldMk cId="1969787568" sldId="271"/>
        </pc:sldMkLst>
      </pc:sldChg>
      <pc:sldChg chg="modNotesTx">
        <pc:chgData name="Sohan Arun" userId="32dbc34a3c97686b" providerId="LiveId" clId="{7850CFD5-E962-4421-B08C-835DAEF35DE2}" dt="2025-05-30T09:13:40.988" v="1149" actId="20577"/>
        <pc:sldMkLst>
          <pc:docMk/>
          <pc:sldMk cId="608796113" sldId="278"/>
        </pc:sldMkLst>
      </pc:sldChg>
      <pc:sldChg chg="addSp delSp modSp del mod modNotesTx">
        <pc:chgData name="Sohan Arun" userId="32dbc34a3c97686b" providerId="LiveId" clId="{7850CFD5-E962-4421-B08C-835DAEF35DE2}" dt="2025-05-27T14:34:48.697" v="185" actId="47"/>
        <pc:sldMkLst>
          <pc:docMk/>
          <pc:sldMk cId="103458723" sldId="281"/>
        </pc:sldMkLst>
      </pc:sldChg>
      <pc:sldChg chg="del">
        <pc:chgData name="Sohan Arun" userId="32dbc34a3c97686b" providerId="LiveId" clId="{7850CFD5-E962-4421-B08C-835DAEF35DE2}" dt="2025-05-28T07:49:57.082" v="573" actId="2696"/>
        <pc:sldMkLst>
          <pc:docMk/>
          <pc:sldMk cId="636929804" sldId="282"/>
        </pc:sldMkLst>
      </pc:sldChg>
      <pc:sldChg chg="del">
        <pc:chgData name="Sohan Arun" userId="32dbc34a3c97686b" providerId="LiveId" clId="{7850CFD5-E962-4421-B08C-835DAEF35DE2}" dt="2025-05-28T07:50:02.375" v="575" actId="2696"/>
        <pc:sldMkLst>
          <pc:docMk/>
          <pc:sldMk cId="1658164610" sldId="283"/>
        </pc:sldMkLst>
      </pc:sldChg>
      <pc:sldChg chg="addSp delSp modSp mod ord modNotesTx">
        <pc:chgData name="Sohan Arun" userId="32dbc34a3c97686b" providerId="LiveId" clId="{7850CFD5-E962-4421-B08C-835DAEF35DE2}" dt="2025-05-30T07:44:46.059" v="1055" actId="20577"/>
        <pc:sldMkLst>
          <pc:docMk/>
          <pc:sldMk cId="2403577982" sldId="284"/>
        </pc:sldMkLst>
      </pc:sldChg>
      <pc:sldChg chg="del">
        <pc:chgData name="Sohan Arun" userId="32dbc34a3c97686b" providerId="LiveId" clId="{7850CFD5-E962-4421-B08C-835DAEF35DE2}" dt="2025-05-28T07:50:05.562" v="576" actId="2696"/>
        <pc:sldMkLst>
          <pc:docMk/>
          <pc:sldMk cId="2791821786" sldId="285"/>
        </pc:sldMkLst>
      </pc:sldChg>
      <pc:sldChg chg="addSp delSp modSp add del mod modNotesTx">
        <pc:chgData name="Sohan Arun" userId="32dbc34a3c97686b" providerId="LiveId" clId="{7850CFD5-E962-4421-B08C-835DAEF35DE2}" dt="2025-05-27T14:45:08.738" v="215" actId="2696"/>
        <pc:sldMkLst>
          <pc:docMk/>
          <pc:sldMk cId="4029927877" sldId="286"/>
        </pc:sldMkLst>
      </pc:sldChg>
      <pc:sldChg chg="addSp delSp modSp add del mod modNotesTx">
        <pc:chgData name="Sohan Arun" userId="32dbc34a3c97686b" providerId="LiveId" clId="{7850CFD5-E962-4421-B08C-835DAEF35DE2}" dt="2025-05-27T14:47:14.738" v="242" actId="2696"/>
        <pc:sldMkLst>
          <pc:docMk/>
          <pc:sldMk cId="1943434417" sldId="287"/>
        </pc:sldMkLst>
      </pc:sldChg>
      <pc:sldChg chg="addSp delSp modSp add del mod">
        <pc:chgData name="Sohan Arun" userId="32dbc34a3c97686b" providerId="LiveId" clId="{7850CFD5-E962-4421-B08C-835DAEF35DE2}" dt="2025-05-27T14:50:26.767" v="279" actId="2696"/>
        <pc:sldMkLst>
          <pc:docMk/>
          <pc:sldMk cId="2332564179" sldId="288"/>
        </pc:sldMkLst>
      </pc:sldChg>
      <pc:sldChg chg="addSp delSp modSp add mod modNotesTx">
        <pc:chgData name="Sohan Arun" userId="32dbc34a3c97686b" providerId="LiveId" clId="{7850CFD5-E962-4421-B08C-835DAEF35DE2}" dt="2025-05-30T07:44:55.801" v="1057" actId="20577"/>
        <pc:sldMkLst>
          <pc:docMk/>
          <pc:sldMk cId="67555161" sldId="289"/>
        </pc:sldMkLst>
      </pc:sldChg>
      <pc:sldChg chg="addSp delSp modSp add mod modNotesTx">
        <pc:chgData name="Sohan Arun" userId="32dbc34a3c97686b" providerId="LiveId" clId="{7850CFD5-E962-4421-B08C-835DAEF35DE2}" dt="2025-05-30T07:45:25.613" v="1071" actId="20577"/>
        <pc:sldMkLst>
          <pc:docMk/>
          <pc:sldMk cId="2172992872" sldId="290"/>
        </pc:sldMkLst>
        <pc:spChg chg="add mod">
          <ac:chgData name="Sohan Arun" userId="32dbc34a3c97686b" providerId="LiveId" clId="{7850CFD5-E962-4421-B08C-835DAEF35DE2}" dt="2025-05-27T14:45:36.833" v="223" actId="108"/>
          <ac:spMkLst>
            <pc:docMk/>
            <pc:sldMk cId="2172992872" sldId="290"/>
            <ac:spMk id="4" creationId="{85BF4F72-666F-661A-AD7F-1883EDD00198}"/>
          </ac:spMkLst>
        </pc:spChg>
        <pc:spChg chg="add mod">
          <ac:chgData name="Sohan Arun" userId="32dbc34a3c97686b" providerId="LiveId" clId="{7850CFD5-E962-4421-B08C-835DAEF35DE2}" dt="2025-05-27T14:49:40.083" v="272" actId="1076"/>
          <ac:spMkLst>
            <pc:docMk/>
            <pc:sldMk cId="2172992872" sldId="290"/>
            <ac:spMk id="8" creationId="{CDF72775-2BFC-AB88-EDBA-25E8D0C93009}"/>
          </ac:spMkLst>
        </pc:spChg>
        <pc:spChg chg="add mod">
          <ac:chgData name="Sohan Arun" userId="32dbc34a3c97686b" providerId="LiveId" clId="{7850CFD5-E962-4421-B08C-835DAEF35DE2}" dt="2025-05-27T14:49:37.381" v="271" actId="1076"/>
          <ac:spMkLst>
            <pc:docMk/>
            <pc:sldMk cId="2172992872" sldId="290"/>
            <ac:spMk id="10" creationId="{F1EAF9AD-71A0-50A5-7B48-B376AB84E2FC}"/>
          </ac:spMkLst>
        </pc:spChg>
      </pc:sldChg>
      <pc:sldChg chg="addSp delSp modSp add mod modNotesTx">
        <pc:chgData name="Sohan Arun" userId="32dbc34a3c97686b" providerId="LiveId" clId="{7850CFD5-E962-4421-B08C-835DAEF35DE2}" dt="2025-05-30T07:19:29.891" v="1040" actId="20577"/>
        <pc:sldMkLst>
          <pc:docMk/>
          <pc:sldMk cId="1736109189" sldId="291"/>
        </pc:sldMkLst>
        <pc:spChg chg="add mod">
          <ac:chgData name="Sohan Arun" userId="32dbc34a3c97686b" providerId="LiveId" clId="{7850CFD5-E962-4421-B08C-835DAEF35DE2}" dt="2025-05-27T14:50:08.543" v="278" actId="1076"/>
          <ac:spMkLst>
            <pc:docMk/>
            <pc:sldMk cId="1736109189" sldId="291"/>
            <ac:spMk id="3" creationId="{028595DA-9AA0-1D58-AEE0-B224309D3180}"/>
          </ac:spMkLst>
        </pc:spChg>
      </pc:sldChg>
      <pc:sldChg chg="addSp delSp modSp add mod modNotesTx">
        <pc:chgData name="Sohan Arun" userId="32dbc34a3c97686b" providerId="LiveId" clId="{7850CFD5-E962-4421-B08C-835DAEF35DE2}" dt="2025-05-30T07:47:04.617" v="1096" actId="6549"/>
        <pc:sldMkLst>
          <pc:docMk/>
          <pc:sldMk cId="1416645753" sldId="292"/>
        </pc:sldMkLst>
        <pc:spChg chg="add del mod">
          <ac:chgData name="Sohan Arun" userId="32dbc34a3c97686b" providerId="LiveId" clId="{7850CFD5-E962-4421-B08C-835DAEF35DE2}" dt="2025-05-27T15:10:29.826" v="322" actId="6549"/>
          <ac:spMkLst>
            <pc:docMk/>
            <pc:sldMk cId="1416645753" sldId="292"/>
            <ac:spMk id="3" creationId="{717B303C-79D5-0437-21C0-DF5EF5267498}"/>
          </ac:spMkLst>
        </pc:spChg>
        <pc:spChg chg="mod">
          <ac:chgData name="Sohan Arun" userId="32dbc34a3c97686b" providerId="LiveId" clId="{7850CFD5-E962-4421-B08C-835DAEF35DE2}" dt="2025-05-27T15:30:55.342" v="395" actId="20577"/>
          <ac:spMkLst>
            <pc:docMk/>
            <pc:sldMk cId="1416645753" sldId="292"/>
            <ac:spMk id="8" creationId="{0BF00E74-2EEE-C026-00D7-6FB54B5AAE30}"/>
          </ac:spMkLst>
        </pc:spChg>
        <pc:spChg chg="add del mod">
          <ac:chgData name="Sohan Arun" userId="32dbc34a3c97686b" providerId="LiveId" clId="{7850CFD5-E962-4421-B08C-835DAEF35DE2}" dt="2025-05-27T15:03:21.604" v="295" actId="478"/>
          <ac:spMkLst>
            <pc:docMk/>
            <pc:sldMk cId="1416645753" sldId="292"/>
            <ac:spMk id="10" creationId="{DA3CCBE5-A453-D838-1DCE-B9DCFD0B755E}"/>
          </ac:spMkLst>
        </pc:spChg>
      </pc:sldChg>
      <pc:sldChg chg="add del">
        <pc:chgData name="Sohan Arun" userId="32dbc34a3c97686b" providerId="LiveId" clId="{7850CFD5-E962-4421-B08C-835DAEF35DE2}" dt="2025-05-27T14:58:49.704" v="285" actId="2696"/>
        <pc:sldMkLst>
          <pc:docMk/>
          <pc:sldMk cId="3209111674" sldId="292"/>
        </pc:sldMkLst>
      </pc:sldChg>
      <pc:sldChg chg="addSp delSp modSp add mod modNotesTx">
        <pc:chgData name="Sohan Arun" userId="32dbc34a3c97686b" providerId="LiveId" clId="{7850CFD5-E962-4421-B08C-835DAEF35DE2}" dt="2025-05-30T07:49:24.800" v="1098" actId="20577"/>
        <pc:sldMkLst>
          <pc:docMk/>
          <pc:sldMk cId="1333215701" sldId="293"/>
        </pc:sldMkLst>
      </pc:sldChg>
      <pc:sldChg chg="addSp delSp modSp add mod modNotesTx">
        <pc:chgData name="Sohan Arun" userId="32dbc34a3c97686b" providerId="LiveId" clId="{7850CFD5-E962-4421-B08C-835DAEF35DE2}" dt="2025-05-30T08:48:35.555" v="1123" actId="20577"/>
        <pc:sldMkLst>
          <pc:docMk/>
          <pc:sldMk cId="3192336968" sldId="294"/>
        </pc:sldMkLst>
      </pc:sldChg>
      <pc:sldChg chg="addSp delSp modSp add mod modNotesTx">
        <pc:chgData name="Sohan Arun" userId="32dbc34a3c97686b" providerId="LiveId" clId="{7850CFD5-E962-4421-B08C-835DAEF35DE2}" dt="2025-05-29T16:32:34.260" v="928" actId="6549"/>
        <pc:sldMkLst>
          <pc:docMk/>
          <pc:sldMk cId="416278668" sldId="295"/>
        </pc:sldMkLst>
        <pc:spChg chg="mod">
          <ac:chgData name="Sohan Arun" userId="32dbc34a3c97686b" providerId="LiveId" clId="{7850CFD5-E962-4421-B08C-835DAEF35DE2}" dt="2025-05-28T07:37:14.497" v="483" actId="1076"/>
          <ac:spMkLst>
            <pc:docMk/>
            <pc:sldMk cId="416278668" sldId="295"/>
            <ac:spMk id="3" creationId="{72CF8AF8-EC0B-C22D-B7CE-5AE8497A4DD3}"/>
          </ac:spMkLst>
        </pc:spChg>
      </pc:sldChg>
      <pc:sldChg chg="addSp delSp modSp add mod">
        <pc:chgData name="Sohan Arun" userId="32dbc34a3c97686b" providerId="LiveId" clId="{7850CFD5-E962-4421-B08C-835DAEF35DE2}" dt="2025-05-28T07:42:48.870" v="499" actId="1076"/>
        <pc:sldMkLst>
          <pc:docMk/>
          <pc:sldMk cId="2792347618" sldId="296"/>
        </pc:sldMkLst>
      </pc:sldChg>
      <pc:sldChg chg="addSp delSp modSp add mod">
        <pc:chgData name="Sohan Arun" userId="32dbc34a3c97686b" providerId="LiveId" clId="{7850CFD5-E962-4421-B08C-835DAEF35DE2}" dt="2025-05-28T07:43:45.174" v="506" actId="1076"/>
        <pc:sldMkLst>
          <pc:docMk/>
          <pc:sldMk cId="1661991994" sldId="297"/>
        </pc:sldMkLst>
      </pc:sldChg>
      <pc:sldChg chg="addSp delSp modSp add mod modNotesTx">
        <pc:chgData name="Sohan Arun" userId="32dbc34a3c97686b" providerId="LiveId" clId="{7850CFD5-E962-4421-B08C-835DAEF35DE2}" dt="2025-05-29T16:38:49.665" v="1037" actId="20577"/>
        <pc:sldMkLst>
          <pc:docMk/>
          <pc:sldMk cId="4041631419" sldId="298"/>
        </pc:sldMkLst>
      </pc:sldChg>
      <pc:sldChg chg="delSp modSp add mod modNotesTx">
        <pc:chgData name="Sohan Arun" userId="32dbc34a3c97686b" providerId="LiveId" clId="{7850CFD5-E962-4421-B08C-835DAEF35DE2}" dt="2025-05-28T07:49:44.588" v="572" actId="1076"/>
        <pc:sldMkLst>
          <pc:docMk/>
          <pc:sldMk cId="3000013249" sldId="299"/>
        </pc:sldMkLst>
        <pc:spChg chg="mod">
          <ac:chgData name="Sohan Arun" userId="32dbc34a3c97686b" providerId="LiveId" clId="{7850CFD5-E962-4421-B08C-835DAEF35DE2}" dt="2025-05-28T07:49:44.588" v="572" actId="1076"/>
          <ac:spMkLst>
            <pc:docMk/>
            <pc:sldMk cId="3000013249" sldId="299"/>
            <ac:spMk id="3" creationId="{54F6911F-7E25-340F-A05B-81126FC097D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6/17/2025</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6/17/2025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Good morning, everyone. </a:t>
            </a:r>
          </a:p>
          <a:p>
            <a:endParaRPr lang="en-GB" dirty="0"/>
          </a:p>
          <a:p>
            <a:r>
              <a:rPr lang="en-GB" dirty="0"/>
              <a:t>I’m Sohan Arun, and I’ll be presenting my work on </a:t>
            </a:r>
            <a:r>
              <a:rPr lang="en-GB" b="1" dirty="0"/>
              <a:t>Generalizing Remaining Useful Life Prediction of Turbofan Jet Engines</a:t>
            </a:r>
            <a:r>
              <a:rPr lang="en-GB" dirty="0"/>
              <a:t>. </a:t>
            </a:r>
          </a:p>
          <a:p>
            <a:endParaRPr lang="en-GB" dirty="0"/>
          </a:p>
          <a:p>
            <a:endParaRPr lang="en-GB" dirty="0"/>
          </a:p>
          <a:p>
            <a:r>
              <a:rPr lang="en-GB" dirty="0"/>
              <a:t>This project leverages deep LSTM networks combined with adversarial domain adaptation to learn run-to-failure patterns under one set of operating conditions—and then transfer that knowledge automatically to engines running under unseen conditions and fault modes, using the NASA C-MAPSS turbofan benchmark.</a:t>
            </a:r>
            <a:endParaRPr lang="en-GB" dirty="0">
              <a:effectLst/>
            </a:endParaRPr>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2182522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1DEBE-C266-C8EE-A3E7-6843220E15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A06DDD-FA2A-87A5-4904-5B4C1756DD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B3392F-484A-1B1E-9B34-4FF6BBAAC479}"/>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CMAPSS) dataset comes from a </a:t>
            </a:r>
            <a:r>
              <a:rPr lang="en-GB" dirty="0"/>
              <a:t>physics-based simulator that generates multivariate engine sensor </a:t>
            </a:r>
            <a:r>
              <a:rPr lang="en-GB" sz="1200" b="0" i="0" kern="1200" dirty="0">
                <a:solidFill>
                  <a:schemeClr val="tx1"/>
                </a:solidFill>
                <a:effectLst/>
                <a:latin typeface="+mn-lt"/>
                <a:ea typeface="+mn-ea"/>
                <a:cs typeface="+mn-cs"/>
              </a:rPr>
              <a:t>from turbofan engine degradation</a:t>
            </a:r>
            <a:r>
              <a:rPr lang="en-GB" dirty="0"/>
              <a:t> data through full run-to-failure cycles.</a:t>
            </a:r>
            <a:r>
              <a:rPr lang="en-GB" sz="1200" b="0" i="0" kern="1200" dirty="0">
                <a:solidFill>
                  <a:schemeClr val="tx1"/>
                </a:solidFill>
                <a:effectLst/>
                <a:latin typeface="+mn-lt"/>
                <a:ea typeface="+mn-ea"/>
                <a:cs typeface="+mn-cs"/>
              </a:rPr>
              <a:t> </a:t>
            </a:r>
          </a:p>
          <a:p>
            <a:endParaRPr lang="en-GB" sz="1200" b="0" i="0" kern="1200" dirty="0">
              <a:solidFill>
                <a:schemeClr val="tx1"/>
              </a:solidFill>
              <a:effectLst/>
              <a:latin typeface="+mn-lt"/>
              <a:ea typeface="+mn-ea"/>
              <a:cs typeface="+mn-cs"/>
            </a:endParaRPr>
          </a:p>
          <a:p>
            <a:r>
              <a:rPr lang="en-GB" dirty="0"/>
              <a:t>Four sub-datasets (FD001–FD004), each representing a unique combination of operating conditions and fault modes.</a:t>
            </a:r>
          </a:p>
          <a:p>
            <a:endParaRPr lang="en-GB" sz="1200" b="1"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Dataset Structure</a:t>
            </a:r>
          </a:p>
          <a:p>
            <a:endParaRPr lang="en-GB" sz="1200" b="0" i="0" kern="1200" dirty="0">
              <a:solidFill>
                <a:schemeClr val="tx1"/>
              </a:solidFill>
              <a:effectLst/>
              <a:latin typeface="+mn-lt"/>
              <a:ea typeface="+mn-ea"/>
              <a:cs typeface="+mn-cs"/>
            </a:endParaRP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Multiple operating conditions represented in different subsets:</a:t>
            </a:r>
          </a:p>
          <a:p>
            <a:pPr lvl="1"/>
            <a:r>
              <a:rPr lang="en-GB" sz="1200" b="0" i="0" kern="1200" dirty="0">
                <a:solidFill>
                  <a:schemeClr val="tx1"/>
                </a:solidFill>
                <a:effectLst/>
                <a:latin typeface="+mn-lt"/>
                <a:ea typeface="+mn-ea"/>
                <a:cs typeface="+mn-cs"/>
              </a:rPr>
              <a:t>FD001: Single operating condition, single fault mode</a:t>
            </a:r>
          </a:p>
          <a:p>
            <a:pPr lvl="1"/>
            <a:r>
              <a:rPr lang="en-GB" sz="1200" b="0" i="0" kern="1200" dirty="0">
                <a:solidFill>
                  <a:schemeClr val="tx1"/>
                </a:solidFill>
                <a:effectLst/>
                <a:latin typeface="+mn-lt"/>
                <a:ea typeface="+mn-ea"/>
                <a:cs typeface="+mn-cs"/>
              </a:rPr>
              <a:t>FD002: Six operating conditions, single fault mode</a:t>
            </a:r>
          </a:p>
          <a:p>
            <a:pPr lvl="1"/>
            <a:r>
              <a:rPr lang="en-GB" sz="1200" b="0" i="0" kern="1200" dirty="0">
                <a:solidFill>
                  <a:schemeClr val="tx1"/>
                </a:solidFill>
                <a:effectLst/>
                <a:latin typeface="+mn-lt"/>
                <a:ea typeface="+mn-ea"/>
                <a:cs typeface="+mn-cs"/>
              </a:rPr>
              <a:t>FD003: Single operating condition, two fault modes</a:t>
            </a:r>
          </a:p>
          <a:p>
            <a:pPr lvl="1"/>
            <a:r>
              <a:rPr lang="en-GB" sz="1200" b="0" i="0" kern="1200" dirty="0">
                <a:solidFill>
                  <a:schemeClr val="tx1"/>
                </a:solidFill>
                <a:effectLst/>
                <a:latin typeface="+mn-lt"/>
                <a:ea typeface="+mn-ea"/>
                <a:cs typeface="+mn-cs"/>
              </a:rPr>
              <a:t>FD004: Six operating conditions, two fault modes</a:t>
            </a:r>
          </a:p>
          <a:p>
            <a:pPr lvl="1"/>
            <a:endParaRPr lang="en-GB" sz="1200" b="0" i="0" kern="1200" dirty="0">
              <a:solidFill>
                <a:schemeClr val="tx1"/>
              </a:solidFill>
              <a:effectLst/>
              <a:latin typeface="+mn-lt"/>
              <a:ea typeface="+mn-ea"/>
              <a:cs typeface="+mn-cs"/>
            </a:endParaRPr>
          </a:p>
          <a:p>
            <a:pPr lvl="1"/>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Features</a:t>
            </a:r>
          </a:p>
          <a:p>
            <a:r>
              <a:rPr lang="en-GB" sz="1200" b="0" i="0" kern="1200" dirty="0">
                <a:solidFill>
                  <a:schemeClr val="tx1"/>
                </a:solidFill>
                <a:effectLst/>
                <a:latin typeface="+mn-lt"/>
                <a:ea typeface="+mn-ea"/>
                <a:cs typeface="+mn-cs"/>
              </a:rPr>
              <a:t>Each record contains:</a:t>
            </a:r>
          </a:p>
          <a:p>
            <a:pPr lvl="1"/>
            <a:r>
              <a:rPr lang="en-GB" sz="1200" b="0" i="0" kern="1200" dirty="0">
                <a:solidFill>
                  <a:schemeClr val="tx1"/>
                </a:solidFill>
                <a:effectLst/>
                <a:latin typeface="+mn-lt"/>
                <a:ea typeface="+mn-ea"/>
                <a:cs typeface="+mn-cs"/>
              </a:rPr>
              <a:t>3 operational settings</a:t>
            </a:r>
          </a:p>
          <a:p>
            <a:pPr lvl="1"/>
            <a:r>
              <a:rPr lang="en-GB" sz="1200" b="0" i="0" kern="1200" dirty="0">
                <a:solidFill>
                  <a:schemeClr val="tx1"/>
                </a:solidFill>
                <a:effectLst/>
                <a:latin typeface="+mn-lt"/>
                <a:ea typeface="+mn-ea"/>
                <a:cs typeface="+mn-cs"/>
              </a:rPr>
              <a:t>21 sensor measurements</a:t>
            </a:r>
          </a:p>
          <a:p>
            <a:pPr lvl="1"/>
            <a:r>
              <a:rPr lang="en-GB" sz="1200" b="0" i="0" kern="1200" dirty="0">
                <a:solidFill>
                  <a:schemeClr val="tx1"/>
                </a:solidFill>
                <a:effectLst/>
                <a:latin typeface="+mn-lt"/>
                <a:ea typeface="+mn-ea"/>
                <a:cs typeface="+mn-cs"/>
              </a:rPr>
              <a:t>Unit ID and cycle number</a:t>
            </a:r>
          </a:p>
          <a:p>
            <a:r>
              <a:rPr lang="en-GB" sz="1200" b="0" i="0" kern="1200" dirty="0">
                <a:solidFill>
                  <a:schemeClr val="tx1"/>
                </a:solidFill>
                <a:effectLst/>
                <a:latin typeface="+mn-lt"/>
                <a:ea typeface="+mn-ea"/>
                <a:cs typeface="+mn-cs"/>
              </a:rPr>
              <a:t>Total 24 input features per timestep</a:t>
            </a:r>
          </a:p>
          <a:p>
            <a:r>
              <a:rPr lang="en-GB" sz="1200" b="0" i="0" kern="1200" dirty="0">
                <a:solidFill>
                  <a:schemeClr val="tx1"/>
                </a:solidFill>
                <a:effectLst/>
                <a:latin typeface="+mn-lt"/>
                <a:ea typeface="+mn-ea"/>
                <a:cs typeface="+mn-cs"/>
              </a:rPr>
              <a:t>Time series data organized by engine unit</a:t>
            </a:r>
          </a:p>
          <a:p>
            <a:endParaRPr lang="en-GB" sz="1200" b="1"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Data Files</a:t>
            </a:r>
          </a:p>
          <a:p>
            <a:r>
              <a:rPr lang="en-GB" sz="1200" b="0" i="0" kern="1200" dirty="0">
                <a:solidFill>
                  <a:schemeClr val="tx1"/>
                </a:solidFill>
                <a:effectLst/>
                <a:latin typeface="+mn-lt"/>
                <a:ea typeface="+mn-ea"/>
                <a:cs typeface="+mn-cs"/>
              </a:rPr>
              <a:t>Training files:</a:t>
            </a:r>
          </a:p>
          <a:p>
            <a:r>
              <a:rPr lang="en-GB" sz="1200" b="0" i="0" kern="1200" dirty="0">
                <a:solidFill>
                  <a:schemeClr val="tx1"/>
                </a:solidFill>
                <a:effectLst/>
                <a:latin typeface="+mn-lt"/>
                <a:ea typeface="+mn-ea"/>
                <a:cs typeface="+mn-cs"/>
              </a:rPr>
              <a:t>Test files: test_FD00x.txt</a:t>
            </a:r>
          </a:p>
          <a:p>
            <a:r>
              <a:rPr lang="en-GB" sz="1200" b="0" i="0" kern="1200" dirty="0">
                <a:solidFill>
                  <a:schemeClr val="tx1"/>
                </a:solidFill>
                <a:effectLst/>
                <a:latin typeface="+mn-lt"/>
                <a:ea typeface="+mn-ea"/>
                <a:cs typeface="+mn-cs"/>
              </a:rPr>
              <a:t>Ground truth RUL: RUL_FD00x.txt</a:t>
            </a:r>
          </a:p>
          <a:p>
            <a:r>
              <a:rPr lang="en-GB" sz="1200" b="0" i="0" kern="1200" dirty="0">
                <a:solidFill>
                  <a:schemeClr val="tx1"/>
                </a:solidFill>
                <a:effectLst/>
                <a:latin typeface="+mn-lt"/>
                <a:ea typeface="+mn-ea"/>
                <a:cs typeface="+mn-cs"/>
              </a:rPr>
              <a:t>Where x ranges from 1 to 4</a:t>
            </a:r>
          </a:p>
          <a:p>
            <a:endParaRPr lang="en-GB" sz="1200" b="1" i="0" kern="1200" dirty="0">
              <a:solidFill>
                <a:schemeClr val="tx1"/>
              </a:solidFill>
              <a:effectLst/>
              <a:latin typeface="+mn-lt"/>
              <a:ea typeface="+mn-ea"/>
              <a:cs typeface="+mn-cs"/>
            </a:endParaRPr>
          </a:p>
          <a:p>
            <a:endParaRPr lang="en-GB" sz="1200" b="1"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Key Characteristics</a:t>
            </a:r>
          </a:p>
          <a:p>
            <a:r>
              <a:rPr lang="en-GB" sz="1200" b="0" i="0" kern="1200" dirty="0">
                <a:solidFill>
                  <a:schemeClr val="tx1"/>
                </a:solidFill>
                <a:effectLst/>
                <a:latin typeface="+mn-lt"/>
                <a:ea typeface="+mn-ea"/>
                <a:cs typeface="+mn-cs"/>
              </a:rPr>
              <a:t>Each engine starts with different degrees of initial wear</a:t>
            </a:r>
          </a:p>
          <a:p>
            <a:r>
              <a:rPr lang="en-GB" sz="1200" b="0" i="0" kern="1200" dirty="0">
                <a:solidFill>
                  <a:schemeClr val="tx1"/>
                </a:solidFill>
                <a:effectLst/>
                <a:latin typeface="+mn-lt"/>
                <a:ea typeface="+mn-ea"/>
                <a:cs typeface="+mn-cs"/>
              </a:rPr>
              <a:t>Operates normally at start, develops fault, runs to failure</a:t>
            </a:r>
          </a:p>
          <a:p>
            <a:endParaRPr lang="en-US" dirty="0"/>
          </a:p>
        </p:txBody>
      </p:sp>
      <p:sp>
        <p:nvSpPr>
          <p:cNvPr id="4" name="Slide Number Placeholder 3">
            <a:extLst>
              <a:ext uri="{FF2B5EF4-FFF2-40B4-BE49-F238E27FC236}">
                <a16:creationId xmlns:a16="http://schemas.microsoft.com/office/drawing/2014/main" id="{C0698387-19B9-90D8-1AE0-322FE78E728D}"/>
              </a:ext>
            </a:extLst>
          </p:cNvPr>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2379181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C15F6-5A16-673A-FD48-8C8FC0B8B0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ADF98-AA8B-22EA-52AD-ECEF6CD209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76B80F-88A2-9452-413C-DC1DF97B8A76}"/>
              </a:ext>
            </a:extLst>
          </p:cNvPr>
          <p:cNvSpPr>
            <a:spLocks noGrp="1"/>
          </p:cNvSpPr>
          <p:nvPr>
            <p:ph type="body" idx="1"/>
          </p:nvPr>
        </p:nvSpPr>
        <p:spPr/>
        <p:txBody>
          <a:bodyPr/>
          <a:lstStyle/>
          <a:p>
            <a:r>
              <a:rPr lang="en-GB" dirty="0"/>
              <a:t>Three experiments were designed to answer two critical questions:</a:t>
            </a:r>
          </a:p>
          <a:p>
            <a:r>
              <a:rPr lang="en-GB" b="1" dirty="0"/>
              <a:t>Can RUL models learned under one set of conditions really work under another?</a:t>
            </a:r>
            <a:endParaRPr lang="en-GB" dirty="0"/>
          </a:p>
          <a:p>
            <a:r>
              <a:rPr lang="en-GB" b="1" dirty="0"/>
              <a:t>Does adversarial alignment bridge that gap without target labels?</a:t>
            </a:r>
            <a:endParaRPr lang="en-GB" dirty="0"/>
          </a:p>
          <a:p>
            <a:endParaRPr lang="en-GB" b="1" dirty="0"/>
          </a:p>
          <a:p>
            <a:endParaRPr lang="en-GB" b="1" dirty="0"/>
          </a:p>
          <a:p>
            <a:r>
              <a:rPr lang="en-GB" b="1" dirty="0"/>
              <a:t>Same-Domain Baseline</a:t>
            </a:r>
            <a:endParaRPr lang="en-GB" dirty="0"/>
          </a:p>
          <a:p>
            <a:pPr lvl="1"/>
            <a:r>
              <a:rPr lang="en-GB" dirty="0"/>
              <a:t>An LSTM + BatchNorm network is trained and validated on the same FD00x dataset (with 30-step windows and capped RUL of 125).</a:t>
            </a:r>
          </a:p>
          <a:p>
            <a:pPr lvl="1"/>
            <a:endParaRPr lang="en-GB" dirty="0"/>
          </a:p>
          <a:p>
            <a:pPr lvl="1"/>
            <a:r>
              <a:rPr lang="en-GB" dirty="0"/>
              <a:t>This setup learns data-specific temporal patterns under a single operating condition and fault mode.</a:t>
            </a:r>
          </a:p>
          <a:p>
            <a:pPr lvl="1"/>
            <a:endParaRPr lang="en-GB" dirty="0"/>
          </a:p>
          <a:p>
            <a:pPr lvl="1"/>
            <a:r>
              <a:rPr lang="en-GB" dirty="0"/>
              <a:t>This was </a:t>
            </a:r>
            <a:r>
              <a:rPr lang="en-GB" dirty="0" err="1"/>
              <a:t>doen</a:t>
            </a:r>
            <a:r>
              <a:rPr lang="en-GB" dirty="0"/>
              <a:t> to Establish the upper-bound accuracy when train/test distributions match.</a:t>
            </a:r>
          </a:p>
          <a:p>
            <a:pPr lvl="1"/>
            <a:endParaRPr lang="en-GB" dirty="0"/>
          </a:p>
          <a:p>
            <a:pPr lvl="1"/>
            <a:endParaRPr lang="en-GB" dirty="0"/>
          </a:p>
          <a:p>
            <a:r>
              <a:rPr lang="en-GB" b="1" dirty="0"/>
              <a:t>Cross-Domain Challenge</a:t>
            </a:r>
          </a:p>
          <a:p>
            <a:endParaRPr lang="en-GB" b="1" dirty="0"/>
          </a:p>
          <a:p>
            <a:r>
              <a:rPr lang="en-GB" b="1" dirty="0"/>
              <a:t>To simulate </a:t>
            </a:r>
            <a:r>
              <a:rPr lang="en-GB" dirty="0"/>
              <a:t>real-world shift: new equipment versions, operating points, or fault modes.</a:t>
            </a:r>
          </a:p>
          <a:p>
            <a:endParaRPr lang="en-GB" dirty="0"/>
          </a:p>
          <a:p>
            <a:pPr lvl="1"/>
            <a:r>
              <a:rPr lang="en-GB" dirty="0"/>
              <a:t>That exact same model architecture, trained </a:t>
            </a:r>
            <a:r>
              <a:rPr lang="en-GB" b="1" dirty="0"/>
              <a:t>only</a:t>
            </a:r>
            <a:r>
              <a:rPr lang="en-GB" dirty="0"/>
              <a:t> on FD004’s six operating conditions and two fault modes, is tested out-of-domain on FD001, FD002, and FD003.</a:t>
            </a:r>
          </a:p>
          <a:p>
            <a:pPr lvl="1"/>
            <a:endParaRPr lang="en-GB" dirty="0"/>
          </a:p>
          <a:p>
            <a:pPr lvl="1"/>
            <a:r>
              <a:rPr lang="en-GB" dirty="0"/>
              <a:t>Performance highlighted how sensor distributions and failure modes break naïve transfer.</a:t>
            </a:r>
          </a:p>
          <a:p>
            <a:endParaRPr lang="en-GB" b="1" dirty="0"/>
          </a:p>
          <a:p>
            <a:endParaRPr lang="en-GB" b="1" dirty="0"/>
          </a:p>
          <a:p>
            <a:endParaRPr lang="en-GB" b="1" dirty="0"/>
          </a:p>
          <a:p>
            <a:r>
              <a:rPr lang="en-GB" b="1" dirty="0"/>
              <a:t>DANN Adaptation</a:t>
            </a:r>
            <a:endParaRPr lang="en-GB" dirty="0"/>
          </a:p>
          <a:p>
            <a:pPr lvl="1"/>
            <a:r>
              <a:rPr lang="en-GB" dirty="0"/>
              <a:t>A Domain-Adversarial Neural Network injects a gradient reversal layer after the shared LSTM encoder.</a:t>
            </a:r>
          </a:p>
          <a:p>
            <a:pPr lvl="1"/>
            <a:endParaRPr lang="en-GB" dirty="0"/>
          </a:p>
          <a:p>
            <a:pPr lvl="1"/>
            <a:r>
              <a:rPr lang="en-GB" dirty="0"/>
              <a:t>During training it minimizes the source MAE </a:t>
            </a:r>
            <a:r>
              <a:rPr lang="en-GB" i="1" dirty="0"/>
              <a:t>and</a:t>
            </a:r>
            <a:r>
              <a:rPr lang="en-GB" dirty="0"/>
              <a:t> maximizes a domain-classification loss, pushing the encoder to learn features </a:t>
            </a:r>
            <a:r>
              <a:rPr lang="en-GB" b="1" dirty="0"/>
              <a:t>invariant</a:t>
            </a:r>
            <a:r>
              <a:rPr lang="en-GB" dirty="0"/>
              <a:t> to operating conditions or fault modes.</a:t>
            </a:r>
          </a:p>
          <a:p>
            <a:pPr lvl="1"/>
            <a:endParaRPr lang="en-GB" dirty="0"/>
          </a:p>
          <a:p>
            <a:pPr lvl="1"/>
            <a:r>
              <a:rPr lang="en-GB" dirty="0"/>
              <a:t>This adversarial alignment slashes the cross-domain RMSE by over </a:t>
            </a:r>
            <a:r>
              <a:rPr lang="en-GB" b="1" dirty="0"/>
              <a:t>50%</a:t>
            </a:r>
            <a:r>
              <a:rPr lang="en-GB" dirty="0"/>
              <a:t>, recovering most of the same-domain accuracy and proving that knowledge learned under one set of conditions can indeed generalize to unseen scenarios.</a:t>
            </a:r>
          </a:p>
          <a:p>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123499B-784E-B0F7-F41B-AF78721A41F1}"/>
              </a:ext>
            </a:extLst>
          </p:cNvPr>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3646167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74A33-4FAE-35D8-A55E-100C4B685E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E5FD2E-1F1C-DC8C-1753-327D714A96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6F94B1-C3C9-77EC-4208-5F1F437A3FC1}"/>
              </a:ext>
            </a:extLst>
          </p:cNvPr>
          <p:cNvSpPr>
            <a:spLocks noGrp="1"/>
          </p:cNvSpPr>
          <p:nvPr>
            <p:ph type="body" idx="1"/>
          </p:nvPr>
        </p:nvSpPr>
        <p:spPr/>
        <p:txBody>
          <a:bodyPr/>
          <a:lstStyle/>
          <a:p>
            <a:r>
              <a:rPr lang="en-GB" dirty="0"/>
              <a:t>The raw turbofan data was first loaded and given clear, consistent names—each record tells us which engine it came from, the operating cycle, three control settings, and twenty‐one sensor readings. </a:t>
            </a:r>
          </a:p>
          <a:p>
            <a:endParaRPr lang="en-GB" dirty="0"/>
          </a:p>
          <a:p>
            <a:r>
              <a:rPr lang="en-GB" dirty="0"/>
              <a:t>A new column called Remaining Useful Life (RUL) was added by subtracting the current cycle from the engine’s final cycle, then any values above 125 were clipped so the model focuses on true wear‐down </a:t>
            </a:r>
            <a:r>
              <a:rPr lang="en-GB" dirty="0" err="1"/>
              <a:t>behavior</a:t>
            </a:r>
            <a:r>
              <a:rPr lang="en-GB" dirty="0"/>
              <a:t>. </a:t>
            </a:r>
          </a:p>
          <a:p>
            <a:endParaRPr lang="en-GB" dirty="0"/>
          </a:p>
          <a:p>
            <a:r>
              <a:rPr lang="en-GB" dirty="0"/>
              <a:t>Engines were split by unit—80% for training, 20% for validation—so that all measurements from a single engine stay together, avoiding any “leakage” of information. </a:t>
            </a:r>
          </a:p>
          <a:p>
            <a:endParaRPr lang="en-GB" dirty="0"/>
          </a:p>
          <a:p>
            <a:r>
              <a:rPr lang="en-GB" dirty="0"/>
              <a:t>Sensor readings were then scaled between 0 and 1 based on the training set, ensuring fair comparison across features. Next, each engine’s life‐cycle was cut into overlapping 30‐step snippets, giving the network short time‐windows to learn from. Finally, those snippets were wrapped into batches for efficient training and validation. </a:t>
            </a:r>
            <a:endParaRPr lang="en-US" dirty="0"/>
          </a:p>
        </p:txBody>
      </p:sp>
      <p:sp>
        <p:nvSpPr>
          <p:cNvPr id="4" name="Slide Number Placeholder 3">
            <a:extLst>
              <a:ext uri="{FF2B5EF4-FFF2-40B4-BE49-F238E27FC236}">
                <a16:creationId xmlns:a16="http://schemas.microsoft.com/office/drawing/2014/main" id="{0180D27D-1A7F-65D9-5377-345D2CD391AB}"/>
              </a:ext>
            </a:extLst>
          </p:cNvPr>
          <p:cNvSpPr>
            <a:spLocks noGrp="1"/>
          </p:cNvSpPr>
          <p:nvPr>
            <p:ph type="sldNum" sz="quarter" idx="5"/>
          </p:nvPr>
        </p:nvSpPr>
        <p:spPr/>
        <p:txBody>
          <a:bodyPr/>
          <a:lstStyle/>
          <a:p>
            <a:fld id="{22289C57-55D7-40A4-A101-E74FAC7A092B}" type="slidenum">
              <a:rPr lang="en-US" smtClean="0"/>
              <a:t>4</a:t>
            </a:fld>
            <a:endParaRPr lang="en-US" dirty="0"/>
          </a:p>
        </p:txBody>
      </p:sp>
    </p:spTree>
    <p:extLst>
      <p:ext uri="{BB962C8B-B14F-4D97-AF65-F5344CB8AC3E}">
        <p14:creationId xmlns:p14="http://schemas.microsoft.com/office/powerpoint/2010/main" val="63998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EFC98-86A8-10F3-4734-A88970B304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478E0B-CEE7-19BD-E5C6-EFA14ADEAB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484694-7CF7-0C66-1D8C-F6240D8AF193}"/>
              </a:ext>
            </a:extLst>
          </p:cNvPr>
          <p:cNvSpPr>
            <a:spLocks noGrp="1"/>
          </p:cNvSpPr>
          <p:nvPr>
            <p:ph type="body" idx="1"/>
          </p:nvPr>
        </p:nvSpPr>
        <p:spPr/>
        <p:txBody>
          <a:bodyPr/>
          <a:lstStyle/>
          <a:p>
            <a:pPr>
              <a:buNone/>
            </a:pPr>
            <a:r>
              <a:rPr lang="en-GB" dirty="0"/>
              <a:t>This baseline architecture was chosen because it strikes the right balance of simplicity and power. </a:t>
            </a:r>
          </a:p>
          <a:p>
            <a:pPr>
              <a:buNone/>
            </a:pPr>
            <a:endParaRPr lang="en-GB" dirty="0"/>
          </a:p>
          <a:p>
            <a:pPr>
              <a:buNone/>
            </a:pPr>
            <a:r>
              <a:rPr lang="en-GB" dirty="0"/>
              <a:t>An LSTM is ideal for this task since it learns directly from the order and timing of sensor readings—exactly what you need when an engine’s health evolves over many operating cycles. </a:t>
            </a:r>
          </a:p>
          <a:p>
            <a:pPr>
              <a:buNone/>
            </a:pPr>
            <a:endParaRPr lang="en-GB" dirty="0"/>
          </a:p>
          <a:p>
            <a:pPr>
              <a:buNone/>
            </a:pPr>
            <a:r>
              <a:rPr lang="en-GB" dirty="0"/>
              <a:t>Adding Batch Normalization after each layer makes training far more reliable and up to two or three times faster, avoiding headaches like vanishing or exploding gradients. </a:t>
            </a:r>
          </a:p>
          <a:p>
            <a:pPr>
              <a:buNone/>
            </a:pPr>
            <a:endParaRPr lang="en-GB" dirty="0"/>
          </a:p>
          <a:p>
            <a:pPr>
              <a:buNone/>
            </a:pPr>
            <a:r>
              <a:rPr lang="en-GB" dirty="0"/>
              <a:t>Altogether, this setup gives a strong foundation: it trains quickly, delivers accurate RUL predictions when source and target match, and can be easily extended with adversarial layers to handle new, unseen operating conditions.</a:t>
            </a:r>
          </a:p>
        </p:txBody>
      </p:sp>
      <p:sp>
        <p:nvSpPr>
          <p:cNvPr id="4" name="Slide Number Placeholder 3">
            <a:extLst>
              <a:ext uri="{FF2B5EF4-FFF2-40B4-BE49-F238E27FC236}">
                <a16:creationId xmlns:a16="http://schemas.microsoft.com/office/drawing/2014/main" id="{84B30565-13B8-A5B4-C015-84A2D724E17D}"/>
              </a:ext>
            </a:extLst>
          </p:cNvPr>
          <p:cNvSpPr>
            <a:spLocks noGrp="1"/>
          </p:cNvSpPr>
          <p:nvPr>
            <p:ph type="sldNum" sz="quarter" idx="5"/>
          </p:nvPr>
        </p:nvSpPr>
        <p:spPr/>
        <p:txBody>
          <a:bodyPr/>
          <a:lstStyle/>
          <a:p>
            <a:fld id="{22289C57-55D7-40A4-A101-E74FAC7A092B}" type="slidenum">
              <a:rPr lang="en-US" smtClean="0"/>
              <a:t>5</a:t>
            </a:fld>
            <a:endParaRPr lang="en-US" dirty="0"/>
          </a:p>
        </p:txBody>
      </p:sp>
    </p:spTree>
    <p:extLst>
      <p:ext uri="{BB962C8B-B14F-4D97-AF65-F5344CB8AC3E}">
        <p14:creationId xmlns:p14="http://schemas.microsoft.com/office/powerpoint/2010/main" val="1310470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89C7E-5DB1-9270-A1F9-44C77154EA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1560BD-9276-2F68-597D-A1F3C3EB3F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32839-5D1E-AE68-E527-8A60811CFD58}"/>
              </a:ext>
            </a:extLst>
          </p:cNvPr>
          <p:cNvSpPr>
            <a:spLocks noGrp="1"/>
          </p:cNvSpPr>
          <p:nvPr>
            <p:ph type="body" idx="1"/>
          </p:nvPr>
        </p:nvSpPr>
        <p:spPr/>
        <p:txBody>
          <a:bodyPr/>
          <a:lstStyle/>
          <a:p>
            <a:r>
              <a:rPr lang="en-GB" dirty="0"/>
              <a:t>This model merges powerful sequence </a:t>
            </a:r>
            <a:r>
              <a:rPr lang="en-GB" dirty="0" err="1"/>
              <a:t>modeling</a:t>
            </a:r>
            <a:r>
              <a:rPr lang="en-GB" dirty="0"/>
              <a:t> with adversarial domain alignment to generalize RUL prediction across unseen conditions.</a:t>
            </a:r>
          </a:p>
          <a:p>
            <a:endParaRPr lang="en-GB" dirty="0"/>
          </a:p>
          <a:p>
            <a:r>
              <a:rPr lang="en-GB" b="1" dirty="0"/>
              <a:t>Bidirectional LSTM Feature Extractor</a:t>
            </a:r>
            <a:endParaRPr lang="en-GB" dirty="0"/>
          </a:p>
          <a:p>
            <a:pPr lvl="1"/>
            <a:r>
              <a:rPr lang="en-GB" dirty="0"/>
              <a:t>Two stacked layers of Bi-LSTM, each with 156 hidden units (312 when concatenating forward/backward states).</a:t>
            </a:r>
          </a:p>
          <a:p>
            <a:pPr lvl="1"/>
            <a:endParaRPr lang="en-GB" dirty="0"/>
          </a:p>
          <a:p>
            <a:pPr lvl="1"/>
            <a:r>
              <a:rPr lang="en-GB" dirty="0"/>
              <a:t>Also, Processes 30-step windows of 24 sensor and operating-setting features.</a:t>
            </a:r>
          </a:p>
          <a:p>
            <a:pPr lvl="1"/>
            <a:r>
              <a:rPr lang="en-GB" dirty="0"/>
              <a:t>Captures both past and future context, yielding a rich, time-aware embedding for each window.</a:t>
            </a:r>
          </a:p>
          <a:p>
            <a:endParaRPr lang="en-GB" b="1" dirty="0"/>
          </a:p>
          <a:p>
            <a:r>
              <a:rPr lang="en-GB" b="1" dirty="0"/>
              <a:t>Domain-Adversarial Heads</a:t>
            </a:r>
            <a:endParaRPr lang="en-GB" dirty="0"/>
          </a:p>
          <a:p>
            <a:pPr lvl="1"/>
            <a:r>
              <a:rPr lang="en-GB" b="1" dirty="0"/>
              <a:t>RUL Regressor:</a:t>
            </a:r>
            <a:r>
              <a:rPr lang="en-GB" dirty="0"/>
              <a:t> a small feed-forward network with BatchNorm, ReLU, and dropout. Trained to minimize MAE on the source domain.</a:t>
            </a:r>
          </a:p>
          <a:p>
            <a:pPr lvl="1"/>
            <a:endParaRPr lang="en-GB" dirty="0"/>
          </a:p>
          <a:p>
            <a:pPr lvl="1"/>
            <a:r>
              <a:rPr lang="en-GB" b="1" dirty="0"/>
              <a:t>Domain Classifier:</a:t>
            </a:r>
            <a:r>
              <a:rPr lang="en-GB" dirty="0"/>
              <a:t> a parallel dense layer with </a:t>
            </a:r>
            <a:r>
              <a:rPr lang="en-GB" dirty="0" err="1"/>
              <a:t>BatchNorm+ReLU</a:t>
            </a:r>
            <a:r>
              <a:rPr lang="en-GB" dirty="0"/>
              <a:t>, ending in a sigmoid. Trained to distinguish source vs. target.</a:t>
            </a:r>
          </a:p>
          <a:p>
            <a:pPr lvl="1"/>
            <a:endParaRPr lang="en-GB" b="1" dirty="0"/>
          </a:p>
          <a:p>
            <a:pPr lvl="1"/>
            <a:r>
              <a:rPr lang="en-GB" b="1" dirty="0"/>
              <a:t>Gradient Reversal Layer (GRL):</a:t>
            </a:r>
            <a:r>
              <a:rPr lang="en-GB" dirty="0"/>
              <a:t> sits between the shared Bi-LSTM encoder and the domain head. During the forward pass it’s a unchanged no-operation; on backprop it multiplies gradients by –α, forcing the encoder to learn features that </a:t>
            </a:r>
            <a:r>
              <a:rPr lang="en-GB" b="1" dirty="0"/>
              <a:t>confuse</a:t>
            </a:r>
            <a:r>
              <a:rPr lang="en-GB" dirty="0"/>
              <a:t> the domain classifier.</a:t>
            </a:r>
          </a:p>
          <a:p>
            <a:pPr lvl="1"/>
            <a:endParaRPr lang="en-GB" dirty="0"/>
          </a:p>
          <a:p>
            <a:pPr lvl="1"/>
            <a:endParaRPr lang="en-GB" dirty="0"/>
          </a:p>
          <a:p>
            <a:pPr lvl="1"/>
            <a:endParaRPr lang="en-GB" dirty="0"/>
          </a:p>
          <a:p>
            <a:r>
              <a:rPr lang="en-GB" b="1" dirty="0"/>
              <a:t>Adversarial Training Strategy</a:t>
            </a:r>
            <a:endParaRPr lang="en-GB" dirty="0"/>
          </a:p>
          <a:p>
            <a:pPr lvl="1"/>
            <a:r>
              <a:rPr lang="en-GB" dirty="0"/>
              <a:t>Batches are drawn simultaneously from </a:t>
            </a:r>
            <a:r>
              <a:rPr lang="en-GB" b="1" dirty="0" err="1"/>
              <a:t>labeled</a:t>
            </a:r>
            <a:r>
              <a:rPr lang="en-GB" dirty="0"/>
              <a:t> source and </a:t>
            </a:r>
            <a:r>
              <a:rPr lang="en-GB" b="1" dirty="0" err="1"/>
              <a:t>unlabeled</a:t>
            </a:r>
            <a:r>
              <a:rPr lang="en-GB" dirty="0"/>
              <a:t> target windows.</a:t>
            </a:r>
          </a:p>
          <a:p>
            <a:pPr lvl="1"/>
            <a:r>
              <a:rPr lang="en-GB" b="1" dirty="0"/>
              <a:t>Loss = MAE(source)</a:t>
            </a:r>
            <a:r>
              <a:rPr lang="en-GB" dirty="0"/>
              <a:t> − λ · Binary Cross-Entropy </a:t>
            </a:r>
            <a:r>
              <a:rPr lang="en-GB" b="1" dirty="0"/>
              <a:t>(domain)</a:t>
            </a:r>
            <a:endParaRPr lang="en-GB" dirty="0"/>
          </a:p>
          <a:p>
            <a:pPr lvl="1"/>
            <a:r>
              <a:rPr lang="en-GB" dirty="0"/>
              <a:t>GRL weight is ramped up over the first epochs to stabilize training.</a:t>
            </a:r>
          </a:p>
          <a:p>
            <a:pPr lvl="1"/>
            <a:r>
              <a:rPr lang="en-GB" dirty="0"/>
              <a:t>Making the encoder balance accurate RUL estimation on the source while hiding any domain-specific cues from the domain head—yielding a domain-invariant feature space.</a:t>
            </a:r>
          </a:p>
          <a:p>
            <a:pPr>
              <a:buNone/>
            </a:pPr>
            <a:endParaRPr lang="en-GB" dirty="0"/>
          </a:p>
        </p:txBody>
      </p:sp>
      <p:sp>
        <p:nvSpPr>
          <p:cNvPr id="4" name="Slide Number Placeholder 3">
            <a:extLst>
              <a:ext uri="{FF2B5EF4-FFF2-40B4-BE49-F238E27FC236}">
                <a16:creationId xmlns:a16="http://schemas.microsoft.com/office/drawing/2014/main" id="{51F315EA-E9B4-CAC5-ACE3-E7CF8C9FD753}"/>
              </a:ext>
            </a:extLst>
          </p:cNvPr>
          <p:cNvSpPr>
            <a:spLocks noGrp="1"/>
          </p:cNvSpPr>
          <p:nvPr>
            <p:ph type="sldNum" sz="quarter" idx="5"/>
          </p:nvPr>
        </p:nvSpPr>
        <p:spPr/>
        <p:txBody>
          <a:bodyPr/>
          <a:lstStyle/>
          <a:p>
            <a:fld id="{22289C57-55D7-40A4-A101-E74FAC7A092B}" type="slidenum">
              <a:rPr lang="en-US" smtClean="0"/>
              <a:t>6</a:t>
            </a:fld>
            <a:endParaRPr lang="en-US" dirty="0"/>
          </a:p>
        </p:txBody>
      </p:sp>
    </p:spTree>
    <p:extLst>
      <p:ext uri="{BB962C8B-B14F-4D97-AF65-F5344CB8AC3E}">
        <p14:creationId xmlns:p14="http://schemas.microsoft.com/office/powerpoint/2010/main" val="9438175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2A0D6-505C-E7A1-AB96-A2B44E4CE6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BF4E61-28BC-E1E7-EF09-FBA112A3E0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032718-8967-11B3-A9ED-3B4A9E27B073}"/>
              </a:ext>
            </a:extLst>
          </p:cNvPr>
          <p:cNvSpPr>
            <a:spLocks noGrp="1"/>
          </p:cNvSpPr>
          <p:nvPr>
            <p:ph type="body" idx="1"/>
          </p:nvPr>
        </p:nvSpPr>
        <p:spPr/>
        <p:txBody>
          <a:bodyPr/>
          <a:lstStyle/>
          <a:p>
            <a:r>
              <a:rPr lang="en-GB" dirty="0"/>
              <a:t>Two complementary metrics were used to judge model quality:</a:t>
            </a:r>
          </a:p>
          <a:p>
            <a:endParaRPr lang="en-GB" b="1" dirty="0"/>
          </a:p>
          <a:p>
            <a:endParaRPr lang="en-GB" b="1" dirty="0"/>
          </a:p>
          <a:p>
            <a:endParaRPr lang="en-GB" b="1" dirty="0"/>
          </a:p>
          <a:p>
            <a:r>
              <a:rPr lang="en-GB" b="1" dirty="0"/>
              <a:t>Root Mean Square Error (RMSE)</a:t>
            </a:r>
            <a:endParaRPr lang="en-GB" dirty="0"/>
          </a:p>
          <a:p>
            <a:pPr lvl="1"/>
            <a:endParaRPr lang="en-GB" b="1" dirty="0"/>
          </a:p>
          <a:p>
            <a:pPr lvl="1"/>
            <a:r>
              <a:rPr lang="en-GB" b="1" dirty="0"/>
              <a:t>Interpretability:</a:t>
            </a:r>
            <a:r>
              <a:rPr lang="en-GB" dirty="0"/>
              <a:t> RMSE is in cycles—the same units as our predictions—so an RMSE of 20 directly means, “on average, the model’s guess is 20 cycles off.”</a:t>
            </a:r>
          </a:p>
          <a:p>
            <a:pPr lvl="1"/>
            <a:endParaRPr lang="en-GB" b="1" dirty="0"/>
          </a:p>
          <a:p>
            <a:pPr lvl="1"/>
            <a:r>
              <a:rPr lang="en-GB" b="1" dirty="0"/>
              <a:t>Error Sensitivity:</a:t>
            </a:r>
            <a:r>
              <a:rPr lang="en-GB" dirty="0"/>
              <a:t> By squaring errors before averaging, RMSE heavily penalizes large misses—crucial when a big forecasting error can turn into unexpected downtime.</a:t>
            </a:r>
          </a:p>
          <a:p>
            <a:endParaRPr lang="en-GB" b="1" dirty="0"/>
          </a:p>
          <a:p>
            <a:endParaRPr lang="en-GB" b="1" dirty="0"/>
          </a:p>
          <a:p>
            <a:endParaRPr lang="en-GB" b="1" dirty="0"/>
          </a:p>
          <a:p>
            <a:endParaRPr lang="en-GB" b="1" dirty="0"/>
          </a:p>
          <a:p>
            <a:r>
              <a:rPr lang="en-GB" b="1" dirty="0"/>
              <a:t>NASA Scoring Function</a:t>
            </a:r>
            <a:endParaRPr lang="en-GB" dirty="0"/>
          </a:p>
          <a:p>
            <a:pPr lvl="1"/>
            <a:endParaRPr lang="en-GB" b="1" dirty="0"/>
          </a:p>
          <a:p>
            <a:pPr lvl="1"/>
            <a:r>
              <a:rPr lang="en-GB" b="1" dirty="0"/>
              <a:t>Standard in Prognostics Literature:</a:t>
            </a:r>
            <a:r>
              <a:rPr lang="en-GB" dirty="0"/>
              <a:t> This asymmetric scoring metric is widely adopted in the PHM community to evaluate RUL models on the C-MAPSS datasets.</a:t>
            </a:r>
          </a:p>
          <a:p>
            <a:pPr lvl="1"/>
            <a:endParaRPr lang="en-GB" b="1" dirty="0"/>
          </a:p>
          <a:p>
            <a:pPr lvl="1"/>
            <a:r>
              <a:rPr lang="en-GB" b="1" dirty="0"/>
              <a:t>Asymmetric Penalty:</a:t>
            </a:r>
            <a:r>
              <a:rPr lang="en-GB" dirty="0"/>
              <a:t> Over-estimating the remaining life is far riskier than under-estimating. The NASA score uses</a:t>
            </a:r>
          </a:p>
          <a:p>
            <a:pPr lvl="1"/>
            <a:r>
              <a:rPr lang="en-GB" dirty="0"/>
              <a:t>e (error/10)−1for over-</a:t>
            </a:r>
            <a:r>
              <a:rPr lang="en-GB" dirty="0" err="1"/>
              <a:t>estimates,e</a:t>
            </a:r>
            <a:r>
              <a:rPr lang="en-GB" dirty="0"/>
              <a:t> −(error/13)−1for under-estimates. e^{\,(\text{error}/10)} - 1 \quad\text{for over-estimates,} \quad\quad e^{\,-(\text{error}/13)} - 1 \quad\text{for under-estimates.}e(error/10)−1for over-</a:t>
            </a:r>
            <a:r>
              <a:rPr lang="en-GB" dirty="0" err="1"/>
              <a:t>estimates,e</a:t>
            </a:r>
            <a:r>
              <a:rPr lang="en-GB" dirty="0"/>
              <a:t>−(error/13)−1for under-estimates. </a:t>
            </a:r>
          </a:p>
          <a:p>
            <a:pPr lvl="1"/>
            <a:endParaRPr lang="en-GB" b="1" dirty="0"/>
          </a:p>
          <a:p>
            <a:pPr lvl="1"/>
            <a:r>
              <a:rPr lang="en-GB" b="1" dirty="0"/>
              <a:t>Real-World Alignment:</a:t>
            </a:r>
            <a:r>
              <a:rPr lang="en-GB" dirty="0"/>
              <a:t> For a true RUL of 50, predicting 70 (20 too high) yields a penalty ≈ 7.4, whereas predicting 30 (20 too low) yields ≈ 5.0. This reflects the higher cost of unexpected failures versus early maintenance.</a:t>
            </a:r>
          </a:p>
          <a:p>
            <a:pPr>
              <a:buNone/>
            </a:pPr>
            <a:endParaRPr lang="en-GB" dirty="0"/>
          </a:p>
        </p:txBody>
      </p:sp>
      <p:sp>
        <p:nvSpPr>
          <p:cNvPr id="4" name="Slide Number Placeholder 3">
            <a:extLst>
              <a:ext uri="{FF2B5EF4-FFF2-40B4-BE49-F238E27FC236}">
                <a16:creationId xmlns:a16="http://schemas.microsoft.com/office/drawing/2014/main" id="{380497C6-E6B4-254E-C84A-237B54A19FA3}"/>
              </a:ext>
            </a:extLst>
          </p:cNvPr>
          <p:cNvSpPr>
            <a:spLocks noGrp="1"/>
          </p:cNvSpPr>
          <p:nvPr>
            <p:ph type="sldNum" sz="quarter" idx="5"/>
          </p:nvPr>
        </p:nvSpPr>
        <p:spPr/>
        <p:txBody>
          <a:bodyPr/>
          <a:lstStyle/>
          <a:p>
            <a:fld id="{22289C57-55D7-40A4-A101-E74FAC7A092B}" type="slidenum">
              <a:rPr lang="en-US" smtClean="0"/>
              <a:t>7</a:t>
            </a:fld>
            <a:endParaRPr lang="en-US" dirty="0"/>
          </a:p>
        </p:txBody>
      </p:sp>
    </p:spTree>
    <p:extLst>
      <p:ext uri="{BB962C8B-B14F-4D97-AF65-F5344CB8AC3E}">
        <p14:creationId xmlns:p14="http://schemas.microsoft.com/office/powerpoint/2010/main" val="2762009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69681-9BF3-A4DE-E132-1E8023D6DA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EC4F7-D2C8-7A2D-8042-DA5FB820B4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00E5A7-A2C3-F044-2D87-C500F422D82A}"/>
              </a:ext>
            </a:extLst>
          </p:cNvPr>
          <p:cNvSpPr>
            <a:spLocks noGrp="1"/>
          </p:cNvSpPr>
          <p:nvPr>
            <p:ph type="body" idx="1"/>
          </p:nvPr>
        </p:nvSpPr>
        <p:spPr/>
        <p:txBody>
          <a:bodyPr/>
          <a:lstStyle/>
          <a:p>
            <a:r>
              <a:rPr lang="en-GB" b="1" dirty="0"/>
              <a:t>Key Takeaways from Same-Domain Baseline</a:t>
            </a:r>
            <a:endParaRPr lang="en-GB" dirty="0"/>
          </a:p>
          <a:p>
            <a:r>
              <a:rPr lang="en-GB" b="1" dirty="0"/>
              <a:t>Best Cases (FD001 &amp; FD003):</a:t>
            </a:r>
            <a:endParaRPr lang="en-GB" dirty="0"/>
          </a:p>
          <a:p>
            <a:pPr lvl="1"/>
            <a:r>
              <a:rPr lang="en-GB" dirty="0"/>
              <a:t>RMSE ≈ 15 cycles, NASA Score &lt; 5</a:t>
            </a:r>
          </a:p>
          <a:p>
            <a:pPr lvl="1"/>
            <a:r>
              <a:rPr lang="en-GB" dirty="0"/>
              <a:t>These datasets each have just one operating condition—so the LSTM quickly learns consistent wear patterns.</a:t>
            </a:r>
          </a:p>
          <a:p>
            <a:r>
              <a:rPr lang="en-GB" b="1" dirty="0"/>
              <a:t>Moderate Case (FD002):</a:t>
            </a:r>
            <a:endParaRPr lang="en-GB" dirty="0"/>
          </a:p>
          <a:p>
            <a:pPr lvl="1"/>
            <a:r>
              <a:rPr lang="en-GB" dirty="0"/>
              <a:t>RMSE jumps to ≈ 31 cycles, NASA Score ≈ 193</a:t>
            </a:r>
          </a:p>
          <a:p>
            <a:pPr lvl="1"/>
            <a:r>
              <a:rPr lang="en-GB" dirty="0"/>
              <a:t>Introducing six different operating conditions—even with only one fault mode—makes it harder for the model to capture every regime.</a:t>
            </a:r>
          </a:p>
          <a:p>
            <a:r>
              <a:rPr lang="en-GB" b="1" dirty="0"/>
              <a:t>Hardest Case (FD004):</a:t>
            </a:r>
            <a:endParaRPr lang="en-GB" dirty="0"/>
          </a:p>
          <a:p>
            <a:pPr lvl="1"/>
            <a:r>
              <a:rPr lang="en-GB" dirty="0"/>
              <a:t>RMSE ≈ 35 cycles, NASA Score ≈ 669</a:t>
            </a:r>
          </a:p>
          <a:p>
            <a:pPr lvl="1"/>
            <a:r>
              <a:rPr lang="en-GB" dirty="0"/>
              <a:t>Two fault modes + six operating conditions compound the complexity, pushing error higher.</a:t>
            </a:r>
          </a:p>
          <a:p>
            <a:pPr lvl="1"/>
            <a:endParaRPr lang="en-GB" dirty="0"/>
          </a:p>
          <a:p>
            <a:pPr lvl="1"/>
            <a:endParaRPr lang="en-GB" dirty="0"/>
          </a:p>
          <a:p>
            <a:pPr lvl="1"/>
            <a:endParaRPr lang="en-GB" dirty="0"/>
          </a:p>
          <a:p>
            <a:r>
              <a:rPr lang="en-GB" dirty="0"/>
              <a:t>few observations when interpreting those scatter plots:</a:t>
            </a:r>
          </a:p>
          <a:p>
            <a:endParaRPr lang="en-GB" b="1" dirty="0"/>
          </a:p>
          <a:p>
            <a:r>
              <a:rPr lang="en-GB" b="1" dirty="0"/>
              <a:t>Closeness to the diagonal:</a:t>
            </a:r>
            <a:r>
              <a:rPr lang="en-GB" dirty="0"/>
              <a:t> In FD001 and FD003, the blue points hug the red y=</a:t>
            </a:r>
            <a:r>
              <a:rPr lang="en-GB" dirty="0" err="1"/>
              <a:t>xy</a:t>
            </a:r>
            <a:r>
              <a:rPr lang="en-GB" dirty="0"/>
              <a:t>=</a:t>
            </a:r>
            <a:r>
              <a:rPr lang="en-GB" dirty="0" err="1"/>
              <a:t>xy</a:t>
            </a:r>
            <a:r>
              <a:rPr lang="en-GB" dirty="0"/>
              <a:t>=x line tightly, indicating the model’s predictions track the true RUL very closely across almost the entire range.</a:t>
            </a:r>
          </a:p>
          <a:p>
            <a:endParaRPr lang="en-GB" b="1" dirty="0"/>
          </a:p>
          <a:p>
            <a:r>
              <a:rPr lang="en-GB" b="1" dirty="0"/>
              <a:t>Spread &amp; variance:</a:t>
            </a:r>
            <a:r>
              <a:rPr lang="en-GB" dirty="0"/>
              <a:t> FD002 and FD004 exhibit a much wider scatter around the diagonal—especially at higher true-RUL values—showing the model struggles to generalize across the multiple operating regimes in those datasets.</a:t>
            </a:r>
          </a:p>
          <a:p>
            <a:endParaRPr lang="en-GB" b="1" dirty="0"/>
          </a:p>
          <a:p>
            <a:r>
              <a:rPr lang="en-GB" b="1" dirty="0"/>
              <a:t>Systematic bias:</a:t>
            </a:r>
            <a:r>
              <a:rPr lang="en-GB" dirty="0"/>
              <a:t> For FD002 and FD004 you’ll notice many points lying above the line at high true-RUL, meaning the model tends to </a:t>
            </a:r>
            <a:r>
              <a:rPr lang="en-GB" b="1" dirty="0"/>
              <a:t>overestimate</a:t>
            </a:r>
            <a:r>
              <a:rPr lang="en-GB" dirty="0"/>
              <a:t> how long the engine has left, which directly drives up the asymmetric NASA penalty.</a:t>
            </a:r>
          </a:p>
          <a:p>
            <a:endParaRPr lang="en-GB" b="1" dirty="0"/>
          </a:p>
          <a:p>
            <a:r>
              <a:rPr lang="en-GB" b="1" dirty="0"/>
              <a:t>Error trends:</a:t>
            </a:r>
            <a:r>
              <a:rPr lang="en-GB" dirty="0"/>
              <a:t> All subplots show slightly larger deviations near the extremes (very low or very high RUL), suggesting the model finds the constant “healthy” plateau at the start and the steep final drop-off phases hardest to pin down.</a:t>
            </a:r>
          </a:p>
          <a:p>
            <a:pPr lvl="1"/>
            <a:endParaRPr lang="en-GB" dirty="0"/>
          </a:p>
        </p:txBody>
      </p:sp>
      <p:sp>
        <p:nvSpPr>
          <p:cNvPr id="4" name="Slide Number Placeholder 3">
            <a:extLst>
              <a:ext uri="{FF2B5EF4-FFF2-40B4-BE49-F238E27FC236}">
                <a16:creationId xmlns:a16="http://schemas.microsoft.com/office/drawing/2014/main" id="{64800A03-180E-7DE2-2B01-7D591E085C1F}"/>
              </a:ext>
            </a:extLst>
          </p:cNvPr>
          <p:cNvSpPr>
            <a:spLocks noGrp="1"/>
          </p:cNvSpPr>
          <p:nvPr>
            <p:ph type="sldNum" sz="quarter" idx="5"/>
          </p:nvPr>
        </p:nvSpPr>
        <p:spPr/>
        <p:txBody>
          <a:bodyPr/>
          <a:lstStyle/>
          <a:p>
            <a:fld id="{22289C57-55D7-40A4-A101-E74FAC7A092B}" type="slidenum">
              <a:rPr lang="en-US" smtClean="0"/>
              <a:t>8</a:t>
            </a:fld>
            <a:endParaRPr lang="en-US" dirty="0"/>
          </a:p>
        </p:txBody>
      </p:sp>
    </p:spTree>
    <p:extLst>
      <p:ext uri="{BB962C8B-B14F-4D97-AF65-F5344CB8AC3E}">
        <p14:creationId xmlns:p14="http://schemas.microsoft.com/office/powerpoint/2010/main" val="3417668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07C31-7A27-6F4C-2429-9318D0211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4D21E-5608-0E1F-713D-5F3F0F95EA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6B8A20-04C6-68F0-A8B4-CBD750283470}"/>
              </a:ext>
            </a:extLst>
          </p:cNvPr>
          <p:cNvSpPr>
            <a:spLocks noGrp="1"/>
          </p:cNvSpPr>
          <p:nvPr>
            <p:ph type="body" idx="1"/>
          </p:nvPr>
        </p:nvSpPr>
        <p:spPr/>
        <p:txBody>
          <a:bodyPr/>
          <a:lstStyle/>
          <a:p>
            <a:r>
              <a:rPr lang="en-GB" b="1" dirty="0"/>
              <a:t>Cross-Domain Baseline: Key Observations</a:t>
            </a:r>
            <a:endParaRPr lang="en-GB" dirty="0"/>
          </a:p>
          <a:p>
            <a:endParaRPr lang="en-GB" b="1" dirty="0"/>
          </a:p>
          <a:p>
            <a:r>
              <a:rPr lang="en-GB" b="1" dirty="0"/>
              <a:t>Performance Varies Widely</a:t>
            </a:r>
            <a:endParaRPr lang="en-GB" dirty="0"/>
          </a:p>
          <a:p>
            <a:pPr lvl="1"/>
            <a:endParaRPr lang="en-GB" b="1" dirty="0"/>
          </a:p>
          <a:p>
            <a:pPr lvl="1"/>
            <a:r>
              <a:rPr lang="en-GB" b="1" dirty="0"/>
              <a:t>FD004 → FD001:</a:t>
            </a:r>
            <a:endParaRPr lang="en-GB" dirty="0"/>
          </a:p>
          <a:p>
            <a:pPr lvl="2"/>
            <a:r>
              <a:rPr lang="en-GB" b="1" dirty="0"/>
              <a:t>RMSE ≈ 86.3 cycles</a:t>
            </a:r>
            <a:r>
              <a:rPr lang="en-GB" dirty="0"/>
              <a:t>—the worst transfer score—</a:t>
            </a:r>
          </a:p>
          <a:p>
            <a:pPr lvl="2"/>
            <a:r>
              <a:rPr lang="en-GB" b="1" dirty="0"/>
              <a:t>NASA ≈ 5.3 × 10³</a:t>
            </a:r>
            <a:r>
              <a:rPr lang="en-GB" dirty="0"/>
              <a:t>.</a:t>
            </a:r>
            <a:br>
              <a:rPr lang="en-GB" dirty="0"/>
            </a:br>
            <a:r>
              <a:rPr lang="en-GB" dirty="0"/>
              <a:t>This massive drop reflects very different operating conditions and fault modes between FD004 (six conditions, two faults) and FD001 (one condition, one fault).</a:t>
            </a:r>
          </a:p>
          <a:p>
            <a:pPr lvl="1"/>
            <a:endParaRPr lang="en-GB" b="1" dirty="0"/>
          </a:p>
          <a:p>
            <a:pPr lvl="1"/>
            <a:r>
              <a:rPr lang="en-GB" b="1" dirty="0"/>
              <a:t>FD004 → FD002:</a:t>
            </a:r>
            <a:endParaRPr lang="en-GB" dirty="0"/>
          </a:p>
          <a:p>
            <a:pPr lvl="2"/>
            <a:r>
              <a:rPr lang="en-GB" b="1" dirty="0"/>
              <a:t>RMSE ≈ 33.5 cycles</a:t>
            </a:r>
            <a:r>
              <a:rPr lang="en-GB" dirty="0"/>
              <a:t>—the best of the three cross-domain tests—</a:t>
            </a:r>
          </a:p>
          <a:p>
            <a:pPr lvl="2"/>
            <a:r>
              <a:rPr lang="en-GB" b="1" dirty="0"/>
              <a:t>NASA ≈ 4.4 × 10³</a:t>
            </a:r>
            <a:r>
              <a:rPr lang="en-GB" dirty="0"/>
              <a:t>.</a:t>
            </a:r>
            <a:br>
              <a:rPr lang="en-GB" dirty="0"/>
            </a:br>
            <a:r>
              <a:rPr lang="en-GB" dirty="0"/>
              <a:t>FD002 shares six operating conditions with FD004 (though only one fault mode), making it the most similar and the easiest to transfer to.</a:t>
            </a:r>
          </a:p>
          <a:p>
            <a:pPr lvl="1"/>
            <a:endParaRPr lang="en-GB" b="1" dirty="0"/>
          </a:p>
          <a:p>
            <a:pPr lvl="1"/>
            <a:r>
              <a:rPr lang="en-GB" b="1" dirty="0"/>
              <a:t>FD004 → FD003:</a:t>
            </a:r>
            <a:endParaRPr lang="en-GB" dirty="0"/>
          </a:p>
          <a:p>
            <a:pPr lvl="2"/>
            <a:r>
              <a:rPr lang="en-GB" b="1" dirty="0"/>
              <a:t>RMSE ≈ 78.7 cycles</a:t>
            </a:r>
            <a:r>
              <a:rPr lang="en-GB" dirty="0"/>
              <a:t>—second-worst transfer—</a:t>
            </a:r>
          </a:p>
          <a:p>
            <a:pPr lvl="2"/>
            <a:r>
              <a:rPr lang="en-GB" b="1" dirty="0"/>
              <a:t>NASA ≈ 4.98 × 10³</a:t>
            </a:r>
            <a:r>
              <a:rPr lang="en-GB" dirty="0"/>
              <a:t>.</a:t>
            </a:r>
            <a:br>
              <a:rPr lang="en-GB" dirty="0"/>
            </a:br>
            <a:r>
              <a:rPr lang="en-GB" dirty="0"/>
              <a:t>Two fault modes are shared, but the single operating condition in FD003 still presents a gap.</a:t>
            </a:r>
          </a:p>
          <a:p>
            <a:endParaRPr lang="en-GB" b="1" dirty="0"/>
          </a:p>
          <a:p>
            <a:endParaRPr lang="en-GB" b="1" dirty="0"/>
          </a:p>
          <a:p>
            <a:pPr lvl="1"/>
            <a:r>
              <a:rPr lang="en-GB" dirty="0"/>
              <a:t>All three cross-domain runs produce extremely high NASA penalties, indicating the model frequently </a:t>
            </a:r>
            <a:r>
              <a:rPr lang="en-GB" b="1" dirty="0"/>
              <a:t>over-predicts</a:t>
            </a:r>
            <a:r>
              <a:rPr lang="en-GB" dirty="0"/>
              <a:t> how much life remains—a dangerous bias in maintenance settings.</a:t>
            </a:r>
          </a:p>
          <a:p>
            <a:endParaRPr lang="en-GB" b="1" dirty="0"/>
          </a:p>
          <a:p>
            <a:endParaRPr lang="en-GB" b="1" dirty="0"/>
          </a:p>
          <a:p>
            <a:endParaRPr lang="en-GB" dirty="0"/>
          </a:p>
          <a:p>
            <a:pPr lvl="1"/>
            <a:r>
              <a:rPr lang="en-GB" dirty="0"/>
              <a:t>A simple “train-on-source, test-on-target” approach fails: RMSE swings by almost a factor of 3 from best to worst cases.</a:t>
            </a:r>
          </a:p>
          <a:p>
            <a:pPr lvl="1"/>
            <a:endParaRPr lang="en-GB" dirty="0"/>
          </a:p>
          <a:p>
            <a:pPr lvl="1"/>
            <a:r>
              <a:rPr lang="en-GB" dirty="0"/>
              <a:t>Clearly, naive transfer learning cannot bridge these domain gaps—operating condition mismatches and multiple failure modes overwhelm the LSTM.</a:t>
            </a:r>
          </a:p>
          <a:p>
            <a:pPr>
              <a:buNone/>
            </a:pPr>
            <a:endParaRPr lang="en-GB" dirty="0"/>
          </a:p>
        </p:txBody>
      </p:sp>
      <p:sp>
        <p:nvSpPr>
          <p:cNvPr id="4" name="Slide Number Placeholder 3">
            <a:extLst>
              <a:ext uri="{FF2B5EF4-FFF2-40B4-BE49-F238E27FC236}">
                <a16:creationId xmlns:a16="http://schemas.microsoft.com/office/drawing/2014/main" id="{30673327-3490-350F-FFD6-27FEE8C49E3D}"/>
              </a:ext>
            </a:extLst>
          </p:cNvPr>
          <p:cNvSpPr>
            <a:spLocks noGrp="1"/>
          </p:cNvSpPr>
          <p:nvPr>
            <p:ph type="sldNum" sz="quarter" idx="5"/>
          </p:nvPr>
        </p:nvSpPr>
        <p:spPr/>
        <p:txBody>
          <a:bodyPr/>
          <a:lstStyle/>
          <a:p>
            <a:fld id="{22289C57-55D7-40A4-A101-E74FAC7A092B}" type="slidenum">
              <a:rPr lang="en-US" smtClean="0"/>
              <a:t>9</a:t>
            </a:fld>
            <a:endParaRPr lang="en-US" dirty="0"/>
          </a:p>
        </p:txBody>
      </p:sp>
    </p:spTree>
    <p:extLst>
      <p:ext uri="{BB962C8B-B14F-4D97-AF65-F5344CB8AC3E}">
        <p14:creationId xmlns:p14="http://schemas.microsoft.com/office/powerpoint/2010/main" val="13397918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FFB12-86EB-1FD9-6BA8-33512B95A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25182-F748-CBA7-10E7-3F3763C8D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9C620E-BCA2-530E-9EA4-C697D0264265}"/>
              </a:ext>
            </a:extLst>
          </p:cNvPr>
          <p:cNvSpPr>
            <a:spLocks noGrp="1"/>
          </p:cNvSpPr>
          <p:nvPr>
            <p:ph type="body" idx="1"/>
          </p:nvPr>
        </p:nvSpPr>
        <p:spPr/>
        <p:txBody>
          <a:bodyPr/>
          <a:lstStyle/>
          <a:p>
            <a:r>
              <a:rPr lang="en-GB" b="1" dirty="0"/>
              <a:t>Key Observations from DANN Adaptation</a:t>
            </a:r>
            <a:endParaRPr lang="en-GB" dirty="0"/>
          </a:p>
          <a:p>
            <a:endParaRPr lang="en-GB" b="1" dirty="0"/>
          </a:p>
          <a:p>
            <a:r>
              <a:rPr lang="en-GB" b="1" dirty="0"/>
              <a:t>Overall DANN Impact</a:t>
            </a:r>
            <a:endParaRPr lang="en-GB" dirty="0"/>
          </a:p>
          <a:p>
            <a:pPr lvl="1"/>
            <a:endParaRPr lang="en-GB" b="1" dirty="0"/>
          </a:p>
          <a:p>
            <a:pPr lvl="1"/>
            <a:r>
              <a:rPr lang="en-GB" b="1" dirty="0"/>
              <a:t>Large RMSE Reductions:</a:t>
            </a:r>
            <a:r>
              <a:rPr lang="en-GB" dirty="0"/>
              <a:t> In two of three transfers, RMSE falls by over 70 %, </a:t>
            </a:r>
          </a:p>
          <a:p>
            <a:pPr lvl="1"/>
            <a:r>
              <a:rPr lang="en-GB" dirty="0"/>
              <a:t>dropping from ∼80 cycles to ∼23 cycles.</a:t>
            </a:r>
          </a:p>
          <a:p>
            <a:pPr lvl="1"/>
            <a:endParaRPr lang="en-GB" b="1" dirty="0"/>
          </a:p>
          <a:p>
            <a:pPr lvl="1"/>
            <a:r>
              <a:rPr lang="en-GB" b="1" dirty="0"/>
              <a:t>Tighter Error Range:</a:t>
            </a:r>
            <a:r>
              <a:rPr lang="en-GB" dirty="0"/>
              <a:t> All three DANN runs now land between 21–30 cycles RMSE, rather than the wildly varying 33–86 range of the source‐only model.</a:t>
            </a:r>
          </a:p>
          <a:p>
            <a:pPr lvl="1"/>
            <a:endParaRPr lang="en-GB" b="1" dirty="0"/>
          </a:p>
          <a:p>
            <a:pPr lvl="1"/>
            <a:r>
              <a:rPr lang="en-GB" b="1" dirty="0"/>
              <a:t>Performance Stabilization:</a:t>
            </a:r>
            <a:r>
              <a:rPr lang="en-GB" dirty="0"/>
              <a:t> Adversarial alignment smooths out domain‐to‐domain differences, yielding more predictable accuracy.</a:t>
            </a:r>
          </a:p>
          <a:p>
            <a:endParaRPr lang="en-GB" b="1" dirty="0"/>
          </a:p>
          <a:p>
            <a:endParaRPr lang="en-GB" b="1" dirty="0"/>
          </a:p>
          <a:p>
            <a:endParaRPr lang="en-GB" b="1" dirty="0"/>
          </a:p>
          <a:p>
            <a:r>
              <a:rPr lang="en-GB" b="1" dirty="0"/>
              <a:t>Domain‐Specific Gains</a:t>
            </a:r>
            <a:endParaRPr lang="en-GB" dirty="0"/>
          </a:p>
          <a:p>
            <a:pPr lvl="1"/>
            <a:endParaRPr lang="en-GB" b="1" dirty="0"/>
          </a:p>
          <a:p>
            <a:pPr lvl="1"/>
            <a:r>
              <a:rPr lang="en-GB" b="1" dirty="0"/>
              <a:t>FD004 → FD001:</a:t>
            </a:r>
            <a:endParaRPr lang="en-GB" dirty="0"/>
          </a:p>
          <a:p>
            <a:pPr lvl="2"/>
            <a:r>
              <a:rPr lang="en-GB" b="1" dirty="0"/>
              <a:t>75.5 % RMSE reduction</a:t>
            </a:r>
            <a:r>
              <a:rPr lang="en-GB" dirty="0"/>
              <a:t> (86 → 21 cycles) – the largest domain gap is almost completely closed.</a:t>
            </a:r>
          </a:p>
          <a:p>
            <a:pPr lvl="1"/>
            <a:endParaRPr lang="en-GB" b="1" dirty="0"/>
          </a:p>
          <a:p>
            <a:pPr lvl="1"/>
            <a:r>
              <a:rPr lang="en-GB" b="1" dirty="0"/>
              <a:t>FD004 → FD002:</a:t>
            </a:r>
            <a:endParaRPr lang="en-GB" dirty="0"/>
          </a:p>
          <a:p>
            <a:pPr lvl="2"/>
            <a:r>
              <a:rPr lang="en-GB" b="1" dirty="0"/>
              <a:t>10.8 % reduction</a:t>
            </a:r>
            <a:r>
              <a:rPr lang="en-GB" dirty="0"/>
              <a:t> (33 → 30 cycles) – this pair was already the most similar, so only a modest gain.</a:t>
            </a:r>
          </a:p>
          <a:p>
            <a:pPr lvl="1"/>
            <a:endParaRPr lang="en-GB" b="1" dirty="0"/>
          </a:p>
          <a:p>
            <a:pPr lvl="1"/>
            <a:r>
              <a:rPr lang="en-GB" b="1" dirty="0"/>
              <a:t>FD004 → FD003:</a:t>
            </a:r>
            <a:endParaRPr lang="en-GB" dirty="0"/>
          </a:p>
          <a:p>
            <a:pPr lvl="2"/>
            <a:r>
              <a:rPr lang="en-GB" b="1" dirty="0"/>
              <a:t>70.7 % reduction</a:t>
            </a:r>
            <a:r>
              <a:rPr lang="en-GB" dirty="0"/>
              <a:t> (79 → 23 cycles) – again, a dramatic correction when fault modes differed strongly.</a:t>
            </a:r>
          </a:p>
          <a:p>
            <a:endParaRPr lang="en-GB" b="1" dirty="0"/>
          </a:p>
          <a:p>
            <a:endParaRPr lang="en-GB" b="1" dirty="0"/>
          </a:p>
          <a:p>
            <a:r>
              <a:rPr lang="en-GB" b="1" dirty="0"/>
              <a:t>Training Dynamics</a:t>
            </a:r>
            <a:endParaRPr lang="en-GB" dirty="0"/>
          </a:p>
          <a:p>
            <a:pPr lvl="1"/>
            <a:endParaRPr lang="en-GB" b="1" dirty="0"/>
          </a:p>
          <a:p>
            <a:pPr lvl="1"/>
            <a:r>
              <a:rPr lang="en-GB" b="1" dirty="0"/>
              <a:t>Rapid Convergence:</a:t>
            </a:r>
            <a:r>
              <a:rPr lang="en-GB" dirty="0"/>
              <a:t> RMSE peaks above 70 in early epochs, then settles below 35 by epoch 25.</a:t>
            </a:r>
          </a:p>
          <a:p>
            <a:pPr lvl="1"/>
            <a:endParaRPr lang="en-GB" b="1" dirty="0"/>
          </a:p>
          <a:p>
            <a:pPr lvl="1"/>
            <a:r>
              <a:rPr lang="en-GB" b="1" dirty="0"/>
              <a:t>Minor Oscillation:</a:t>
            </a:r>
            <a:r>
              <a:rPr lang="en-GB" dirty="0"/>
              <a:t> Small RMSE bumps occur as the gradient reversal weight ramps up, but overall trend is steadily downward.</a:t>
            </a:r>
          </a:p>
          <a:p>
            <a:pPr>
              <a:buNone/>
            </a:pPr>
            <a:endParaRPr lang="en-GB" dirty="0"/>
          </a:p>
        </p:txBody>
      </p:sp>
      <p:sp>
        <p:nvSpPr>
          <p:cNvPr id="4" name="Slide Number Placeholder 3">
            <a:extLst>
              <a:ext uri="{FF2B5EF4-FFF2-40B4-BE49-F238E27FC236}">
                <a16:creationId xmlns:a16="http://schemas.microsoft.com/office/drawing/2014/main" id="{50EEE25E-74D3-DA24-E87A-A20A7B96F0FC}"/>
              </a:ext>
            </a:extLst>
          </p:cNvPr>
          <p:cNvSpPr>
            <a:spLocks noGrp="1"/>
          </p:cNvSpPr>
          <p:nvPr>
            <p:ph type="sldNum" sz="quarter" idx="5"/>
          </p:nvPr>
        </p:nvSpPr>
        <p:spPr/>
        <p:txBody>
          <a:bodyPr/>
          <a:lstStyle/>
          <a:p>
            <a:fld id="{22289C57-55D7-40A4-A101-E74FAC7A092B}" type="slidenum">
              <a:rPr lang="en-US" smtClean="0"/>
              <a:t>10</a:t>
            </a:fld>
            <a:endParaRPr lang="en-US" dirty="0"/>
          </a:p>
        </p:txBody>
      </p:sp>
    </p:spTree>
    <p:extLst>
      <p:ext uri="{BB962C8B-B14F-4D97-AF65-F5344CB8AC3E}">
        <p14:creationId xmlns:p14="http://schemas.microsoft.com/office/powerpoint/2010/main" val="34085305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348EB-3CDC-A804-33E0-EF9DF82FA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5B4DC8-19AC-4B67-A1C6-5A1663250B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8E1196-CA28-DCC2-AFFF-BB5DE2173D1C}"/>
              </a:ext>
            </a:extLst>
          </p:cNvPr>
          <p:cNvSpPr>
            <a:spLocks noGrp="1"/>
          </p:cNvSpPr>
          <p:nvPr>
            <p:ph type="body" idx="1"/>
          </p:nvPr>
        </p:nvSpPr>
        <p:spPr/>
        <p:txBody>
          <a:bodyPr/>
          <a:lstStyle/>
          <a:p>
            <a:pPr>
              <a:buNone/>
            </a:pPr>
            <a:endParaRPr lang="en-GB" dirty="0"/>
          </a:p>
        </p:txBody>
      </p:sp>
      <p:sp>
        <p:nvSpPr>
          <p:cNvPr id="4" name="Slide Number Placeholder 3">
            <a:extLst>
              <a:ext uri="{FF2B5EF4-FFF2-40B4-BE49-F238E27FC236}">
                <a16:creationId xmlns:a16="http://schemas.microsoft.com/office/drawing/2014/main" id="{A0688799-EA21-D610-A7FF-B8AB2DB070DB}"/>
              </a:ext>
            </a:extLst>
          </p:cNvPr>
          <p:cNvSpPr>
            <a:spLocks noGrp="1"/>
          </p:cNvSpPr>
          <p:nvPr>
            <p:ph type="sldNum" sz="quarter" idx="5"/>
          </p:nvPr>
        </p:nvSpPr>
        <p:spPr/>
        <p:txBody>
          <a:bodyPr/>
          <a:lstStyle/>
          <a:p>
            <a:fld id="{22289C57-55D7-40A4-A101-E74FAC7A092B}" type="slidenum">
              <a:rPr lang="en-US" smtClean="0"/>
              <a:t>11</a:t>
            </a:fld>
            <a:endParaRPr lang="en-US" dirty="0"/>
          </a:p>
        </p:txBody>
      </p:sp>
    </p:spTree>
    <p:extLst>
      <p:ext uri="{BB962C8B-B14F-4D97-AF65-F5344CB8AC3E}">
        <p14:creationId xmlns:p14="http://schemas.microsoft.com/office/powerpoint/2010/main" val="12562243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GB"/>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GB"/>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GB"/>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GB"/>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8DBD1-DB29-D44F-FD5A-3071BB37EF37}"/>
              </a:ext>
            </a:extLst>
          </p:cNvPr>
          <p:cNvSpPr>
            <a:spLocks noGrp="1"/>
          </p:cNvSpPr>
          <p:nvPr>
            <p:ph type="ctrTitle"/>
          </p:nvPr>
        </p:nvSpPr>
        <p:spPr>
          <a:xfrm>
            <a:off x="7209123" y="1422312"/>
            <a:ext cx="5074920" cy="1779932"/>
          </a:xfrm>
        </p:spPr>
        <p:txBody>
          <a:bodyPr/>
          <a:lstStyle/>
          <a:p>
            <a:r>
              <a:rPr lang="en-GB" dirty="0"/>
              <a:t>Generalizing Remaining Useful Life Prediction of TURBOFAN Jet Engine</a:t>
            </a:r>
            <a:endParaRPr lang="en-US" dirty="0"/>
          </a:p>
        </p:txBody>
      </p:sp>
      <p:sp>
        <p:nvSpPr>
          <p:cNvPr id="4" name="TextBox 3">
            <a:extLst>
              <a:ext uri="{FF2B5EF4-FFF2-40B4-BE49-F238E27FC236}">
                <a16:creationId xmlns:a16="http://schemas.microsoft.com/office/drawing/2014/main" id="{0688EEA1-0434-038A-F2C2-14B52C4F87F7}"/>
              </a:ext>
            </a:extLst>
          </p:cNvPr>
          <p:cNvSpPr txBox="1"/>
          <p:nvPr/>
        </p:nvSpPr>
        <p:spPr>
          <a:xfrm>
            <a:off x="762000" y="5628759"/>
            <a:ext cx="2609850" cy="954107"/>
          </a:xfrm>
          <a:prstGeom prst="rect">
            <a:avLst/>
          </a:prstGeom>
          <a:noFill/>
        </p:spPr>
        <p:txBody>
          <a:bodyPr wrap="square">
            <a:spAutoFit/>
          </a:bodyPr>
          <a:lstStyle/>
          <a:p>
            <a:r>
              <a:rPr lang="en-GB" sz="2800" dirty="0"/>
              <a:t>SOHAN ARUN</a:t>
            </a:r>
          </a:p>
          <a:p>
            <a:r>
              <a:rPr lang="en-GB" sz="2800" dirty="0"/>
              <a:t>Group 16</a:t>
            </a:r>
            <a:endParaRPr lang="en-SE" sz="2800" dirty="0"/>
          </a:p>
        </p:txBody>
      </p:sp>
    </p:spTree>
    <p:extLst>
      <p:ext uri="{BB962C8B-B14F-4D97-AF65-F5344CB8AC3E}">
        <p14:creationId xmlns:p14="http://schemas.microsoft.com/office/powerpoint/2010/main" val="608796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A1C10-6070-2454-BBF7-0551EB561BA1}"/>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EBC39ED1-CDD2-D284-4471-A97A814E7753}"/>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2</a:t>
            </a:fld>
            <a:endParaRPr lang="en-US" dirty="0"/>
          </a:p>
        </p:txBody>
      </p:sp>
      <p:sp>
        <p:nvSpPr>
          <p:cNvPr id="4" name="Title 1">
            <a:extLst>
              <a:ext uri="{FF2B5EF4-FFF2-40B4-BE49-F238E27FC236}">
                <a16:creationId xmlns:a16="http://schemas.microsoft.com/office/drawing/2014/main" id="{85BF4F72-666F-661A-AD7F-1883EDD00198}"/>
              </a:ext>
            </a:extLst>
          </p:cNvPr>
          <p:cNvSpPr txBox="1">
            <a:spLocks/>
          </p:cNvSpPr>
          <p:nvPr/>
        </p:nvSpPr>
        <p:spPr>
          <a:xfrm>
            <a:off x="641653" y="539419"/>
            <a:ext cx="7042150" cy="71153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GB" sz="3600" dirty="0"/>
              <a:t>DATASET </a:t>
            </a:r>
          </a:p>
        </p:txBody>
      </p:sp>
      <p:sp>
        <p:nvSpPr>
          <p:cNvPr id="8" name="TextBox 7">
            <a:extLst>
              <a:ext uri="{FF2B5EF4-FFF2-40B4-BE49-F238E27FC236}">
                <a16:creationId xmlns:a16="http://schemas.microsoft.com/office/drawing/2014/main" id="{CDF72775-2BFC-AB88-EDBA-25E8D0C93009}"/>
              </a:ext>
            </a:extLst>
          </p:cNvPr>
          <p:cNvSpPr txBox="1"/>
          <p:nvPr/>
        </p:nvSpPr>
        <p:spPr>
          <a:xfrm>
            <a:off x="641653" y="1794797"/>
            <a:ext cx="10145410" cy="830997"/>
          </a:xfrm>
          <a:prstGeom prst="rect">
            <a:avLst/>
          </a:prstGeom>
          <a:noFill/>
        </p:spPr>
        <p:txBody>
          <a:bodyPr wrap="square" rtlCol="0">
            <a:spAutoFit/>
          </a:bodyPr>
          <a:lstStyle/>
          <a:p>
            <a:r>
              <a:rPr lang="en-GB" sz="2400" dirty="0"/>
              <a:t>NASA's Commercial Modular Aero-Propulsion System Simulation (CMAPSS) </a:t>
            </a:r>
          </a:p>
          <a:p>
            <a:endParaRPr lang="en-SE" sz="2400" b="1" dirty="0"/>
          </a:p>
        </p:txBody>
      </p:sp>
      <p:sp>
        <p:nvSpPr>
          <p:cNvPr id="10" name="Rectangle 1">
            <a:extLst>
              <a:ext uri="{FF2B5EF4-FFF2-40B4-BE49-F238E27FC236}">
                <a16:creationId xmlns:a16="http://schemas.microsoft.com/office/drawing/2014/main" id="{F1EAF9AD-71A0-50A5-7B48-B376AB84E2FC}"/>
              </a:ext>
            </a:extLst>
          </p:cNvPr>
          <p:cNvSpPr>
            <a:spLocks noChangeArrowheads="1"/>
          </p:cNvSpPr>
          <p:nvPr/>
        </p:nvSpPr>
        <p:spPr bwMode="auto">
          <a:xfrm>
            <a:off x="1170291" y="2705507"/>
            <a:ext cx="8709817" cy="305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kumimoji="0" lang="en-GB" altLang="en-SE" sz="1800" b="0" i="0" u="none" strike="noStrike" cap="none" normalizeH="0" baseline="0" dirty="0">
                <a:ln>
                  <a:noFill/>
                </a:ln>
                <a:solidFill>
                  <a:schemeClr val="tx1"/>
                </a:solidFill>
                <a:effectLst/>
                <a:latin typeface="Arial" panose="020B0604020202020204" pitchFamily="34" charset="0"/>
              </a:rPr>
              <a:t> </a:t>
            </a:r>
            <a:endParaRPr lang="en-GB" sz="1600" dirty="0"/>
          </a:p>
          <a:p>
            <a:pPr marL="742950" lvl="1" indent="-285750">
              <a:buFont typeface="Arial" panose="020B0604020202020204" pitchFamily="34" charset="0"/>
              <a:buChar char="•"/>
            </a:pPr>
            <a:r>
              <a:rPr lang="en-GB" sz="1600" dirty="0"/>
              <a:t>contains four sub-datasets (FD001-FD004).</a:t>
            </a:r>
          </a:p>
          <a:p>
            <a:pPr marL="742950" lvl="1" indent="-285750">
              <a:buFont typeface="Arial" panose="020B0604020202020204" pitchFamily="34" charset="0"/>
              <a:buChar char="•"/>
            </a:pPr>
            <a:r>
              <a:rPr lang="en-GB" sz="1600" dirty="0"/>
              <a:t>Each dataset represents different operational conditions and failure modes of jet engines. </a:t>
            </a:r>
          </a:p>
          <a:p>
            <a:pPr marL="742950" lvl="1" indent="-285750">
              <a:buFont typeface="Arial" panose="020B0604020202020204" pitchFamily="34" charset="0"/>
              <a:buChar char="•"/>
            </a:pPr>
            <a:r>
              <a:rPr lang="en-GB" sz="1600" dirty="0"/>
              <a:t>Multiple Operating Conditions containing different loads, altitudes, flight conditions impact wear.</a:t>
            </a:r>
          </a:p>
          <a:p>
            <a:pPr marL="742950" lvl="1" indent="-285750">
              <a:buFont typeface="Arial" panose="020B0604020202020204" pitchFamily="34" charset="0"/>
              <a:buChar char="•"/>
            </a:pPr>
            <a:r>
              <a:rPr lang="en-GB" sz="1600" dirty="0"/>
              <a:t>Each training dataset consists of time-series sensor readings from multiple jet engines, where each engine runs until failure (full lifecycle).</a:t>
            </a:r>
          </a:p>
          <a:p>
            <a:pPr marL="742950" lvl="1" indent="-285750">
              <a:buFont typeface="Arial" panose="020B0604020202020204" pitchFamily="34" charset="0"/>
              <a:buChar char="•"/>
            </a:pPr>
            <a:r>
              <a:rPr lang="en-GB" sz="1600" dirty="0"/>
              <a:t>Each engine has a different lifespan, recorded until failure.</a:t>
            </a:r>
          </a:p>
          <a:p>
            <a:pPr marL="742950" lvl="1" indent="-285750">
              <a:buFont typeface="Arial" panose="020B0604020202020204" pitchFamily="34" charset="0"/>
              <a:buChar char="•"/>
            </a:pPr>
            <a:r>
              <a:rPr lang="en-SE" sz="1600" dirty="0"/>
              <a:t>26 </a:t>
            </a:r>
            <a:r>
              <a:rPr lang="en-GB" sz="1600" dirty="0"/>
              <a:t>sensor measurements (temperature, pressure, fan speed, etc.).</a:t>
            </a:r>
          </a:p>
          <a:p>
            <a:pPr marL="0" marR="0" lvl="0" indent="0" algn="l" defTabSz="914400" rtl="0" eaLnBrk="0" fontAlgn="base" latinLnBrk="0" hangingPunct="0">
              <a:lnSpc>
                <a:spcPct val="200000"/>
              </a:lnSpc>
              <a:spcBef>
                <a:spcPct val="0"/>
              </a:spcBef>
              <a:spcAft>
                <a:spcPct val="0"/>
              </a:spcAft>
              <a:buClrTx/>
              <a:buSzTx/>
              <a:buFontTx/>
              <a:buChar char="•"/>
              <a:tabLst/>
            </a:pPr>
            <a:endParaRPr kumimoji="0" lang="en-SE" altLang="en-S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72992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49A67-5EB3-6B1D-2F93-899815765BCE}"/>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8E28EB3-FE52-3B98-3B7A-FD776633F67A}"/>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3</a:t>
            </a:fld>
            <a:endParaRPr lang="en-US" dirty="0"/>
          </a:p>
        </p:txBody>
      </p:sp>
      <p:sp>
        <p:nvSpPr>
          <p:cNvPr id="5" name="TextBox 4">
            <a:extLst>
              <a:ext uri="{FF2B5EF4-FFF2-40B4-BE49-F238E27FC236}">
                <a16:creationId xmlns:a16="http://schemas.microsoft.com/office/drawing/2014/main" id="{1F030FC1-DB62-FB3F-A82E-F4A4374779FF}"/>
              </a:ext>
            </a:extLst>
          </p:cNvPr>
          <p:cNvSpPr txBox="1"/>
          <p:nvPr/>
        </p:nvSpPr>
        <p:spPr>
          <a:xfrm>
            <a:off x="590550" y="521385"/>
            <a:ext cx="6096000" cy="1200329"/>
          </a:xfrm>
          <a:prstGeom prst="rect">
            <a:avLst/>
          </a:prstGeom>
          <a:noFill/>
        </p:spPr>
        <p:txBody>
          <a:bodyPr wrap="square">
            <a:spAutoFit/>
          </a:bodyPr>
          <a:lstStyle/>
          <a:p>
            <a:r>
              <a:rPr lang="en-US" sz="3600" cap="all" spc="150" dirty="0">
                <a:latin typeface="+mj-lt"/>
                <a:ea typeface="+mj-ea"/>
                <a:cs typeface="+mj-cs"/>
              </a:rPr>
              <a:t>DESIGN</a:t>
            </a:r>
            <a:br>
              <a:rPr lang="en-US" sz="3600" dirty="0"/>
            </a:br>
            <a:endParaRPr lang="en-SE" sz="3600" dirty="0"/>
          </a:p>
        </p:txBody>
      </p:sp>
      <p:sp>
        <p:nvSpPr>
          <p:cNvPr id="19" name="Rectangle 1">
            <a:extLst>
              <a:ext uri="{FF2B5EF4-FFF2-40B4-BE49-F238E27FC236}">
                <a16:creationId xmlns:a16="http://schemas.microsoft.com/office/drawing/2014/main" id="{2CD3AD24-4908-E8DA-D839-5345E3D248B2}"/>
              </a:ext>
            </a:extLst>
          </p:cNvPr>
          <p:cNvSpPr>
            <a:spLocks noChangeArrowheads="1"/>
          </p:cNvSpPr>
          <p:nvPr/>
        </p:nvSpPr>
        <p:spPr bwMode="auto">
          <a:xfrm>
            <a:off x="2909238" y="1588609"/>
            <a:ext cx="7554623" cy="5269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GB" b="1" dirty="0"/>
              <a:t>Experiment 1: Same-Domain Baseline</a:t>
            </a:r>
          </a:p>
          <a:p>
            <a:endParaRPr lang="en-GB" dirty="0"/>
          </a:p>
          <a:p>
            <a:r>
              <a:rPr lang="en-GB" dirty="0"/>
              <a:t>	Train and test on same domain</a:t>
            </a:r>
          </a:p>
          <a:p>
            <a:r>
              <a:rPr lang="en-GB" dirty="0"/>
              <a:t>	Uses LSTM with BatchNorm</a:t>
            </a:r>
          </a:p>
          <a:p>
            <a:r>
              <a:rPr lang="en-GB" dirty="0"/>
              <a:t>	Evaluates domain-specific performance</a:t>
            </a:r>
          </a:p>
          <a:p>
            <a:endParaRPr lang="en-GB" b="1" dirty="0"/>
          </a:p>
          <a:p>
            <a:r>
              <a:rPr lang="en-GB" b="1" dirty="0"/>
              <a:t>Experiment 2: Cross-Domain Baseline</a:t>
            </a:r>
          </a:p>
          <a:p>
            <a:r>
              <a:rPr lang="en-GB" dirty="0"/>
              <a:t>	</a:t>
            </a:r>
          </a:p>
          <a:p>
            <a:r>
              <a:rPr lang="en-GB" dirty="0"/>
              <a:t>	Train on FD004</a:t>
            </a:r>
          </a:p>
          <a:p>
            <a:r>
              <a:rPr lang="en-GB" dirty="0"/>
              <a:t>	Test on FD001, FD002, FD003</a:t>
            </a:r>
          </a:p>
          <a:p>
            <a:r>
              <a:rPr lang="en-GB" dirty="0"/>
              <a:t>	Shows domain shift impact</a:t>
            </a:r>
          </a:p>
          <a:p>
            <a:endParaRPr lang="en-GB" b="1" dirty="0"/>
          </a:p>
          <a:p>
            <a:r>
              <a:rPr lang="en-GB" b="1" dirty="0"/>
              <a:t>Experiment 3: DANN Adaptation</a:t>
            </a:r>
          </a:p>
          <a:p>
            <a:r>
              <a:rPr lang="en-GB" dirty="0"/>
              <a:t>	</a:t>
            </a:r>
          </a:p>
          <a:p>
            <a:r>
              <a:rPr lang="en-GB" dirty="0"/>
              <a:t>	Source: FD004</a:t>
            </a:r>
          </a:p>
          <a:p>
            <a:r>
              <a:rPr lang="en-GB" dirty="0"/>
              <a:t>	Targets: FD001, FD002, FD003</a:t>
            </a:r>
          </a:p>
          <a:p>
            <a:r>
              <a:rPr lang="en-GB" dirty="0"/>
              <a:t>	Adversarial domain adaptation</a:t>
            </a:r>
          </a:p>
          <a:p>
            <a:pPr lvl="0" eaLnBrk="0" fontAlgn="base" hangingPunct="0">
              <a:lnSpc>
                <a:spcPct val="200000"/>
              </a:lnSpc>
              <a:spcBef>
                <a:spcPct val="0"/>
              </a:spcBef>
              <a:spcAft>
                <a:spcPct val="0"/>
              </a:spcAft>
              <a:buFontTx/>
              <a:buChar char="•"/>
            </a:pPr>
            <a:endParaRPr kumimoji="0" lang="en-SE" altLang="en-S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67307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635FC-ABB4-9542-2BAE-2CC9E0FFF08A}"/>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4015A54C-3B4E-54D7-F085-B7D4613635DE}"/>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4</a:t>
            </a:fld>
            <a:endParaRPr lang="en-US" dirty="0"/>
          </a:p>
        </p:txBody>
      </p:sp>
      <p:sp>
        <p:nvSpPr>
          <p:cNvPr id="4" name="Title 1">
            <a:extLst>
              <a:ext uri="{FF2B5EF4-FFF2-40B4-BE49-F238E27FC236}">
                <a16:creationId xmlns:a16="http://schemas.microsoft.com/office/drawing/2014/main" id="{C20A46A1-2C54-212C-DF40-5CA9051A8509}"/>
              </a:ext>
            </a:extLst>
          </p:cNvPr>
          <p:cNvSpPr txBox="1">
            <a:spLocks/>
          </p:cNvSpPr>
          <p:nvPr/>
        </p:nvSpPr>
        <p:spPr>
          <a:xfrm>
            <a:off x="641653" y="539419"/>
            <a:ext cx="7042150" cy="71153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GB" sz="3600" dirty="0"/>
              <a:t>Methodology </a:t>
            </a:r>
          </a:p>
        </p:txBody>
      </p:sp>
      <p:sp>
        <p:nvSpPr>
          <p:cNvPr id="8" name="TextBox 7">
            <a:extLst>
              <a:ext uri="{FF2B5EF4-FFF2-40B4-BE49-F238E27FC236}">
                <a16:creationId xmlns:a16="http://schemas.microsoft.com/office/drawing/2014/main" id="{0BF00E74-2EEE-C026-00D7-6FB54B5AAE30}"/>
              </a:ext>
            </a:extLst>
          </p:cNvPr>
          <p:cNvSpPr txBox="1"/>
          <p:nvPr/>
        </p:nvSpPr>
        <p:spPr>
          <a:xfrm>
            <a:off x="698803" y="2107814"/>
            <a:ext cx="4019550" cy="461665"/>
          </a:xfrm>
          <a:prstGeom prst="rect">
            <a:avLst/>
          </a:prstGeom>
          <a:noFill/>
        </p:spPr>
        <p:txBody>
          <a:bodyPr wrap="square" rtlCol="0">
            <a:spAutoFit/>
          </a:bodyPr>
          <a:lstStyle/>
          <a:p>
            <a:r>
              <a:rPr lang="en-GB" sz="2400" b="1" dirty="0"/>
              <a:t>Preprocessing</a:t>
            </a:r>
            <a:endParaRPr lang="en-SE" sz="2400" b="1" dirty="0"/>
          </a:p>
        </p:txBody>
      </p:sp>
      <p:sp>
        <p:nvSpPr>
          <p:cNvPr id="10" name="Rectangle 1">
            <a:extLst>
              <a:ext uri="{FF2B5EF4-FFF2-40B4-BE49-F238E27FC236}">
                <a16:creationId xmlns:a16="http://schemas.microsoft.com/office/drawing/2014/main" id="{DA3CCBE5-A453-D838-1DCE-B9DCFD0B755E}"/>
              </a:ext>
            </a:extLst>
          </p:cNvPr>
          <p:cNvSpPr>
            <a:spLocks noChangeArrowheads="1"/>
          </p:cNvSpPr>
          <p:nvPr/>
        </p:nvSpPr>
        <p:spPr bwMode="auto">
          <a:xfrm>
            <a:off x="981671" y="4000640"/>
            <a:ext cx="5590872" cy="560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endParaRPr kumimoji="0" lang="en-SE" altLang="en-SE"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717B303C-79D5-0437-21C0-DF5EF5267498}"/>
              </a:ext>
            </a:extLst>
          </p:cNvPr>
          <p:cNvSpPr>
            <a:spLocks noChangeArrowheads="1"/>
          </p:cNvSpPr>
          <p:nvPr/>
        </p:nvSpPr>
        <p:spPr bwMode="auto">
          <a:xfrm>
            <a:off x="1511448" y="2988183"/>
            <a:ext cx="665393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GB" dirty="0"/>
              <a:t>- Loaded raw engine data for multiple domains (FD001–FD004)</a:t>
            </a:r>
          </a:p>
          <a:p>
            <a:endParaRPr lang="en-GB" dirty="0"/>
          </a:p>
          <a:p>
            <a:r>
              <a:rPr lang="en-GB" dirty="0"/>
              <a:t>- Computed RUL for each cycle and capped at 125 cycles</a:t>
            </a:r>
          </a:p>
          <a:p>
            <a:endParaRPr lang="en-GB" dirty="0"/>
          </a:p>
          <a:p>
            <a:r>
              <a:rPr lang="en-GB" dirty="0"/>
              <a:t>- Normalized sensor features</a:t>
            </a:r>
          </a:p>
          <a:p>
            <a:endParaRPr lang="en-GB" dirty="0"/>
          </a:p>
          <a:p>
            <a:r>
              <a:rPr lang="en-GB" dirty="0"/>
              <a:t>- Sliced data into overlapping windows (window size = 30 cycles)</a:t>
            </a:r>
          </a:p>
          <a:p>
            <a:endParaRPr lang="en-GB" dirty="0"/>
          </a:p>
          <a:p>
            <a:r>
              <a:rPr lang="en-GB" dirty="0"/>
              <a:t>- Split engines into training (80%) and validation (20%) sets</a:t>
            </a:r>
          </a:p>
        </p:txBody>
      </p:sp>
    </p:spTree>
    <p:extLst>
      <p:ext uri="{BB962C8B-B14F-4D97-AF65-F5344CB8AC3E}">
        <p14:creationId xmlns:p14="http://schemas.microsoft.com/office/powerpoint/2010/main" val="1416645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A60E5-43FA-7458-7527-F0C0440B74D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4026CFF-B3FC-7500-AB3A-98BFEC4BE42A}"/>
              </a:ext>
            </a:extLst>
          </p:cNvPr>
          <p:cNvSpPr txBox="1">
            <a:spLocks/>
          </p:cNvSpPr>
          <p:nvPr/>
        </p:nvSpPr>
        <p:spPr>
          <a:xfrm>
            <a:off x="641653" y="539419"/>
            <a:ext cx="7042150" cy="71153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GB" sz="3600" dirty="0"/>
              <a:t>Methodology </a:t>
            </a:r>
          </a:p>
        </p:txBody>
      </p:sp>
      <p:sp>
        <p:nvSpPr>
          <p:cNvPr id="3" name="TextBox 2">
            <a:extLst>
              <a:ext uri="{FF2B5EF4-FFF2-40B4-BE49-F238E27FC236}">
                <a16:creationId xmlns:a16="http://schemas.microsoft.com/office/drawing/2014/main" id="{028595DA-9AA0-1D58-AEE0-B224309D3180}"/>
              </a:ext>
            </a:extLst>
          </p:cNvPr>
          <p:cNvSpPr txBox="1"/>
          <p:nvPr/>
        </p:nvSpPr>
        <p:spPr>
          <a:xfrm>
            <a:off x="551050" y="1889642"/>
            <a:ext cx="8191506" cy="461665"/>
          </a:xfrm>
          <a:prstGeom prst="rect">
            <a:avLst/>
          </a:prstGeom>
          <a:noFill/>
        </p:spPr>
        <p:txBody>
          <a:bodyPr wrap="square" rtlCol="0">
            <a:spAutoFit/>
          </a:bodyPr>
          <a:lstStyle/>
          <a:p>
            <a:r>
              <a:rPr lang="en-GB" sz="2400" b="1" dirty="0"/>
              <a:t>Architecture - LSTM with Batch Norm(Baseline)</a:t>
            </a:r>
            <a:endParaRPr lang="en-SE" sz="2400" b="1" dirty="0"/>
          </a:p>
        </p:txBody>
      </p:sp>
      <p:sp>
        <p:nvSpPr>
          <p:cNvPr id="2" name="Rectangle 1">
            <a:extLst>
              <a:ext uri="{FF2B5EF4-FFF2-40B4-BE49-F238E27FC236}">
                <a16:creationId xmlns:a16="http://schemas.microsoft.com/office/drawing/2014/main" id="{6258472D-1292-AF82-2BE2-A5BD1920E3D2}"/>
              </a:ext>
            </a:extLst>
          </p:cNvPr>
          <p:cNvSpPr>
            <a:spLocks noChangeArrowheads="1"/>
          </p:cNvSpPr>
          <p:nvPr/>
        </p:nvSpPr>
        <p:spPr bwMode="auto">
          <a:xfrm>
            <a:off x="126380" y="2864554"/>
            <a:ext cx="6032036"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GB" b="1" dirty="0"/>
              <a:t>- </a:t>
            </a:r>
            <a:r>
              <a:rPr lang="en-GB" dirty="0"/>
              <a:t>Two-layer LSTM processes sequences of sensor readings</a:t>
            </a:r>
          </a:p>
          <a:p>
            <a:endParaRPr lang="en-GB" dirty="0"/>
          </a:p>
          <a:p>
            <a:r>
              <a:rPr lang="en-GB" dirty="0"/>
              <a:t>- Hidden size of 100 units captures temporal dependencies</a:t>
            </a:r>
          </a:p>
          <a:p>
            <a:endParaRPr lang="en-GB" dirty="0"/>
          </a:p>
          <a:p>
            <a:r>
              <a:rPr lang="en-GB" dirty="0"/>
              <a:t>- Processes windows of 30 timesteps</a:t>
            </a:r>
          </a:p>
          <a:p>
            <a:endParaRPr lang="en-GB" dirty="0"/>
          </a:p>
          <a:p>
            <a:pPr marL="285750" indent="-285750">
              <a:buFontTx/>
              <a:buChar char="-"/>
            </a:pPr>
            <a:r>
              <a:rPr lang="en-GB" dirty="0"/>
              <a:t>Input features: 21 sensors + 3 operational settings</a:t>
            </a:r>
          </a:p>
          <a:p>
            <a:pPr marL="285750" indent="-285750">
              <a:buFontTx/>
              <a:buChar char="-"/>
            </a:pPr>
            <a:endParaRPr lang="en-GB" dirty="0"/>
          </a:p>
          <a:p>
            <a:pPr marL="285750" indent="-285750">
              <a:buFontTx/>
              <a:buChar char="-"/>
            </a:pPr>
            <a:r>
              <a:rPr lang="en-GB" dirty="0"/>
              <a:t>Batch Norm applied after each layer</a:t>
            </a:r>
          </a:p>
          <a:p>
            <a:endParaRPr lang="en-GB" dirty="0"/>
          </a:p>
        </p:txBody>
      </p:sp>
      <p:sp>
        <p:nvSpPr>
          <p:cNvPr id="8" name="TextBox 7">
            <a:extLst>
              <a:ext uri="{FF2B5EF4-FFF2-40B4-BE49-F238E27FC236}">
                <a16:creationId xmlns:a16="http://schemas.microsoft.com/office/drawing/2014/main" id="{857EE5F6-3EBF-279A-ED63-D50E85B245A7}"/>
              </a:ext>
            </a:extLst>
          </p:cNvPr>
          <p:cNvSpPr txBox="1"/>
          <p:nvPr/>
        </p:nvSpPr>
        <p:spPr>
          <a:xfrm>
            <a:off x="6869153" y="2351307"/>
            <a:ext cx="6096000" cy="4247317"/>
          </a:xfrm>
          <a:prstGeom prst="rect">
            <a:avLst/>
          </a:prstGeom>
          <a:noFill/>
        </p:spPr>
        <p:txBody>
          <a:bodyPr wrap="square">
            <a:spAutoFit/>
          </a:bodyPr>
          <a:lstStyle/>
          <a:p>
            <a:endParaRPr lang="en-GB" b="1" dirty="0"/>
          </a:p>
          <a:p>
            <a:endParaRPr lang="en-GB" b="1" dirty="0"/>
          </a:p>
          <a:p>
            <a:r>
              <a:rPr lang="en-GB" b="1" dirty="0"/>
              <a:t>Loss Function:</a:t>
            </a:r>
            <a:r>
              <a:rPr lang="en-GB" dirty="0"/>
              <a:t> Mean Absolute Error (MAE / L1Loss)</a:t>
            </a:r>
          </a:p>
          <a:p>
            <a:endParaRPr lang="en-GB" b="1" dirty="0"/>
          </a:p>
          <a:p>
            <a:r>
              <a:rPr lang="en-GB" b="1" dirty="0"/>
              <a:t>Optimizer:</a:t>
            </a:r>
            <a:r>
              <a:rPr lang="en-GB" dirty="0"/>
              <a:t> Adam </a:t>
            </a:r>
          </a:p>
          <a:p>
            <a:endParaRPr lang="en-GB" b="1" dirty="0"/>
          </a:p>
          <a:p>
            <a:r>
              <a:rPr lang="en-GB" b="1" dirty="0"/>
              <a:t>learning rate </a:t>
            </a:r>
            <a:r>
              <a:rPr lang="en-GB" dirty="0"/>
              <a:t>= 1e-3</a:t>
            </a:r>
          </a:p>
          <a:p>
            <a:endParaRPr lang="en-GB" b="1" dirty="0"/>
          </a:p>
          <a:p>
            <a:r>
              <a:rPr lang="en-GB" b="1" dirty="0"/>
              <a:t>Batch Size:</a:t>
            </a:r>
            <a:r>
              <a:rPr lang="en-GB" dirty="0"/>
              <a:t> 256 (train), 512 (validation)</a:t>
            </a:r>
          </a:p>
          <a:p>
            <a:endParaRPr lang="en-GB" b="1" dirty="0"/>
          </a:p>
          <a:p>
            <a:r>
              <a:rPr lang="en-GB" b="1" dirty="0"/>
              <a:t>Epochs: </a:t>
            </a:r>
            <a:r>
              <a:rPr lang="en-GB" dirty="0"/>
              <a:t>100</a:t>
            </a:r>
          </a:p>
          <a:p>
            <a:endParaRPr lang="en-GB" b="1" dirty="0"/>
          </a:p>
          <a:p>
            <a:r>
              <a:rPr lang="en-GB" b="1" dirty="0"/>
              <a:t>Early Stopping:</a:t>
            </a:r>
            <a:r>
              <a:rPr lang="en-GB" dirty="0"/>
              <a:t> Patience of 20 epochs</a:t>
            </a:r>
          </a:p>
          <a:p>
            <a:br>
              <a:rPr lang="en-GB" dirty="0"/>
            </a:br>
            <a:endParaRPr lang="en-GB" dirty="0"/>
          </a:p>
        </p:txBody>
      </p:sp>
    </p:spTree>
    <p:extLst>
      <p:ext uri="{BB962C8B-B14F-4D97-AF65-F5344CB8AC3E}">
        <p14:creationId xmlns:p14="http://schemas.microsoft.com/office/powerpoint/2010/main" val="1736109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60D43-9668-029C-DBB4-FB41F67B1BA0}"/>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7C4B6831-CCEA-9759-3870-9356DBFD1AF3}"/>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6</a:t>
            </a:fld>
            <a:endParaRPr lang="en-US" dirty="0"/>
          </a:p>
        </p:txBody>
      </p:sp>
      <p:sp>
        <p:nvSpPr>
          <p:cNvPr id="4" name="Title 1">
            <a:extLst>
              <a:ext uri="{FF2B5EF4-FFF2-40B4-BE49-F238E27FC236}">
                <a16:creationId xmlns:a16="http://schemas.microsoft.com/office/drawing/2014/main" id="{15651323-CED9-266A-B6D4-442B724975ED}"/>
              </a:ext>
            </a:extLst>
          </p:cNvPr>
          <p:cNvSpPr txBox="1">
            <a:spLocks/>
          </p:cNvSpPr>
          <p:nvPr/>
        </p:nvSpPr>
        <p:spPr>
          <a:xfrm>
            <a:off x="641653" y="539419"/>
            <a:ext cx="7042150" cy="71153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GB" sz="3600" dirty="0"/>
              <a:t>Methodology </a:t>
            </a:r>
          </a:p>
        </p:txBody>
      </p:sp>
      <p:sp>
        <p:nvSpPr>
          <p:cNvPr id="3" name="TextBox 2">
            <a:extLst>
              <a:ext uri="{FF2B5EF4-FFF2-40B4-BE49-F238E27FC236}">
                <a16:creationId xmlns:a16="http://schemas.microsoft.com/office/drawing/2014/main" id="{09BF4446-1FB1-56B8-DE01-29214723E701}"/>
              </a:ext>
            </a:extLst>
          </p:cNvPr>
          <p:cNvSpPr txBox="1"/>
          <p:nvPr/>
        </p:nvSpPr>
        <p:spPr>
          <a:xfrm>
            <a:off x="566150" y="1740883"/>
            <a:ext cx="6035372" cy="461665"/>
          </a:xfrm>
          <a:prstGeom prst="rect">
            <a:avLst/>
          </a:prstGeom>
          <a:noFill/>
        </p:spPr>
        <p:txBody>
          <a:bodyPr wrap="square" rtlCol="0">
            <a:spAutoFit/>
          </a:bodyPr>
          <a:lstStyle/>
          <a:p>
            <a:r>
              <a:rPr lang="en-GB" sz="2400" b="1" dirty="0"/>
              <a:t>Architecture – LSTM - DANN</a:t>
            </a:r>
            <a:endParaRPr lang="en-SE" sz="2400" b="1" dirty="0"/>
          </a:p>
        </p:txBody>
      </p:sp>
      <p:sp>
        <p:nvSpPr>
          <p:cNvPr id="6" name="Rectangle 5">
            <a:extLst>
              <a:ext uri="{FF2B5EF4-FFF2-40B4-BE49-F238E27FC236}">
                <a16:creationId xmlns:a16="http://schemas.microsoft.com/office/drawing/2014/main" id="{362547B9-38EE-3F6F-1C5B-1816C8056867}"/>
              </a:ext>
            </a:extLst>
          </p:cNvPr>
          <p:cNvSpPr>
            <a:spLocks noChangeArrowheads="1"/>
          </p:cNvSpPr>
          <p:nvPr/>
        </p:nvSpPr>
        <p:spPr bwMode="auto">
          <a:xfrm>
            <a:off x="284814" y="2602421"/>
            <a:ext cx="556671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b="1" dirty="0"/>
          </a:p>
          <a:p>
            <a:r>
              <a:rPr lang="en-GB" b="1" dirty="0"/>
              <a:t>Three Main Components:</a:t>
            </a:r>
            <a:endParaRPr lang="en-GB" dirty="0"/>
          </a:p>
          <a:p>
            <a:pPr lvl="1"/>
            <a:endParaRPr lang="en-GB" dirty="0"/>
          </a:p>
          <a:p>
            <a:pPr lvl="1"/>
            <a:r>
              <a:rPr lang="en-GB" dirty="0"/>
              <a:t>Feature Extractor (Bidirectional LSTM)</a:t>
            </a:r>
          </a:p>
          <a:p>
            <a:pPr lvl="1"/>
            <a:endParaRPr lang="en-GB" dirty="0"/>
          </a:p>
          <a:p>
            <a:pPr lvl="1"/>
            <a:r>
              <a:rPr lang="en-GB" dirty="0"/>
              <a:t>RUL Regressor</a:t>
            </a:r>
          </a:p>
          <a:p>
            <a:pPr lvl="1"/>
            <a:endParaRPr lang="en-GB" dirty="0"/>
          </a:p>
          <a:p>
            <a:pPr lvl="1"/>
            <a:r>
              <a:rPr lang="en-GB" dirty="0"/>
              <a:t>Domain Classifier</a:t>
            </a:r>
          </a:p>
          <a:p>
            <a:pPr lvl="1"/>
            <a:endParaRPr lang="en-GB" dirty="0"/>
          </a:p>
          <a:p>
            <a:pPr lvl="1"/>
            <a:r>
              <a:rPr lang="en-GB" dirty="0"/>
              <a:t>Connected through Gradient Reversal Layer (GRL)</a:t>
            </a:r>
          </a:p>
          <a:p>
            <a:endParaRPr lang="en-GB" dirty="0"/>
          </a:p>
        </p:txBody>
      </p:sp>
      <p:sp>
        <p:nvSpPr>
          <p:cNvPr id="7" name="TextBox 6">
            <a:extLst>
              <a:ext uri="{FF2B5EF4-FFF2-40B4-BE49-F238E27FC236}">
                <a16:creationId xmlns:a16="http://schemas.microsoft.com/office/drawing/2014/main" id="{53C2BE05-D70D-289E-2CBA-46DF4CE33A6F}"/>
              </a:ext>
            </a:extLst>
          </p:cNvPr>
          <p:cNvSpPr txBox="1"/>
          <p:nvPr/>
        </p:nvSpPr>
        <p:spPr>
          <a:xfrm>
            <a:off x="6601522" y="1589031"/>
            <a:ext cx="6096000" cy="5078313"/>
          </a:xfrm>
          <a:prstGeom prst="rect">
            <a:avLst/>
          </a:prstGeom>
          <a:noFill/>
        </p:spPr>
        <p:txBody>
          <a:bodyPr wrap="square">
            <a:spAutoFit/>
          </a:bodyPr>
          <a:lstStyle/>
          <a:p>
            <a:endParaRPr lang="en-GB" b="1" dirty="0"/>
          </a:p>
          <a:p>
            <a:r>
              <a:rPr lang="en-GB" b="1" dirty="0"/>
              <a:t>LSTM Configuration</a:t>
            </a:r>
            <a:endParaRPr lang="en-GB" dirty="0"/>
          </a:p>
          <a:p>
            <a:pPr lvl="1"/>
            <a:r>
              <a:rPr lang="en-GB" dirty="0"/>
              <a:t>Hidden size: 156 (312 with bidirectional)</a:t>
            </a:r>
          </a:p>
          <a:p>
            <a:pPr lvl="1"/>
            <a:r>
              <a:rPr lang="en-GB" dirty="0"/>
              <a:t>Number of layers: 2</a:t>
            </a:r>
          </a:p>
          <a:p>
            <a:pPr lvl="1"/>
            <a:r>
              <a:rPr lang="en-GB" dirty="0"/>
              <a:t>Bidirectional: True</a:t>
            </a:r>
          </a:p>
          <a:p>
            <a:pPr lvl="1"/>
            <a:r>
              <a:rPr lang="en-GB" dirty="0"/>
              <a:t>Dropout: 0.3</a:t>
            </a:r>
          </a:p>
          <a:p>
            <a:pPr lvl="1"/>
            <a:endParaRPr lang="en-GB" dirty="0"/>
          </a:p>
          <a:p>
            <a:r>
              <a:rPr lang="en-GB" b="1" dirty="0"/>
              <a:t>Regressor Head</a:t>
            </a:r>
            <a:endParaRPr lang="en-GB" dirty="0"/>
          </a:p>
          <a:p>
            <a:pPr lvl="1"/>
            <a:r>
              <a:rPr lang="en-GB" dirty="0"/>
              <a:t>Dense layers: [312 → 312 → 64 → 1]</a:t>
            </a:r>
          </a:p>
          <a:p>
            <a:pPr lvl="1"/>
            <a:r>
              <a:rPr lang="en-GB" dirty="0"/>
              <a:t>BatchNorm after each dense layer</a:t>
            </a:r>
          </a:p>
          <a:p>
            <a:pPr lvl="1"/>
            <a:r>
              <a:rPr lang="en-GB" dirty="0"/>
              <a:t>Dropout rates: [0.2, 0.1]</a:t>
            </a:r>
          </a:p>
          <a:p>
            <a:endParaRPr lang="en-GB" b="1" dirty="0"/>
          </a:p>
          <a:p>
            <a:r>
              <a:rPr lang="en-GB" b="1" dirty="0"/>
              <a:t>Domain Classifier</a:t>
            </a:r>
            <a:endParaRPr lang="en-GB" dirty="0"/>
          </a:p>
          <a:p>
            <a:pPr lvl="1"/>
            <a:r>
              <a:rPr lang="en-GB" dirty="0"/>
              <a:t>Dense layers: [312 → 64 → 1]</a:t>
            </a:r>
          </a:p>
          <a:p>
            <a:pPr lvl="1"/>
            <a:r>
              <a:rPr lang="en-GB" dirty="0"/>
              <a:t>BatchNorm + ReLU activation</a:t>
            </a:r>
          </a:p>
          <a:p>
            <a:pPr lvl="1"/>
            <a:r>
              <a:rPr lang="en-GB" dirty="0"/>
              <a:t>Final Sigmoid activation</a:t>
            </a:r>
          </a:p>
          <a:p>
            <a:br>
              <a:rPr lang="en-GB" dirty="0"/>
            </a:br>
            <a:endParaRPr lang="en-GB" dirty="0"/>
          </a:p>
        </p:txBody>
      </p:sp>
    </p:spTree>
    <p:extLst>
      <p:ext uri="{BB962C8B-B14F-4D97-AF65-F5344CB8AC3E}">
        <p14:creationId xmlns:p14="http://schemas.microsoft.com/office/powerpoint/2010/main" val="3193068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AE22F-87EA-9CCF-4E1E-648573FA3422}"/>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69EE5C71-4265-1EE5-F4CE-41152A8CBEC2}"/>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7</a:t>
            </a:fld>
            <a:endParaRPr lang="en-US" dirty="0"/>
          </a:p>
        </p:txBody>
      </p:sp>
      <p:sp>
        <p:nvSpPr>
          <p:cNvPr id="3" name="TextBox 2">
            <a:extLst>
              <a:ext uri="{FF2B5EF4-FFF2-40B4-BE49-F238E27FC236}">
                <a16:creationId xmlns:a16="http://schemas.microsoft.com/office/drawing/2014/main" id="{72CF8AF8-EC0B-C22D-B7CE-5AE8497A4DD3}"/>
              </a:ext>
            </a:extLst>
          </p:cNvPr>
          <p:cNvSpPr txBox="1"/>
          <p:nvPr/>
        </p:nvSpPr>
        <p:spPr>
          <a:xfrm>
            <a:off x="641653" y="594360"/>
            <a:ext cx="6035372" cy="646331"/>
          </a:xfrm>
          <a:prstGeom prst="rect">
            <a:avLst/>
          </a:prstGeom>
          <a:noFill/>
        </p:spPr>
        <p:txBody>
          <a:bodyPr wrap="square" rtlCol="0">
            <a:spAutoFit/>
          </a:bodyPr>
          <a:lstStyle/>
          <a:p>
            <a:r>
              <a:rPr lang="en-GB" sz="3600" cap="all" spc="150" dirty="0">
                <a:latin typeface="+mj-lt"/>
                <a:ea typeface="+mj-ea"/>
                <a:cs typeface="+mj-cs"/>
              </a:rPr>
              <a:t>Evaluation Metrics</a:t>
            </a:r>
            <a:endParaRPr lang="en-SE" sz="3600" cap="all" spc="150" dirty="0">
              <a:latin typeface="+mj-lt"/>
              <a:ea typeface="+mj-ea"/>
              <a:cs typeface="+mj-cs"/>
            </a:endParaRPr>
          </a:p>
        </p:txBody>
      </p:sp>
      <p:sp>
        <p:nvSpPr>
          <p:cNvPr id="4" name="TextBox 3">
            <a:extLst>
              <a:ext uri="{FF2B5EF4-FFF2-40B4-BE49-F238E27FC236}">
                <a16:creationId xmlns:a16="http://schemas.microsoft.com/office/drawing/2014/main" id="{62522DAD-FFBB-7464-7052-F5582C89D844}"/>
              </a:ext>
            </a:extLst>
          </p:cNvPr>
          <p:cNvSpPr txBox="1"/>
          <p:nvPr/>
        </p:nvSpPr>
        <p:spPr>
          <a:xfrm>
            <a:off x="2499034" y="2709889"/>
            <a:ext cx="8355981" cy="1200329"/>
          </a:xfrm>
          <a:prstGeom prst="rect">
            <a:avLst/>
          </a:prstGeom>
          <a:noFill/>
        </p:spPr>
        <p:txBody>
          <a:bodyPr wrap="square">
            <a:spAutoFit/>
          </a:bodyPr>
          <a:lstStyle/>
          <a:p>
            <a:pPr algn="l">
              <a:buFont typeface="Arial" panose="020B0604020202020204" pitchFamily="34" charset="0"/>
              <a:buChar char="•"/>
            </a:pPr>
            <a:r>
              <a:rPr lang="en-GB" i="0" dirty="0">
                <a:effectLst/>
                <a:latin typeface="Segoe WPC"/>
              </a:rPr>
              <a:t>Root Mean Squared Error (RMSE): Measures average prediction error.</a:t>
            </a:r>
          </a:p>
          <a:p>
            <a:pPr algn="l">
              <a:buFont typeface="Arial" panose="020B0604020202020204" pitchFamily="34" charset="0"/>
              <a:buChar char="•"/>
            </a:pPr>
            <a:endParaRPr lang="en-GB" i="0" dirty="0">
              <a:effectLst/>
              <a:latin typeface="Segoe WPC"/>
            </a:endParaRPr>
          </a:p>
          <a:p>
            <a:pPr algn="l">
              <a:buFont typeface="Arial" panose="020B0604020202020204" pitchFamily="34" charset="0"/>
              <a:buChar char="•"/>
            </a:pPr>
            <a:r>
              <a:rPr lang="en-GB" i="0" dirty="0">
                <a:effectLst/>
                <a:latin typeface="Segoe WPC"/>
              </a:rPr>
              <a:t>NASA Score: Penalizes overestimation of RUL more heavily than underestimation.</a:t>
            </a:r>
          </a:p>
        </p:txBody>
      </p:sp>
    </p:spTree>
    <p:extLst>
      <p:ext uri="{BB962C8B-B14F-4D97-AF65-F5344CB8AC3E}">
        <p14:creationId xmlns:p14="http://schemas.microsoft.com/office/powerpoint/2010/main" val="416278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9E793-AF97-E215-B1D6-63FB0DC48039}"/>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D9C651E3-3ADC-D807-A054-8BD698930C56}"/>
              </a:ext>
            </a:extLst>
          </p:cNvPr>
          <p:cNvSpPr>
            <a:spLocks noGrp="1"/>
          </p:cNvSpPr>
          <p:nvPr>
            <p:ph type="sldNum" sz="quarter" idx="12"/>
          </p:nvPr>
        </p:nvSpPr>
        <p:spPr>
          <a:xfrm>
            <a:off x="8544312" y="6334047"/>
            <a:ext cx="2743200" cy="365125"/>
          </a:xfrm>
        </p:spPr>
        <p:txBody>
          <a:bodyPr/>
          <a:lstStyle/>
          <a:p>
            <a:fld id="{A49DFD55-3C28-40EF-9E31-A92D2E4017FF}" type="slidenum">
              <a:rPr lang="en-US" smtClean="0"/>
              <a:pPr/>
              <a:t>8</a:t>
            </a:fld>
            <a:endParaRPr lang="en-US" dirty="0"/>
          </a:p>
        </p:txBody>
      </p:sp>
      <p:sp>
        <p:nvSpPr>
          <p:cNvPr id="3" name="TextBox 2">
            <a:extLst>
              <a:ext uri="{FF2B5EF4-FFF2-40B4-BE49-F238E27FC236}">
                <a16:creationId xmlns:a16="http://schemas.microsoft.com/office/drawing/2014/main" id="{00701739-37F7-6724-6926-543D016423D0}"/>
              </a:ext>
            </a:extLst>
          </p:cNvPr>
          <p:cNvSpPr txBox="1"/>
          <p:nvPr/>
        </p:nvSpPr>
        <p:spPr>
          <a:xfrm>
            <a:off x="641653" y="594360"/>
            <a:ext cx="6035372" cy="646331"/>
          </a:xfrm>
          <a:prstGeom prst="rect">
            <a:avLst/>
          </a:prstGeom>
          <a:noFill/>
        </p:spPr>
        <p:txBody>
          <a:bodyPr wrap="square" rtlCol="0">
            <a:spAutoFit/>
          </a:bodyPr>
          <a:lstStyle/>
          <a:p>
            <a:r>
              <a:rPr lang="en-GB" sz="3600" cap="all" spc="150" dirty="0">
                <a:latin typeface="+mj-lt"/>
                <a:ea typeface="+mj-ea"/>
                <a:cs typeface="+mj-cs"/>
              </a:rPr>
              <a:t>RESULTS</a:t>
            </a:r>
            <a:endParaRPr lang="en-SE" sz="3600" cap="all" spc="150" dirty="0">
              <a:latin typeface="+mj-lt"/>
              <a:ea typeface="+mj-ea"/>
              <a:cs typeface="+mj-cs"/>
            </a:endParaRPr>
          </a:p>
        </p:txBody>
      </p:sp>
      <p:sp>
        <p:nvSpPr>
          <p:cNvPr id="4" name="TextBox 3">
            <a:extLst>
              <a:ext uri="{FF2B5EF4-FFF2-40B4-BE49-F238E27FC236}">
                <a16:creationId xmlns:a16="http://schemas.microsoft.com/office/drawing/2014/main" id="{833D47E4-5254-447F-675B-BFBACE740588}"/>
              </a:ext>
            </a:extLst>
          </p:cNvPr>
          <p:cNvSpPr txBox="1"/>
          <p:nvPr/>
        </p:nvSpPr>
        <p:spPr>
          <a:xfrm>
            <a:off x="641653" y="1838235"/>
            <a:ext cx="8355981" cy="369332"/>
          </a:xfrm>
          <a:prstGeom prst="rect">
            <a:avLst/>
          </a:prstGeom>
          <a:noFill/>
        </p:spPr>
        <p:txBody>
          <a:bodyPr wrap="square">
            <a:spAutoFit/>
          </a:bodyPr>
          <a:lstStyle/>
          <a:p>
            <a:r>
              <a:rPr lang="en-GB" b="1" dirty="0"/>
              <a:t>Same Domain using baseline LSTM</a:t>
            </a:r>
            <a:endParaRPr lang="en-SE" b="1" dirty="0"/>
          </a:p>
        </p:txBody>
      </p:sp>
      <p:sp>
        <p:nvSpPr>
          <p:cNvPr id="6" name="TextBox 5">
            <a:extLst>
              <a:ext uri="{FF2B5EF4-FFF2-40B4-BE49-F238E27FC236}">
                <a16:creationId xmlns:a16="http://schemas.microsoft.com/office/drawing/2014/main" id="{80958BA7-C1E6-4381-B314-F2B671A35AF0}"/>
              </a:ext>
            </a:extLst>
          </p:cNvPr>
          <p:cNvSpPr txBox="1"/>
          <p:nvPr/>
        </p:nvSpPr>
        <p:spPr>
          <a:xfrm>
            <a:off x="3048000" y="2688477"/>
            <a:ext cx="6096000" cy="923330"/>
          </a:xfrm>
          <a:prstGeom prst="rect">
            <a:avLst/>
          </a:prstGeom>
          <a:noFill/>
        </p:spPr>
        <p:txBody>
          <a:bodyPr wrap="square">
            <a:spAutoFit/>
          </a:bodyPr>
          <a:lstStyle/>
          <a:p>
            <a:r>
              <a:rPr lang="en-SE" dirty="0"/>
              <a:t>		</a:t>
            </a:r>
          </a:p>
          <a:p>
            <a:r>
              <a:rPr lang="en-SE" dirty="0"/>
              <a:t>		</a:t>
            </a:r>
          </a:p>
          <a:p>
            <a:r>
              <a:rPr lang="en-SE" dirty="0"/>
              <a:t>		</a:t>
            </a:r>
          </a:p>
        </p:txBody>
      </p:sp>
      <p:graphicFrame>
        <p:nvGraphicFramePr>
          <p:cNvPr id="7" name="Table 6">
            <a:extLst>
              <a:ext uri="{FF2B5EF4-FFF2-40B4-BE49-F238E27FC236}">
                <a16:creationId xmlns:a16="http://schemas.microsoft.com/office/drawing/2014/main" id="{9BFF3010-4BF2-6B35-F86B-56E3916B77CE}"/>
              </a:ext>
            </a:extLst>
          </p:cNvPr>
          <p:cNvGraphicFramePr>
            <a:graphicFrameLocks noGrp="1"/>
          </p:cNvGraphicFramePr>
          <p:nvPr>
            <p:extLst>
              <p:ext uri="{D42A27DB-BD31-4B8C-83A1-F6EECF244321}">
                <p14:modId xmlns:p14="http://schemas.microsoft.com/office/powerpoint/2010/main" val="2327464780"/>
              </p:ext>
            </p:extLst>
          </p:nvPr>
        </p:nvGraphicFramePr>
        <p:xfrm>
          <a:off x="931747" y="4092717"/>
          <a:ext cx="6096000" cy="1860188"/>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797356300"/>
                    </a:ext>
                  </a:extLst>
                </a:gridCol>
                <a:gridCol w="2032000">
                  <a:extLst>
                    <a:ext uri="{9D8B030D-6E8A-4147-A177-3AD203B41FA5}">
                      <a16:colId xmlns:a16="http://schemas.microsoft.com/office/drawing/2014/main" val="2958695081"/>
                    </a:ext>
                  </a:extLst>
                </a:gridCol>
                <a:gridCol w="2032000">
                  <a:extLst>
                    <a:ext uri="{9D8B030D-6E8A-4147-A177-3AD203B41FA5}">
                      <a16:colId xmlns:a16="http://schemas.microsoft.com/office/drawing/2014/main" val="3384241079"/>
                    </a:ext>
                  </a:extLst>
                </a:gridCol>
              </a:tblGrid>
              <a:tr h="376828">
                <a:tc>
                  <a:txBody>
                    <a:bodyPr/>
                    <a:lstStyle/>
                    <a:p>
                      <a:r>
                        <a:rPr kumimoji="0" lang="en-SE" sz="1800" b="0" i="0" u="none" strike="noStrike" kern="1200" cap="none" spc="0" normalizeH="0" baseline="0" noProof="0" dirty="0">
                          <a:ln>
                            <a:noFill/>
                          </a:ln>
                          <a:solidFill>
                            <a:prstClr val="black"/>
                          </a:solidFill>
                          <a:effectLst/>
                          <a:uLnTx/>
                          <a:uFillTx/>
                          <a:latin typeface="+mn-lt"/>
                          <a:ea typeface="+mn-ea"/>
                          <a:cs typeface="+mn-cs"/>
                        </a:rPr>
                        <a:t>Source → Target</a:t>
                      </a:r>
                      <a:endParaRPr lang="en-SE" dirty="0"/>
                    </a:p>
                  </a:txBody>
                  <a:tcPr/>
                </a:tc>
                <a:tc>
                  <a:txBody>
                    <a:bodyPr/>
                    <a:lstStyle/>
                    <a:p>
                      <a:r>
                        <a:rPr kumimoji="0" lang="en-SE" sz="1800" b="0" i="0" u="none" strike="noStrike" kern="1200" cap="none" spc="0" normalizeH="0" baseline="0" noProof="0" dirty="0">
                          <a:ln>
                            <a:noFill/>
                          </a:ln>
                          <a:solidFill>
                            <a:prstClr val="black"/>
                          </a:solidFill>
                          <a:effectLst/>
                          <a:uLnTx/>
                          <a:uFillTx/>
                          <a:latin typeface="+mn-lt"/>
                          <a:ea typeface="+mn-ea"/>
                          <a:cs typeface="+mn-cs"/>
                        </a:rPr>
                        <a:t>RMSE</a:t>
                      </a:r>
                      <a:endParaRPr lang="en-SE" dirty="0"/>
                    </a:p>
                  </a:txBody>
                  <a:tcPr/>
                </a:tc>
                <a:tc>
                  <a:txBody>
                    <a:bodyPr/>
                    <a:lstStyle/>
                    <a:p>
                      <a:r>
                        <a:rPr kumimoji="0" lang="en-SE" sz="1800" b="0" i="0" u="none" strike="noStrike" kern="1200" cap="none" spc="0" normalizeH="0" baseline="0" noProof="0" dirty="0">
                          <a:ln>
                            <a:noFill/>
                          </a:ln>
                          <a:solidFill>
                            <a:prstClr val="black"/>
                          </a:solidFill>
                          <a:effectLst/>
                          <a:uLnTx/>
                          <a:uFillTx/>
                          <a:latin typeface="+mn-lt"/>
                          <a:ea typeface="+mn-ea"/>
                          <a:cs typeface="+mn-cs"/>
                        </a:rPr>
                        <a:t>NASA Score</a:t>
                      </a:r>
                      <a:endParaRPr lang="en-SE" dirty="0"/>
                    </a:p>
                  </a:txBody>
                  <a:tcPr/>
                </a:tc>
                <a:extLst>
                  <a:ext uri="{0D108BD9-81ED-4DB2-BD59-A6C34878D82A}">
                    <a16:rowId xmlns:a16="http://schemas.microsoft.com/office/drawing/2014/main" val="1634276863"/>
                  </a:ext>
                </a:extLst>
              </a:tr>
              <a:tr h="370840">
                <a:tc>
                  <a:txBody>
                    <a:bodyPr/>
                    <a:lstStyle/>
                    <a:p>
                      <a:r>
                        <a:rPr kumimoji="0" lang="en-SE" sz="1800" b="0" i="0" u="none" strike="noStrike" kern="1200" cap="none" spc="0" normalizeH="0" baseline="0" noProof="0" dirty="0">
                          <a:ln>
                            <a:noFill/>
                          </a:ln>
                          <a:solidFill>
                            <a:prstClr val="black"/>
                          </a:solidFill>
                          <a:effectLst/>
                          <a:uLnTx/>
                          <a:uFillTx/>
                          <a:latin typeface="+mn-lt"/>
                          <a:ea typeface="+mn-ea"/>
                          <a:cs typeface="+mn-cs"/>
                        </a:rPr>
                        <a:t>FD001 → FD001</a:t>
                      </a:r>
                      <a:endParaRPr lang="en-SE" dirty="0"/>
                    </a:p>
                  </a:txBody>
                  <a:tcPr/>
                </a:tc>
                <a:tc>
                  <a:txBody>
                    <a:bodyPr/>
                    <a:lstStyle/>
                    <a:p>
                      <a:r>
                        <a:rPr kumimoji="0" lang="en-SE" sz="1800" b="0" i="0" u="none" strike="noStrike" kern="1200" cap="none" spc="0" normalizeH="0" baseline="0" noProof="0" dirty="0">
                          <a:ln>
                            <a:noFill/>
                          </a:ln>
                          <a:solidFill>
                            <a:prstClr val="black"/>
                          </a:solidFill>
                          <a:effectLst/>
                          <a:uLnTx/>
                          <a:uFillTx/>
                          <a:latin typeface="+mn-lt"/>
                          <a:ea typeface="+mn-ea"/>
                          <a:cs typeface="+mn-cs"/>
                        </a:rPr>
                        <a:t>14.</a:t>
                      </a:r>
                      <a:r>
                        <a:rPr kumimoji="0" lang="en-GB" sz="1800" b="0" i="0" u="none" strike="noStrike" kern="1200" cap="none" spc="0" normalizeH="0" baseline="0" noProof="0" dirty="0">
                          <a:ln>
                            <a:noFill/>
                          </a:ln>
                          <a:solidFill>
                            <a:prstClr val="black"/>
                          </a:solidFill>
                          <a:effectLst/>
                          <a:uLnTx/>
                          <a:uFillTx/>
                          <a:latin typeface="+mn-lt"/>
                          <a:ea typeface="+mn-ea"/>
                          <a:cs typeface="+mn-cs"/>
                        </a:rPr>
                        <a:t>403</a:t>
                      </a:r>
                      <a:endParaRPr lang="en-SE" dirty="0"/>
                    </a:p>
                  </a:txBody>
                  <a:tcPr/>
                </a:tc>
                <a:tc>
                  <a:txBody>
                    <a:bodyPr/>
                    <a:lstStyle/>
                    <a:p>
                      <a:r>
                        <a:rPr lang="en-SE" dirty="0"/>
                        <a:t>3.</a:t>
                      </a:r>
                      <a:r>
                        <a:rPr lang="en-GB" dirty="0"/>
                        <a:t>2</a:t>
                      </a:r>
                      <a:endParaRPr lang="en-SE" dirty="0"/>
                    </a:p>
                  </a:txBody>
                  <a:tcPr/>
                </a:tc>
                <a:extLst>
                  <a:ext uri="{0D108BD9-81ED-4DB2-BD59-A6C34878D82A}">
                    <a16:rowId xmlns:a16="http://schemas.microsoft.com/office/drawing/2014/main" val="12619415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FD002 → FD002	</a:t>
                      </a:r>
                    </a:p>
                  </a:txBody>
                  <a:tcPr/>
                </a:tc>
                <a:tc>
                  <a:txBody>
                    <a:bodyPr/>
                    <a:lstStyle/>
                    <a:p>
                      <a:r>
                        <a:rPr lang="en-SE" dirty="0"/>
                        <a:t>3</a:t>
                      </a:r>
                      <a:r>
                        <a:rPr lang="en-GB" dirty="0"/>
                        <a:t>2.115</a:t>
                      </a:r>
                      <a:endParaRPr lang="en-SE" dirty="0"/>
                    </a:p>
                  </a:txBody>
                  <a:tcPr/>
                </a:tc>
                <a:tc>
                  <a:txBody>
                    <a:bodyPr/>
                    <a:lstStyle/>
                    <a:p>
                      <a:r>
                        <a:rPr lang="en-SE" dirty="0"/>
                        <a:t>1</a:t>
                      </a:r>
                      <a:r>
                        <a:rPr lang="en-GB" dirty="0"/>
                        <a:t>522.3</a:t>
                      </a:r>
                      <a:endParaRPr lang="en-SE" dirty="0"/>
                    </a:p>
                  </a:txBody>
                  <a:tcPr/>
                </a:tc>
                <a:extLst>
                  <a:ext uri="{0D108BD9-81ED-4DB2-BD59-A6C34878D82A}">
                    <a16:rowId xmlns:a16="http://schemas.microsoft.com/office/drawing/2014/main" val="11093368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FD003 → FD003	</a:t>
                      </a:r>
                    </a:p>
                  </a:txBody>
                  <a:tcPr/>
                </a:tc>
                <a:tc>
                  <a:txBody>
                    <a:bodyPr/>
                    <a:lstStyle/>
                    <a:p>
                      <a:r>
                        <a:rPr lang="en-SE" dirty="0"/>
                        <a:t>1</a:t>
                      </a:r>
                      <a:r>
                        <a:rPr lang="en-GB" dirty="0"/>
                        <a:t>4.399</a:t>
                      </a:r>
                      <a:endParaRPr lang="en-SE" dirty="0"/>
                    </a:p>
                  </a:txBody>
                  <a:tcPr/>
                </a:tc>
                <a:tc>
                  <a:txBody>
                    <a:bodyPr/>
                    <a:lstStyle/>
                    <a:p>
                      <a:r>
                        <a:rPr lang="en-GB" dirty="0"/>
                        <a:t>3.8</a:t>
                      </a:r>
                      <a:endParaRPr lang="en-SE" dirty="0"/>
                    </a:p>
                  </a:txBody>
                  <a:tcPr/>
                </a:tc>
                <a:extLst>
                  <a:ext uri="{0D108BD9-81ED-4DB2-BD59-A6C34878D82A}">
                    <a16:rowId xmlns:a16="http://schemas.microsoft.com/office/drawing/2014/main" val="2257302589"/>
                  </a:ext>
                </a:extLst>
              </a:tr>
              <a:tr h="370840">
                <a:tc>
                  <a:txBody>
                    <a:bodyPr/>
                    <a:lstStyle/>
                    <a:p>
                      <a:r>
                        <a:rPr lang="en-SE" dirty="0"/>
                        <a:t>FD004 → FD004</a:t>
                      </a:r>
                    </a:p>
                  </a:txBody>
                  <a:tcPr/>
                </a:tc>
                <a:tc>
                  <a:txBody>
                    <a:bodyPr/>
                    <a:lstStyle/>
                    <a:p>
                      <a:r>
                        <a:rPr lang="en-SE" dirty="0"/>
                        <a:t>3</a:t>
                      </a:r>
                      <a:r>
                        <a:rPr lang="en-GB" dirty="0"/>
                        <a:t>3.401</a:t>
                      </a:r>
                      <a:endParaRPr lang="en-SE" dirty="0"/>
                    </a:p>
                  </a:txBody>
                  <a:tcPr/>
                </a:tc>
                <a:tc>
                  <a:txBody>
                    <a:bodyPr/>
                    <a:lstStyle/>
                    <a:p>
                      <a:r>
                        <a:rPr lang="en-SE" dirty="0"/>
                        <a:t>6</a:t>
                      </a:r>
                      <a:r>
                        <a:rPr lang="en-GB" dirty="0"/>
                        <a:t>32.7</a:t>
                      </a:r>
                      <a:endParaRPr lang="en-SE" dirty="0"/>
                    </a:p>
                  </a:txBody>
                  <a:tcPr/>
                </a:tc>
                <a:extLst>
                  <a:ext uri="{0D108BD9-81ED-4DB2-BD59-A6C34878D82A}">
                    <a16:rowId xmlns:a16="http://schemas.microsoft.com/office/drawing/2014/main" val="1240661765"/>
                  </a:ext>
                </a:extLst>
              </a:tr>
            </a:tbl>
          </a:graphicData>
        </a:graphic>
      </p:graphicFrame>
      <p:pic>
        <p:nvPicPr>
          <p:cNvPr id="5" name="Picture 4">
            <a:extLst>
              <a:ext uri="{FF2B5EF4-FFF2-40B4-BE49-F238E27FC236}">
                <a16:creationId xmlns:a16="http://schemas.microsoft.com/office/drawing/2014/main" id="{B67E7E21-6A71-6256-299C-53D335DDFA63}"/>
              </a:ext>
            </a:extLst>
          </p:cNvPr>
          <p:cNvPicPr>
            <a:picLocks noChangeAspect="1"/>
          </p:cNvPicPr>
          <p:nvPr/>
        </p:nvPicPr>
        <p:blipFill>
          <a:blip r:embed="rId3"/>
          <a:stretch>
            <a:fillRect/>
          </a:stretch>
        </p:blipFill>
        <p:spPr>
          <a:xfrm>
            <a:off x="6677025" y="308401"/>
            <a:ext cx="5155635" cy="3429000"/>
          </a:xfrm>
          <a:prstGeom prst="rect">
            <a:avLst/>
          </a:prstGeom>
        </p:spPr>
      </p:pic>
    </p:spTree>
    <p:extLst>
      <p:ext uri="{BB962C8B-B14F-4D97-AF65-F5344CB8AC3E}">
        <p14:creationId xmlns:p14="http://schemas.microsoft.com/office/powerpoint/2010/main" val="158114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D32FB-D7C5-A402-F66B-A241F125EBCB}"/>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D53AFAF1-D19E-F772-9540-89E2F3654C4A}"/>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9</a:t>
            </a:fld>
            <a:endParaRPr lang="en-US" dirty="0"/>
          </a:p>
        </p:txBody>
      </p:sp>
      <p:sp>
        <p:nvSpPr>
          <p:cNvPr id="3" name="TextBox 2">
            <a:extLst>
              <a:ext uri="{FF2B5EF4-FFF2-40B4-BE49-F238E27FC236}">
                <a16:creationId xmlns:a16="http://schemas.microsoft.com/office/drawing/2014/main" id="{703BC1B0-381F-96A6-C52E-0506EDEE2D8A}"/>
              </a:ext>
            </a:extLst>
          </p:cNvPr>
          <p:cNvSpPr txBox="1"/>
          <p:nvPr/>
        </p:nvSpPr>
        <p:spPr>
          <a:xfrm>
            <a:off x="641653" y="594360"/>
            <a:ext cx="6035372" cy="646331"/>
          </a:xfrm>
          <a:prstGeom prst="rect">
            <a:avLst/>
          </a:prstGeom>
          <a:noFill/>
        </p:spPr>
        <p:txBody>
          <a:bodyPr wrap="square" rtlCol="0">
            <a:spAutoFit/>
          </a:bodyPr>
          <a:lstStyle/>
          <a:p>
            <a:r>
              <a:rPr lang="en-GB" sz="3600" cap="all" spc="150" dirty="0">
                <a:latin typeface="+mj-lt"/>
                <a:ea typeface="+mj-ea"/>
                <a:cs typeface="+mj-cs"/>
              </a:rPr>
              <a:t>RESULTS</a:t>
            </a:r>
            <a:endParaRPr lang="en-SE" sz="3600" cap="all" spc="150" dirty="0">
              <a:latin typeface="+mj-lt"/>
              <a:ea typeface="+mj-ea"/>
              <a:cs typeface="+mj-cs"/>
            </a:endParaRPr>
          </a:p>
        </p:txBody>
      </p:sp>
      <p:sp>
        <p:nvSpPr>
          <p:cNvPr id="4" name="TextBox 3">
            <a:extLst>
              <a:ext uri="{FF2B5EF4-FFF2-40B4-BE49-F238E27FC236}">
                <a16:creationId xmlns:a16="http://schemas.microsoft.com/office/drawing/2014/main" id="{DBAA8CAE-5283-663E-7D1F-A2CFDA7BAB05}"/>
              </a:ext>
            </a:extLst>
          </p:cNvPr>
          <p:cNvSpPr txBox="1"/>
          <p:nvPr/>
        </p:nvSpPr>
        <p:spPr>
          <a:xfrm>
            <a:off x="641653" y="1838235"/>
            <a:ext cx="8355981" cy="369332"/>
          </a:xfrm>
          <a:prstGeom prst="rect">
            <a:avLst/>
          </a:prstGeom>
          <a:noFill/>
        </p:spPr>
        <p:txBody>
          <a:bodyPr wrap="square">
            <a:spAutoFit/>
          </a:bodyPr>
          <a:lstStyle/>
          <a:p>
            <a:r>
              <a:rPr lang="en-GB" b="1" dirty="0"/>
              <a:t>Cross Domain using Baseline</a:t>
            </a:r>
            <a:endParaRPr lang="en-SE" b="1" dirty="0"/>
          </a:p>
        </p:txBody>
      </p:sp>
      <p:graphicFrame>
        <p:nvGraphicFramePr>
          <p:cNvPr id="2" name="Table 1">
            <a:extLst>
              <a:ext uri="{FF2B5EF4-FFF2-40B4-BE49-F238E27FC236}">
                <a16:creationId xmlns:a16="http://schemas.microsoft.com/office/drawing/2014/main" id="{2BDE611E-2B22-D905-26F1-B1DE9A6F7D30}"/>
              </a:ext>
            </a:extLst>
          </p:cNvPr>
          <p:cNvGraphicFramePr>
            <a:graphicFrameLocks noGrp="1"/>
          </p:cNvGraphicFramePr>
          <p:nvPr>
            <p:extLst>
              <p:ext uri="{D42A27DB-BD31-4B8C-83A1-F6EECF244321}">
                <p14:modId xmlns:p14="http://schemas.microsoft.com/office/powerpoint/2010/main" val="748044996"/>
              </p:ext>
            </p:extLst>
          </p:nvPr>
        </p:nvGraphicFramePr>
        <p:xfrm>
          <a:off x="533401" y="4496162"/>
          <a:ext cx="6096000" cy="1489348"/>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797356300"/>
                    </a:ext>
                  </a:extLst>
                </a:gridCol>
                <a:gridCol w="2032000">
                  <a:extLst>
                    <a:ext uri="{9D8B030D-6E8A-4147-A177-3AD203B41FA5}">
                      <a16:colId xmlns:a16="http://schemas.microsoft.com/office/drawing/2014/main" val="2958695081"/>
                    </a:ext>
                  </a:extLst>
                </a:gridCol>
                <a:gridCol w="2032000">
                  <a:extLst>
                    <a:ext uri="{9D8B030D-6E8A-4147-A177-3AD203B41FA5}">
                      <a16:colId xmlns:a16="http://schemas.microsoft.com/office/drawing/2014/main" val="3384241079"/>
                    </a:ext>
                  </a:extLst>
                </a:gridCol>
              </a:tblGrid>
              <a:tr h="376828">
                <a:tc>
                  <a:txBody>
                    <a:bodyPr/>
                    <a:lstStyle/>
                    <a:p>
                      <a:r>
                        <a:rPr kumimoji="0" lang="en-SE" sz="1800" b="0" i="0" u="none" strike="noStrike" kern="1200" cap="none" spc="0" normalizeH="0" baseline="0" noProof="0" dirty="0">
                          <a:ln>
                            <a:noFill/>
                          </a:ln>
                          <a:solidFill>
                            <a:prstClr val="black"/>
                          </a:solidFill>
                          <a:effectLst/>
                          <a:uLnTx/>
                          <a:uFillTx/>
                          <a:latin typeface="+mn-lt"/>
                          <a:ea typeface="+mn-ea"/>
                          <a:cs typeface="+mn-cs"/>
                        </a:rPr>
                        <a:t>Source → Target</a:t>
                      </a:r>
                      <a:endParaRPr lang="en-SE" dirty="0"/>
                    </a:p>
                  </a:txBody>
                  <a:tcPr/>
                </a:tc>
                <a:tc>
                  <a:txBody>
                    <a:bodyPr/>
                    <a:lstStyle/>
                    <a:p>
                      <a:r>
                        <a:rPr kumimoji="0" lang="en-SE" sz="1800" b="0" i="0" u="none" strike="noStrike" kern="1200" cap="none" spc="0" normalizeH="0" baseline="0" noProof="0" dirty="0">
                          <a:ln>
                            <a:noFill/>
                          </a:ln>
                          <a:solidFill>
                            <a:prstClr val="black"/>
                          </a:solidFill>
                          <a:effectLst/>
                          <a:uLnTx/>
                          <a:uFillTx/>
                          <a:latin typeface="+mn-lt"/>
                          <a:ea typeface="+mn-ea"/>
                          <a:cs typeface="+mn-cs"/>
                        </a:rPr>
                        <a:t>RMSE</a:t>
                      </a:r>
                      <a:endParaRPr lang="en-SE" dirty="0"/>
                    </a:p>
                  </a:txBody>
                  <a:tcPr/>
                </a:tc>
                <a:tc>
                  <a:txBody>
                    <a:bodyPr/>
                    <a:lstStyle/>
                    <a:p>
                      <a:r>
                        <a:rPr kumimoji="0" lang="en-SE" sz="1800" b="0" i="0" u="none" strike="noStrike" kern="1200" cap="none" spc="0" normalizeH="0" baseline="0" noProof="0" dirty="0">
                          <a:ln>
                            <a:noFill/>
                          </a:ln>
                          <a:solidFill>
                            <a:prstClr val="black"/>
                          </a:solidFill>
                          <a:effectLst/>
                          <a:uLnTx/>
                          <a:uFillTx/>
                          <a:latin typeface="+mn-lt"/>
                          <a:ea typeface="+mn-ea"/>
                          <a:cs typeface="+mn-cs"/>
                        </a:rPr>
                        <a:t>NASA Score</a:t>
                      </a:r>
                      <a:endParaRPr lang="en-SE" dirty="0"/>
                    </a:p>
                  </a:txBody>
                  <a:tcPr/>
                </a:tc>
                <a:extLst>
                  <a:ext uri="{0D108BD9-81ED-4DB2-BD59-A6C34878D82A}">
                    <a16:rowId xmlns:a16="http://schemas.microsoft.com/office/drawing/2014/main" val="1634276863"/>
                  </a:ext>
                </a:extLst>
              </a:tr>
              <a:tr h="370840">
                <a:tc>
                  <a:txBody>
                    <a:bodyPr/>
                    <a:lstStyle/>
                    <a:p>
                      <a:r>
                        <a:rPr kumimoji="0" lang="en-SE" sz="1800" b="0" i="0" u="none" strike="noStrike" kern="1200" cap="none" spc="0" normalizeH="0" baseline="0" noProof="0" dirty="0">
                          <a:ln>
                            <a:noFill/>
                          </a:ln>
                          <a:solidFill>
                            <a:prstClr val="black"/>
                          </a:solidFill>
                          <a:effectLst/>
                          <a:uLnTx/>
                          <a:uFillTx/>
                          <a:latin typeface="+mn-lt"/>
                          <a:ea typeface="+mn-ea"/>
                          <a:cs typeface="+mn-cs"/>
                        </a:rPr>
                        <a:t>FD00</a:t>
                      </a:r>
                      <a:r>
                        <a:rPr kumimoji="0" lang="en-GB" sz="1800" b="0" i="0" u="none" strike="noStrike" kern="1200" cap="none" spc="0" normalizeH="0" baseline="0" noProof="0" dirty="0">
                          <a:ln>
                            <a:noFill/>
                          </a:ln>
                          <a:solidFill>
                            <a:prstClr val="black"/>
                          </a:solidFill>
                          <a:effectLst/>
                          <a:uLnTx/>
                          <a:uFillTx/>
                          <a:latin typeface="+mn-lt"/>
                          <a:ea typeface="+mn-ea"/>
                          <a:cs typeface="+mn-cs"/>
                        </a:rPr>
                        <a:t>4</a:t>
                      </a:r>
                      <a:r>
                        <a:rPr kumimoji="0" lang="en-SE" sz="1800" b="0" i="0" u="none" strike="noStrike" kern="1200" cap="none" spc="0" normalizeH="0" baseline="0" noProof="0" dirty="0">
                          <a:ln>
                            <a:noFill/>
                          </a:ln>
                          <a:solidFill>
                            <a:prstClr val="black"/>
                          </a:solidFill>
                          <a:effectLst/>
                          <a:uLnTx/>
                          <a:uFillTx/>
                          <a:latin typeface="+mn-lt"/>
                          <a:ea typeface="+mn-ea"/>
                          <a:cs typeface="+mn-cs"/>
                        </a:rPr>
                        <a:t> → FD001</a:t>
                      </a:r>
                      <a:endParaRPr lang="en-SE" dirty="0"/>
                    </a:p>
                  </a:txBody>
                  <a:tcPr/>
                </a:tc>
                <a:tc>
                  <a:txBody>
                    <a:bodyPr/>
                    <a:lstStyle/>
                    <a:p>
                      <a:r>
                        <a:rPr lang="en-SE" sz="1800" b="0" i="0" kern="1200" dirty="0">
                          <a:solidFill>
                            <a:schemeClr val="dk1"/>
                          </a:solidFill>
                          <a:effectLst/>
                          <a:latin typeface="+mn-lt"/>
                          <a:ea typeface="+mn-ea"/>
                          <a:cs typeface="+mn-cs"/>
                        </a:rPr>
                        <a:t>86.335</a:t>
                      </a:r>
                      <a:endParaRPr lang="en-SE" dirty="0"/>
                    </a:p>
                  </a:txBody>
                  <a:tcPr/>
                </a:tc>
                <a:tc>
                  <a:txBody>
                    <a:bodyPr/>
                    <a:lstStyle/>
                    <a:p>
                      <a:r>
                        <a:rPr lang="en-SE" sz="1800" b="0" i="0" kern="1200" dirty="0">
                          <a:solidFill>
                            <a:schemeClr val="dk1"/>
                          </a:solidFill>
                          <a:effectLst/>
                          <a:latin typeface="+mn-lt"/>
                          <a:ea typeface="+mn-ea"/>
                          <a:cs typeface="+mn-cs"/>
                        </a:rPr>
                        <a:t>5,270</a:t>
                      </a:r>
                      <a:endParaRPr lang="en-SE" dirty="0"/>
                    </a:p>
                  </a:txBody>
                  <a:tcPr/>
                </a:tc>
                <a:extLst>
                  <a:ext uri="{0D108BD9-81ED-4DB2-BD59-A6C34878D82A}">
                    <a16:rowId xmlns:a16="http://schemas.microsoft.com/office/drawing/2014/main" val="12619415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FD00</a:t>
                      </a:r>
                      <a:r>
                        <a:rPr lang="en-GB" dirty="0"/>
                        <a:t>4</a:t>
                      </a:r>
                      <a:r>
                        <a:rPr lang="en-SE" dirty="0"/>
                        <a:t> → FD002	</a:t>
                      </a:r>
                    </a:p>
                  </a:txBody>
                  <a:tcPr/>
                </a:tc>
                <a:tc>
                  <a:txBody>
                    <a:bodyPr/>
                    <a:lstStyle/>
                    <a:p>
                      <a:r>
                        <a:rPr lang="en-SE" sz="1800" b="0" i="0" kern="1200" dirty="0">
                          <a:solidFill>
                            <a:schemeClr val="dk1"/>
                          </a:solidFill>
                          <a:effectLst/>
                          <a:latin typeface="+mn-lt"/>
                          <a:ea typeface="+mn-ea"/>
                          <a:cs typeface="+mn-cs"/>
                        </a:rPr>
                        <a:t>33.516 </a:t>
                      </a:r>
                      <a:endParaRPr lang="en-SE" dirty="0"/>
                    </a:p>
                  </a:txBody>
                  <a:tcPr/>
                </a:tc>
                <a:tc>
                  <a:txBody>
                    <a:bodyPr/>
                    <a:lstStyle/>
                    <a:p>
                      <a:r>
                        <a:rPr lang="en-SE" sz="1800" b="0" i="0" kern="1200" dirty="0">
                          <a:solidFill>
                            <a:schemeClr val="dk1"/>
                          </a:solidFill>
                          <a:effectLst/>
                          <a:latin typeface="+mn-lt"/>
                          <a:ea typeface="+mn-ea"/>
                          <a:cs typeface="+mn-cs"/>
                        </a:rPr>
                        <a:t>4,440</a:t>
                      </a:r>
                      <a:endParaRPr lang="en-SE" dirty="0"/>
                    </a:p>
                  </a:txBody>
                  <a:tcPr/>
                </a:tc>
                <a:extLst>
                  <a:ext uri="{0D108BD9-81ED-4DB2-BD59-A6C34878D82A}">
                    <a16:rowId xmlns:a16="http://schemas.microsoft.com/office/drawing/2014/main" val="11093368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FD00</a:t>
                      </a:r>
                      <a:r>
                        <a:rPr lang="en-GB" dirty="0"/>
                        <a:t>4</a:t>
                      </a:r>
                      <a:r>
                        <a:rPr lang="en-SE" dirty="0"/>
                        <a:t> → FD003	</a:t>
                      </a:r>
                    </a:p>
                  </a:txBody>
                  <a:tcPr/>
                </a:tc>
                <a:tc>
                  <a:txBody>
                    <a:bodyPr/>
                    <a:lstStyle/>
                    <a:p>
                      <a:r>
                        <a:rPr lang="en-SE" sz="1800" b="0" i="0" kern="1200" dirty="0">
                          <a:solidFill>
                            <a:schemeClr val="dk1"/>
                          </a:solidFill>
                          <a:effectLst/>
                          <a:latin typeface="+mn-lt"/>
                          <a:ea typeface="+mn-ea"/>
                          <a:cs typeface="+mn-cs"/>
                        </a:rPr>
                        <a:t>78.704 </a:t>
                      </a:r>
                      <a:r>
                        <a:rPr lang="en-SE" dirty="0"/>
                        <a:t>	</a:t>
                      </a:r>
                    </a:p>
                  </a:txBody>
                  <a:tcPr/>
                </a:tc>
                <a:tc>
                  <a:txBody>
                    <a:bodyPr/>
                    <a:lstStyle/>
                    <a:p>
                      <a:r>
                        <a:rPr lang="en-SE" sz="1800" b="0" i="0" kern="1200" dirty="0">
                          <a:solidFill>
                            <a:schemeClr val="dk1"/>
                          </a:solidFill>
                          <a:effectLst/>
                          <a:latin typeface="+mn-lt"/>
                          <a:ea typeface="+mn-ea"/>
                          <a:cs typeface="+mn-cs"/>
                        </a:rPr>
                        <a:t>4,980</a:t>
                      </a:r>
                      <a:endParaRPr lang="en-SE" dirty="0"/>
                    </a:p>
                  </a:txBody>
                  <a:tcPr/>
                </a:tc>
                <a:extLst>
                  <a:ext uri="{0D108BD9-81ED-4DB2-BD59-A6C34878D82A}">
                    <a16:rowId xmlns:a16="http://schemas.microsoft.com/office/drawing/2014/main" val="2257302589"/>
                  </a:ext>
                </a:extLst>
              </a:tr>
            </a:tbl>
          </a:graphicData>
        </a:graphic>
      </p:graphicFrame>
      <p:pic>
        <p:nvPicPr>
          <p:cNvPr id="8" name="Picture 7">
            <a:extLst>
              <a:ext uri="{FF2B5EF4-FFF2-40B4-BE49-F238E27FC236}">
                <a16:creationId xmlns:a16="http://schemas.microsoft.com/office/drawing/2014/main" id="{F99093A2-F3CD-A4B8-D4FC-807C9A5D8CB1}"/>
              </a:ext>
            </a:extLst>
          </p:cNvPr>
          <p:cNvPicPr>
            <a:picLocks noChangeAspect="1"/>
          </p:cNvPicPr>
          <p:nvPr/>
        </p:nvPicPr>
        <p:blipFill>
          <a:blip r:embed="rId3"/>
          <a:stretch>
            <a:fillRect/>
          </a:stretch>
        </p:blipFill>
        <p:spPr>
          <a:xfrm>
            <a:off x="6677025" y="200126"/>
            <a:ext cx="5287661" cy="3520366"/>
          </a:xfrm>
          <a:prstGeom prst="rect">
            <a:avLst/>
          </a:prstGeom>
        </p:spPr>
      </p:pic>
    </p:spTree>
    <p:extLst>
      <p:ext uri="{BB962C8B-B14F-4D97-AF65-F5344CB8AC3E}">
        <p14:creationId xmlns:p14="http://schemas.microsoft.com/office/powerpoint/2010/main" val="4033357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35958-EEF4-2148-8C90-1DCE1B351956}"/>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5B796E0E-F33B-22A2-F9BC-40B44EF0A082}"/>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10</a:t>
            </a:fld>
            <a:endParaRPr lang="en-US" dirty="0"/>
          </a:p>
        </p:txBody>
      </p:sp>
      <p:sp>
        <p:nvSpPr>
          <p:cNvPr id="3" name="TextBox 2">
            <a:extLst>
              <a:ext uri="{FF2B5EF4-FFF2-40B4-BE49-F238E27FC236}">
                <a16:creationId xmlns:a16="http://schemas.microsoft.com/office/drawing/2014/main" id="{3F6A8984-A07D-D790-901B-FDCAF61EA2AF}"/>
              </a:ext>
            </a:extLst>
          </p:cNvPr>
          <p:cNvSpPr txBox="1"/>
          <p:nvPr/>
        </p:nvSpPr>
        <p:spPr>
          <a:xfrm>
            <a:off x="641653" y="594360"/>
            <a:ext cx="6035372" cy="646331"/>
          </a:xfrm>
          <a:prstGeom prst="rect">
            <a:avLst/>
          </a:prstGeom>
          <a:noFill/>
        </p:spPr>
        <p:txBody>
          <a:bodyPr wrap="square" rtlCol="0">
            <a:spAutoFit/>
          </a:bodyPr>
          <a:lstStyle/>
          <a:p>
            <a:r>
              <a:rPr lang="en-GB" sz="3600" cap="all" spc="150" dirty="0">
                <a:latin typeface="+mj-lt"/>
                <a:ea typeface="+mj-ea"/>
                <a:cs typeface="+mj-cs"/>
              </a:rPr>
              <a:t>RESULTS</a:t>
            </a:r>
            <a:endParaRPr lang="en-SE" sz="3600" cap="all" spc="150" dirty="0">
              <a:latin typeface="+mj-lt"/>
              <a:ea typeface="+mj-ea"/>
              <a:cs typeface="+mj-cs"/>
            </a:endParaRPr>
          </a:p>
        </p:txBody>
      </p:sp>
      <p:sp>
        <p:nvSpPr>
          <p:cNvPr id="4" name="TextBox 3">
            <a:extLst>
              <a:ext uri="{FF2B5EF4-FFF2-40B4-BE49-F238E27FC236}">
                <a16:creationId xmlns:a16="http://schemas.microsoft.com/office/drawing/2014/main" id="{D153D29F-00DA-EF23-66C0-3A8944CE5897}"/>
              </a:ext>
            </a:extLst>
          </p:cNvPr>
          <p:cNvSpPr txBox="1"/>
          <p:nvPr/>
        </p:nvSpPr>
        <p:spPr>
          <a:xfrm>
            <a:off x="641653" y="1838235"/>
            <a:ext cx="8355981" cy="369332"/>
          </a:xfrm>
          <a:prstGeom prst="rect">
            <a:avLst/>
          </a:prstGeom>
          <a:noFill/>
        </p:spPr>
        <p:txBody>
          <a:bodyPr wrap="square">
            <a:spAutoFit/>
          </a:bodyPr>
          <a:lstStyle/>
          <a:p>
            <a:r>
              <a:rPr lang="en-GB" b="1" dirty="0"/>
              <a:t>Cross Domain using LSTM DNN</a:t>
            </a:r>
            <a:endParaRPr lang="en-SE" b="1" dirty="0"/>
          </a:p>
        </p:txBody>
      </p:sp>
      <p:graphicFrame>
        <p:nvGraphicFramePr>
          <p:cNvPr id="2" name="Table 1">
            <a:extLst>
              <a:ext uri="{FF2B5EF4-FFF2-40B4-BE49-F238E27FC236}">
                <a16:creationId xmlns:a16="http://schemas.microsoft.com/office/drawing/2014/main" id="{7C1BE982-B3A3-D6AD-C9F5-8691D0C4D108}"/>
              </a:ext>
            </a:extLst>
          </p:cNvPr>
          <p:cNvGraphicFramePr>
            <a:graphicFrameLocks noGrp="1"/>
          </p:cNvGraphicFramePr>
          <p:nvPr>
            <p:extLst>
              <p:ext uri="{D42A27DB-BD31-4B8C-83A1-F6EECF244321}">
                <p14:modId xmlns:p14="http://schemas.microsoft.com/office/powerpoint/2010/main" val="2817990974"/>
              </p:ext>
            </p:extLst>
          </p:nvPr>
        </p:nvGraphicFramePr>
        <p:xfrm>
          <a:off x="384476" y="3978592"/>
          <a:ext cx="7030735" cy="2560320"/>
        </p:xfrm>
        <a:graphic>
          <a:graphicData uri="http://schemas.openxmlformats.org/drawingml/2006/table">
            <a:tbl>
              <a:tblPr firstRow="1" bandRow="1">
                <a:tableStyleId>{5C22544A-7EE6-4342-B048-85BDC9FD1C3A}</a:tableStyleId>
              </a:tblPr>
              <a:tblGrid>
                <a:gridCol w="1406147">
                  <a:extLst>
                    <a:ext uri="{9D8B030D-6E8A-4147-A177-3AD203B41FA5}">
                      <a16:colId xmlns:a16="http://schemas.microsoft.com/office/drawing/2014/main" val="1497527741"/>
                    </a:ext>
                  </a:extLst>
                </a:gridCol>
                <a:gridCol w="1406147">
                  <a:extLst>
                    <a:ext uri="{9D8B030D-6E8A-4147-A177-3AD203B41FA5}">
                      <a16:colId xmlns:a16="http://schemas.microsoft.com/office/drawing/2014/main" val="694075159"/>
                    </a:ext>
                  </a:extLst>
                </a:gridCol>
                <a:gridCol w="1406147">
                  <a:extLst>
                    <a:ext uri="{9D8B030D-6E8A-4147-A177-3AD203B41FA5}">
                      <a16:colId xmlns:a16="http://schemas.microsoft.com/office/drawing/2014/main" val="1511289344"/>
                    </a:ext>
                  </a:extLst>
                </a:gridCol>
                <a:gridCol w="1406147">
                  <a:extLst>
                    <a:ext uri="{9D8B030D-6E8A-4147-A177-3AD203B41FA5}">
                      <a16:colId xmlns:a16="http://schemas.microsoft.com/office/drawing/2014/main" val="2340015589"/>
                    </a:ext>
                  </a:extLst>
                </a:gridCol>
                <a:gridCol w="1406147">
                  <a:extLst>
                    <a:ext uri="{9D8B030D-6E8A-4147-A177-3AD203B41FA5}">
                      <a16:colId xmlns:a16="http://schemas.microsoft.com/office/drawing/2014/main" val="4239723865"/>
                    </a:ext>
                  </a:extLst>
                </a:gridCol>
              </a:tblGrid>
              <a:tr h="584907">
                <a:tc>
                  <a:txBody>
                    <a:bodyPr/>
                    <a:lstStyle/>
                    <a:p>
                      <a:r>
                        <a:rPr kumimoji="0" lang="en-SE" sz="1800" b="0" i="0" u="none" strike="noStrike" kern="1200" cap="none" spc="0" normalizeH="0" baseline="0" noProof="0" dirty="0">
                          <a:ln>
                            <a:noFill/>
                          </a:ln>
                          <a:solidFill>
                            <a:prstClr val="black"/>
                          </a:solidFill>
                          <a:effectLst/>
                          <a:uLnTx/>
                          <a:uFillTx/>
                          <a:latin typeface="+mn-lt"/>
                          <a:ea typeface="+mn-ea"/>
                          <a:cs typeface="+mn-cs"/>
                        </a:rPr>
                        <a:t>Source → Target</a:t>
                      </a:r>
                      <a:endParaRPr lang="en-SE" dirty="0"/>
                    </a:p>
                  </a:txBody>
                  <a:tcPr/>
                </a:tc>
                <a:tc>
                  <a:txBody>
                    <a:bodyPr/>
                    <a:lstStyle/>
                    <a:p>
                      <a:pPr marL="0" algn="l" defTabSz="914400" rtl="0" eaLnBrk="1" latinLnBrk="0" hangingPunct="1"/>
                      <a:r>
                        <a:rPr kumimoji="0" lang="en-GB" sz="1800" b="0" i="0" u="none" strike="noStrike" kern="1200" cap="none" spc="0" normalizeH="0" baseline="0" dirty="0">
                          <a:ln>
                            <a:noFill/>
                          </a:ln>
                          <a:solidFill>
                            <a:prstClr val="black"/>
                          </a:solidFill>
                          <a:effectLst/>
                          <a:uLnTx/>
                          <a:uFillTx/>
                          <a:latin typeface="+mn-lt"/>
                          <a:ea typeface="+mn-ea"/>
                          <a:cs typeface="+mn-cs"/>
                        </a:rPr>
                        <a:t>Source-Only RMSE</a:t>
                      </a:r>
                      <a:endParaRPr kumimoji="0" lang="en-SE" sz="1800" b="0" i="0" u="none" strike="noStrike" kern="1200" cap="none" spc="0" normalizeH="0" baseline="0" dirty="0">
                        <a:ln>
                          <a:noFill/>
                        </a:ln>
                        <a:solidFill>
                          <a:prstClr val="black"/>
                        </a:solidFill>
                        <a:effectLst/>
                        <a:uLnTx/>
                        <a:uFillTx/>
                        <a:latin typeface="+mn-lt"/>
                        <a:ea typeface="+mn-ea"/>
                        <a:cs typeface="+mn-cs"/>
                      </a:endParaRPr>
                    </a:p>
                  </a:txBody>
                  <a:tcPr/>
                </a:tc>
                <a:tc>
                  <a:txBody>
                    <a:bodyPr/>
                    <a:lstStyle/>
                    <a:p>
                      <a:r>
                        <a:rPr kumimoji="0" lang="en-GB" sz="1800" b="0" i="0" u="none" strike="noStrike" kern="1200" cap="none" spc="0" normalizeH="0" baseline="0" dirty="0">
                          <a:ln>
                            <a:noFill/>
                          </a:ln>
                          <a:solidFill>
                            <a:prstClr val="black"/>
                          </a:solidFill>
                          <a:effectLst/>
                          <a:uLnTx/>
                          <a:uFillTx/>
                          <a:latin typeface="+mn-lt"/>
                          <a:ea typeface="+mn-ea"/>
                          <a:cs typeface="+mn-cs"/>
                        </a:rPr>
                        <a:t>DANN</a:t>
                      </a:r>
                      <a:r>
                        <a:rPr lang="en-GB" b="1" i="0" dirty="0">
                          <a:solidFill>
                            <a:srgbClr val="FFFFFF"/>
                          </a:solidFill>
                          <a:effectLst/>
                          <a:latin typeface="Segoe WPC"/>
                        </a:rPr>
                        <a:t> </a:t>
                      </a:r>
                      <a:r>
                        <a:rPr kumimoji="0" lang="en-GB" sz="1800" b="0" i="0" u="none" strike="noStrike" kern="1200" cap="none" spc="0" normalizeH="0" baseline="0" dirty="0">
                          <a:ln>
                            <a:noFill/>
                          </a:ln>
                          <a:solidFill>
                            <a:prstClr val="black"/>
                          </a:solidFill>
                          <a:effectLst/>
                          <a:uLnTx/>
                          <a:uFillTx/>
                          <a:latin typeface="+mn-lt"/>
                          <a:ea typeface="+mn-ea"/>
                          <a:cs typeface="+mn-cs"/>
                        </a:rPr>
                        <a:t>RMSE</a:t>
                      </a:r>
                      <a:endParaRPr kumimoji="0" lang="en-SE" sz="1800" b="0" i="0" u="none" strike="noStrike" kern="1200" cap="none" spc="0" normalizeH="0" baseline="0" dirty="0">
                        <a:ln>
                          <a:noFill/>
                        </a:ln>
                        <a:solidFill>
                          <a:prstClr val="black"/>
                        </a:solidFill>
                        <a:effectLst/>
                        <a:uLnTx/>
                        <a:uFillTx/>
                        <a:latin typeface="+mn-lt"/>
                        <a:ea typeface="+mn-ea"/>
                        <a:cs typeface="+mn-cs"/>
                      </a:endParaRPr>
                    </a:p>
                  </a:txBody>
                  <a:tcPr/>
                </a:tc>
                <a:tc>
                  <a:txBody>
                    <a:bodyPr/>
                    <a:lstStyle/>
                    <a:p>
                      <a:r>
                        <a:rPr kumimoji="0" lang="en-SE" sz="1800" b="0" i="0" u="none" strike="noStrike" kern="1200" cap="none" spc="0" normalizeH="0" baseline="0" noProof="0" dirty="0">
                          <a:ln>
                            <a:noFill/>
                          </a:ln>
                          <a:solidFill>
                            <a:prstClr val="black"/>
                          </a:solidFill>
                          <a:effectLst/>
                          <a:uLnTx/>
                          <a:uFillTx/>
                          <a:latin typeface="+mn-lt"/>
                          <a:ea typeface="+mn-ea"/>
                          <a:cs typeface="+mn-cs"/>
                        </a:rPr>
                        <a:t>NASA Score</a:t>
                      </a:r>
                      <a:endParaRPr lang="en-SE" dirty="0"/>
                    </a:p>
                  </a:txBody>
                  <a:tcPr/>
                </a:tc>
                <a:tc>
                  <a:txBody>
                    <a:bodyPr/>
                    <a:lstStyle/>
                    <a:p>
                      <a:pPr marL="0" algn="l" defTabSz="914400" rtl="0" eaLnBrk="1" latinLnBrk="0" hangingPunct="1"/>
                      <a:r>
                        <a:rPr kumimoji="0" lang="en-GB" sz="1800" b="0" i="0" u="none" strike="noStrike" kern="1200" cap="none" spc="0" normalizeH="0" baseline="0" dirty="0">
                          <a:ln>
                            <a:noFill/>
                          </a:ln>
                          <a:solidFill>
                            <a:prstClr val="black"/>
                          </a:solidFill>
                          <a:effectLst/>
                          <a:uLnTx/>
                          <a:uFillTx/>
                          <a:latin typeface="+mn-lt"/>
                          <a:ea typeface="+mn-ea"/>
                          <a:cs typeface="+mn-cs"/>
                        </a:rPr>
                        <a:t>Improvement</a:t>
                      </a:r>
                      <a:endParaRPr kumimoji="0" lang="en-SE" sz="1800" b="0" i="0" u="none" strike="noStrike" kern="1200" cap="none" spc="0" normalizeH="0" baseline="0" dirty="0">
                        <a:ln>
                          <a:noFill/>
                        </a:ln>
                        <a:solidFill>
                          <a:prstClr val="black"/>
                        </a:solidFill>
                        <a:effectLst/>
                        <a:uLnTx/>
                        <a:uFillTx/>
                        <a:latin typeface="+mn-lt"/>
                        <a:ea typeface="+mn-ea"/>
                        <a:cs typeface="+mn-cs"/>
                      </a:endParaRPr>
                    </a:p>
                  </a:txBody>
                  <a:tcPr/>
                </a:tc>
                <a:extLst>
                  <a:ext uri="{0D108BD9-81ED-4DB2-BD59-A6C34878D82A}">
                    <a16:rowId xmlns:a16="http://schemas.microsoft.com/office/drawing/2014/main" val="426711200"/>
                  </a:ext>
                </a:extLst>
              </a:tr>
              <a:tr h="338875">
                <a:tc>
                  <a:txBody>
                    <a:bodyPr/>
                    <a:lstStyle/>
                    <a:p>
                      <a:r>
                        <a:rPr kumimoji="0" lang="en-SE" sz="1800" b="0" i="0" u="none" strike="noStrike" kern="1200" cap="none" spc="0" normalizeH="0" baseline="0" noProof="0" dirty="0">
                          <a:ln>
                            <a:noFill/>
                          </a:ln>
                          <a:solidFill>
                            <a:prstClr val="black"/>
                          </a:solidFill>
                          <a:effectLst/>
                          <a:uLnTx/>
                          <a:uFillTx/>
                          <a:latin typeface="+mn-lt"/>
                          <a:ea typeface="+mn-ea"/>
                          <a:cs typeface="+mn-cs"/>
                        </a:rPr>
                        <a:t>FD00</a:t>
                      </a:r>
                      <a:r>
                        <a:rPr kumimoji="0" lang="en-GB" sz="1800" b="0" i="0" u="none" strike="noStrike" kern="1200" cap="none" spc="0" normalizeH="0" baseline="0" noProof="0" dirty="0">
                          <a:ln>
                            <a:noFill/>
                          </a:ln>
                          <a:solidFill>
                            <a:prstClr val="black"/>
                          </a:solidFill>
                          <a:effectLst/>
                          <a:uLnTx/>
                          <a:uFillTx/>
                          <a:latin typeface="+mn-lt"/>
                          <a:ea typeface="+mn-ea"/>
                          <a:cs typeface="+mn-cs"/>
                        </a:rPr>
                        <a:t>4</a:t>
                      </a:r>
                      <a:r>
                        <a:rPr kumimoji="0" lang="en-SE" sz="1800" b="0" i="0" u="none" strike="noStrike" kern="1200" cap="none" spc="0" normalizeH="0" baseline="0" noProof="0" dirty="0">
                          <a:ln>
                            <a:noFill/>
                          </a:ln>
                          <a:solidFill>
                            <a:prstClr val="black"/>
                          </a:solidFill>
                          <a:effectLst/>
                          <a:uLnTx/>
                          <a:uFillTx/>
                          <a:latin typeface="+mn-lt"/>
                          <a:ea typeface="+mn-ea"/>
                          <a:cs typeface="+mn-cs"/>
                        </a:rPr>
                        <a:t> → FD001</a:t>
                      </a:r>
                      <a:endParaRPr lang="en-SE" dirty="0"/>
                    </a:p>
                  </a:txBody>
                  <a:tcPr/>
                </a:tc>
                <a:tc>
                  <a:txBody>
                    <a:bodyPr/>
                    <a:lstStyle/>
                    <a:p>
                      <a:r>
                        <a:rPr lang="en-SE" sz="1800" b="0" i="0" kern="1200" dirty="0">
                          <a:solidFill>
                            <a:schemeClr val="dk1"/>
                          </a:solidFill>
                          <a:effectLst/>
                          <a:latin typeface="+mn-lt"/>
                          <a:ea typeface="+mn-ea"/>
                          <a:cs typeface="+mn-cs"/>
                        </a:rPr>
                        <a:t>86.335</a:t>
                      </a:r>
                      <a:endParaRPr lang="en-SE" dirty="0"/>
                    </a:p>
                  </a:txBody>
                  <a:tcPr/>
                </a:tc>
                <a:tc>
                  <a:txBody>
                    <a:bodyPr/>
                    <a:lstStyle/>
                    <a:p>
                      <a:r>
                        <a:rPr lang="en-SE" sz="1800" b="0" i="0" kern="1200" dirty="0">
                          <a:solidFill>
                            <a:schemeClr val="dk1"/>
                          </a:solidFill>
                          <a:effectLst/>
                          <a:latin typeface="+mn-lt"/>
                          <a:ea typeface="+mn-ea"/>
                          <a:cs typeface="+mn-cs"/>
                        </a:rPr>
                        <a:t>21.171</a:t>
                      </a:r>
                      <a:endParaRPr lang="en-SE" dirty="0"/>
                    </a:p>
                  </a:txBody>
                  <a:tcPr/>
                </a:tc>
                <a:tc>
                  <a:txBody>
                    <a:bodyPr/>
                    <a:lstStyle/>
                    <a:p>
                      <a:r>
                        <a:rPr lang="en-SE" dirty="0"/>
                        <a:t>32.0</a:t>
                      </a:r>
                    </a:p>
                  </a:txBody>
                  <a:tcPr/>
                </a:tc>
                <a:tc>
                  <a:txBody>
                    <a:bodyPr/>
                    <a:lstStyle/>
                    <a:p>
                      <a:r>
                        <a:rPr lang="en-SE" dirty="0"/>
                        <a:t>75.5 %</a:t>
                      </a:r>
                    </a:p>
                  </a:txBody>
                  <a:tcPr/>
                </a:tc>
                <a:extLst>
                  <a:ext uri="{0D108BD9-81ED-4DB2-BD59-A6C34878D82A}">
                    <a16:rowId xmlns:a16="http://schemas.microsoft.com/office/drawing/2014/main" val="199074755"/>
                  </a:ext>
                </a:extLst>
              </a:tr>
              <a:tr h="5849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FD00</a:t>
                      </a:r>
                      <a:r>
                        <a:rPr lang="en-GB" dirty="0"/>
                        <a:t>4</a:t>
                      </a:r>
                      <a:r>
                        <a:rPr lang="en-SE" dirty="0"/>
                        <a:t> → FD002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sz="1800" b="0" i="0" kern="1200" dirty="0">
                          <a:solidFill>
                            <a:schemeClr val="dk1"/>
                          </a:solidFill>
                          <a:effectLst/>
                          <a:latin typeface="+mn-lt"/>
                          <a:ea typeface="+mn-ea"/>
                          <a:cs typeface="+mn-cs"/>
                        </a:rPr>
                        <a:t>33.516</a:t>
                      </a:r>
                      <a:endParaRPr lang="en-SE" dirty="0"/>
                    </a:p>
                  </a:txBody>
                  <a:tcPr/>
                </a:tc>
                <a:tc>
                  <a:txBody>
                    <a:bodyPr/>
                    <a:lstStyle/>
                    <a:p>
                      <a:r>
                        <a:rPr lang="en-SE" sz="1800" b="0" i="0" kern="1200" dirty="0">
                          <a:solidFill>
                            <a:schemeClr val="dk1"/>
                          </a:solidFill>
                          <a:effectLst/>
                          <a:latin typeface="+mn-lt"/>
                          <a:ea typeface="+mn-ea"/>
                          <a:cs typeface="+mn-cs"/>
                        </a:rPr>
                        <a:t>29.908</a:t>
                      </a:r>
                      <a:r>
                        <a:rPr lang="en-SE" dirty="0"/>
                        <a:t>	</a:t>
                      </a:r>
                    </a:p>
                  </a:txBody>
                  <a:tcPr/>
                </a:tc>
                <a:tc>
                  <a:txBody>
                    <a:bodyPr/>
                    <a:lstStyle/>
                    <a:p>
                      <a:r>
                        <a:rPr lang="en-SE" dirty="0"/>
                        <a:t>49.7</a:t>
                      </a:r>
                    </a:p>
                  </a:txBody>
                  <a:tcPr/>
                </a:tc>
                <a:tc>
                  <a:txBody>
                    <a:bodyPr/>
                    <a:lstStyle/>
                    <a:p>
                      <a:r>
                        <a:rPr lang="en-SE" dirty="0"/>
                        <a:t>10.8 %</a:t>
                      </a:r>
                    </a:p>
                  </a:txBody>
                  <a:tcPr/>
                </a:tc>
                <a:extLst>
                  <a:ext uri="{0D108BD9-81ED-4DB2-BD59-A6C34878D82A}">
                    <a16:rowId xmlns:a16="http://schemas.microsoft.com/office/drawing/2014/main" val="2369440867"/>
                  </a:ext>
                </a:extLst>
              </a:tr>
              <a:tr h="5849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FD00</a:t>
                      </a:r>
                      <a:r>
                        <a:rPr lang="en-GB" dirty="0"/>
                        <a:t>4</a:t>
                      </a:r>
                      <a:r>
                        <a:rPr lang="en-SE" dirty="0"/>
                        <a:t> → FD003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sz="1800" b="0" i="0" kern="1200" dirty="0">
                          <a:solidFill>
                            <a:schemeClr val="dk1"/>
                          </a:solidFill>
                          <a:effectLst/>
                          <a:latin typeface="+mn-lt"/>
                          <a:ea typeface="+mn-ea"/>
                          <a:cs typeface="+mn-cs"/>
                        </a:rPr>
                        <a:t>78.704</a:t>
                      </a:r>
                      <a:endParaRPr lang="en-SE" dirty="0"/>
                    </a:p>
                  </a:txBody>
                  <a:tcPr/>
                </a:tc>
                <a:tc>
                  <a:txBody>
                    <a:bodyPr/>
                    <a:lstStyle/>
                    <a:p>
                      <a:r>
                        <a:rPr lang="en-SE" sz="1800" b="0" i="0" kern="1200" dirty="0">
                          <a:solidFill>
                            <a:schemeClr val="dk1"/>
                          </a:solidFill>
                          <a:effectLst/>
                          <a:latin typeface="+mn-lt"/>
                          <a:ea typeface="+mn-ea"/>
                          <a:cs typeface="+mn-cs"/>
                        </a:rPr>
                        <a:t>23.061</a:t>
                      </a:r>
                      <a:endParaRPr lang="en-SE" dirty="0"/>
                    </a:p>
                  </a:txBody>
                  <a:tcPr/>
                </a:tc>
                <a:tc>
                  <a:txBody>
                    <a:bodyPr/>
                    <a:lstStyle/>
                    <a:p>
                      <a:r>
                        <a:rPr lang="en-SE" dirty="0"/>
                        <a:t>38.2</a:t>
                      </a:r>
                    </a:p>
                  </a:txBody>
                  <a:tcPr/>
                </a:tc>
                <a:tc>
                  <a:txBody>
                    <a:bodyPr/>
                    <a:lstStyle/>
                    <a:p>
                      <a:r>
                        <a:rPr lang="en-SE" dirty="0"/>
                        <a:t>70.7 %</a:t>
                      </a:r>
                    </a:p>
                  </a:txBody>
                  <a:tcPr/>
                </a:tc>
                <a:extLst>
                  <a:ext uri="{0D108BD9-81ED-4DB2-BD59-A6C34878D82A}">
                    <a16:rowId xmlns:a16="http://schemas.microsoft.com/office/drawing/2014/main" val="1230025668"/>
                  </a:ext>
                </a:extLst>
              </a:tr>
            </a:tbl>
          </a:graphicData>
        </a:graphic>
      </p:graphicFrame>
      <p:pic>
        <p:nvPicPr>
          <p:cNvPr id="13" name="Picture 12">
            <a:extLst>
              <a:ext uri="{FF2B5EF4-FFF2-40B4-BE49-F238E27FC236}">
                <a16:creationId xmlns:a16="http://schemas.microsoft.com/office/drawing/2014/main" id="{6762C155-D6D2-4ECC-03D3-0245696513A6}"/>
              </a:ext>
            </a:extLst>
          </p:cNvPr>
          <p:cNvPicPr>
            <a:picLocks noChangeAspect="1"/>
          </p:cNvPicPr>
          <p:nvPr/>
        </p:nvPicPr>
        <p:blipFill>
          <a:blip r:embed="rId3"/>
          <a:stretch>
            <a:fillRect/>
          </a:stretch>
        </p:blipFill>
        <p:spPr>
          <a:xfrm>
            <a:off x="7589210" y="136525"/>
            <a:ext cx="4488490" cy="3938879"/>
          </a:xfrm>
          <a:prstGeom prst="rect">
            <a:avLst/>
          </a:prstGeom>
        </p:spPr>
      </p:pic>
    </p:spTree>
    <p:extLst>
      <p:ext uri="{BB962C8B-B14F-4D97-AF65-F5344CB8AC3E}">
        <p14:creationId xmlns:p14="http://schemas.microsoft.com/office/powerpoint/2010/main" val="2484058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8F7D6-E5DB-04A4-DEDC-49F58F325B7D}"/>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5069DE75-1234-2D9C-7D66-3E123A9C682C}"/>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11</a:t>
            </a:fld>
            <a:endParaRPr lang="en-US" dirty="0"/>
          </a:p>
        </p:txBody>
      </p:sp>
      <p:sp>
        <p:nvSpPr>
          <p:cNvPr id="3" name="TextBox 2">
            <a:extLst>
              <a:ext uri="{FF2B5EF4-FFF2-40B4-BE49-F238E27FC236}">
                <a16:creationId xmlns:a16="http://schemas.microsoft.com/office/drawing/2014/main" id="{54F6911F-7E25-340F-A05B-81126FC097DA}"/>
              </a:ext>
            </a:extLst>
          </p:cNvPr>
          <p:cNvSpPr txBox="1"/>
          <p:nvPr/>
        </p:nvSpPr>
        <p:spPr>
          <a:xfrm>
            <a:off x="4669090" y="2980879"/>
            <a:ext cx="4088048" cy="646331"/>
          </a:xfrm>
          <a:prstGeom prst="rect">
            <a:avLst/>
          </a:prstGeom>
          <a:noFill/>
        </p:spPr>
        <p:txBody>
          <a:bodyPr wrap="square" rtlCol="0">
            <a:spAutoFit/>
          </a:bodyPr>
          <a:lstStyle/>
          <a:p>
            <a:r>
              <a:rPr lang="en-GB" sz="3600" cap="all" spc="150" dirty="0">
                <a:latin typeface="+mj-lt"/>
                <a:ea typeface="+mj-ea"/>
                <a:cs typeface="+mj-cs"/>
              </a:rPr>
              <a:t>Questions?</a:t>
            </a:r>
            <a:endParaRPr lang="en-SE" sz="3600" cap="all" spc="150" dirty="0">
              <a:latin typeface="+mj-lt"/>
              <a:ea typeface="+mj-ea"/>
              <a:cs typeface="+mj-cs"/>
            </a:endParaRPr>
          </a:p>
        </p:txBody>
      </p:sp>
    </p:spTree>
    <p:extLst>
      <p:ext uri="{BB962C8B-B14F-4D97-AF65-F5344CB8AC3E}">
        <p14:creationId xmlns:p14="http://schemas.microsoft.com/office/powerpoint/2010/main" val="3000013249"/>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3.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{09AA8311-E243-4B56-B3BB-B49FE0D8F124}tf67328976_win32</Template>
  <TotalTime>1150</TotalTime>
  <Words>2540</Words>
  <Application>Microsoft Office PowerPoint</Application>
  <PresentationFormat>Widescreen</PresentationFormat>
  <Paragraphs>376</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Segoe WPC</vt:lpstr>
      <vt:lpstr>Tenorite</vt:lpstr>
      <vt:lpstr>Custom</vt:lpstr>
      <vt:lpstr>Generalizing Remaining Useful Life Prediction of TURBOFAN Jet Engine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Sohan Arun</dc:creator>
  <cp:lastModifiedBy>Sohan Arun</cp:lastModifiedBy>
  <cp:revision>1</cp:revision>
  <dcterms:created xsi:type="dcterms:W3CDTF">2025-05-27T10:01:23Z</dcterms:created>
  <dcterms:modified xsi:type="dcterms:W3CDTF">2025-06-17T08:51:20Z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